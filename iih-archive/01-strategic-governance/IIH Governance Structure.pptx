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79" r:id="rId3"/>
    <p:sldId id="280" r:id="rId4"/>
    <p:sldId id="281" r:id="rId5"/>
    <p:sldId id="282" r:id="rId6"/>
    <p:sldId id="291" r:id="rId7"/>
    <p:sldId id="261" r:id="rId8"/>
    <p:sldId id="283" r:id="rId9"/>
    <p:sldId id="284" r:id="rId10"/>
    <p:sldId id="285" r:id="rId11"/>
    <p:sldId id="286" r:id="rId12"/>
    <p:sldId id="287" r:id="rId13"/>
    <p:sldId id="288" r:id="rId14"/>
    <p:sldId id="289" r:id="rId15"/>
    <p:sldId id="29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F931"/>
    <a:srgbClr val="58E1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18"/>
    <p:restoredTop sz="95701"/>
  </p:normalViewPr>
  <p:slideViewPr>
    <p:cSldViewPr snapToGrid="0" snapToObjects="1">
      <p:cViewPr varScale="1">
        <p:scale>
          <a:sx n="98" d="100"/>
          <a:sy n="98" d="100"/>
        </p:scale>
        <p:origin x="1768" y="4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74085ED-1CF2-486D-850B-5DAB0A0CD835}"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8B3EB831-4B9D-4225-8502-57A4B4B2EDAB}">
      <dgm:prSet custT="1"/>
      <dgm:spPr/>
      <dgm:t>
        <a:bodyPr/>
        <a:lstStyle/>
        <a:p>
          <a:pPr>
            <a:lnSpc>
              <a:spcPct val="100000"/>
            </a:lnSpc>
          </a:pPr>
          <a:r>
            <a:rPr lang="en-US" sz="1100" dirty="0">
              <a:latin typeface="Avenir Book"/>
            </a:rPr>
            <a:t>Innovation:</a:t>
          </a:r>
        </a:p>
        <a:p>
          <a:pPr>
            <a:lnSpc>
              <a:spcPct val="100000"/>
            </a:lnSpc>
          </a:pPr>
          <a:r>
            <a:rPr lang="en-US" sz="1100" dirty="0">
              <a:latin typeface="Avenir Book"/>
            </a:rPr>
            <a:t> We embrace creativity, experimentation, and bold ideas as drivers of progress and transformation.</a:t>
          </a:r>
        </a:p>
      </dgm:t>
    </dgm:pt>
    <dgm:pt modelId="{0AC52689-A601-4A67-80B1-5D16CA73928D}" type="parTrans" cxnId="{CE7BCB5D-F7A6-4BC1-A4FA-3764DDCCEE43}">
      <dgm:prSet/>
      <dgm:spPr/>
      <dgm:t>
        <a:bodyPr/>
        <a:lstStyle/>
        <a:p>
          <a:endParaRPr lang="en-US"/>
        </a:p>
      </dgm:t>
    </dgm:pt>
    <dgm:pt modelId="{EB941639-61AB-4A1A-8998-1589F6837BE9}" type="sibTrans" cxnId="{CE7BCB5D-F7A6-4BC1-A4FA-3764DDCCEE43}">
      <dgm:prSet/>
      <dgm:spPr/>
      <dgm:t>
        <a:bodyPr/>
        <a:lstStyle/>
        <a:p>
          <a:endParaRPr lang="en-US"/>
        </a:p>
      </dgm:t>
    </dgm:pt>
    <dgm:pt modelId="{CF46FD9B-32BC-4E62-BF8B-4186C010EF06}">
      <dgm:prSet custT="1"/>
      <dgm:spPr/>
      <dgm:t>
        <a:bodyPr/>
        <a:lstStyle/>
        <a:p>
          <a:pPr>
            <a:lnSpc>
              <a:spcPct val="100000"/>
            </a:lnSpc>
          </a:pPr>
          <a:r>
            <a:rPr lang="en-US" sz="1100" dirty="0">
              <a:latin typeface="Avenir Book"/>
            </a:rPr>
            <a:t>Collaboration: </a:t>
          </a:r>
        </a:p>
        <a:p>
          <a:pPr>
            <a:lnSpc>
              <a:spcPct val="100000"/>
            </a:lnSpc>
          </a:pPr>
          <a:r>
            <a:rPr lang="en-US" sz="1100" dirty="0">
              <a:latin typeface="Avenir Book"/>
            </a:rPr>
            <a:t>We believe in the power of partnerships and collective action to achieve greater impact and sustainability.</a:t>
          </a:r>
        </a:p>
      </dgm:t>
    </dgm:pt>
    <dgm:pt modelId="{0EF5352C-E5B3-4C32-95DA-4ACC9ACF74BB}" type="parTrans" cxnId="{B3460C1F-06C7-4132-9535-74F7F61DF231}">
      <dgm:prSet/>
      <dgm:spPr/>
      <dgm:t>
        <a:bodyPr/>
        <a:lstStyle/>
        <a:p>
          <a:endParaRPr lang="en-US"/>
        </a:p>
      </dgm:t>
    </dgm:pt>
    <dgm:pt modelId="{B31D2A1D-8FBF-406C-9839-98C79DDDE136}" type="sibTrans" cxnId="{B3460C1F-06C7-4132-9535-74F7F61DF231}">
      <dgm:prSet/>
      <dgm:spPr/>
      <dgm:t>
        <a:bodyPr/>
        <a:lstStyle/>
        <a:p>
          <a:endParaRPr lang="en-US"/>
        </a:p>
      </dgm:t>
    </dgm:pt>
    <dgm:pt modelId="{60D87443-4B97-4400-ABD7-B4E910F3B885}">
      <dgm:prSet custT="1"/>
      <dgm:spPr/>
      <dgm:t>
        <a:bodyPr/>
        <a:lstStyle/>
        <a:p>
          <a:pPr>
            <a:lnSpc>
              <a:spcPct val="100000"/>
            </a:lnSpc>
          </a:pPr>
          <a:r>
            <a:rPr lang="en-US" sz="1100" dirty="0">
              <a:latin typeface="Avenir Book"/>
            </a:rPr>
            <a:t>Inclusivity: </a:t>
          </a:r>
        </a:p>
        <a:p>
          <a:pPr>
            <a:lnSpc>
              <a:spcPct val="100000"/>
            </a:lnSpc>
          </a:pPr>
          <a:r>
            <a:rPr lang="en-US" sz="1100" dirty="0">
              <a:latin typeface="Avenir Book"/>
            </a:rPr>
            <a:t>We are committed to diversity, equity, and inclusion, ensuring that everyone has a seat at the table and a voice in shaping our collective future.</a:t>
          </a:r>
        </a:p>
      </dgm:t>
    </dgm:pt>
    <dgm:pt modelId="{E5DBE9F5-B8A6-42E5-9ADD-8C8A023E09C5}" type="parTrans" cxnId="{32D6B3C4-E582-4A75-BD7A-3DB5EFD40FE2}">
      <dgm:prSet/>
      <dgm:spPr/>
      <dgm:t>
        <a:bodyPr/>
        <a:lstStyle/>
        <a:p>
          <a:endParaRPr lang="en-US"/>
        </a:p>
      </dgm:t>
    </dgm:pt>
    <dgm:pt modelId="{A2ED36CF-CC3F-4B6F-B99F-6C7AD91880A1}" type="sibTrans" cxnId="{32D6B3C4-E582-4A75-BD7A-3DB5EFD40FE2}">
      <dgm:prSet/>
      <dgm:spPr/>
      <dgm:t>
        <a:bodyPr/>
        <a:lstStyle/>
        <a:p>
          <a:endParaRPr lang="en-US"/>
        </a:p>
      </dgm:t>
    </dgm:pt>
    <dgm:pt modelId="{6AF50724-A322-4C87-864C-3A4C28D9694B}">
      <dgm:prSet custT="1"/>
      <dgm:spPr/>
      <dgm:t>
        <a:bodyPr/>
        <a:lstStyle/>
        <a:p>
          <a:pPr>
            <a:lnSpc>
              <a:spcPct val="100000"/>
            </a:lnSpc>
          </a:pPr>
          <a:r>
            <a:rPr lang="en-US" sz="1100" dirty="0">
              <a:latin typeface="Avenir Book"/>
            </a:rPr>
            <a:t>Integrity: </a:t>
          </a:r>
        </a:p>
        <a:p>
          <a:pPr>
            <a:lnSpc>
              <a:spcPct val="100000"/>
            </a:lnSpc>
          </a:pPr>
          <a:r>
            <a:rPr lang="en-US" sz="1100" dirty="0">
              <a:latin typeface="Avenir Book"/>
            </a:rPr>
            <a:t>We uphold the highest standards of ethical conduct, transparency, and accountability in all our interactions and decisions.</a:t>
          </a:r>
        </a:p>
      </dgm:t>
    </dgm:pt>
    <dgm:pt modelId="{1C3FC99A-6F24-4C8D-84F8-90F733B34265}" type="parTrans" cxnId="{A7DE4F54-0508-4A39-9356-4F378F90CB45}">
      <dgm:prSet/>
      <dgm:spPr/>
      <dgm:t>
        <a:bodyPr/>
        <a:lstStyle/>
        <a:p>
          <a:endParaRPr lang="en-US"/>
        </a:p>
      </dgm:t>
    </dgm:pt>
    <dgm:pt modelId="{B5E497C0-7B25-4C17-8694-C39736E73AE1}" type="sibTrans" cxnId="{A7DE4F54-0508-4A39-9356-4F378F90CB45}">
      <dgm:prSet/>
      <dgm:spPr/>
      <dgm:t>
        <a:bodyPr/>
        <a:lstStyle/>
        <a:p>
          <a:endParaRPr lang="en-US"/>
        </a:p>
      </dgm:t>
    </dgm:pt>
    <dgm:pt modelId="{A233BDB2-FE4F-4489-AFD5-723B3184CC36}">
      <dgm:prSet custT="1"/>
      <dgm:spPr/>
      <dgm:t>
        <a:bodyPr/>
        <a:lstStyle/>
        <a:p>
          <a:pPr>
            <a:lnSpc>
              <a:spcPct val="100000"/>
            </a:lnSpc>
          </a:pPr>
          <a:r>
            <a:rPr lang="en-US" sz="1100" dirty="0">
              <a:latin typeface="Avenir Book"/>
            </a:rPr>
            <a:t>Impact: </a:t>
          </a:r>
        </a:p>
        <a:p>
          <a:pPr>
            <a:lnSpc>
              <a:spcPct val="100000"/>
            </a:lnSpc>
          </a:pPr>
          <a:r>
            <a:rPr lang="en-US" sz="1100" dirty="0">
              <a:latin typeface="Avenir Book"/>
            </a:rPr>
            <a:t>We are driven by the desire to make a tangible difference in the lives of individuals and the broader community. </a:t>
          </a:r>
        </a:p>
      </dgm:t>
    </dgm:pt>
    <dgm:pt modelId="{C9C8A9E1-4166-4FDD-A415-ED8CBEE0F3E7}" type="parTrans" cxnId="{DE43CDB7-BE79-4A1C-8B1E-80D382C0CF61}">
      <dgm:prSet/>
      <dgm:spPr/>
      <dgm:t>
        <a:bodyPr/>
        <a:lstStyle/>
        <a:p>
          <a:endParaRPr lang="en-US"/>
        </a:p>
      </dgm:t>
    </dgm:pt>
    <dgm:pt modelId="{88CBC0BD-36B0-459B-B287-2776A7E8707A}" type="sibTrans" cxnId="{DE43CDB7-BE79-4A1C-8B1E-80D382C0CF61}">
      <dgm:prSet/>
      <dgm:spPr/>
      <dgm:t>
        <a:bodyPr/>
        <a:lstStyle/>
        <a:p>
          <a:endParaRPr lang="en-US"/>
        </a:p>
      </dgm:t>
    </dgm:pt>
    <dgm:pt modelId="{B21083B0-8859-417F-A758-FD958D53F42D}" type="pres">
      <dgm:prSet presAssocID="{274085ED-1CF2-486D-850B-5DAB0A0CD835}" presName="root" presStyleCnt="0">
        <dgm:presLayoutVars>
          <dgm:dir/>
          <dgm:resizeHandles val="exact"/>
        </dgm:presLayoutVars>
      </dgm:prSet>
      <dgm:spPr/>
    </dgm:pt>
    <dgm:pt modelId="{B16E0883-262D-4FBB-868E-8CFD085B2C85}" type="pres">
      <dgm:prSet presAssocID="{8B3EB831-4B9D-4225-8502-57A4B4B2EDAB}" presName="compNode" presStyleCnt="0"/>
      <dgm:spPr/>
    </dgm:pt>
    <dgm:pt modelId="{71A72B93-8A41-4C22-8949-171DA295A672}" type="pres">
      <dgm:prSet presAssocID="{8B3EB831-4B9D-4225-8502-57A4B4B2EDA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ight Bulb and Gear"/>
        </a:ext>
      </dgm:extLst>
    </dgm:pt>
    <dgm:pt modelId="{527DDC1D-624B-4E48-BD46-46253020BD93}" type="pres">
      <dgm:prSet presAssocID="{8B3EB831-4B9D-4225-8502-57A4B4B2EDAB}" presName="spaceRect" presStyleCnt="0"/>
      <dgm:spPr/>
    </dgm:pt>
    <dgm:pt modelId="{44443712-8DD0-4C24-8DD0-760CFADC02E1}" type="pres">
      <dgm:prSet presAssocID="{8B3EB831-4B9D-4225-8502-57A4B4B2EDAB}" presName="textRect" presStyleLbl="revTx" presStyleIdx="0" presStyleCnt="5" custScaleX="137130">
        <dgm:presLayoutVars>
          <dgm:chMax val="1"/>
          <dgm:chPref val="1"/>
        </dgm:presLayoutVars>
      </dgm:prSet>
      <dgm:spPr/>
    </dgm:pt>
    <dgm:pt modelId="{611819BA-E10A-4020-BAF3-003E018BB74D}" type="pres">
      <dgm:prSet presAssocID="{EB941639-61AB-4A1A-8998-1589F6837BE9}" presName="sibTrans" presStyleCnt="0"/>
      <dgm:spPr/>
    </dgm:pt>
    <dgm:pt modelId="{98056423-9B81-490D-859D-9799D3037554}" type="pres">
      <dgm:prSet presAssocID="{CF46FD9B-32BC-4E62-BF8B-4186C010EF06}" presName="compNode" presStyleCnt="0"/>
      <dgm:spPr/>
    </dgm:pt>
    <dgm:pt modelId="{7A570142-91AF-4C88-A69A-857D5C716AA5}" type="pres">
      <dgm:prSet presAssocID="{CF46FD9B-32BC-4E62-BF8B-4186C010EF06}" presName="iconRect" presStyleLbl="node1" presStyleIdx="1" presStyleCnt="5" custLinFactNeighborY="4490"/>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usiness Growth"/>
        </a:ext>
      </dgm:extLst>
    </dgm:pt>
    <dgm:pt modelId="{3ECEFB46-EA44-46C7-8AC6-766E81CB7187}" type="pres">
      <dgm:prSet presAssocID="{CF46FD9B-32BC-4E62-BF8B-4186C010EF06}" presName="spaceRect" presStyleCnt="0"/>
      <dgm:spPr/>
    </dgm:pt>
    <dgm:pt modelId="{FE44999F-F1CD-46A5-BE9E-427DD1BE8F16}" type="pres">
      <dgm:prSet presAssocID="{CF46FD9B-32BC-4E62-BF8B-4186C010EF06}" presName="textRect" presStyleLbl="revTx" presStyleIdx="1" presStyleCnt="5">
        <dgm:presLayoutVars>
          <dgm:chMax val="1"/>
          <dgm:chPref val="1"/>
        </dgm:presLayoutVars>
      </dgm:prSet>
      <dgm:spPr/>
    </dgm:pt>
    <dgm:pt modelId="{E27694AF-799D-42DD-BA7E-D66FBD51304F}" type="pres">
      <dgm:prSet presAssocID="{B31D2A1D-8FBF-406C-9839-98C79DDDE136}" presName="sibTrans" presStyleCnt="0"/>
      <dgm:spPr/>
    </dgm:pt>
    <dgm:pt modelId="{AD9D9F8B-6584-4A96-9B57-ECAA31A52274}" type="pres">
      <dgm:prSet presAssocID="{60D87443-4B97-4400-ABD7-B4E910F3B885}" presName="compNode" presStyleCnt="0"/>
      <dgm:spPr/>
    </dgm:pt>
    <dgm:pt modelId="{CB102A7F-6519-4749-8681-CF3C616E8106}" type="pres">
      <dgm:prSet presAssocID="{60D87443-4B97-4400-ABD7-B4E910F3B885}"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ers"/>
        </a:ext>
      </dgm:extLst>
    </dgm:pt>
    <dgm:pt modelId="{5C8815D8-53F9-497F-9943-EE0FED9B0F59}" type="pres">
      <dgm:prSet presAssocID="{60D87443-4B97-4400-ABD7-B4E910F3B885}" presName="spaceRect" presStyleCnt="0"/>
      <dgm:spPr/>
    </dgm:pt>
    <dgm:pt modelId="{E0827738-D357-4E03-8903-8F2A34ACBE63}" type="pres">
      <dgm:prSet presAssocID="{60D87443-4B97-4400-ABD7-B4E910F3B885}" presName="textRect" presStyleLbl="revTx" presStyleIdx="2" presStyleCnt="5">
        <dgm:presLayoutVars>
          <dgm:chMax val="1"/>
          <dgm:chPref val="1"/>
        </dgm:presLayoutVars>
      </dgm:prSet>
      <dgm:spPr/>
    </dgm:pt>
    <dgm:pt modelId="{0DD6BCF3-872D-4473-B4A4-0C75D7107355}" type="pres">
      <dgm:prSet presAssocID="{A2ED36CF-CC3F-4B6F-B99F-6C7AD91880A1}" presName="sibTrans" presStyleCnt="0"/>
      <dgm:spPr/>
    </dgm:pt>
    <dgm:pt modelId="{76945218-B006-45CE-982D-EE5FAB534123}" type="pres">
      <dgm:prSet presAssocID="{6AF50724-A322-4C87-864C-3A4C28D9694B}" presName="compNode" presStyleCnt="0"/>
      <dgm:spPr/>
    </dgm:pt>
    <dgm:pt modelId="{D80E3DF2-6E8C-4C65-B417-1B1A872320EF}" type="pres">
      <dgm:prSet presAssocID="{6AF50724-A322-4C87-864C-3A4C28D9694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cales of Justice"/>
        </a:ext>
      </dgm:extLst>
    </dgm:pt>
    <dgm:pt modelId="{39B59E22-DDEE-4855-B43B-B9CB182A6FC6}" type="pres">
      <dgm:prSet presAssocID="{6AF50724-A322-4C87-864C-3A4C28D9694B}" presName="spaceRect" presStyleCnt="0"/>
      <dgm:spPr/>
    </dgm:pt>
    <dgm:pt modelId="{D55CAB5C-EBBF-4820-ABF7-F26D2919FCCE}" type="pres">
      <dgm:prSet presAssocID="{6AF50724-A322-4C87-864C-3A4C28D9694B}" presName="textRect" presStyleLbl="revTx" presStyleIdx="3" presStyleCnt="5">
        <dgm:presLayoutVars>
          <dgm:chMax val="1"/>
          <dgm:chPref val="1"/>
        </dgm:presLayoutVars>
      </dgm:prSet>
      <dgm:spPr/>
    </dgm:pt>
    <dgm:pt modelId="{969E372C-F6F6-44BB-8B0A-86C4CC92A07D}" type="pres">
      <dgm:prSet presAssocID="{B5E497C0-7B25-4C17-8694-C39736E73AE1}" presName="sibTrans" presStyleCnt="0"/>
      <dgm:spPr/>
    </dgm:pt>
    <dgm:pt modelId="{39FB9032-BF16-49BB-91C2-FF449FF8BB2E}" type="pres">
      <dgm:prSet presAssocID="{A233BDB2-FE4F-4489-AFD5-723B3184CC36}" presName="compNode" presStyleCnt="0"/>
      <dgm:spPr/>
    </dgm:pt>
    <dgm:pt modelId="{224A08B8-CC19-46B3-AFB5-A1015CC382D2}" type="pres">
      <dgm:prSet presAssocID="{A233BDB2-FE4F-4489-AFD5-723B3184CC36}" presName="iconRect" presStyleLbl="node1" presStyleIdx="4" presStyleCnt="5" custLinFactNeighborY="3804"/>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onnections"/>
        </a:ext>
      </dgm:extLst>
    </dgm:pt>
    <dgm:pt modelId="{65B1F34E-F76C-4DFB-9484-4A3F1E802065}" type="pres">
      <dgm:prSet presAssocID="{A233BDB2-FE4F-4489-AFD5-723B3184CC36}" presName="spaceRect" presStyleCnt="0"/>
      <dgm:spPr/>
    </dgm:pt>
    <dgm:pt modelId="{62193EE2-DFF3-4115-9D14-4AD6E635C5DC}" type="pres">
      <dgm:prSet presAssocID="{A233BDB2-FE4F-4489-AFD5-723B3184CC36}" presName="textRect" presStyleLbl="revTx" presStyleIdx="4" presStyleCnt="5" custScaleX="98428">
        <dgm:presLayoutVars>
          <dgm:chMax val="1"/>
          <dgm:chPref val="1"/>
        </dgm:presLayoutVars>
      </dgm:prSet>
      <dgm:spPr/>
    </dgm:pt>
  </dgm:ptLst>
  <dgm:cxnLst>
    <dgm:cxn modelId="{262F4200-AE27-4CE5-A458-B7698F413764}" type="presOf" srcId="{8B3EB831-4B9D-4225-8502-57A4B4B2EDAB}" destId="{44443712-8DD0-4C24-8DD0-760CFADC02E1}" srcOrd="0" destOrd="0" presId="urn:microsoft.com/office/officeart/2018/2/layout/IconLabelList"/>
    <dgm:cxn modelId="{B3460C1F-06C7-4132-9535-74F7F61DF231}" srcId="{274085ED-1CF2-486D-850B-5DAB0A0CD835}" destId="{CF46FD9B-32BC-4E62-BF8B-4186C010EF06}" srcOrd="1" destOrd="0" parTransId="{0EF5352C-E5B3-4C32-95DA-4ACC9ACF74BB}" sibTransId="{B31D2A1D-8FBF-406C-9839-98C79DDDE136}"/>
    <dgm:cxn modelId="{73D1BA33-8DE1-489D-A336-C252555F16CD}" type="presOf" srcId="{6AF50724-A322-4C87-864C-3A4C28D9694B}" destId="{D55CAB5C-EBBF-4820-ABF7-F26D2919FCCE}" srcOrd="0" destOrd="0" presId="urn:microsoft.com/office/officeart/2018/2/layout/IconLabelList"/>
    <dgm:cxn modelId="{118A8A3A-8B35-47BA-BE35-39419FF8A64E}" type="presOf" srcId="{A233BDB2-FE4F-4489-AFD5-723B3184CC36}" destId="{62193EE2-DFF3-4115-9D14-4AD6E635C5DC}" srcOrd="0" destOrd="0" presId="urn:microsoft.com/office/officeart/2018/2/layout/IconLabelList"/>
    <dgm:cxn modelId="{A7DE4F54-0508-4A39-9356-4F378F90CB45}" srcId="{274085ED-1CF2-486D-850B-5DAB0A0CD835}" destId="{6AF50724-A322-4C87-864C-3A4C28D9694B}" srcOrd="3" destOrd="0" parTransId="{1C3FC99A-6F24-4C8D-84F8-90F733B34265}" sibTransId="{B5E497C0-7B25-4C17-8694-C39736E73AE1}"/>
    <dgm:cxn modelId="{CE7BCB5D-F7A6-4BC1-A4FA-3764DDCCEE43}" srcId="{274085ED-1CF2-486D-850B-5DAB0A0CD835}" destId="{8B3EB831-4B9D-4225-8502-57A4B4B2EDAB}" srcOrd="0" destOrd="0" parTransId="{0AC52689-A601-4A67-80B1-5D16CA73928D}" sibTransId="{EB941639-61AB-4A1A-8998-1589F6837BE9}"/>
    <dgm:cxn modelId="{02BFE197-0DAB-4370-B3C6-034181B7013D}" type="presOf" srcId="{60D87443-4B97-4400-ABD7-B4E910F3B885}" destId="{E0827738-D357-4E03-8903-8F2A34ACBE63}" srcOrd="0" destOrd="0" presId="urn:microsoft.com/office/officeart/2018/2/layout/IconLabelList"/>
    <dgm:cxn modelId="{DE43CDB7-BE79-4A1C-8B1E-80D382C0CF61}" srcId="{274085ED-1CF2-486D-850B-5DAB0A0CD835}" destId="{A233BDB2-FE4F-4489-AFD5-723B3184CC36}" srcOrd="4" destOrd="0" parTransId="{C9C8A9E1-4166-4FDD-A415-ED8CBEE0F3E7}" sibTransId="{88CBC0BD-36B0-459B-B287-2776A7E8707A}"/>
    <dgm:cxn modelId="{32D6B3C4-E582-4A75-BD7A-3DB5EFD40FE2}" srcId="{274085ED-1CF2-486D-850B-5DAB0A0CD835}" destId="{60D87443-4B97-4400-ABD7-B4E910F3B885}" srcOrd="2" destOrd="0" parTransId="{E5DBE9F5-B8A6-42E5-9ADD-8C8A023E09C5}" sibTransId="{A2ED36CF-CC3F-4B6F-B99F-6C7AD91880A1}"/>
    <dgm:cxn modelId="{80D012E4-8AEB-48C4-B986-762D8F82E594}" type="presOf" srcId="{274085ED-1CF2-486D-850B-5DAB0A0CD835}" destId="{B21083B0-8859-417F-A758-FD958D53F42D}" srcOrd="0" destOrd="0" presId="urn:microsoft.com/office/officeart/2018/2/layout/IconLabelList"/>
    <dgm:cxn modelId="{C50C32ED-8AB1-4F12-B3A0-6AD74936FD7A}" type="presOf" srcId="{CF46FD9B-32BC-4E62-BF8B-4186C010EF06}" destId="{FE44999F-F1CD-46A5-BE9E-427DD1BE8F16}" srcOrd="0" destOrd="0" presId="urn:microsoft.com/office/officeart/2018/2/layout/IconLabelList"/>
    <dgm:cxn modelId="{8D1F4A21-1961-476F-AB11-00C14A9279E0}" type="presParOf" srcId="{B21083B0-8859-417F-A758-FD958D53F42D}" destId="{B16E0883-262D-4FBB-868E-8CFD085B2C85}" srcOrd="0" destOrd="0" presId="urn:microsoft.com/office/officeart/2018/2/layout/IconLabelList"/>
    <dgm:cxn modelId="{A736E43F-1483-41CE-95F6-8E0198013F28}" type="presParOf" srcId="{B16E0883-262D-4FBB-868E-8CFD085B2C85}" destId="{71A72B93-8A41-4C22-8949-171DA295A672}" srcOrd="0" destOrd="0" presId="urn:microsoft.com/office/officeart/2018/2/layout/IconLabelList"/>
    <dgm:cxn modelId="{7F8FC354-C4CD-4543-9111-6C642974B9A0}" type="presParOf" srcId="{B16E0883-262D-4FBB-868E-8CFD085B2C85}" destId="{527DDC1D-624B-4E48-BD46-46253020BD93}" srcOrd="1" destOrd="0" presId="urn:microsoft.com/office/officeart/2018/2/layout/IconLabelList"/>
    <dgm:cxn modelId="{66819EEB-2B16-494A-AEE3-DA31844493E7}" type="presParOf" srcId="{B16E0883-262D-4FBB-868E-8CFD085B2C85}" destId="{44443712-8DD0-4C24-8DD0-760CFADC02E1}" srcOrd="2" destOrd="0" presId="urn:microsoft.com/office/officeart/2018/2/layout/IconLabelList"/>
    <dgm:cxn modelId="{301D06FB-309B-45B5-8E05-25EF22313EEA}" type="presParOf" srcId="{B21083B0-8859-417F-A758-FD958D53F42D}" destId="{611819BA-E10A-4020-BAF3-003E018BB74D}" srcOrd="1" destOrd="0" presId="urn:microsoft.com/office/officeart/2018/2/layout/IconLabelList"/>
    <dgm:cxn modelId="{DF97B6F9-9AA5-4866-94CE-58EF0AF7996E}" type="presParOf" srcId="{B21083B0-8859-417F-A758-FD958D53F42D}" destId="{98056423-9B81-490D-859D-9799D3037554}" srcOrd="2" destOrd="0" presId="urn:microsoft.com/office/officeart/2018/2/layout/IconLabelList"/>
    <dgm:cxn modelId="{143C0F10-E159-4617-9903-2C1054EBADB8}" type="presParOf" srcId="{98056423-9B81-490D-859D-9799D3037554}" destId="{7A570142-91AF-4C88-A69A-857D5C716AA5}" srcOrd="0" destOrd="0" presId="urn:microsoft.com/office/officeart/2018/2/layout/IconLabelList"/>
    <dgm:cxn modelId="{7658B26E-C7A2-4BDE-B826-ABC65E0865C7}" type="presParOf" srcId="{98056423-9B81-490D-859D-9799D3037554}" destId="{3ECEFB46-EA44-46C7-8AC6-766E81CB7187}" srcOrd="1" destOrd="0" presId="urn:microsoft.com/office/officeart/2018/2/layout/IconLabelList"/>
    <dgm:cxn modelId="{AE14D4F6-E051-4F4A-9098-E231353C5E8F}" type="presParOf" srcId="{98056423-9B81-490D-859D-9799D3037554}" destId="{FE44999F-F1CD-46A5-BE9E-427DD1BE8F16}" srcOrd="2" destOrd="0" presId="urn:microsoft.com/office/officeart/2018/2/layout/IconLabelList"/>
    <dgm:cxn modelId="{E9DB65A8-8983-4F85-B9E1-F31C5237996E}" type="presParOf" srcId="{B21083B0-8859-417F-A758-FD958D53F42D}" destId="{E27694AF-799D-42DD-BA7E-D66FBD51304F}" srcOrd="3" destOrd="0" presId="urn:microsoft.com/office/officeart/2018/2/layout/IconLabelList"/>
    <dgm:cxn modelId="{903ADA2D-329D-4300-9805-73659CB2D0CC}" type="presParOf" srcId="{B21083B0-8859-417F-A758-FD958D53F42D}" destId="{AD9D9F8B-6584-4A96-9B57-ECAA31A52274}" srcOrd="4" destOrd="0" presId="urn:microsoft.com/office/officeart/2018/2/layout/IconLabelList"/>
    <dgm:cxn modelId="{C8CB5318-542A-474E-A990-82BF14C8550A}" type="presParOf" srcId="{AD9D9F8B-6584-4A96-9B57-ECAA31A52274}" destId="{CB102A7F-6519-4749-8681-CF3C616E8106}" srcOrd="0" destOrd="0" presId="urn:microsoft.com/office/officeart/2018/2/layout/IconLabelList"/>
    <dgm:cxn modelId="{C8CFA7D6-CD3D-469A-BF34-BDF101046DC7}" type="presParOf" srcId="{AD9D9F8B-6584-4A96-9B57-ECAA31A52274}" destId="{5C8815D8-53F9-497F-9943-EE0FED9B0F59}" srcOrd="1" destOrd="0" presId="urn:microsoft.com/office/officeart/2018/2/layout/IconLabelList"/>
    <dgm:cxn modelId="{9E307C8B-840A-4EB2-BE57-E00C857AF7FE}" type="presParOf" srcId="{AD9D9F8B-6584-4A96-9B57-ECAA31A52274}" destId="{E0827738-D357-4E03-8903-8F2A34ACBE63}" srcOrd="2" destOrd="0" presId="urn:microsoft.com/office/officeart/2018/2/layout/IconLabelList"/>
    <dgm:cxn modelId="{4A606834-E5DB-40A9-BDE7-80D92D21B213}" type="presParOf" srcId="{B21083B0-8859-417F-A758-FD958D53F42D}" destId="{0DD6BCF3-872D-4473-B4A4-0C75D7107355}" srcOrd="5" destOrd="0" presId="urn:microsoft.com/office/officeart/2018/2/layout/IconLabelList"/>
    <dgm:cxn modelId="{5BD65970-A70B-4D6F-966D-AFF459E08EF3}" type="presParOf" srcId="{B21083B0-8859-417F-A758-FD958D53F42D}" destId="{76945218-B006-45CE-982D-EE5FAB534123}" srcOrd="6" destOrd="0" presId="urn:microsoft.com/office/officeart/2018/2/layout/IconLabelList"/>
    <dgm:cxn modelId="{AD38F334-D704-4DAA-8A14-701874970CA2}" type="presParOf" srcId="{76945218-B006-45CE-982D-EE5FAB534123}" destId="{D80E3DF2-6E8C-4C65-B417-1B1A872320EF}" srcOrd="0" destOrd="0" presId="urn:microsoft.com/office/officeart/2018/2/layout/IconLabelList"/>
    <dgm:cxn modelId="{FBDC443D-6B27-4F93-8DEC-7834F9FD6ED9}" type="presParOf" srcId="{76945218-B006-45CE-982D-EE5FAB534123}" destId="{39B59E22-DDEE-4855-B43B-B9CB182A6FC6}" srcOrd="1" destOrd="0" presId="urn:microsoft.com/office/officeart/2018/2/layout/IconLabelList"/>
    <dgm:cxn modelId="{5631CB3A-E6DA-4D03-8AE1-B5D89E756F8E}" type="presParOf" srcId="{76945218-B006-45CE-982D-EE5FAB534123}" destId="{D55CAB5C-EBBF-4820-ABF7-F26D2919FCCE}" srcOrd="2" destOrd="0" presId="urn:microsoft.com/office/officeart/2018/2/layout/IconLabelList"/>
    <dgm:cxn modelId="{94BCF2CC-471C-40B5-B994-59133ED345BD}" type="presParOf" srcId="{B21083B0-8859-417F-A758-FD958D53F42D}" destId="{969E372C-F6F6-44BB-8B0A-86C4CC92A07D}" srcOrd="7" destOrd="0" presId="urn:microsoft.com/office/officeart/2018/2/layout/IconLabelList"/>
    <dgm:cxn modelId="{D35EA14F-F131-4C42-A744-AA260B837FFC}" type="presParOf" srcId="{B21083B0-8859-417F-A758-FD958D53F42D}" destId="{39FB9032-BF16-49BB-91C2-FF449FF8BB2E}" srcOrd="8" destOrd="0" presId="urn:microsoft.com/office/officeart/2018/2/layout/IconLabelList"/>
    <dgm:cxn modelId="{4533AAE5-06F1-4CC1-BF6C-00B3DE1CCACF}" type="presParOf" srcId="{39FB9032-BF16-49BB-91C2-FF449FF8BB2E}" destId="{224A08B8-CC19-46B3-AFB5-A1015CC382D2}" srcOrd="0" destOrd="0" presId="urn:microsoft.com/office/officeart/2018/2/layout/IconLabelList"/>
    <dgm:cxn modelId="{176A5D05-766A-432A-843F-3557FA4418C7}" type="presParOf" srcId="{39FB9032-BF16-49BB-91C2-FF449FF8BB2E}" destId="{65B1F34E-F76C-4DFB-9484-4A3F1E802065}" srcOrd="1" destOrd="0" presId="urn:microsoft.com/office/officeart/2018/2/layout/IconLabelList"/>
    <dgm:cxn modelId="{2BF3DDB6-511A-4309-B7F1-E5750C5081F2}" type="presParOf" srcId="{39FB9032-BF16-49BB-91C2-FF449FF8BB2E}" destId="{62193EE2-DFF3-4115-9D14-4AD6E635C5DC}"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A72B93-8A41-4C22-8949-171DA295A672}">
      <dsp:nvSpPr>
        <dsp:cNvPr id="0" name=""/>
        <dsp:cNvSpPr/>
      </dsp:nvSpPr>
      <dsp:spPr>
        <a:xfrm>
          <a:off x="1337904" y="255296"/>
          <a:ext cx="704794" cy="7047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443712-8DD0-4C24-8DD0-760CFADC02E1}">
      <dsp:nvSpPr>
        <dsp:cNvPr id="0" name=""/>
        <dsp:cNvSpPr/>
      </dsp:nvSpPr>
      <dsp:spPr>
        <a:xfrm>
          <a:off x="616429" y="1304200"/>
          <a:ext cx="2147745" cy="1245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Avenir Book"/>
            </a:rPr>
            <a:t>Innovation:</a:t>
          </a:r>
        </a:p>
        <a:p>
          <a:pPr marL="0" lvl="0" indent="0" algn="ctr" defTabSz="488950">
            <a:lnSpc>
              <a:spcPct val="100000"/>
            </a:lnSpc>
            <a:spcBef>
              <a:spcPct val="0"/>
            </a:spcBef>
            <a:spcAft>
              <a:spcPct val="35000"/>
            </a:spcAft>
            <a:buNone/>
          </a:pPr>
          <a:r>
            <a:rPr lang="en-US" sz="1100" kern="1200" dirty="0">
              <a:latin typeface="Avenir Book"/>
            </a:rPr>
            <a:t> We embrace creativity, experimentation, and bold ideas as drivers of progress and transformation.</a:t>
          </a:r>
        </a:p>
      </dsp:txBody>
      <dsp:txXfrm>
        <a:off x="616429" y="1304200"/>
        <a:ext cx="2147745" cy="1245015"/>
      </dsp:txXfrm>
    </dsp:sp>
    <dsp:sp modelId="{7A570142-91AF-4C88-A69A-857D5C716AA5}">
      <dsp:nvSpPr>
        <dsp:cNvPr id="0" name=""/>
        <dsp:cNvSpPr/>
      </dsp:nvSpPr>
      <dsp:spPr>
        <a:xfrm>
          <a:off x="3468969" y="286941"/>
          <a:ext cx="704794" cy="7047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44999F-F1CD-46A5-BE9E-427DD1BE8F16}">
      <dsp:nvSpPr>
        <dsp:cNvPr id="0" name=""/>
        <dsp:cNvSpPr/>
      </dsp:nvSpPr>
      <dsp:spPr>
        <a:xfrm>
          <a:off x="3038261" y="1304200"/>
          <a:ext cx="1566210" cy="1245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Avenir Book"/>
            </a:rPr>
            <a:t>Collaboration: </a:t>
          </a:r>
        </a:p>
        <a:p>
          <a:pPr marL="0" lvl="0" indent="0" algn="ctr" defTabSz="488950">
            <a:lnSpc>
              <a:spcPct val="100000"/>
            </a:lnSpc>
            <a:spcBef>
              <a:spcPct val="0"/>
            </a:spcBef>
            <a:spcAft>
              <a:spcPct val="35000"/>
            </a:spcAft>
            <a:buNone/>
          </a:pPr>
          <a:r>
            <a:rPr lang="en-US" sz="1100" kern="1200" dirty="0">
              <a:latin typeface="Avenir Book"/>
            </a:rPr>
            <a:t>We believe in the power of partnerships and collective action to achieve greater impact and sustainability.</a:t>
          </a:r>
        </a:p>
      </dsp:txBody>
      <dsp:txXfrm>
        <a:off x="3038261" y="1304200"/>
        <a:ext cx="1566210" cy="1245015"/>
      </dsp:txXfrm>
    </dsp:sp>
    <dsp:sp modelId="{CB102A7F-6519-4749-8681-CF3C616E8106}">
      <dsp:nvSpPr>
        <dsp:cNvPr id="0" name=""/>
        <dsp:cNvSpPr/>
      </dsp:nvSpPr>
      <dsp:spPr>
        <a:xfrm>
          <a:off x="5309267" y="255296"/>
          <a:ext cx="704794" cy="70479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827738-D357-4E03-8903-8F2A34ACBE63}">
      <dsp:nvSpPr>
        <dsp:cNvPr id="0" name=""/>
        <dsp:cNvSpPr/>
      </dsp:nvSpPr>
      <dsp:spPr>
        <a:xfrm>
          <a:off x="4878559" y="1304200"/>
          <a:ext cx="1566210" cy="1245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Avenir Book"/>
            </a:rPr>
            <a:t>Inclusivity: </a:t>
          </a:r>
        </a:p>
        <a:p>
          <a:pPr marL="0" lvl="0" indent="0" algn="ctr" defTabSz="488950">
            <a:lnSpc>
              <a:spcPct val="100000"/>
            </a:lnSpc>
            <a:spcBef>
              <a:spcPct val="0"/>
            </a:spcBef>
            <a:spcAft>
              <a:spcPct val="35000"/>
            </a:spcAft>
            <a:buNone/>
          </a:pPr>
          <a:r>
            <a:rPr lang="en-US" sz="1100" kern="1200" dirty="0">
              <a:latin typeface="Avenir Book"/>
            </a:rPr>
            <a:t>We are committed to diversity, equity, and inclusion, ensuring that everyone has a seat at the table and a voice in shaping our collective future.</a:t>
          </a:r>
        </a:p>
      </dsp:txBody>
      <dsp:txXfrm>
        <a:off x="4878559" y="1304200"/>
        <a:ext cx="1566210" cy="1245015"/>
      </dsp:txXfrm>
    </dsp:sp>
    <dsp:sp modelId="{D80E3DF2-6E8C-4C65-B417-1B1A872320EF}">
      <dsp:nvSpPr>
        <dsp:cNvPr id="0" name=""/>
        <dsp:cNvSpPr/>
      </dsp:nvSpPr>
      <dsp:spPr>
        <a:xfrm>
          <a:off x="2258053" y="2940768"/>
          <a:ext cx="704794" cy="70479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5CAB5C-EBBF-4820-ABF7-F26D2919FCCE}">
      <dsp:nvSpPr>
        <dsp:cNvPr id="0" name=""/>
        <dsp:cNvSpPr/>
      </dsp:nvSpPr>
      <dsp:spPr>
        <a:xfrm>
          <a:off x="1827345" y="3989673"/>
          <a:ext cx="1566210" cy="1245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Avenir Book"/>
            </a:rPr>
            <a:t>Integrity: </a:t>
          </a:r>
        </a:p>
        <a:p>
          <a:pPr marL="0" lvl="0" indent="0" algn="ctr" defTabSz="488950">
            <a:lnSpc>
              <a:spcPct val="100000"/>
            </a:lnSpc>
            <a:spcBef>
              <a:spcPct val="0"/>
            </a:spcBef>
            <a:spcAft>
              <a:spcPct val="35000"/>
            </a:spcAft>
            <a:buNone/>
          </a:pPr>
          <a:r>
            <a:rPr lang="en-US" sz="1100" kern="1200" dirty="0">
              <a:latin typeface="Avenir Book"/>
            </a:rPr>
            <a:t>We uphold the highest standards of ethical conduct, transparency, and accountability in all our interactions and decisions.</a:t>
          </a:r>
        </a:p>
      </dsp:txBody>
      <dsp:txXfrm>
        <a:off x="1827345" y="3989673"/>
        <a:ext cx="1566210" cy="1245015"/>
      </dsp:txXfrm>
    </dsp:sp>
    <dsp:sp modelId="{224A08B8-CC19-46B3-AFB5-A1015CC382D2}">
      <dsp:nvSpPr>
        <dsp:cNvPr id="0" name=""/>
        <dsp:cNvSpPr/>
      </dsp:nvSpPr>
      <dsp:spPr>
        <a:xfrm>
          <a:off x="4098351" y="2967579"/>
          <a:ext cx="704794" cy="70479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2193EE2-DFF3-4115-9D14-4AD6E635C5DC}">
      <dsp:nvSpPr>
        <dsp:cNvPr id="0" name=""/>
        <dsp:cNvSpPr/>
      </dsp:nvSpPr>
      <dsp:spPr>
        <a:xfrm>
          <a:off x="3679953" y="3989673"/>
          <a:ext cx="1541590" cy="12450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Avenir Book"/>
            </a:rPr>
            <a:t>Impact: </a:t>
          </a:r>
        </a:p>
        <a:p>
          <a:pPr marL="0" lvl="0" indent="0" algn="ctr" defTabSz="488950">
            <a:lnSpc>
              <a:spcPct val="100000"/>
            </a:lnSpc>
            <a:spcBef>
              <a:spcPct val="0"/>
            </a:spcBef>
            <a:spcAft>
              <a:spcPct val="35000"/>
            </a:spcAft>
            <a:buNone/>
          </a:pPr>
          <a:r>
            <a:rPr lang="en-US" sz="1100" kern="1200" dirty="0">
              <a:latin typeface="Avenir Book"/>
            </a:rPr>
            <a:t>We are driven by the desire to make a tangible difference in the lives of individuals and the broader community. </a:t>
          </a:r>
        </a:p>
      </dsp:txBody>
      <dsp:txXfrm>
        <a:off x="3679953" y="3989673"/>
        <a:ext cx="1541590" cy="1245015"/>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7/8/25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11470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7/8/25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707152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2206702-883C-1C49-A3D9-95FC99D4F10F}" type="datetimeFigureOut">
              <a:rPr lang="en-US" smtClean="0"/>
              <a:t>7/8/25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615693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2206702-883C-1C49-A3D9-95FC99D4F10F}" type="datetimeFigureOut">
              <a:rPr lang="en-US" smtClean="0"/>
              <a:t>7/8/25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326002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206702-883C-1C49-A3D9-95FC99D4F10F}" type="datetimeFigureOut">
              <a:rPr lang="en-US" smtClean="0"/>
              <a:t>7/8/25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691444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2206702-883C-1C49-A3D9-95FC99D4F10F}" type="datetimeFigureOut">
              <a:rPr lang="en-US" smtClean="0"/>
              <a:t>7/8/25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2677344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206702-883C-1C49-A3D9-95FC99D4F10F}" type="datetimeFigureOut">
              <a:rPr lang="en-US" smtClean="0"/>
              <a:t>7/8/25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8728766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7/8/25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1047629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206702-883C-1C49-A3D9-95FC99D4F10F}" type="datetimeFigureOut">
              <a:rPr lang="en-US" smtClean="0"/>
              <a:t>7/8/25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7532499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7/8/25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24160254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2206702-883C-1C49-A3D9-95FC99D4F10F}" type="datetimeFigureOut">
              <a:rPr lang="en-US" smtClean="0"/>
              <a:t>7/8/25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64C5C96-B43F-EF41-83BB-885FD2BDB03F}" type="slidenum">
              <a:rPr lang="en-US" smtClean="0"/>
              <a:t>‹#›</a:t>
            </a:fld>
            <a:endParaRPr lang="en-US"/>
          </a:p>
        </p:txBody>
      </p:sp>
    </p:spTree>
    <p:extLst>
      <p:ext uri="{BB962C8B-B14F-4D97-AF65-F5344CB8AC3E}">
        <p14:creationId xmlns:p14="http://schemas.microsoft.com/office/powerpoint/2010/main" val="339858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206702-883C-1C49-A3D9-95FC99D4F10F}" type="datetimeFigureOut">
              <a:rPr lang="en-US" smtClean="0"/>
              <a:t>7/8/25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4C5C96-B43F-EF41-83BB-885FD2BDB03F}" type="slidenum">
              <a:rPr lang="en-US" smtClean="0"/>
              <a:t>‹#›</a:t>
            </a:fld>
            <a:endParaRPr lang="en-US"/>
          </a:p>
        </p:txBody>
      </p:sp>
    </p:spTree>
    <p:extLst>
      <p:ext uri="{BB962C8B-B14F-4D97-AF65-F5344CB8AC3E}">
        <p14:creationId xmlns:p14="http://schemas.microsoft.com/office/powerpoint/2010/main" val="1321438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8E166"/>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9FE6C51-FFDA-1B4D-A499-FF8277F7F2B8}"/>
              </a:ext>
            </a:extLst>
          </p:cNvPr>
          <p:cNvPicPr>
            <a:picLocks noChangeAspect="1"/>
          </p:cNvPicPr>
          <p:nvPr/>
        </p:nvPicPr>
        <p:blipFill>
          <a:blip r:embed="rId2"/>
          <a:stretch>
            <a:fillRect/>
          </a:stretch>
        </p:blipFill>
        <p:spPr>
          <a:xfrm>
            <a:off x="543490" y="3429000"/>
            <a:ext cx="3744361" cy="1791483"/>
          </a:xfrm>
          <a:prstGeom prst="rect">
            <a:avLst/>
          </a:prstGeom>
        </p:spPr>
      </p:pic>
      <p:sp>
        <p:nvSpPr>
          <p:cNvPr id="12" name="TextBox 11">
            <a:extLst>
              <a:ext uri="{FF2B5EF4-FFF2-40B4-BE49-F238E27FC236}">
                <a16:creationId xmlns:a16="http://schemas.microsoft.com/office/drawing/2014/main" id="{1F9D572B-B3ED-904F-9CD5-AAFE070052F0}"/>
              </a:ext>
            </a:extLst>
          </p:cNvPr>
          <p:cNvSpPr txBox="1"/>
          <p:nvPr/>
        </p:nvSpPr>
        <p:spPr>
          <a:xfrm>
            <a:off x="876822" y="5220483"/>
            <a:ext cx="4847573" cy="369332"/>
          </a:xfrm>
          <a:prstGeom prst="rect">
            <a:avLst/>
          </a:prstGeom>
          <a:noFill/>
        </p:spPr>
        <p:txBody>
          <a:bodyPr wrap="square" rtlCol="0">
            <a:spAutoFit/>
          </a:bodyPr>
          <a:lstStyle/>
          <a:p>
            <a:r>
              <a:rPr lang="en-US" dirty="0">
                <a:solidFill>
                  <a:schemeClr val="bg1"/>
                </a:solidFill>
                <a:latin typeface="Roboto Light" panose="02000000000000000000" pitchFamily="2" charset="0"/>
                <a:ea typeface="Roboto Light" panose="02000000000000000000" pitchFamily="2" charset="0"/>
              </a:rPr>
              <a:t>GOVERNANCE STRUCTURE</a:t>
            </a:r>
          </a:p>
        </p:txBody>
      </p:sp>
      <p:sp>
        <p:nvSpPr>
          <p:cNvPr id="13" name="TextBox 12">
            <a:extLst>
              <a:ext uri="{FF2B5EF4-FFF2-40B4-BE49-F238E27FC236}">
                <a16:creationId xmlns:a16="http://schemas.microsoft.com/office/drawing/2014/main" id="{0D1D6F3D-0AB0-5342-85F1-6C95F1F7360B}"/>
              </a:ext>
            </a:extLst>
          </p:cNvPr>
          <p:cNvSpPr txBox="1"/>
          <p:nvPr/>
        </p:nvSpPr>
        <p:spPr>
          <a:xfrm>
            <a:off x="876822" y="5639213"/>
            <a:ext cx="4847573" cy="307777"/>
          </a:xfrm>
          <a:prstGeom prst="rect">
            <a:avLst/>
          </a:prstGeom>
          <a:noFill/>
        </p:spPr>
        <p:txBody>
          <a:bodyPr wrap="square" rtlCol="0">
            <a:spAutoFit/>
          </a:bodyPr>
          <a:lstStyle/>
          <a:p>
            <a:r>
              <a:rPr lang="en-US" sz="1400" dirty="0">
                <a:solidFill>
                  <a:schemeClr val="bg1"/>
                </a:solidFill>
                <a:latin typeface="Roboto Light" panose="02000000000000000000" pitchFamily="2" charset="0"/>
                <a:ea typeface="Roboto Light" panose="02000000000000000000" pitchFamily="2" charset="0"/>
              </a:rPr>
              <a:t>August 2024</a:t>
            </a:r>
          </a:p>
        </p:txBody>
      </p:sp>
    </p:spTree>
    <p:extLst>
      <p:ext uri="{BB962C8B-B14F-4D97-AF65-F5344CB8AC3E}">
        <p14:creationId xmlns:p14="http://schemas.microsoft.com/office/powerpoint/2010/main" val="3543114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Introduction</a:t>
            </a:r>
          </a:p>
        </p:txBody>
      </p:sp>
      <p:sp>
        <p:nvSpPr>
          <p:cNvPr id="5" name="TextBox 4">
            <a:extLst>
              <a:ext uri="{FF2B5EF4-FFF2-40B4-BE49-F238E27FC236}">
                <a16:creationId xmlns:a16="http://schemas.microsoft.com/office/drawing/2014/main" id="{2ECA561F-4036-44BF-9DB7-CE5F38BE89B3}"/>
              </a:ext>
            </a:extLst>
          </p:cNvPr>
          <p:cNvSpPr txBox="1"/>
          <p:nvPr/>
        </p:nvSpPr>
        <p:spPr>
          <a:xfrm>
            <a:off x="538618" y="1398732"/>
            <a:ext cx="8259942" cy="4616648"/>
          </a:xfrm>
          <a:prstGeom prst="rect">
            <a:avLst/>
          </a:prstGeom>
          <a:noFill/>
        </p:spPr>
        <p:txBody>
          <a:bodyPr wrap="square">
            <a:spAutoFit/>
          </a:bodyPr>
          <a:lstStyle/>
          <a:p>
            <a:r>
              <a:rPr lang="en-US" sz="1400" dirty="0">
                <a:latin typeface="Avenir Book" panose="02000503020000020003"/>
              </a:rPr>
              <a:t>The </a:t>
            </a:r>
            <a:r>
              <a:rPr lang="en-US" sz="1400" dirty="0" err="1">
                <a:latin typeface="Avenir Book" panose="02000503020000020003"/>
              </a:rPr>
              <a:t>Kwara</a:t>
            </a:r>
            <a:r>
              <a:rPr lang="en-US" sz="1400" dirty="0">
                <a:latin typeface="Avenir Book" panose="02000503020000020003"/>
              </a:rPr>
              <a:t> State Government is committed to fostering innovation, economic growth, and societal development through the establishment of the Ilorin Innovation Hub. As a key initiative aimed at driving forward the state's strategic priorities, the Ilorin Innovation Hub serves as a dynamic platform for collaboration, entrepreneurship, and knowledge exchange.</a:t>
            </a:r>
          </a:p>
          <a:p>
            <a:endParaRPr lang="en-US" sz="1400" dirty="0">
              <a:latin typeface="Avenir Book" panose="02000503020000020003"/>
            </a:endParaRPr>
          </a:p>
          <a:p>
            <a:r>
              <a:rPr lang="en-US" sz="1400" dirty="0">
                <a:latin typeface="Avenir Book" panose="02000503020000020003"/>
              </a:rPr>
              <a:t>The effective governance of the Ilorin Innovation Hub is paramount to its success in achieving its mission and delivering value to stakeholders. This governance framework outlines the principles, structures, and processes that guide decision-making, ensure accountability, and promote transparency within the Hub.</a:t>
            </a:r>
          </a:p>
          <a:p>
            <a:endParaRPr lang="en-US" sz="1400" dirty="0">
              <a:latin typeface="Avenir Book" panose="02000503020000020003"/>
            </a:endParaRPr>
          </a:p>
          <a:p>
            <a:r>
              <a:rPr lang="en-US" sz="1400" dirty="0">
                <a:latin typeface="Avenir Book" panose="02000503020000020003"/>
              </a:rPr>
              <a:t>Governance provides the framework through which stakeholders can work together to achieve common goals while upholding principles of integrity, accountability, and ethical conduct. A robust governance structure fosters trust among stakeholders, facilitates effective decision-making, and enhances the Hub's credibility and sustainability over time.</a:t>
            </a:r>
          </a:p>
          <a:p>
            <a:endParaRPr lang="en-US" sz="1400" dirty="0">
              <a:latin typeface="Avenir Book" panose="02000503020000020003"/>
            </a:endParaRPr>
          </a:p>
          <a:p>
            <a:r>
              <a:rPr lang="en-US" sz="1400" dirty="0">
                <a:latin typeface="Avenir Book" panose="02000503020000020003"/>
              </a:rPr>
              <a:t>This document presents an overview of the governance framework for the Ilorin Innovation Hub, including its vision and mission, organizational structure, roles and responsibilities, decision-making processes, accountability mechanisms, stakeholder engagement strategies, risk management protocols, ethical considerations, and commitment to continuous improvement. By establishing clear guidelines and expectations, this governance structure aims to create an environment conducive to innovation, collaboration, and impact within the Ilorin Innovation Hub.</a:t>
            </a:r>
          </a:p>
        </p:txBody>
      </p:sp>
    </p:spTree>
    <p:extLst>
      <p:ext uri="{BB962C8B-B14F-4D97-AF65-F5344CB8AC3E}">
        <p14:creationId xmlns:p14="http://schemas.microsoft.com/office/powerpoint/2010/main" val="26567110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Vision &amp; Mission</a:t>
            </a:r>
          </a:p>
        </p:txBody>
      </p:sp>
      <p:sp>
        <p:nvSpPr>
          <p:cNvPr id="5" name="TextBox 4">
            <a:extLst>
              <a:ext uri="{FF2B5EF4-FFF2-40B4-BE49-F238E27FC236}">
                <a16:creationId xmlns:a16="http://schemas.microsoft.com/office/drawing/2014/main" id="{2ECA561F-4036-44BF-9DB7-CE5F38BE89B3}"/>
              </a:ext>
            </a:extLst>
          </p:cNvPr>
          <p:cNvSpPr txBox="1"/>
          <p:nvPr/>
        </p:nvSpPr>
        <p:spPr>
          <a:xfrm>
            <a:off x="411549" y="2614601"/>
            <a:ext cx="8320902" cy="2554545"/>
          </a:xfrm>
          <a:prstGeom prst="rect">
            <a:avLst/>
          </a:prstGeom>
          <a:noFill/>
        </p:spPr>
        <p:txBody>
          <a:bodyPr wrap="square">
            <a:spAutoFit/>
          </a:bodyPr>
          <a:lstStyle/>
          <a:p>
            <a:pPr algn="ctr"/>
            <a:r>
              <a:rPr lang="en-US" sz="1600" b="1" dirty="0">
                <a:latin typeface="Avenir Book" panose="02000503020000020003" pitchFamily="2" charset="0"/>
              </a:rPr>
              <a:t>Vision Statement:</a:t>
            </a:r>
          </a:p>
          <a:p>
            <a:pPr algn="ctr"/>
            <a:r>
              <a:rPr lang="en-US" sz="1600" dirty="0">
                <a:latin typeface="Avenir Book" panose="02000503020000020003" pitchFamily="2" charset="0"/>
              </a:rPr>
              <a:t>To transform the region by making it economically self-sustainable through digital literacy, youth empowerment, and innovation. We aim to be a catalyst for positive change and sustainable development, creating a model for success that will inspire and impact communities.</a:t>
            </a:r>
          </a:p>
          <a:p>
            <a:pPr algn="ctr"/>
            <a:endParaRPr lang="en-US" sz="1600" dirty="0">
              <a:latin typeface="Avenir Book" panose="02000503020000020003" pitchFamily="2" charset="0"/>
            </a:endParaRPr>
          </a:p>
          <a:p>
            <a:pPr algn="ctr"/>
            <a:r>
              <a:rPr lang="en-US" sz="1600" b="1" dirty="0">
                <a:latin typeface="Avenir Book" panose="02000503020000020003" pitchFamily="2" charset="0"/>
              </a:rPr>
              <a:t>Mission Statement:</a:t>
            </a:r>
          </a:p>
          <a:p>
            <a:pPr algn="ctr"/>
            <a:r>
              <a:rPr lang="en-US" sz="1600" dirty="0">
                <a:latin typeface="Avenir Book" panose="02000503020000020003" pitchFamily="2" charset="0"/>
              </a:rPr>
              <a:t>To foster innovation, entrepreneurship, and social impact by creating a dynamic ecosystem where ideas thrive, partnerships flourish, and youth succeed through modern technology.</a:t>
            </a:r>
          </a:p>
        </p:txBody>
      </p:sp>
      <p:sp>
        <p:nvSpPr>
          <p:cNvPr id="6" name="TextBox 5">
            <a:extLst>
              <a:ext uri="{FF2B5EF4-FFF2-40B4-BE49-F238E27FC236}">
                <a16:creationId xmlns:a16="http://schemas.microsoft.com/office/drawing/2014/main" id="{868E07DE-C481-4D1E-973B-4479E972565B}"/>
              </a:ext>
            </a:extLst>
          </p:cNvPr>
          <p:cNvSpPr txBox="1"/>
          <p:nvPr/>
        </p:nvSpPr>
        <p:spPr>
          <a:xfrm>
            <a:off x="271814" y="1313972"/>
            <a:ext cx="8600371" cy="1077218"/>
          </a:xfrm>
          <a:prstGeom prst="rect">
            <a:avLst/>
          </a:prstGeom>
          <a:noFill/>
        </p:spPr>
        <p:txBody>
          <a:bodyPr wrap="square">
            <a:spAutoFit/>
          </a:bodyPr>
          <a:lstStyle/>
          <a:p>
            <a:pPr algn="just"/>
            <a:r>
              <a:rPr lang="en-US" sz="1600" dirty="0">
                <a:latin typeface="Avenir Book" panose="02000503020000020003"/>
              </a:rPr>
              <a:t>The vision and mission of the Ilorin Innovation Hub are closely aligned with the strategic priorities of the </a:t>
            </a:r>
            <a:r>
              <a:rPr lang="en-US" sz="1600" dirty="0" err="1">
                <a:latin typeface="Avenir Book" panose="02000503020000020003"/>
              </a:rPr>
              <a:t>Kwara</a:t>
            </a:r>
            <a:r>
              <a:rPr lang="en-US" sz="1600" dirty="0">
                <a:latin typeface="Avenir Book" panose="02000503020000020003"/>
              </a:rPr>
              <a:t> State Government. By leveraging the resources, expertise, and networks available through the Ilorin Innovation Hub, we aim to contribute significantly to the achievement of these priorities and the overall prosperity and well-being of our state.</a:t>
            </a:r>
          </a:p>
        </p:txBody>
      </p:sp>
    </p:spTree>
    <p:extLst>
      <p:ext uri="{BB962C8B-B14F-4D97-AF65-F5344CB8AC3E}">
        <p14:creationId xmlns:p14="http://schemas.microsoft.com/office/powerpoint/2010/main" val="1359785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a:solidFill>
                  <a:schemeClr val="bg1"/>
                </a:solidFill>
                <a:latin typeface="Roboto Light" panose="02000000000000000000" pitchFamily="2" charset="0"/>
                <a:ea typeface="Roboto Light" panose="02000000000000000000" pitchFamily="2" charset="0"/>
              </a:rPr>
              <a:t>Values</a:t>
            </a:r>
            <a:endParaRPr lang="en-US" sz="2800" dirty="0">
              <a:solidFill>
                <a:schemeClr val="bg1"/>
              </a:solidFill>
              <a:latin typeface="Roboto Light" panose="02000000000000000000" pitchFamily="2" charset="0"/>
              <a:ea typeface="Roboto Light" panose="02000000000000000000" pitchFamily="2" charset="0"/>
            </a:endParaRPr>
          </a:p>
        </p:txBody>
      </p:sp>
      <p:graphicFrame>
        <p:nvGraphicFramePr>
          <p:cNvPr id="10" name="TextBox 4">
            <a:extLst>
              <a:ext uri="{FF2B5EF4-FFF2-40B4-BE49-F238E27FC236}">
                <a16:creationId xmlns:a16="http://schemas.microsoft.com/office/drawing/2014/main" id="{302DE2AC-EF61-A6CD-4E95-E7A3F1139CD8}"/>
              </a:ext>
            </a:extLst>
          </p:cNvPr>
          <p:cNvGraphicFramePr/>
          <p:nvPr>
            <p:extLst>
              <p:ext uri="{D42A27DB-BD31-4B8C-83A1-F6EECF244321}">
                <p14:modId xmlns:p14="http://schemas.microsoft.com/office/powerpoint/2010/main" val="795382188"/>
              </p:ext>
            </p:extLst>
          </p:nvPr>
        </p:nvGraphicFramePr>
        <p:xfrm>
          <a:off x="796073" y="1174836"/>
          <a:ext cx="7061200" cy="54899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71530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Governance</a:t>
            </a:r>
          </a:p>
        </p:txBody>
      </p:sp>
      <p:sp>
        <p:nvSpPr>
          <p:cNvPr id="6" name="TextBox 5">
            <a:extLst>
              <a:ext uri="{FF2B5EF4-FFF2-40B4-BE49-F238E27FC236}">
                <a16:creationId xmlns:a16="http://schemas.microsoft.com/office/drawing/2014/main" id="{868E07DE-C481-4D1E-973B-4479E972565B}"/>
              </a:ext>
            </a:extLst>
          </p:cNvPr>
          <p:cNvSpPr txBox="1"/>
          <p:nvPr/>
        </p:nvSpPr>
        <p:spPr>
          <a:xfrm>
            <a:off x="193757" y="1146706"/>
            <a:ext cx="8872186" cy="5558188"/>
          </a:xfrm>
          <a:prstGeom prst="rect">
            <a:avLst/>
          </a:prstGeom>
          <a:noFill/>
        </p:spPr>
        <p:txBody>
          <a:bodyPr wrap="square">
            <a:spAutoFit/>
          </a:bodyPr>
          <a:lstStyle/>
          <a:p>
            <a:pPr>
              <a:lnSpc>
                <a:spcPct val="150000"/>
              </a:lnSpc>
            </a:pPr>
            <a:r>
              <a:rPr lang="en-US" sz="1400" dirty="0">
                <a:latin typeface="Avenir Book" panose="02000503020000020003" pitchFamily="2" charset="0"/>
              </a:rPr>
              <a:t>The governance of the Ilorin Innovation Hub is anchored in principles of transparency, accountability, equity, and stakeholder participation. These principles guide decision-making, resource allocation, and performance evaluation, ensuring that the Hub operates with integrity and prioritizes the best interests of its stakeholders.</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The Ilorin Innovation Hub stands as a pioneering public-private initiative, uniting the resources, expertise, and networks of the Kwara State Government and private sector partners. This collaborative model leverages the strengths of both sectors to drive innovation, economic growth, and social impact, maximizing the Hub’s effectiveness and sustainability in achieving its goals.</a:t>
            </a:r>
          </a:p>
          <a:p>
            <a:pPr>
              <a:lnSpc>
                <a:spcPct val="150000"/>
              </a:lnSpc>
            </a:pPr>
            <a:endParaRPr lang="en-US" sz="1400" dirty="0">
              <a:latin typeface="Avenir Book" panose="02000503020000020003" pitchFamily="2" charset="0"/>
            </a:endParaRPr>
          </a:p>
          <a:p>
            <a:pPr>
              <a:lnSpc>
                <a:spcPct val="150000"/>
              </a:lnSpc>
            </a:pPr>
            <a:r>
              <a:rPr lang="en-US" sz="1400" dirty="0">
                <a:latin typeface="Avenir Book" panose="02000503020000020003" pitchFamily="2" charset="0"/>
              </a:rPr>
              <a:t>While the Ilorin Innovation Hub is primarily operated by its independent staff, certain specialized functions will be managed by an Innovation Management Partner from the private sector. This approach ensures that the Hub benefits from the expertise and experience required for advanced innovation management.</a:t>
            </a:r>
          </a:p>
          <a:p>
            <a:pPr>
              <a:lnSpc>
                <a:spcPct val="150000"/>
              </a:lnSpc>
            </a:pPr>
            <a:r>
              <a:rPr lang="en-US" sz="1400" dirty="0">
                <a:latin typeface="Avenir Book" panose="02000503020000020003" pitchFamily="2" charset="0"/>
              </a:rPr>
              <a:t>As the inaugural Innovation Management Partner, IHS Towers contributes valuable resources, including staff expertise, technological infrastructure, and industry networks, to the Hub’s ecosystem. This strategic partnership enables the state government to harness IHS’s capabilities in telecommunications, enhancing the Hub’s operational efficiency, expanding its reach, and delivering innovative solutions to stakeholders across Kwara State.</a:t>
            </a:r>
          </a:p>
        </p:txBody>
      </p:sp>
    </p:spTree>
    <p:extLst>
      <p:ext uri="{BB962C8B-B14F-4D97-AF65-F5344CB8AC3E}">
        <p14:creationId xmlns:p14="http://schemas.microsoft.com/office/powerpoint/2010/main" val="3978091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049FC9D-3403-B146-A1EE-4E7DED7850F3}"/>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92E65C9-823C-2445-AE3E-ED23EB0B5BAB}"/>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Structure &amp; Operations</a:t>
            </a:r>
          </a:p>
        </p:txBody>
      </p:sp>
      <p:sp>
        <p:nvSpPr>
          <p:cNvPr id="2" name="Rectangle 1">
            <a:extLst>
              <a:ext uri="{FF2B5EF4-FFF2-40B4-BE49-F238E27FC236}">
                <a16:creationId xmlns:a16="http://schemas.microsoft.com/office/drawing/2014/main" id="{043071D0-2F8D-E14C-B7CC-B3853FCDCB0D}"/>
              </a:ext>
            </a:extLst>
          </p:cNvPr>
          <p:cNvSpPr/>
          <p:nvPr/>
        </p:nvSpPr>
        <p:spPr>
          <a:xfrm>
            <a:off x="3331922" y="2069390"/>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0" name="Rectangle 9">
            <a:extLst>
              <a:ext uri="{FF2B5EF4-FFF2-40B4-BE49-F238E27FC236}">
                <a16:creationId xmlns:a16="http://schemas.microsoft.com/office/drawing/2014/main" id="{6FD8AC99-43D0-9343-B1C4-1AC357EF7AD5}"/>
              </a:ext>
            </a:extLst>
          </p:cNvPr>
          <p:cNvSpPr/>
          <p:nvPr/>
        </p:nvSpPr>
        <p:spPr>
          <a:xfrm>
            <a:off x="3331922" y="1173264"/>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Governing Board</a:t>
            </a:r>
          </a:p>
        </p:txBody>
      </p:sp>
      <p:sp>
        <p:nvSpPr>
          <p:cNvPr id="11" name="Rectangle 10">
            <a:extLst>
              <a:ext uri="{FF2B5EF4-FFF2-40B4-BE49-F238E27FC236}">
                <a16:creationId xmlns:a16="http://schemas.microsoft.com/office/drawing/2014/main" id="{B60FED1F-C71E-8149-B451-998EA9D809B5}"/>
              </a:ext>
            </a:extLst>
          </p:cNvPr>
          <p:cNvSpPr/>
          <p:nvPr/>
        </p:nvSpPr>
        <p:spPr>
          <a:xfrm>
            <a:off x="413359" y="3324081"/>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Talent</a:t>
            </a:r>
          </a:p>
        </p:txBody>
      </p:sp>
      <p:sp>
        <p:nvSpPr>
          <p:cNvPr id="12" name="Rectangle 11">
            <a:extLst>
              <a:ext uri="{FF2B5EF4-FFF2-40B4-BE49-F238E27FC236}">
                <a16:creationId xmlns:a16="http://schemas.microsoft.com/office/drawing/2014/main" id="{A1F634FF-A9DB-AA4F-9916-01A46D454301}"/>
              </a:ext>
            </a:extLst>
          </p:cNvPr>
          <p:cNvSpPr/>
          <p:nvPr/>
        </p:nvSpPr>
        <p:spPr>
          <a:xfrm>
            <a:off x="1940492" y="3324081"/>
            <a:ext cx="1605417"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834004" y="3324081"/>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2166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IT &amp; Marketing</a:t>
            </a:r>
          </a:p>
        </p:txBody>
      </p:sp>
      <p:sp>
        <p:nvSpPr>
          <p:cNvPr id="15" name="Rectangle 14">
            <a:extLst>
              <a:ext uri="{FF2B5EF4-FFF2-40B4-BE49-F238E27FC236}">
                <a16:creationId xmlns:a16="http://schemas.microsoft.com/office/drawing/2014/main" id="{6B465138-B9AE-7449-A431-ACAEB43604BE}"/>
              </a:ext>
            </a:extLst>
          </p:cNvPr>
          <p:cNvSpPr/>
          <p:nvPr/>
        </p:nvSpPr>
        <p:spPr>
          <a:xfrm>
            <a:off x="5689945" y="3324081"/>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HR</a:t>
            </a:r>
          </a:p>
        </p:txBody>
      </p:sp>
      <p:sp>
        <p:nvSpPr>
          <p:cNvPr id="16" name="TextBox 15">
            <a:extLst>
              <a:ext uri="{FF2B5EF4-FFF2-40B4-BE49-F238E27FC236}">
                <a16:creationId xmlns:a16="http://schemas.microsoft.com/office/drawing/2014/main" id="{35D57A60-8811-6F47-A2D2-A35EA8BDF56F}"/>
              </a:ext>
            </a:extLst>
          </p:cNvPr>
          <p:cNvSpPr txBox="1"/>
          <p:nvPr/>
        </p:nvSpPr>
        <p:spPr>
          <a:xfrm>
            <a:off x="375781" y="3995803"/>
            <a:ext cx="1471808" cy="899349"/>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Training Programs</a:t>
            </a:r>
          </a:p>
          <a:p>
            <a:pPr marL="171450" indent="-171450">
              <a:lnSpc>
                <a:spcPct val="150000"/>
              </a:lnSpc>
              <a:buFont typeface="Wingdings" pitchFamily="2" charset="2"/>
              <a:buChar char="§"/>
            </a:pPr>
            <a:r>
              <a:rPr lang="en-US" sz="1200" dirty="0">
                <a:latin typeface="Avenir Book" panose="02000503020000020003" pitchFamily="2" charset="0"/>
              </a:rPr>
              <a:t>Field Research</a:t>
            </a:r>
          </a:p>
        </p:txBody>
      </p:sp>
      <p:sp>
        <p:nvSpPr>
          <p:cNvPr id="17" name="TextBox 16">
            <a:extLst>
              <a:ext uri="{FF2B5EF4-FFF2-40B4-BE49-F238E27FC236}">
                <a16:creationId xmlns:a16="http://schemas.microsoft.com/office/drawing/2014/main" id="{97ABF986-217F-9640-AB46-0231DA7330A9}"/>
              </a:ext>
            </a:extLst>
          </p:cNvPr>
          <p:cNvSpPr txBox="1"/>
          <p:nvPr/>
        </p:nvSpPr>
        <p:spPr>
          <a:xfrm>
            <a:off x="1885167" y="3995803"/>
            <a:ext cx="1709803" cy="2007344"/>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Incubator Programs</a:t>
            </a:r>
          </a:p>
          <a:p>
            <a:pPr marL="171450" indent="-171450">
              <a:lnSpc>
                <a:spcPct val="150000"/>
              </a:lnSpc>
              <a:buFont typeface="Wingdings" pitchFamily="2" charset="2"/>
              <a:buChar char="§"/>
            </a:pPr>
            <a:r>
              <a:rPr lang="en-US" sz="1200" dirty="0">
                <a:latin typeface="Avenir Book" panose="02000503020000020003" pitchFamily="2" charset="0"/>
              </a:rPr>
              <a:t>Accelerator Programs</a:t>
            </a:r>
          </a:p>
          <a:p>
            <a:pPr marL="171450" indent="-171450">
              <a:lnSpc>
                <a:spcPct val="150000"/>
              </a:lnSpc>
              <a:buFont typeface="Wingdings" pitchFamily="2" charset="2"/>
              <a:buChar char="§"/>
            </a:pPr>
            <a:r>
              <a:rPr lang="en-US" sz="1200" dirty="0">
                <a:latin typeface="Avenir Book" panose="02000503020000020003" pitchFamily="2" charset="0"/>
              </a:rPr>
              <a:t>Grants</a:t>
            </a:r>
          </a:p>
          <a:p>
            <a:pPr marL="171450" indent="-171450">
              <a:lnSpc>
                <a:spcPct val="150000"/>
              </a:lnSpc>
              <a:buFont typeface="Wingdings" pitchFamily="2" charset="2"/>
              <a:buChar char="§"/>
            </a:pPr>
            <a:r>
              <a:rPr lang="en-US" sz="1200" dirty="0">
                <a:latin typeface="Avenir Book" panose="02000503020000020003" pitchFamily="2" charset="0"/>
              </a:rPr>
              <a:t>Remote Work</a:t>
            </a:r>
          </a:p>
          <a:p>
            <a:pPr marL="171450" indent="-171450">
              <a:lnSpc>
                <a:spcPct val="150000"/>
              </a:lnSpc>
              <a:buFont typeface="Wingdings" pitchFamily="2" charset="2"/>
              <a:buChar char="§"/>
            </a:pPr>
            <a:r>
              <a:rPr lang="en-US" sz="1200" dirty="0">
                <a:latin typeface="Avenir Book" panose="02000503020000020003" pitchFamily="2" charset="0"/>
              </a:rPr>
              <a:t>Business Process Outsourcing</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834004" y="3995803"/>
            <a:ext cx="1709803" cy="1730345"/>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Coworking</a:t>
            </a:r>
          </a:p>
          <a:p>
            <a:pPr marL="171450" indent="-171450">
              <a:lnSpc>
                <a:spcPct val="150000"/>
              </a:lnSpc>
              <a:buFont typeface="Wingdings" pitchFamily="2" charset="2"/>
              <a:buChar char="§"/>
            </a:pPr>
            <a:r>
              <a:rPr lang="en-US" sz="1200" dirty="0">
                <a:latin typeface="Avenir Book" panose="02000503020000020003" pitchFamily="2" charset="0"/>
              </a:rPr>
              <a:t>Events &amp; Competitions</a:t>
            </a:r>
          </a:p>
          <a:p>
            <a:pPr marL="171450" indent="-171450">
              <a:lnSpc>
                <a:spcPct val="150000"/>
              </a:lnSpc>
              <a:buFont typeface="Wingdings" pitchFamily="2" charset="2"/>
              <a:buChar char="§"/>
            </a:pPr>
            <a:r>
              <a:rPr lang="en-US" sz="1200" dirty="0">
                <a:latin typeface="Avenir Book" panose="02000503020000020003" pitchFamily="2" charset="0"/>
              </a:rPr>
              <a:t>Conferences, Seminars &amp; Webinars</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689945" y="3995803"/>
            <a:ext cx="1631057" cy="1453347"/>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Office Admin</a:t>
            </a:r>
          </a:p>
          <a:p>
            <a:pPr marL="171450" indent="-171450">
              <a:lnSpc>
                <a:spcPct val="150000"/>
              </a:lnSpc>
              <a:buFont typeface="Wingdings" pitchFamily="2" charset="2"/>
              <a:buChar char="§"/>
            </a:pPr>
            <a:r>
              <a:rPr lang="en-US" sz="1200" dirty="0">
                <a:latin typeface="Avenir Book" panose="02000503020000020003" pitchFamily="2" charset="0"/>
              </a:rPr>
              <a:t>HR</a:t>
            </a:r>
          </a:p>
          <a:p>
            <a:pPr marL="171450" indent="-171450">
              <a:lnSpc>
                <a:spcPct val="150000"/>
              </a:lnSpc>
              <a:buFont typeface="Wingdings" pitchFamily="2" charset="2"/>
              <a:buChar char="§"/>
            </a:pPr>
            <a:r>
              <a:rPr lang="en-US" sz="1200" dirty="0">
                <a:latin typeface="Avenir Book" panose="02000503020000020003" pitchFamily="2" charset="0"/>
              </a:rPr>
              <a:t>Facility Mgt</a:t>
            </a:r>
          </a:p>
          <a:p>
            <a:pPr marL="171450" indent="-171450">
              <a:lnSpc>
                <a:spcPct val="150000"/>
              </a:lnSpc>
              <a:buFont typeface="Wingdings" pitchFamily="2" charset="2"/>
              <a:buChar char="§"/>
            </a:pPr>
            <a:r>
              <a:rPr lang="en-US" sz="1200" dirty="0">
                <a:latin typeface="Avenir Book" panose="02000503020000020003" pitchFamily="2" charset="0"/>
              </a:rPr>
              <a:t>Human Resources</a:t>
            </a:r>
          </a:p>
          <a:p>
            <a:pPr marL="171450" indent="-171450">
              <a:lnSpc>
                <a:spcPct val="150000"/>
              </a:lnSpc>
              <a:buFont typeface="Wingdings" pitchFamily="2" charset="2"/>
              <a:buChar char="§"/>
            </a:pPr>
            <a:r>
              <a:rPr lang="en-US" sz="1200" dirty="0">
                <a:latin typeface="Avenir Book" panose="02000503020000020003" pitchFamily="2" charset="0"/>
              </a:rPr>
              <a:t>Logistics</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399748" y="4029979"/>
            <a:ext cx="1441529" cy="2007344"/>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latin typeface="Avenir Book" panose="02000503020000020003" pitchFamily="2" charset="0"/>
              </a:rPr>
              <a:t>eGovernment</a:t>
            </a:r>
          </a:p>
          <a:p>
            <a:pPr marL="171450" indent="-171450">
              <a:lnSpc>
                <a:spcPct val="150000"/>
              </a:lnSpc>
              <a:buFont typeface="Wingdings" pitchFamily="2" charset="2"/>
              <a:buChar char="§"/>
            </a:pPr>
            <a:r>
              <a:rPr lang="en-US" sz="1200" dirty="0">
                <a:latin typeface="Avenir Book" panose="02000503020000020003" pitchFamily="2" charset="0"/>
              </a:rPr>
              <a:t>Website &amp; Email Management</a:t>
            </a:r>
          </a:p>
          <a:p>
            <a:pPr marL="171450" indent="-171450">
              <a:lnSpc>
                <a:spcPct val="150000"/>
              </a:lnSpc>
              <a:buFont typeface="Wingdings" pitchFamily="2" charset="2"/>
              <a:buChar char="§"/>
            </a:pPr>
            <a:r>
              <a:rPr lang="en-US" sz="1200" dirty="0">
                <a:latin typeface="Avenir Book" panose="02000503020000020003" pitchFamily="2" charset="0"/>
              </a:rPr>
              <a:t>IT Support</a:t>
            </a:r>
          </a:p>
          <a:p>
            <a:pPr marL="171450" indent="-171450">
              <a:lnSpc>
                <a:spcPct val="150000"/>
              </a:lnSpc>
              <a:buFont typeface="Wingdings" pitchFamily="2" charset="2"/>
              <a:buChar char="§"/>
            </a:pPr>
            <a:r>
              <a:rPr lang="en-US" sz="1200" dirty="0">
                <a:latin typeface="Avenir Book" panose="02000503020000020003" pitchFamily="2" charset="0"/>
              </a:rPr>
              <a:t>Marketing &amp; Social Media</a:t>
            </a:r>
          </a:p>
        </p:txBody>
      </p:sp>
      <p:cxnSp>
        <p:nvCxnSpPr>
          <p:cNvPr id="22" name="Straight Connector 21">
            <a:extLst>
              <a:ext uri="{FF2B5EF4-FFF2-40B4-BE49-F238E27FC236}">
                <a16:creationId xmlns:a16="http://schemas.microsoft.com/office/drawing/2014/main" id="{DB4EC7B4-F52F-2C41-A834-21FCB1CE3F02}"/>
              </a:ext>
            </a:extLst>
          </p:cNvPr>
          <p:cNvCxnSpPr>
            <a:stCxn id="10" idx="2"/>
            <a:endCxn id="2" idx="0"/>
          </p:cNvCxnSpPr>
          <p:nvPr/>
        </p:nvCxnSpPr>
        <p:spPr>
          <a:xfrm>
            <a:off x="4459265" y="1671710"/>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2E0EB59F-F08E-0B44-B8C3-3B33EBC38C11}"/>
              </a:ext>
            </a:extLst>
          </p:cNvPr>
          <p:cNvCxnSpPr>
            <a:stCxn id="2" idx="2"/>
          </p:cNvCxnSpPr>
          <p:nvPr/>
        </p:nvCxnSpPr>
        <p:spPr>
          <a:xfrm>
            <a:off x="4459265" y="2567836"/>
            <a:ext cx="0" cy="36325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p:nvPr/>
        </p:nvCxnSpPr>
        <p:spPr>
          <a:xfrm>
            <a:off x="1002082" y="2931090"/>
            <a:ext cx="71147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732761"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02082"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459264"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37783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16866" y="2926401"/>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2CDDFB1-4B35-6112-F365-3A329031E375}"/>
              </a:ext>
            </a:extLst>
          </p:cNvPr>
          <p:cNvSpPr/>
          <p:nvPr/>
        </p:nvSpPr>
        <p:spPr>
          <a:xfrm>
            <a:off x="6946521" y="2057900"/>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Finance</a:t>
            </a:r>
          </a:p>
        </p:txBody>
      </p:sp>
      <p:cxnSp>
        <p:nvCxnSpPr>
          <p:cNvPr id="21" name="Straight Connector 20">
            <a:extLst>
              <a:ext uri="{FF2B5EF4-FFF2-40B4-BE49-F238E27FC236}">
                <a16:creationId xmlns:a16="http://schemas.microsoft.com/office/drawing/2014/main" id="{A31A8064-D88A-3E46-CDFE-9C9BDCF70D23}"/>
              </a:ext>
            </a:extLst>
          </p:cNvPr>
          <p:cNvCxnSpPr>
            <a:cxnSpLocks/>
            <a:stCxn id="2" idx="3"/>
          </p:cNvCxnSpPr>
          <p:nvPr/>
        </p:nvCxnSpPr>
        <p:spPr>
          <a:xfrm>
            <a:off x="5586607" y="2318613"/>
            <a:ext cx="133555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F94A4D9A-890B-EE71-D91F-46CF6EBA94CF}"/>
              </a:ext>
            </a:extLst>
          </p:cNvPr>
          <p:cNvSpPr txBox="1"/>
          <p:nvPr/>
        </p:nvSpPr>
        <p:spPr>
          <a:xfrm>
            <a:off x="203654" y="1716661"/>
            <a:ext cx="2828790" cy="307777"/>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PROGRAM PARTNERS</a:t>
            </a:r>
          </a:p>
        </p:txBody>
      </p:sp>
    </p:spTree>
    <p:extLst>
      <p:ext uri="{BB962C8B-B14F-4D97-AF65-F5344CB8AC3E}">
        <p14:creationId xmlns:p14="http://schemas.microsoft.com/office/powerpoint/2010/main" val="480475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92E65C9-823C-2445-AE3E-ED23EB0B5BAB}"/>
              </a:ext>
            </a:extLst>
          </p:cNvPr>
          <p:cNvSpPr txBox="1"/>
          <p:nvPr/>
        </p:nvSpPr>
        <p:spPr>
          <a:xfrm>
            <a:off x="1388604" y="179899"/>
            <a:ext cx="6277811" cy="400110"/>
          </a:xfrm>
          <a:prstGeom prst="rect">
            <a:avLst/>
          </a:prstGeom>
          <a:noFill/>
        </p:spPr>
        <p:txBody>
          <a:bodyPr wrap="square" rtlCol="0">
            <a:spAutoFit/>
          </a:bodyPr>
          <a:lstStyle/>
          <a:p>
            <a:pPr algn="ctr"/>
            <a:r>
              <a:rPr lang="en-US" sz="2000" dirty="0">
                <a:solidFill>
                  <a:schemeClr val="tx1">
                    <a:lumMod val="85000"/>
                    <a:lumOff val="15000"/>
                  </a:schemeClr>
                </a:solidFill>
                <a:latin typeface="Avenir Book" panose="02000503020000020003" pitchFamily="2" charset="0"/>
                <a:ea typeface="Roboto Light" panose="02000000000000000000" pitchFamily="2" charset="0"/>
              </a:rPr>
              <a:t>IIH Structure &amp; Operations (Staffing)</a:t>
            </a:r>
          </a:p>
        </p:txBody>
      </p:sp>
      <p:sp>
        <p:nvSpPr>
          <p:cNvPr id="2" name="Rectangle 1">
            <a:extLst>
              <a:ext uri="{FF2B5EF4-FFF2-40B4-BE49-F238E27FC236}">
                <a16:creationId xmlns:a16="http://schemas.microsoft.com/office/drawing/2014/main" id="{043071D0-2F8D-E14C-B7CC-B3853FCDCB0D}"/>
              </a:ext>
            </a:extLst>
          </p:cNvPr>
          <p:cNvSpPr/>
          <p:nvPr/>
        </p:nvSpPr>
        <p:spPr>
          <a:xfrm>
            <a:off x="3400168" y="957362"/>
            <a:ext cx="225468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Managing Director</a:t>
            </a:r>
          </a:p>
        </p:txBody>
      </p:sp>
      <p:sp>
        <p:nvSpPr>
          <p:cNvPr id="11" name="Rectangle 10">
            <a:extLst>
              <a:ext uri="{FF2B5EF4-FFF2-40B4-BE49-F238E27FC236}">
                <a16:creationId xmlns:a16="http://schemas.microsoft.com/office/drawing/2014/main" id="{B60FED1F-C71E-8149-B451-998EA9D809B5}"/>
              </a:ext>
            </a:extLst>
          </p:cNvPr>
          <p:cNvSpPr/>
          <p:nvPr/>
        </p:nvSpPr>
        <p:spPr>
          <a:xfrm>
            <a:off x="124982" y="2533977"/>
            <a:ext cx="121502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Training &amp; Talent</a:t>
            </a:r>
          </a:p>
        </p:txBody>
      </p:sp>
      <p:sp>
        <p:nvSpPr>
          <p:cNvPr id="12" name="Rectangle 11">
            <a:extLst>
              <a:ext uri="{FF2B5EF4-FFF2-40B4-BE49-F238E27FC236}">
                <a16:creationId xmlns:a16="http://schemas.microsoft.com/office/drawing/2014/main" id="{A1F634FF-A9DB-AA4F-9916-01A46D454301}"/>
              </a:ext>
            </a:extLst>
          </p:cNvPr>
          <p:cNvSpPr/>
          <p:nvPr/>
        </p:nvSpPr>
        <p:spPr>
          <a:xfrm>
            <a:off x="1623565" y="2533977"/>
            <a:ext cx="181417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Startups &amp; Entrepreneurship</a:t>
            </a:r>
          </a:p>
        </p:txBody>
      </p:sp>
      <p:sp>
        <p:nvSpPr>
          <p:cNvPr id="13" name="Rectangle 12">
            <a:extLst>
              <a:ext uri="{FF2B5EF4-FFF2-40B4-BE49-F238E27FC236}">
                <a16:creationId xmlns:a16="http://schemas.microsoft.com/office/drawing/2014/main" id="{B48467C5-07BD-B04D-90C3-2269EDB9053C}"/>
              </a:ext>
            </a:extLst>
          </p:cNvPr>
          <p:cNvSpPr/>
          <p:nvPr/>
        </p:nvSpPr>
        <p:spPr>
          <a:xfrm>
            <a:off x="3685776" y="2533977"/>
            <a:ext cx="1555315"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Coworking &amp; Community</a:t>
            </a:r>
          </a:p>
        </p:txBody>
      </p:sp>
      <p:sp>
        <p:nvSpPr>
          <p:cNvPr id="14" name="Rectangle 13">
            <a:extLst>
              <a:ext uri="{FF2B5EF4-FFF2-40B4-BE49-F238E27FC236}">
                <a16:creationId xmlns:a16="http://schemas.microsoft.com/office/drawing/2014/main" id="{AB9D33C5-5A83-FA4C-A592-801DFD9E0C60}"/>
              </a:ext>
            </a:extLst>
          </p:cNvPr>
          <p:cNvSpPr/>
          <p:nvPr/>
        </p:nvSpPr>
        <p:spPr>
          <a:xfrm>
            <a:off x="7489912" y="2533977"/>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IT &amp; Marketing</a:t>
            </a:r>
          </a:p>
        </p:txBody>
      </p:sp>
      <p:sp>
        <p:nvSpPr>
          <p:cNvPr id="15" name="Rectangle 14">
            <a:extLst>
              <a:ext uri="{FF2B5EF4-FFF2-40B4-BE49-F238E27FC236}">
                <a16:creationId xmlns:a16="http://schemas.microsoft.com/office/drawing/2014/main" id="{6B465138-B9AE-7449-A431-ACAEB43604BE}"/>
              </a:ext>
            </a:extLst>
          </p:cNvPr>
          <p:cNvSpPr/>
          <p:nvPr/>
        </p:nvSpPr>
        <p:spPr>
          <a:xfrm>
            <a:off x="5758192" y="2533977"/>
            <a:ext cx="1555314"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Admin &amp; HR</a:t>
            </a:r>
          </a:p>
        </p:txBody>
      </p:sp>
      <p:sp>
        <p:nvSpPr>
          <p:cNvPr id="16" name="TextBox 15">
            <a:extLst>
              <a:ext uri="{FF2B5EF4-FFF2-40B4-BE49-F238E27FC236}">
                <a16:creationId xmlns:a16="http://schemas.microsoft.com/office/drawing/2014/main" id="{35D57A60-8811-6F47-A2D2-A35EA8BDF56F}"/>
              </a:ext>
            </a:extLst>
          </p:cNvPr>
          <p:cNvSpPr txBox="1"/>
          <p:nvPr/>
        </p:nvSpPr>
        <p:spPr>
          <a:xfrm>
            <a:off x="1964237" y="1714318"/>
            <a:ext cx="1858648" cy="345351"/>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solidFill>
                  <a:srgbClr val="00B0F0"/>
                </a:solidFill>
                <a:latin typeface="Avenir Book" panose="02000503020000020003" pitchFamily="2" charset="0"/>
              </a:rPr>
              <a:t>Director of Programs</a:t>
            </a:r>
          </a:p>
        </p:txBody>
      </p:sp>
      <p:sp>
        <p:nvSpPr>
          <p:cNvPr id="18" name="TextBox 17">
            <a:extLst>
              <a:ext uri="{FF2B5EF4-FFF2-40B4-BE49-F238E27FC236}">
                <a16:creationId xmlns:a16="http://schemas.microsoft.com/office/drawing/2014/main" id="{7D5F2207-B3DC-AC43-A7DD-38A7CE32A40B}"/>
              </a:ext>
            </a:extLst>
          </p:cNvPr>
          <p:cNvSpPr txBox="1"/>
          <p:nvPr/>
        </p:nvSpPr>
        <p:spPr>
          <a:xfrm>
            <a:off x="3569438" y="3165727"/>
            <a:ext cx="1787989"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Community Manager</a:t>
            </a:r>
          </a:p>
        </p:txBody>
      </p:sp>
      <p:sp>
        <p:nvSpPr>
          <p:cNvPr id="19" name="TextBox 18">
            <a:extLst>
              <a:ext uri="{FF2B5EF4-FFF2-40B4-BE49-F238E27FC236}">
                <a16:creationId xmlns:a16="http://schemas.microsoft.com/office/drawing/2014/main" id="{CFE1F8EE-EE05-1242-AE12-6B38F0AA3E1C}"/>
              </a:ext>
            </a:extLst>
          </p:cNvPr>
          <p:cNvSpPr txBox="1"/>
          <p:nvPr/>
        </p:nvSpPr>
        <p:spPr>
          <a:xfrm>
            <a:off x="5758192" y="3205699"/>
            <a:ext cx="1729856" cy="1593898"/>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Admin Associate</a:t>
            </a:r>
          </a:p>
          <a:p>
            <a:pPr marL="171450" indent="-171450">
              <a:lnSpc>
                <a:spcPct val="150000"/>
              </a:lnSpc>
              <a:buFont typeface="Wingdings" pitchFamily="2" charset="2"/>
              <a:buChar char="§"/>
            </a:pPr>
            <a:r>
              <a:rPr lang="en-US" sz="1100" dirty="0">
                <a:latin typeface="Avenir Book" panose="02000503020000020003" pitchFamily="2" charset="0"/>
              </a:rPr>
              <a:t>1 HR Associate</a:t>
            </a:r>
          </a:p>
          <a:p>
            <a:pPr marL="171450" indent="-171450">
              <a:lnSpc>
                <a:spcPct val="150000"/>
              </a:lnSpc>
              <a:buFont typeface="Wingdings" pitchFamily="2" charset="2"/>
              <a:buChar char="§"/>
            </a:pPr>
            <a:r>
              <a:rPr lang="en-US" sz="1100" dirty="0">
                <a:latin typeface="Avenir Book" panose="02000503020000020003" pitchFamily="2" charset="0"/>
              </a:rPr>
              <a:t>1 Facility Associate</a:t>
            </a:r>
          </a:p>
          <a:p>
            <a:pPr marL="171450" indent="-171450">
              <a:lnSpc>
                <a:spcPct val="150000"/>
              </a:lnSpc>
              <a:buFont typeface="Wingdings" pitchFamily="2" charset="2"/>
              <a:buChar char="§"/>
            </a:pPr>
            <a:r>
              <a:rPr lang="en-US" sz="1100" dirty="0">
                <a:latin typeface="Avenir Book" panose="02000503020000020003" pitchFamily="2" charset="0"/>
              </a:rPr>
              <a:t>1 Facility Support</a:t>
            </a:r>
          </a:p>
          <a:p>
            <a:pPr marL="171450" indent="-171450">
              <a:lnSpc>
                <a:spcPct val="150000"/>
              </a:lnSpc>
              <a:buFont typeface="Wingdings" pitchFamily="2" charset="2"/>
              <a:buChar char="§"/>
            </a:pPr>
            <a:r>
              <a:rPr lang="en-US" sz="1100" dirty="0">
                <a:latin typeface="Avenir Book" panose="02000503020000020003" pitchFamily="2" charset="0"/>
              </a:rPr>
              <a:t>1 Front Desk Support</a:t>
            </a:r>
          </a:p>
          <a:p>
            <a:pPr marL="171450" indent="-171450">
              <a:lnSpc>
                <a:spcPct val="150000"/>
              </a:lnSpc>
              <a:buFont typeface="Wingdings" pitchFamily="2" charset="2"/>
              <a:buChar char="§"/>
            </a:pPr>
            <a:r>
              <a:rPr lang="en-US" sz="1100" dirty="0">
                <a:latin typeface="Avenir Book" panose="02000503020000020003" pitchFamily="2" charset="0"/>
              </a:rPr>
              <a:t>1 Driver</a:t>
            </a:r>
          </a:p>
        </p:txBody>
      </p:sp>
      <p:sp>
        <p:nvSpPr>
          <p:cNvPr id="20" name="TextBox 19">
            <a:extLst>
              <a:ext uri="{FF2B5EF4-FFF2-40B4-BE49-F238E27FC236}">
                <a16:creationId xmlns:a16="http://schemas.microsoft.com/office/drawing/2014/main" id="{B68EAD80-01EE-5B4D-AEA5-5315A1A1C874}"/>
              </a:ext>
            </a:extLst>
          </p:cNvPr>
          <p:cNvSpPr txBox="1"/>
          <p:nvPr/>
        </p:nvSpPr>
        <p:spPr>
          <a:xfrm>
            <a:off x="7467995" y="3239875"/>
            <a:ext cx="1441529" cy="2355645"/>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IT Manager</a:t>
            </a:r>
          </a:p>
          <a:p>
            <a:pPr marL="171450" indent="-171450">
              <a:lnSpc>
                <a:spcPct val="150000"/>
              </a:lnSpc>
              <a:buFont typeface="Wingdings" pitchFamily="2" charset="2"/>
              <a:buChar char="§"/>
            </a:pPr>
            <a:r>
              <a:rPr lang="en-US" sz="1100" dirty="0">
                <a:latin typeface="Avenir Book" panose="02000503020000020003" pitchFamily="2" charset="0"/>
              </a:rPr>
              <a:t>2 IT Support Staff</a:t>
            </a:r>
          </a:p>
          <a:p>
            <a:pPr marL="171450" indent="-171450">
              <a:lnSpc>
                <a:spcPct val="150000"/>
              </a:lnSpc>
              <a:buFont typeface="Wingdings" pitchFamily="2" charset="2"/>
              <a:buChar char="§"/>
            </a:pPr>
            <a:r>
              <a:rPr lang="en-US" sz="1100" dirty="0">
                <a:latin typeface="Avenir Book" panose="02000503020000020003" pitchFamily="2" charset="0"/>
              </a:rPr>
              <a:t>1 Content Lead</a:t>
            </a:r>
          </a:p>
          <a:p>
            <a:pPr marL="171450" indent="-171450">
              <a:lnSpc>
                <a:spcPct val="150000"/>
              </a:lnSpc>
              <a:buFont typeface="Wingdings" pitchFamily="2" charset="2"/>
              <a:buChar char="§"/>
            </a:pPr>
            <a:r>
              <a:rPr lang="en-US" sz="1100" dirty="0">
                <a:latin typeface="Avenir Book" panose="02000503020000020003" pitchFamily="2" charset="0"/>
              </a:rPr>
              <a:t>1 Graphic &amp; Multimedia Designer</a:t>
            </a:r>
          </a:p>
          <a:p>
            <a:pPr marL="171450" indent="-171450">
              <a:lnSpc>
                <a:spcPct val="150000"/>
              </a:lnSpc>
              <a:buFont typeface="Wingdings" pitchFamily="2" charset="2"/>
              <a:buChar char="§"/>
            </a:pPr>
            <a:r>
              <a:rPr lang="en-US" sz="1100" dirty="0">
                <a:latin typeface="Avenir Book" panose="02000503020000020003" pitchFamily="2" charset="0"/>
              </a:rPr>
              <a:t>1 Social Media Manager</a:t>
            </a:r>
          </a:p>
        </p:txBody>
      </p:sp>
      <p:cxnSp>
        <p:nvCxnSpPr>
          <p:cNvPr id="24" name="Straight Connector 23">
            <a:extLst>
              <a:ext uri="{FF2B5EF4-FFF2-40B4-BE49-F238E27FC236}">
                <a16:creationId xmlns:a16="http://schemas.microsoft.com/office/drawing/2014/main" id="{2E0EB59F-F08E-0B44-B8C3-3B33EBC38C11}"/>
              </a:ext>
            </a:extLst>
          </p:cNvPr>
          <p:cNvCxnSpPr>
            <a:cxnSpLocks/>
            <a:stCxn id="2" idx="2"/>
          </p:cNvCxnSpPr>
          <p:nvPr/>
        </p:nvCxnSpPr>
        <p:spPr>
          <a:xfrm>
            <a:off x="4527511" y="1455808"/>
            <a:ext cx="0" cy="6804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EF47DDB-D5EB-3145-9FAA-51236DFD182D}"/>
              </a:ext>
            </a:extLst>
          </p:cNvPr>
          <p:cNvCxnSpPr>
            <a:cxnSpLocks/>
          </p:cNvCxnSpPr>
          <p:nvPr/>
        </p:nvCxnSpPr>
        <p:spPr>
          <a:xfrm>
            <a:off x="1076239" y="2140986"/>
            <a:ext cx="709599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4C6822B-F96F-9043-9A16-3A53089BD768}"/>
              </a:ext>
            </a:extLst>
          </p:cNvPr>
          <p:cNvCxnSpPr>
            <a:cxnSpLocks/>
          </p:cNvCxnSpPr>
          <p:nvPr/>
        </p:nvCxnSpPr>
        <p:spPr>
          <a:xfrm>
            <a:off x="2801008"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F997826-124D-E147-B467-3763EDFA097F}"/>
              </a:ext>
            </a:extLst>
          </p:cNvPr>
          <p:cNvCxnSpPr>
            <a:cxnSpLocks/>
          </p:cNvCxnSpPr>
          <p:nvPr/>
        </p:nvCxnSpPr>
        <p:spPr>
          <a:xfrm>
            <a:off x="1070329"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FEE9C72-2AB3-3C42-8487-67EED92E8547}"/>
              </a:ext>
            </a:extLst>
          </p:cNvPr>
          <p:cNvCxnSpPr>
            <a:cxnSpLocks/>
          </p:cNvCxnSpPr>
          <p:nvPr/>
        </p:nvCxnSpPr>
        <p:spPr>
          <a:xfrm>
            <a:off x="4347206" y="215323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000652E5-BFFA-754B-A760-A5CFBCBCDD86}"/>
              </a:ext>
            </a:extLst>
          </p:cNvPr>
          <p:cNvCxnSpPr>
            <a:cxnSpLocks/>
          </p:cNvCxnSpPr>
          <p:nvPr/>
        </p:nvCxnSpPr>
        <p:spPr>
          <a:xfrm>
            <a:off x="644608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C667EB8C-8BBC-B545-8BE7-3E2D19D9E651}"/>
              </a:ext>
            </a:extLst>
          </p:cNvPr>
          <p:cNvCxnSpPr>
            <a:cxnSpLocks/>
          </p:cNvCxnSpPr>
          <p:nvPr/>
        </p:nvCxnSpPr>
        <p:spPr>
          <a:xfrm>
            <a:off x="8185113" y="2136297"/>
            <a:ext cx="0" cy="39768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60690A6-75D3-C04F-AB5C-BDEAB437539C}"/>
              </a:ext>
            </a:extLst>
          </p:cNvPr>
          <p:cNvSpPr txBox="1"/>
          <p:nvPr/>
        </p:nvSpPr>
        <p:spPr>
          <a:xfrm>
            <a:off x="243814" y="5860414"/>
            <a:ext cx="2905633" cy="899349"/>
          </a:xfrm>
          <a:prstGeom prst="rect">
            <a:avLst/>
          </a:prstGeom>
          <a:noFill/>
        </p:spPr>
        <p:txBody>
          <a:bodyPr wrap="square" rtlCol="0">
            <a:spAutoFit/>
          </a:bodyPr>
          <a:lstStyle/>
          <a:p>
            <a:pPr>
              <a:lnSpc>
                <a:spcPct val="150000"/>
              </a:lnSpc>
            </a:pPr>
            <a:r>
              <a:rPr lang="en-US" sz="1200" dirty="0">
                <a:latin typeface="Avenir Book" panose="02000503020000020003" pitchFamily="2" charset="0"/>
              </a:rPr>
              <a:t>IIH Staff			16</a:t>
            </a:r>
          </a:p>
          <a:p>
            <a:pPr>
              <a:lnSpc>
                <a:spcPct val="150000"/>
              </a:lnSpc>
            </a:pPr>
            <a:r>
              <a:rPr lang="en-US" sz="1200" b="1" dirty="0">
                <a:solidFill>
                  <a:srgbClr val="2FF931"/>
                </a:solidFill>
                <a:latin typeface="Avenir Book" panose="02000503020000020003" pitchFamily="2" charset="0"/>
              </a:rPr>
              <a:t>Partner Staff			X</a:t>
            </a:r>
          </a:p>
          <a:p>
            <a:pPr>
              <a:lnSpc>
                <a:spcPct val="150000"/>
              </a:lnSpc>
            </a:pPr>
            <a:r>
              <a:rPr lang="en-US" sz="1200" b="1" dirty="0">
                <a:latin typeface="Avenir Book" panose="02000503020000020003" pitchFamily="2" charset="0"/>
              </a:rPr>
              <a:t>Total Staff			16 + X</a:t>
            </a:r>
          </a:p>
        </p:txBody>
      </p:sp>
      <p:sp>
        <p:nvSpPr>
          <p:cNvPr id="38" name="Rectangle 37">
            <a:extLst>
              <a:ext uri="{FF2B5EF4-FFF2-40B4-BE49-F238E27FC236}">
                <a16:creationId xmlns:a16="http://schemas.microsoft.com/office/drawing/2014/main" id="{7FD70D14-D2EC-D047-88F6-B9F78946B95B}"/>
              </a:ext>
            </a:extLst>
          </p:cNvPr>
          <p:cNvSpPr/>
          <p:nvPr/>
        </p:nvSpPr>
        <p:spPr>
          <a:xfrm>
            <a:off x="124982" y="4024129"/>
            <a:ext cx="3275181" cy="879933"/>
          </a:xfrm>
          <a:prstGeom prst="rect">
            <a:avLst/>
          </a:prstGeom>
          <a:noFill/>
          <a:ln w="28575">
            <a:solidFill>
              <a:srgbClr val="2FF93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9060D029-61A9-584D-893A-7FA4F41250A7}"/>
              </a:ext>
            </a:extLst>
          </p:cNvPr>
          <p:cNvSpPr txBox="1"/>
          <p:nvPr/>
        </p:nvSpPr>
        <p:spPr>
          <a:xfrm>
            <a:off x="320657" y="5163771"/>
            <a:ext cx="2828790" cy="307777"/>
          </a:xfrm>
          <a:prstGeom prst="rect">
            <a:avLst/>
          </a:prstGeom>
          <a:noFill/>
        </p:spPr>
        <p:txBody>
          <a:bodyPr wrap="square" rtlCol="0">
            <a:spAutoFit/>
          </a:bodyPr>
          <a:lstStyle/>
          <a:p>
            <a:pPr algn="ctr"/>
            <a:r>
              <a:rPr lang="en-US" sz="1400" b="1" dirty="0">
                <a:solidFill>
                  <a:srgbClr val="2FF931"/>
                </a:solidFill>
                <a:latin typeface="Avenir Black" panose="02000503020000020003" pitchFamily="2" charset="0"/>
              </a:rPr>
              <a:t>IHS PROGRAM PARTNERS</a:t>
            </a:r>
          </a:p>
        </p:txBody>
      </p:sp>
      <p:sp>
        <p:nvSpPr>
          <p:cNvPr id="6" name="Rectangle 5">
            <a:extLst>
              <a:ext uri="{FF2B5EF4-FFF2-40B4-BE49-F238E27FC236}">
                <a16:creationId xmlns:a16="http://schemas.microsoft.com/office/drawing/2014/main" id="{E8367813-99B3-62F9-00EE-CE2E717F4328}"/>
              </a:ext>
            </a:extLst>
          </p:cNvPr>
          <p:cNvSpPr/>
          <p:nvPr/>
        </p:nvSpPr>
        <p:spPr>
          <a:xfrm>
            <a:off x="7012443" y="957362"/>
            <a:ext cx="1419612" cy="498446"/>
          </a:xfrm>
          <a:prstGeom prst="rect">
            <a:avLst/>
          </a:prstGeom>
          <a:ln w="12700">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latin typeface="Avenir Book" panose="02000503020000020003" pitchFamily="2" charset="0"/>
              </a:rPr>
              <a:t>Finance</a:t>
            </a:r>
          </a:p>
        </p:txBody>
      </p:sp>
      <p:sp>
        <p:nvSpPr>
          <p:cNvPr id="7" name="TextBox 6">
            <a:extLst>
              <a:ext uri="{FF2B5EF4-FFF2-40B4-BE49-F238E27FC236}">
                <a16:creationId xmlns:a16="http://schemas.microsoft.com/office/drawing/2014/main" id="{9F2B719F-38DC-8EBE-7D9B-74ED207B381B}"/>
              </a:ext>
            </a:extLst>
          </p:cNvPr>
          <p:cNvSpPr txBox="1"/>
          <p:nvPr/>
        </p:nvSpPr>
        <p:spPr>
          <a:xfrm>
            <a:off x="524365" y="5148057"/>
            <a:ext cx="1471808" cy="324320"/>
          </a:xfrm>
          <a:prstGeom prst="rect">
            <a:avLst/>
          </a:prstGeom>
          <a:noFill/>
        </p:spPr>
        <p:txBody>
          <a:bodyPr wrap="square" rtlCol="0">
            <a:spAutoFit/>
          </a:bodyPr>
          <a:lstStyle/>
          <a:p>
            <a:pPr marL="171450" indent="-171450">
              <a:lnSpc>
                <a:spcPct val="150000"/>
              </a:lnSpc>
              <a:buFont typeface="Wingdings" pitchFamily="2" charset="2"/>
              <a:buChar char="§"/>
            </a:pPr>
            <a:endParaRPr lang="en-US" sz="1100" dirty="0">
              <a:latin typeface="Avenir Book" panose="02000503020000020003" pitchFamily="2" charset="0"/>
            </a:endParaRPr>
          </a:p>
        </p:txBody>
      </p:sp>
      <p:sp>
        <p:nvSpPr>
          <p:cNvPr id="8" name="TextBox 7">
            <a:extLst>
              <a:ext uri="{FF2B5EF4-FFF2-40B4-BE49-F238E27FC236}">
                <a16:creationId xmlns:a16="http://schemas.microsoft.com/office/drawing/2014/main" id="{364F3984-06D5-6470-EFBF-1AACD988E01F}"/>
              </a:ext>
            </a:extLst>
          </p:cNvPr>
          <p:cNvSpPr txBox="1"/>
          <p:nvPr/>
        </p:nvSpPr>
        <p:spPr>
          <a:xfrm>
            <a:off x="2884636" y="5148057"/>
            <a:ext cx="1602281" cy="324320"/>
          </a:xfrm>
          <a:prstGeom prst="rect">
            <a:avLst/>
          </a:prstGeom>
          <a:noFill/>
        </p:spPr>
        <p:txBody>
          <a:bodyPr wrap="square" rtlCol="0">
            <a:spAutoFit/>
          </a:bodyPr>
          <a:lstStyle/>
          <a:p>
            <a:pPr marL="171450" indent="-171450">
              <a:lnSpc>
                <a:spcPct val="150000"/>
              </a:lnSpc>
              <a:buFont typeface="Wingdings" pitchFamily="2" charset="2"/>
              <a:buChar char="§"/>
            </a:pPr>
            <a:endParaRPr lang="en-US" sz="1100" dirty="0">
              <a:latin typeface="Avenir Book" panose="02000503020000020003" pitchFamily="2" charset="0"/>
            </a:endParaRPr>
          </a:p>
        </p:txBody>
      </p:sp>
      <p:cxnSp>
        <p:nvCxnSpPr>
          <p:cNvPr id="9" name="Straight Connector 8">
            <a:extLst>
              <a:ext uri="{FF2B5EF4-FFF2-40B4-BE49-F238E27FC236}">
                <a16:creationId xmlns:a16="http://schemas.microsoft.com/office/drawing/2014/main" id="{D2F16312-2FA3-E52B-3B71-D052AA8C6456}"/>
              </a:ext>
            </a:extLst>
          </p:cNvPr>
          <p:cNvCxnSpPr>
            <a:cxnSpLocks/>
            <a:endCxn id="6" idx="1"/>
          </p:cNvCxnSpPr>
          <p:nvPr/>
        </p:nvCxnSpPr>
        <p:spPr>
          <a:xfrm>
            <a:off x="5646088" y="1206585"/>
            <a:ext cx="136635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3E431A4A-7172-F158-A202-D582843737A1}"/>
              </a:ext>
            </a:extLst>
          </p:cNvPr>
          <p:cNvSpPr txBox="1"/>
          <p:nvPr/>
        </p:nvSpPr>
        <p:spPr>
          <a:xfrm>
            <a:off x="6857321" y="1435712"/>
            <a:ext cx="1729856"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Finance Associate</a:t>
            </a:r>
          </a:p>
        </p:txBody>
      </p:sp>
      <p:sp>
        <p:nvSpPr>
          <p:cNvPr id="10" name="TextBox 9">
            <a:extLst>
              <a:ext uri="{FF2B5EF4-FFF2-40B4-BE49-F238E27FC236}">
                <a16:creationId xmlns:a16="http://schemas.microsoft.com/office/drawing/2014/main" id="{B1756B3D-93AD-674F-45D4-1F23A69CECF4}"/>
              </a:ext>
            </a:extLst>
          </p:cNvPr>
          <p:cNvSpPr txBox="1"/>
          <p:nvPr/>
        </p:nvSpPr>
        <p:spPr>
          <a:xfrm>
            <a:off x="5887104" y="1751007"/>
            <a:ext cx="2250679" cy="345351"/>
          </a:xfrm>
          <a:prstGeom prst="rect">
            <a:avLst/>
          </a:prstGeom>
          <a:noFill/>
        </p:spPr>
        <p:txBody>
          <a:bodyPr wrap="square" rtlCol="0">
            <a:spAutoFit/>
          </a:bodyPr>
          <a:lstStyle/>
          <a:p>
            <a:pPr marL="171450" indent="-171450">
              <a:lnSpc>
                <a:spcPct val="150000"/>
              </a:lnSpc>
              <a:buFont typeface="Wingdings" pitchFamily="2" charset="2"/>
              <a:buChar char="§"/>
            </a:pPr>
            <a:r>
              <a:rPr lang="en-US" sz="1200" dirty="0">
                <a:solidFill>
                  <a:srgbClr val="00B0F0"/>
                </a:solidFill>
                <a:latin typeface="Avenir Book" panose="02000503020000020003" pitchFamily="2" charset="0"/>
              </a:rPr>
              <a:t>Director of Operations</a:t>
            </a:r>
          </a:p>
        </p:txBody>
      </p:sp>
      <p:sp>
        <p:nvSpPr>
          <p:cNvPr id="25" name="TextBox 24">
            <a:extLst>
              <a:ext uri="{FF2B5EF4-FFF2-40B4-BE49-F238E27FC236}">
                <a16:creationId xmlns:a16="http://schemas.microsoft.com/office/drawing/2014/main" id="{7DA8EC10-5E39-E127-AC71-C985CC523433}"/>
              </a:ext>
            </a:extLst>
          </p:cNvPr>
          <p:cNvSpPr txBox="1"/>
          <p:nvPr/>
        </p:nvSpPr>
        <p:spPr>
          <a:xfrm>
            <a:off x="234476" y="5568013"/>
            <a:ext cx="2250679" cy="345351"/>
          </a:xfrm>
          <a:prstGeom prst="rect">
            <a:avLst/>
          </a:prstGeom>
          <a:noFill/>
        </p:spPr>
        <p:txBody>
          <a:bodyPr wrap="square" rtlCol="0">
            <a:spAutoFit/>
          </a:bodyPr>
          <a:lstStyle/>
          <a:p>
            <a:pPr>
              <a:lnSpc>
                <a:spcPct val="150000"/>
              </a:lnSpc>
            </a:pPr>
            <a:r>
              <a:rPr lang="en-US" sz="1200" dirty="0">
                <a:solidFill>
                  <a:srgbClr val="00B0F0"/>
                </a:solidFill>
                <a:latin typeface="Avenir Book" panose="02000503020000020003" pitchFamily="2" charset="0"/>
              </a:rPr>
              <a:t>Future Roles</a:t>
            </a:r>
          </a:p>
        </p:txBody>
      </p:sp>
      <p:cxnSp>
        <p:nvCxnSpPr>
          <p:cNvPr id="36" name="Straight Connector 35">
            <a:extLst>
              <a:ext uri="{FF2B5EF4-FFF2-40B4-BE49-F238E27FC236}">
                <a16:creationId xmlns:a16="http://schemas.microsoft.com/office/drawing/2014/main" id="{F93D4DA2-58A5-86F1-0BE6-21C79339936D}"/>
              </a:ext>
            </a:extLst>
          </p:cNvPr>
          <p:cNvCxnSpPr>
            <a:cxnSpLocks/>
          </p:cNvCxnSpPr>
          <p:nvPr/>
        </p:nvCxnSpPr>
        <p:spPr>
          <a:xfrm>
            <a:off x="5491647" y="1923682"/>
            <a:ext cx="0" cy="4726651"/>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1" name="TextBox 40">
            <a:extLst>
              <a:ext uri="{FF2B5EF4-FFF2-40B4-BE49-F238E27FC236}">
                <a16:creationId xmlns:a16="http://schemas.microsoft.com/office/drawing/2014/main" id="{3F19D543-5DB6-74FF-6F03-AC8FDDE72D9D}"/>
              </a:ext>
            </a:extLst>
          </p:cNvPr>
          <p:cNvSpPr txBox="1"/>
          <p:nvPr/>
        </p:nvSpPr>
        <p:spPr>
          <a:xfrm>
            <a:off x="1707468" y="3162664"/>
            <a:ext cx="1787989"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solidFill>
                  <a:schemeClr val="bg1">
                    <a:lumMod val="75000"/>
                  </a:schemeClr>
                </a:solidFill>
                <a:latin typeface="Avenir Book" panose="02000503020000020003" pitchFamily="2" charset="0"/>
              </a:rPr>
              <a:t>Program Manager</a:t>
            </a:r>
          </a:p>
        </p:txBody>
      </p:sp>
      <p:sp>
        <p:nvSpPr>
          <p:cNvPr id="42" name="TextBox 41">
            <a:extLst>
              <a:ext uri="{FF2B5EF4-FFF2-40B4-BE49-F238E27FC236}">
                <a16:creationId xmlns:a16="http://schemas.microsoft.com/office/drawing/2014/main" id="{D61413CA-CA5F-A9AA-2338-3C29B7D88E16}"/>
              </a:ext>
            </a:extLst>
          </p:cNvPr>
          <p:cNvSpPr txBox="1"/>
          <p:nvPr/>
        </p:nvSpPr>
        <p:spPr>
          <a:xfrm>
            <a:off x="7369" y="3159468"/>
            <a:ext cx="1787989"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solidFill>
                  <a:schemeClr val="bg1">
                    <a:lumMod val="75000"/>
                  </a:schemeClr>
                </a:solidFill>
                <a:latin typeface="Avenir Book" panose="02000503020000020003" pitchFamily="2" charset="0"/>
              </a:rPr>
              <a:t>Program Manager</a:t>
            </a:r>
          </a:p>
        </p:txBody>
      </p:sp>
      <p:sp>
        <p:nvSpPr>
          <p:cNvPr id="43" name="TextBox 42">
            <a:extLst>
              <a:ext uri="{FF2B5EF4-FFF2-40B4-BE49-F238E27FC236}">
                <a16:creationId xmlns:a16="http://schemas.microsoft.com/office/drawing/2014/main" id="{ECEE8664-C5BF-66A8-DDA9-B1EDEB29BEEB}"/>
              </a:ext>
            </a:extLst>
          </p:cNvPr>
          <p:cNvSpPr txBox="1"/>
          <p:nvPr/>
        </p:nvSpPr>
        <p:spPr>
          <a:xfrm>
            <a:off x="1711523" y="3496866"/>
            <a:ext cx="1787989"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solidFill>
                  <a:schemeClr val="bg1">
                    <a:lumMod val="75000"/>
                  </a:schemeClr>
                </a:solidFill>
                <a:latin typeface="Avenir Book" panose="02000503020000020003" pitchFamily="2" charset="0"/>
              </a:rPr>
              <a:t>Program Associate(s)</a:t>
            </a:r>
          </a:p>
        </p:txBody>
      </p:sp>
      <p:sp>
        <p:nvSpPr>
          <p:cNvPr id="44" name="TextBox 43">
            <a:extLst>
              <a:ext uri="{FF2B5EF4-FFF2-40B4-BE49-F238E27FC236}">
                <a16:creationId xmlns:a16="http://schemas.microsoft.com/office/drawing/2014/main" id="{D57D580B-A4EF-746A-FA89-5E5B7CFE186D}"/>
              </a:ext>
            </a:extLst>
          </p:cNvPr>
          <p:cNvSpPr txBox="1"/>
          <p:nvPr/>
        </p:nvSpPr>
        <p:spPr>
          <a:xfrm>
            <a:off x="11424" y="3493670"/>
            <a:ext cx="1787989"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solidFill>
                  <a:schemeClr val="bg1">
                    <a:lumMod val="75000"/>
                  </a:schemeClr>
                </a:solidFill>
                <a:latin typeface="Avenir Book" panose="02000503020000020003" pitchFamily="2" charset="0"/>
              </a:rPr>
              <a:t>Program Associate(s)</a:t>
            </a:r>
          </a:p>
        </p:txBody>
      </p:sp>
      <p:sp>
        <p:nvSpPr>
          <p:cNvPr id="45" name="TextBox 44">
            <a:extLst>
              <a:ext uri="{FF2B5EF4-FFF2-40B4-BE49-F238E27FC236}">
                <a16:creationId xmlns:a16="http://schemas.microsoft.com/office/drawing/2014/main" id="{6DC22D17-970D-4348-1936-DB59823187CA}"/>
              </a:ext>
            </a:extLst>
          </p:cNvPr>
          <p:cNvSpPr txBox="1"/>
          <p:nvPr/>
        </p:nvSpPr>
        <p:spPr>
          <a:xfrm>
            <a:off x="3565317" y="3521905"/>
            <a:ext cx="1787989"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solidFill>
                  <a:schemeClr val="bg1">
                    <a:lumMod val="75000"/>
                  </a:schemeClr>
                </a:solidFill>
                <a:latin typeface="Avenir Book" panose="02000503020000020003" pitchFamily="2" charset="0"/>
              </a:rPr>
              <a:t>Community Support</a:t>
            </a:r>
          </a:p>
        </p:txBody>
      </p:sp>
      <p:sp>
        <p:nvSpPr>
          <p:cNvPr id="46" name="TextBox 45">
            <a:extLst>
              <a:ext uri="{FF2B5EF4-FFF2-40B4-BE49-F238E27FC236}">
                <a16:creationId xmlns:a16="http://schemas.microsoft.com/office/drawing/2014/main" id="{4041816F-DB66-E7D1-F10A-7CBCD1850EF4}"/>
              </a:ext>
            </a:extLst>
          </p:cNvPr>
          <p:cNvSpPr txBox="1"/>
          <p:nvPr/>
        </p:nvSpPr>
        <p:spPr>
          <a:xfrm>
            <a:off x="4527509" y="1474077"/>
            <a:ext cx="1787989"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latin typeface="Avenir Book" panose="02000503020000020003" pitchFamily="2" charset="0"/>
              </a:rPr>
              <a:t>1 Executive Assistant</a:t>
            </a:r>
          </a:p>
        </p:txBody>
      </p:sp>
      <p:pic>
        <p:nvPicPr>
          <p:cNvPr id="48" name="Picture 47" descr="A logo with a flower&#10;&#10;AI-generated content may be incorrect.">
            <a:extLst>
              <a:ext uri="{FF2B5EF4-FFF2-40B4-BE49-F238E27FC236}">
                <a16:creationId xmlns:a16="http://schemas.microsoft.com/office/drawing/2014/main" id="{1BD32EA3-128E-BC4B-C59E-269F03BF22AE}"/>
              </a:ext>
            </a:extLst>
          </p:cNvPr>
          <p:cNvPicPr>
            <a:picLocks noChangeAspect="1"/>
          </p:cNvPicPr>
          <p:nvPr/>
        </p:nvPicPr>
        <p:blipFill>
          <a:blip r:embed="rId2"/>
          <a:srcRect t="30464" b="32073"/>
          <a:stretch/>
        </p:blipFill>
        <p:spPr>
          <a:xfrm>
            <a:off x="151108" y="4137320"/>
            <a:ext cx="1721190" cy="644805"/>
          </a:xfrm>
          <a:prstGeom prst="rect">
            <a:avLst/>
          </a:prstGeom>
        </p:spPr>
      </p:pic>
      <p:pic>
        <p:nvPicPr>
          <p:cNvPr id="50" name="Picture 49" descr="A logo with a hexagon and a blue and white text&#10;&#10;AI-generated content may be incorrect.">
            <a:extLst>
              <a:ext uri="{FF2B5EF4-FFF2-40B4-BE49-F238E27FC236}">
                <a16:creationId xmlns:a16="http://schemas.microsoft.com/office/drawing/2014/main" id="{43CE9D20-EE68-ED49-EC1B-9169F5D33444}"/>
              </a:ext>
            </a:extLst>
          </p:cNvPr>
          <p:cNvPicPr>
            <a:picLocks noChangeAspect="1"/>
          </p:cNvPicPr>
          <p:nvPr/>
        </p:nvPicPr>
        <p:blipFill>
          <a:blip r:embed="rId3"/>
          <a:srcRect t="23724" b="31561"/>
          <a:stretch/>
        </p:blipFill>
        <p:spPr>
          <a:xfrm>
            <a:off x="1799435" y="4110391"/>
            <a:ext cx="1462433" cy="653938"/>
          </a:xfrm>
          <a:prstGeom prst="rect">
            <a:avLst/>
          </a:prstGeom>
        </p:spPr>
      </p:pic>
      <p:sp>
        <p:nvSpPr>
          <p:cNvPr id="52" name="TextBox 51">
            <a:extLst>
              <a:ext uri="{FF2B5EF4-FFF2-40B4-BE49-F238E27FC236}">
                <a16:creationId xmlns:a16="http://schemas.microsoft.com/office/drawing/2014/main" id="{EB2793DF-D4A2-FABE-28AA-C1EAE0B2804E}"/>
              </a:ext>
            </a:extLst>
          </p:cNvPr>
          <p:cNvSpPr txBox="1"/>
          <p:nvPr/>
        </p:nvSpPr>
        <p:spPr>
          <a:xfrm>
            <a:off x="5757566" y="4787012"/>
            <a:ext cx="1787989" cy="324320"/>
          </a:xfrm>
          <a:prstGeom prst="rect">
            <a:avLst/>
          </a:prstGeom>
          <a:noFill/>
        </p:spPr>
        <p:txBody>
          <a:bodyPr wrap="square" rtlCol="0">
            <a:spAutoFit/>
          </a:bodyPr>
          <a:lstStyle/>
          <a:p>
            <a:pPr marL="171450" indent="-171450">
              <a:lnSpc>
                <a:spcPct val="150000"/>
              </a:lnSpc>
              <a:buFont typeface="Wingdings" pitchFamily="2" charset="2"/>
              <a:buChar char="§"/>
            </a:pPr>
            <a:r>
              <a:rPr lang="en-US" sz="1100" dirty="0">
                <a:solidFill>
                  <a:schemeClr val="bg1">
                    <a:lumMod val="75000"/>
                  </a:schemeClr>
                </a:solidFill>
                <a:latin typeface="Avenir Book" panose="02000503020000020003" pitchFamily="2" charset="0"/>
              </a:rPr>
              <a:t>Hospitality Support</a:t>
            </a:r>
          </a:p>
        </p:txBody>
      </p:sp>
    </p:spTree>
    <p:extLst>
      <p:ext uri="{BB962C8B-B14F-4D97-AF65-F5344CB8AC3E}">
        <p14:creationId xmlns:p14="http://schemas.microsoft.com/office/powerpoint/2010/main" val="31174618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Management</a:t>
            </a:r>
          </a:p>
        </p:txBody>
      </p:sp>
      <p:sp>
        <p:nvSpPr>
          <p:cNvPr id="6" name="TextBox 5">
            <a:extLst>
              <a:ext uri="{FF2B5EF4-FFF2-40B4-BE49-F238E27FC236}">
                <a16:creationId xmlns:a16="http://schemas.microsoft.com/office/drawing/2014/main" id="{868E07DE-C481-4D1E-973B-4479E972565B}"/>
              </a:ext>
            </a:extLst>
          </p:cNvPr>
          <p:cNvSpPr txBox="1"/>
          <p:nvPr/>
        </p:nvSpPr>
        <p:spPr>
          <a:xfrm>
            <a:off x="271814" y="1171732"/>
            <a:ext cx="8600371" cy="4832092"/>
          </a:xfrm>
          <a:prstGeom prst="rect">
            <a:avLst/>
          </a:prstGeom>
          <a:noFill/>
        </p:spPr>
        <p:txBody>
          <a:bodyPr wrap="square">
            <a:spAutoFit/>
          </a:bodyPr>
          <a:lstStyle/>
          <a:p>
            <a:pPr algn="just"/>
            <a:r>
              <a:rPr lang="en-US" sz="1400" b="1" dirty="0">
                <a:latin typeface="Avenir Book" panose="02000503020000020003"/>
              </a:rPr>
              <a:t>Governing Board:</a:t>
            </a:r>
          </a:p>
          <a:p>
            <a:pPr algn="just"/>
            <a:r>
              <a:rPr lang="en-US" sz="1400" dirty="0">
                <a:latin typeface="Avenir Book" panose="02000503020000020003"/>
              </a:rPr>
              <a:t>Comprised of representatives from the Kwara State Government, the Innovation Management Partner, private sector and academia, the Governing Board provides strategic direction, oversight, and guidance to ensure that the Hub operates in alignment with its mission and objectives. </a:t>
            </a:r>
          </a:p>
          <a:p>
            <a:pPr algn="just"/>
            <a:endParaRPr lang="en-US" sz="1400" dirty="0">
              <a:latin typeface="Avenir Book" panose="02000503020000020003"/>
            </a:endParaRPr>
          </a:p>
          <a:p>
            <a:pPr algn="just"/>
            <a:r>
              <a:rPr lang="en-US" sz="1400" dirty="0">
                <a:latin typeface="Avenir Book" panose="02000503020000020003"/>
              </a:rPr>
              <a:t>Key responsibilities of the Governing Board include:</a:t>
            </a:r>
          </a:p>
          <a:p>
            <a:pPr marL="285750" indent="-285750" algn="just">
              <a:buFont typeface="Arial" panose="020B0604020202020204" pitchFamily="34" charset="0"/>
              <a:buChar char="•"/>
            </a:pPr>
            <a:r>
              <a:rPr lang="en-US" sz="1400" dirty="0">
                <a:latin typeface="Avenir Book" panose="02000503020000020003"/>
              </a:rPr>
              <a:t>Setting strategic priorities and goals </a:t>
            </a:r>
          </a:p>
          <a:p>
            <a:pPr marL="285750" indent="-285750" algn="just">
              <a:buFont typeface="Arial" panose="020B0604020202020204" pitchFamily="34" charset="0"/>
              <a:buChar char="•"/>
            </a:pPr>
            <a:r>
              <a:rPr lang="en-US" sz="1400" dirty="0">
                <a:latin typeface="Avenir Book" panose="02000503020000020003"/>
              </a:rPr>
              <a:t>Approving annual budgets and financial plans.</a:t>
            </a:r>
          </a:p>
          <a:p>
            <a:pPr marL="285750" indent="-285750" algn="just">
              <a:buFont typeface="Arial" panose="020B0604020202020204" pitchFamily="34" charset="0"/>
              <a:buChar char="•"/>
            </a:pPr>
            <a:r>
              <a:rPr lang="en-US" sz="1400" dirty="0">
                <a:latin typeface="Avenir Book" panose="02000503020000020003"/>
              </a:rPr>
              <a:t>Monitoring performance and evaluating the effectiveness of the Ilorin Innovation Hub initiatives.</a:t>
            </a:r>
          </a:p>
          <a:p>
            <a:pPr marL="285750" indent="-285750" algn="just">
              <a:buFont typeface="Arial" panose="020B0604020202020204" pitchFamily="34" charset="0"/>
              <a:buChar char="•"/>
            </a:pPr>
            <a:r>
              <a:rPr lang="en-US" sz="1400" dirty="0">
                <a:latin typeface="Avenir Book" panose="02000503020000020003"/>
              </a:rPr>
              <a:t>Providing support and guidance to executive leadership.</a:t>
            </a:r>
          </a:p>
          <a:p>
            <a:pPr algn="just"/>
            <a:endParaRPr lang="en-US" sz="1400" dirty="0">
              <a:latin typeface="Avenir Book" panose="02000503020000020003"/>
            </a:endParaRPr>
          </a:p>
          <a:p>
            <a:pPr algn="just"/>
            <a:r>
              <a:rPr lang="en-US" sz="1400" b="1" dirty="0">
                <a:latin typeface="Avenir Book" panose="02000503020000020003"/>
              </a:rPr>
              <a:t>Management Team:</a:t>
            </a:r>
          </a:p>
          <a:p>
            <a:pPr algn="just"/>
            <a:r>
              <a:rPr lang="en-US" sz="1400" dirty="0">
                <a:latin typeface="Avenir Book" panose="02000503020000020003"/>
              </a:rPr>
              <a:t>The day-to-day operations of the Hub are to be led by a management team comprising of the Managing Director and other top management of the hub.</a:t>
            </a:r>
          </a:p>
          <a:p>
            <a:pPr algn="just"/>
            <a:endParaRPr lang="en-US" sz="1400" dirty="0">
              <a:latin typeface="Avenir Book" panose="02000503020000020003"/>
            </a:endParaRPr>
          </a:p>
          <a:p>
            <a:pPr algn="just"/>
            <a:r>
              <a:rPr lang="en-US" sz="1400" dirty="0">
                <a:latin typeface="Avenir Book" panose="02000503020000020003"/>
              </a:rPr>
              <a:t>The executive leadership team is responsible for:</a:t>
            </a:r>
          </a:p>
          <a:p>
            <a:pPr marL="285750" indent="-285750" algn="just">
              <a:buFont typeface="Arial" panose="020B0604020202020204" pitchFamily="34" charset="0"/>
              <a:buChar char="•"/>
            </a:pPr>
            <a:r>
              <a:rPr lang="en-US" sz="1400" dirty="0">
                <a:latin typeface="Avenir Book" panose="02000503020000020003"/>
              </a:rPr>
              <a:t>Implementing strategic plans and initiatives approved by the Governing Board.</a:t>
            </a:r>
          </a:p>
          <a:p>
            <a:pPr marL="285750" indent="-285750" algn="just">
              <a:buFont typeface="Arial" panose="020B0604020202020204" pitchFamily="34" charset="0"/>
              <a:buChar char="•"/>
            </a:pPr>
            <a:r>
              <a:rPr lang="en-US" sz="1400" dirty="0">
                <a:latin typeface="Avenir Book" panose="02000503020000020003"/>
              </a:rPr>
              <a:t>Managing the Hub's financial resources, including budgeting, fundraising, and expenditure oversight.</a:t>
            </a:r>
          </a:p>
          <a:p>
            <a:pPr marL="285750" indent="-285750" algn="just">
              <a:buFont typeface="Arial" panose="020B0604020202020204" pitchFamily="34" charset="0"/>
              <a:buChar char="•"/>
            </a:pPr>
            <a:r>
              <a:rPr lang="en-US" sz="1400" dirty="0">
                <a:latin typeface="Avenir Book" panose="02000503020000020003"/>
              </a:rPr>
              <a:t>Establishing partnerships and collaborations with stakeholders from the public, private, and nonprofit sectors.</a:t>
            </a:r>
          </a:p>
          <a:p>
            <a:pPr marL="285750" indent="-285750" algn="just">
              <a:buFont typeface="Arial" panose="020B0604020202020204" pitchFamily="34" charset="0"/>
              <a:buChar char="•"/>
            </a:pPr>
            <a:r>
              <a:rPr lang="en-US" sz="1400" dirty="0">
                <a:latin typeface="Avenir Book" panose="02000503020000020003"/>
              </a:rPr>
              <a:t>Ensuring the effective delivery of programs and services to meet the needs of stakeholders and achieve desired outcomes.</a:t>
            </a:r>
          </a:p>
        </p:txBody>
      </p:sp>
    </p:spTree>
    <p:extLst>
      <p:ext uri="{BB962C8B-B14F-4D97-AF65-F5344CB8AC3E}">
        <p14:creationId xmlns:p14="http://schemas.microsoft.com/office/powerpoint/2010/main" val="2364027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Management</a:t>
            </a:r>
          </a:p>
        </p:txBody>
      </p:sp>
      <p:sp>
        <p:nvSpPr>
          <p:cNvPr id="6" name="TextBox 5">
            <a:extLst>
              <a:ext uri="{FF2B5EF4-FFF2-40B4-BE49-F238E27FC236}">
                <a16:creationId xmlns:a16="http://schemas.microsoft.com/office/drawing/2014/main" id="{868E07DE-C481-4D1E-973B-4479E972565B}"/>
              </a:ext>
            </a:extLst>
          </p:cNvPr>
          <p:cNvSpPr txBox="1"/>
          <p:nvPr/>
        </p:nvSpPr>
        <p:spPr>
          <a:xfrm>
            <a:off x="271814" y="1171732"/>
            <a:ext cx="8600371" cy="3293209"/>
          </a:xfrm>
          <a:prstGeom prst="rect">
            <a:avLst/>
          </a:prstGeom>
          <a:noFill/>
        </p:spPr>
        <p:txBody>
          <a:bodyPr wrap="square">
            <a:spAutoFit/>
          </a:bodyPr>
          <a:lstStyle/>
          <a:p>
            <a:pPr algn="just"/>
            <a:r>
              <a:rPr lang="en-US" sz="1600" b="1" dirty="0">
                <a:latin typeface="Avenir Book" panose="02000503020000020003"/>
              </a:rPr>
              <a:t>Departments/Divisions:</a:t>
            </a:r>
          </a:p>
          <a:p>
            <a:pPr algn="just"/>
            <a:r>
              <a:rPr lang="en-US" sz="1600" dirty="0">
                <a:latin typeface="Avenir Book" panose="02000503020000020003"/>
              </a:rPr>
              <a:t>Within the Hub, various departments or divisions are responsible for specific functional areas, such as innovation and entrepreneurship, research and development, community engagement, and operations. Each department is led by a director or manager who oversees the day-to-day activities and staff within their respective areas. </a:t>
            </a:r>
          </a:p>
          <a:p>
            <a:pPr algn="just"/>
            <a:endParaRPr lang="en-US" sz="1600" dirty="0">
              <a:latin typeface="Avenir Book" panose="02000503020000020003"/>
            </a:endParaRPr>
          </a:p>
          <a:p>
            <a:pPr algn="just"/>
            <a:r>
              <a:rPr lang="en-US" sz="1600" dirty="0">
                <a:latin typeface="Avenir Book" panose="02000503020000020003"/>
              </a:rPr>
              <a:t>Key responsibilities of departments/divisions include:</a:t>
            </a:r>
          </a:p>
          <a:p>
            <a:pPr marL="285750" indent="-285750" algn="just">
              <a:buFont typeface="Arial" panose="020B0604020202020204" pitchFamily="34" charset="0"/>
              <a:buChar char="•"/>
            </a:pPr>
            <a:r>
              <a:rPr lang="en-US" sz="1600" dirty="0">
                <a:latin typeface="Avenir Book" panose="02000503020000020003"/>
              </a:rPr>
              <a:t>Developing and implementing programs, initiatives, and projects in alignment with strategic priorities.</a:t>
            </a:r>
          </a:p>
          <a:p>
            <a:pPr marL="285750" indent="-285750" algn="just">
              <a:buFont typeface="Arial" panose="020B0604020202020204" pitchFamily="34" charset="0"/>
              <a:buChar char="•"/>
            </a:pPr>
            <a:r>
              <a:rPr lang="en-US" sz="1600" dirty="0">
                <a:latin typeface="Avenir Book" panose="02000503020000020003"/>
              </a:rPr>
              <a:t>Engaging with stakeholders to identify opportunities, address challenges, and foster collaboration.</a:t>
            </a:r>
          </a:p>
          <a:p>
            <a:pPr marL="285750" indent="-285750" algn="just">
              <a:buFont typeface="Arial" panose="020B0604020202020204" pitchFamily="34" charset="0"/>
              <a:buChar char="•"/>
            </a:pPr>
            <a:r>
              <a:rPr lang="en-US" sz="1600" dirty="0">
                <a:latin typeface="Avenir Book" panose="02000503020000020003"/>
              </a:rPr>
              <a:t>Monitoring progress, collecting data, and evaluating the impact of initiatives to inform decision-making and continuous improvement efforts.</a:t>
            </a:r>
          </a:p>
        </p:txBody>
      </p:sp>
    </p:spTree>
    <p:extLst>
      <p:ext uri="{BB962C8B-B14F-4D97-AF65-F5344CB8AC3E}">
        <p14:creationId xmlns:p14="http://schemas.microsoft.com/office/powerpoint/2010/main" val="710951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Reporting</a:t>
            </a:r>
          </a:p>
        </p:txBody>
      </p:sp>
      <p:sp>
        <p:nvSpPr>
          <p:cNvPr id="6" name="TextBox 5">
            <a:extLst>
              <a:ext uri="{FF2B5EF4-FFF2-40B4-BE49-F238E27FC236}">
                <a16:creationId xmlns:a16="http://schemas.microsoft.com/office/drawing/2014/main" id="{868E07DE-C481-4D1E-973B-4479E972565B}"/>
              </a:ext>
            </a:extLst>
          </p:cNvPr>
          <p:cNvSpPr txBox="1"/>
          <p:nvPr/>
        </p:nvSpPr>
        <p:spPr>
          <a:xfrm>
            <a:off x="271814" y="1171732"/>
            <a:ext cx="8600371" cy="4278094"/>
          </a:xfrm>
          <a:prstGeom prst="rect">
            <a:avLst/>
          </a:prstGeom>
          <a:noFill/>
        </p:spPr>
        <p:txBody>
          <a:bodyPr wrap="square">
            <a:spAutoFit/>
          </a:bodyPr>
          <a:lstStyle/>
          <a:p>
            <a:pPr algn="just"/>
            <a:r>
              <a:rPr lang="en-US" sz="1600" dirty="0">
                <a:latin typeface="Avenir Book" panose="02000503020000020003"/>
              </a:rPr>
              <a:t>The Ilorin Innovation Hub is committed to transparency and accountability in its operations and decision-making processes. To ensure effective communication and reporting, the Hub has established regular reporting mechanisms at various levels of the organization. </a:t>
            </a:r>
          </a:p>
          <a:p>
            <a:pPr algn="just"/>
            <a:endParaRPr lang="en-US" sz="1600" dirty="0">
              <a:latin typeface="Avenir Book" panose="02000503020000020003"/>
            </a:endParaRPr>
          </a:p>
          <a:p>
            <a:pPr algn="just"/>
            <a:r>
              <a:rPr lang="en-US" sz="1600" dirty="0">
                <a:latin typeface="Avenir Book" panose="02000503020000020003"/>
              </a:rPr>
              <a:t>These include:</a:t>
            </a:r>
          </a:p>
          <a:p>
            <a:pPr algn="just"/>
            <a:endParaRPr lang="en-US" sz="1600" dirty="0">
              <a:latin typeface="Avenir Book" panose="02000503020000020003"/>
            </a:endParaRP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Avenir Book" panose="02000503020000020003"/>
                <a:ea typeface="+mn-ea"/>
                <a:cs typeface="+mn-cs"/>
              </a:rPr>
              <a:t>Board Reporting: The executive leadership team provides regular updates and reports to the Governing Board on the Hub's performance, financial status, and progress toward strategic goals and objectives. These reports are comprehensive and transparent, enabling board members to make informed decisions and provide guidance as needed.</a:t>
            </a: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dirty="0">
              <a:ln>
                <a:noFill/>
              </a:ln>
              <a:solidFill>
                <a:prstClr val="black"/>
              </a:solidFill>
              <a:effectLst/>
              <a:uLnTx/>
              <a:uFillTx/>
              <a:latin typeface="Avenir Book" panose="02000503020000020003"/>
              <a:ea typeface="+mn-ea"/>
              <a:cs typeface="+mn-cs"/>
            </a:endParaRPr>
          </a:p>
          <a:p>
            <a:pPr marL="285750" marR="0" lvl="0" indent="-285750" algn="just"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600" b="0" i="0" u="none" strike="noStrike" kern="1200" cap="none" spc="0" normalizeH="0" baseline="0" noProof="0" dirty="0">
                <a:ln>
                  <a:noFill/>
                </a:ln>
                <a:solidFill>
                  <a:prstClr val="black"/>
                </a:solidFill>
                <a:effectLst/>
                <a:uLnTx/>
                <a:uFillTx/>
                <a:latin typeface="Avenir Book" panose="02000503020000020003"/>
                <a:ea typeface="+mn-ea"/>
                <a:cs typeface="+mn-cs"/>
              </a:rPr>
              <a:t>Stakeholder Reporting: The Ilorin Innovation Hub also communicates regularly with stakeholders, including government agencies, private sector partners, academic institutions, and civil society organizations. Through newsletters, annual reports, and other communication channels, the Hub shares information about its activities, achievements, and impact, soliciting feedback and input from stakeholders to inform its decision-making and improvement efforts.</a:t>
            </a:r>
          </a:p>
        </p:txBody>
      </p:sp>
    </p:spTree>
    <p:extLst>
      <p:ext uri="{BB962C8B-B14F-4D97-AF65-F5344CB8AC3E}">
        <p14:creationId xmlns:p14="http://schemas.microsoft.com/office/powerpoint/2010/main" val="1171412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Performance Metrics</a:t>
            </a:r>
          </a:p>
        </p:txBody>
      </p:sp>
      <p:sp>
        <p:nvSpPr>
          <p:cNvPr id="6" name="TextBox 5">
            <a:extLst>
              <a:ext uri="{FF2B5EF4-FFF2-40B4-BE49-F238E27FC236}">
                <a16:creationId xmlns:a16="http://schemas.microsoft.com/office/drawing/2014/main" id="{868E07DE-C481-4D1E-973B-4479E972565B}"/>
              </a:ext>
            </a:extLst>
          </p:cNvPr>
          <p:cNvSpPr txBox="1"/>
          <p:nvPr/>
        </p:nvSpPr>
        <p:spPr>
          <a:xfrm>
            <a:off x="271814" y="1171732"/>
            <a:ext cx="8600371" cy="4278094"/>
          </a:xfrm>
          <a:prstGeom prst="rect">
            <a:avLst/>
          </a:prstGeom>
          <a:noFill/>
        </p:spPr>
        <p:txBody>
          <a:bodyPr wrap="square">
            <a:spAutoFit/>
          </a:bodyPr>
          <a:lstStyle/>
          <a:p>
            <a:pPr algn="just"/>
            <a:r>
              <a:rPr lang="en-US" sz="1600" dirty="0">
                <a:latin typeface="Avenir Book" panose="02000503020000020003"/>
              </a:rPr>
              <a:t>To measure the effectiveness and impact of its initiatives, the Ilorin Innovation Hub has established key performance indicators (KPIs) aligned with its strategic priorities and objectives. These metrics encompass a range of quantitative and qualitative measures, including:</a:t>
            </a:r>
          </a:p>
          <a:p>
            <a:pPr algn="just"/>
            <a:endParaRPr lang="en-US" sz="1600" dirty="0">
              <a:latin typeface="Avenir Book" panose="02000503020000020003"/>
            </a:endParaRPr>
          </a:p>
          <a:p>
            <a:pPr marL="285750" indent="-285750" algn="just">
              <a:buFont typeface="Arial" panose="020B0604020202020204" pitchFamily="34" charset="0"/>
              <a:buChar char="•"/>
            </a:pPr>
            <a:r>
              <a:rPr lang="en-US" sz="1600" dirty="0">
                <a:latin typeface="Avenir Book" panose="02000503020000020003"/>
              </a:rPr>
              <a:t>Financial Performance: Metrics related to budget utilization, fundraising efforts, and revenue generation.</a:t>
            </a:r>
          </a:p>
          <a:p>
            <a:pPr marL="285750" indent="-285750" algn="just">
              <a:buFont typeface="Arial" panose="020B0604020202020204" pitchFamily="34" charset="0"/>
              <a:buChar char="•"/>
            </a:pPr>
            <a:endParaRPr lang="en-US" sz="1600" dirty="0">
              <a:latin typeface="Avenir Book" panose="02000503020000020003"/>
            </a:endParaRPr>
          </a:p>
          <a:p>
            <a:pPr marL="285750" indent="-285750" algn="just">
              <a:buFont typeface="Arial" panose="020B0604020202020204" pitchFamily="34" charset="0"/>
              <a:buChar char="•"/>
            </a:pPr>
            <a:r>
              <a:rPr lang="en-US" sz="1600" dirty="0">
                <a:latin typeface="Avenir Book" panose="02000503020000020003"/>
              </a:rPr>
              <a:t>Program Impact: Indicators of program reach, engagement, and outcomes, such as the number of participants served, jobs created, businesses supported, and social or environmental benefits achieved.</a:t>
            </a:r>
          </a:p>
          <a:p>
            <a:pPr marL="285750" indent="-285750" algn="just">
              <a:buFont typeface="Arial" panose="020B0604020202020204" pitchFamily="34" charset="0"/>
              <a:buChar char="•"/>
            </a:pPr>
            <a:endParaRPr lang="en-US" sz="1600" dirty="0">
              <a:latin typeface="Avenir Book" panose="02000503020000020003"/>
            </a:endParaRPr>
          </a:p>
          <a:p>
            <a:pPr marL="285750" indent="-285750" algn="just">
              <a:buFont typeface="Arial" panose="020B0604020202020204" pitchFamily="34" charset="0"/>
              <a:buChar char="•"/>
            </a:pPr>
            <a:r>
              <a:rPr lang="en-US" sz="1600" dirty="0">
                <a:latin typeface="Avenir Book" panose="02000503020000020003"/>
              </a:rPr>
              <a:t>Stakeholder Satisfaction: Surveys and feedback mechanisms to assess stakeholder satisfaction with the Ilorin Innovation Hub's services, programs, and overall performance.</a:t>
            </a:r>
          </a:p>
          <a:p>
            <a:pPr marL="285750" indent="-285750" algn="just">
              <a:buFont typeface="Arial" panose="020B0604020202020204" pitchFamily="34" charset="0"/>
              <a:buChar char="•"/>
            </a:pPr>
            <a:endParaRPr lang="en-US" sz="1600" dirty="0">
              <a:latin typeface="Avenir Book" panose="02000503020000020003"/>
            </a:endParaRPr>
          </a:p>
          <a:p>
            <a:pPr marL="285750" indent="-285750" algn="just">
              <a:buFont typeface="Arial" panose="020B0604020202020204" pitchFamily="34" charset="0"/>
              <a:buChar char="•"/>
            </a:pPr>
            <a:r>
              <a:rPr lang="en-US" sz="1600" dirty="0">
                <a:latin typeface="Avenir Book" panose="02000503020000020003"/>
              </a:rPr>
              <a:t>Innovation and Collaboration: Measures of innovation outputs, such as patents filed, startups launched, partnerships formed, and collaborative projects initiated.</a:t>
            </a:r>
          </a:p>
        </p:txBody>
      </p:sp>
    </p:spTree>
    <p:extLst>
      <p:ext uri="{BB962C8B-B14F-4D97-AF65-F5344CB8AC3E}">
        <p14:creationId xmlns:p14="http://schemas.microsoft.com/office/powerpoint/2010/main" val="1265529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Evaluation</a:t>
            </a:r>
          </a:p>
        </p:txBody>
      </p:sp>
      <p:sp>
        <p:nvSpPr>
          <p:cNvPr id="6" name="TextBox 5">
            <a:extLst>
              <a:ext uri="{FF2B5EF4-FFF2-40B4-BE49-F238E27FC236}">
                <a16:creationId xmlns:a16="http://schemas.microsoft.com/office/drawing/2014/main" id="{868E07DE-C481-4D1E-973B-4479E972565B}"/>
              </a:ext>
            </a:extLst>
          </p:cNvPr>
          <p:cNvSpPr txBox="1"/>
          <p:nvPr/>
        </p:nvSpPr>
        <p:spPr>
          <a:xfrm>
            <a:off x="271814" y="1171732"/>
            <a:ext cx="8600371" cy="3785652"/>
          </a:xfrm>
          <a:prstGeom prst="rect">
            <a:avLst/>
          </a:prstGeom>
          <a:noFill/>
        </p:spPr>
        <p:txBody>
          <a:bodyPr wrap="square">
            <a:spAutoFit/>
          </a:bodyPr>
          <a:lstStyle/>
          <a:p>
            <a:pPr algn="just"/>
            <a:r>
              <a:rPr lang="en-US" sz="1600" dirty="0">
                <a:latin typeface="Avenir Book" panose="02000503020000020003"/>
              </a:rPr>
              <a:t>In addition to ongoing performance monitoring, the Ilorin Innovation Hub conducts periodic evaluations to assess the effectiveness, efficiency, and impact of its operations and initiatives. These evaluations are conducted by internal or external evaluators and involve:</a:t>
            </a:r>
          </a:p>
          <a:p>
            <a:pPr algn="just"/>
            <a:endParaRPr lang="en-US" sz="1600" dirty="0">
              <a:latin typeface="Avenir Book" panose="02000503020000020003"/>
            </a:endParaRPr>
          </a:p>
          <a:p>
            <a:pPr marL="285750" indent="-285750" algn="just">
              <a:buFont typeface="Arial" panose="020B0604020202020204" pitchFamily="34" charset="0"/>
              <a:buChar char="•"/>
            </a:pPr>
            <a:r>
              <a:rPr lang="en-US" sz="1600" dirty="0">
                <a:latin typeface="Avenir Book" panose="02000503020000020003"/>
              </a:rPr>
              <a:t>Data Collection and Analysis: Gathering and analyzing data on program inputs, activities, outputs, and outcomes to assess performance against established KPIs.</a:t>
            </a:r>
          </a:p>
          <a:p>
            <a:pPr marL="285750" indent="-285750" algn="just">
              <a:buFont typeface="Arial" panose="020B0604020202020204" pitchFamily="34" charset="0"/>
              <a:buChar char="•"/>
            </a:pPr>
            <a:endParaRPr lang="en-US" sz="1600" dirty="0">
              <a:latin typeface="Avenir Book" panose="02000503020000020003"/>
            </a:endParaRPr>
          </a:p>
          <a:p>
            <a:pPr marL="285750" indent="-285750" algn="just">
              <a:buFont typeface="Arial" panose="020B0604020202020204" pitchFamily="34" charset="0"/>
              <a:buChar char="•"/>
            </a:pPr>
            <a:r>
              <a:rPr lang="en-US" sz="1600" dirty="0">
                <a:latin typeface="Avenir Book" panose="02000503020000020003"/>
              </a:rPr>
              <a:t>Stakeholder Feedback: Soliciting feedback from stakeholders through surveys, interviews, focus groups, and other methods to understand their perspectives and experiences with the Ilorin Innovation Hub's services and programs.</a:t>
            </a:r>
          </a:p>
          <a:p>
            <a:pPr marL="285750" indent="-285750" algn="just">
              <a:buFont typeface="Arial" panose="020B0604020202020204" pitchFamily="34" charset="0"/>
              <a:buChar char="•"/>
            </a:pPr>
            <a:endParaRPr lang="en-US" sz="1600" dirty="0">
              <a:latin typeface="Avenir Book" panose="02000503020000020003"/>
            </a:endParaRPr>
          </a:p>
          <a:p>
            <a:pPr marL="285750" indent="-285750" algn="just">
              <a:buFont typeface="Arial" panose="020B0604020202020204" pitchFamily="34" charset="0"/>
              <a:buChar char="•"/>
            </a:pPr>
            <a:r>
              <a:rPr lang="en-US" sz="1600" dirty="0">
                <a:latin typeface="Avenir Book" panose="02000503020000020003"/>
              </a:rPr>
              <a:t>Learning and Improvement: Using evaluation findings to identify strengths, weaknesses, and areas for improvement, and informing strategic planning, resource allocation, and programmatic adjustments to enhance the Ilorin Innovation Hub's effectiveness and impact over time</a:t>
            </a:r>
          </a:p>
        </p:txBody>
      </p:sp>
    </p:spTree>
    <p:extLst>
      <p:ext uri="{BB962C8B-B14F-4D97-AF65-F5344CB8AC3E}">
        <p14:creationId xmlns:p14="http://schemas.microsoft.com/office/powerpoint/2010/main" val="15238469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Continuous Improvement</a:t>
            </a:r>
          </a:p>
        </p:txBody>
      </p:sp>
      <p:sp>
        <p:nvSpPr>
          <p:cNvPr id="6" name="TextBox 5">
            <a:extLst>
              <a:ext uri="{FF2B5EF4-FFF2-40B4-BE49-F238E27FC236}">
                <a16:creationId xmlns:a16="http://schemas.microsoft.com/office/drawing/2014/main" id="{868E07DE-C481-4D1E-973B-4479E972565B}"/>
              </a:ext>
            </a:extLst>
          </p:cNvPr>
          <p:cNvSpPr txBox="1"/>
          <p:nvPr/>
        </p:nvSpPr>
        <p:spPr>
          <a:xfrm>
            <a:off x="271814" y="1443841"/>
            <a:ext cx="8600371" cy="3631763"/>
          </a:xfrm>
          <a:prstGeom prst="rect">
            <a:avLst/>
          </a:prstGeom>
          <a:noFill/>
        </p:spPr>
        <p:txBody>
          <a:bodyPr wrap="square">
            <a:spAutoFit/>
          </a:bodyPr>
          <a:lstStyle/>
          <a:p>
            <a:pPr algn="just"/>
            <a:r>
              <a:rPr lang="en-US" sz="1600" dirty="0">
                <a:latin typeface="Avenir Book" panose="02000503020000020003"/>
              </a:rPr>
              <a:t>The Ilorin Innovation Hub is committed to a culture of continuous improvement, where feedback, learning, and adaptation are integral to its operations and decision-making processes. </a:t>
            </a:r>
          </a:p>
          <a:p>
            <a:pPr algn="just"/>
            <a:endParaRPr lang="en-US" sz="1600" dirty="0">
              <a:latin typeface="Avenir Book" panose="02000503020000020003"/>
            </a:endParaRPr>
          </a:p>
          <a:p>
            <a:pPr algn="just"/>
            <a:r>
              <a:rPr lang="en-US" sz="1600" dirty="0">
                <a:latin typeface="Avenir Book" panose="02000503020000020003"/>
              </a:rPr>
              <a:t>To support this commitment, the Hub:</a:t>
            </a:r>
          </a:p>
          <a:p>
            <a:pPr algn="just"/>
            <a:endParaRPr lang="en-US" sz="1600" dirty="0">
              <a:latin typeface="Avenir Book" panose="02000503020000020003"/>
            </a:endParaRPr>
          </a:p>
          <a:p>
            <a:pPr marL="285750" indent="-285750" algn="just">
              <a:buFont typeface="Arial" panose="020B0604020202020204" pitchFamily="34" charset="0"/>
              <a:buChar char="•"/>
            </a:pPr>
            <a:r>
              <a:rPr lang="en-US" sz="1600" dirty="0">
                <a:latin typeface="Avenir Book" panose="02000503020000020003"/>
              </a:rPr>
              <a:t>Encourages staff and stakeholders to provide feedback and suggestions for improvement through formal and informal channels.</a:t>
            </a:r>
          </a:p>
          <a:p>
            <a:pPr marL="285750" indent="-285750" algn="just">
              <a:buFont typeface="Arial" panose="020B0604020202020204" pitchFamily="34" charset="0"/>
              <a:buChar char="•"/>
            </a:pPr>
            <a:endParaRPr lang="en-US" sz="1600" dirty="0">
              <a:latin typeface="Avenir Book" panose="02000503020000020003"/>
            </a:endParaRPr>
          </a:p>
          <a:p>
            <a:pPr marL="285750" indent="-285750" algn="just">
              <a:buFont typeface="Arial" panose="020B0604020202020204" pitchFamily="34" charset="0"/>
              <a:buChar char="•"/>
            </a:pPr>
            <a:r>
              <a:rPr lang="en-US" sz="1600" dirty="0">
                <a:latin typeface="Avenir Book" panose="02000503020000020003"/>
              </a:rPr>
              <a:t>Regularly reviews and updates its governance structure, policies, and procedures to ensure relevance, effectiveness, and alignment with best practices and evolving needs.</a:t>
            </a:r>
          </a:p>
          <a:p>
            <a:pPr marL="285750" indent="-285750" algn="just">
              <a:buFont typeface="Arial" panose="020B0604020202020204" pitchFamily="34" charset="0"/>
              <a:buChar char="•"/>
            </a:pPr>
            <a:endParaRPr lang="en-US" sz="1600" dirty="0">
              <a:latin typeface="Avenir Book" panose="02000503020000020003"/>
            </a:endParaRPr>
          </a:p>
          <a:p>
            <a:pPr marL="285750" indent="-285750" algn="just">
              <a:buFont typeface="Arial" panose="020B0604020202020204" pitchFamily="34" charset="0"/>
              <a:buChar char="•"/>
            </a:pPr>
            <a:r>
              <a:rPr lang="en-US" sz="1600" dirty="0">
                <a:latin typeface="Avenir Book" panose="02000503020000020003"/>
              </a:rPr>
              <a:t>Invests in staff training and development to build capacity and foster a culture of innovation, collaboration, and excellence within the organization</a:t>
            </a:r>
          </a:p>
        </p:txBody>
      </p:sp>
    </p:spTree>
    <p:extLst>
      <p:ext uri="{BB962C8B-B14F-4D97-AF65-F5344CB8AC3E}">
        <p14:creationId xmlns:p14="http://schemas.microsoft.com/office/powerpoint/2010/main" val="2787819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1938511-037F-ED46-AB38-15FD5B6934D2}"/>
              </a:ext>
            </a:extLst>
          </p:cNvPr>
          <p:cNvSpPr/>
          <p:nvPr/>
        </p:nvSpPr>
        <p:spPr>
          <a:xfrm>
            <a:off x="1" y="1"/>
            <a:ext cx="9144000" cy="1027134"/>
          </a:xfrm>
          <a:prstGeom prst="rect">
            <a:avLst/>
          </a:prstGeom>
          <a:solidFill>
            <a:srgbClr val="58E1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552FD0B8-0DC6-1743-8B69-8E7B75617526}"/>
              </a:ext>
            </a:extLst>
          </p:cNvPr>
          <p:cNvSpPr txBox="1"/>
          <p:nvPr/>
        </p:nvSpPr>
        <p:spPr>
          <a:xfrm>
            <a:off x="538618" y="371598"/>
            <a:ext cx="4847573" cy="523220"/>
          </a:xfrm>
          <a:prstGeom prst="rect">
            <a:avLst/>
          </a:prstGeom>
          <a:noFill/>
        </p:spPr>
        <p:txBody>
          <a:bodyPr wrap="square" rtlCol="0">
            <a:spAutoFit/>
          </a:bodyPr>
          <a:lstStyle/>
          <a:p>
            <a:r>
              <a:rPr lang="en-US" sz="2800" dirty="0">
                <a:solidFill>
                  <a:schemeClr val="bg1"/>
                </a:solidFill>
                <a:latin typeface="Roboto Light" panose="02000000000000000000" pitchFamily="2" charset="0"/>
                <a:ea typeface="Roboto Light" panose="02000000000000000000" pitchFamily="2" charset="0"/>
              </a:rPr>
              <a:t>Conclusion</a:t>
            </a:r>
          </a:p>
        </p:txBody>
      </p:sp>
      <p:sp>
        <p:nvSpPr>
          <p:cNvPr id="9" name="TextBox 8">
            <a:extLst>
              <a:ext uri="{FF2B5EF4-FFF2-40B4-BE49-F238E27FC236}">
                <a16:creationId xmlns:a16="http://schemas.microsoft.com/office/drawing/2014/main" id="{596E7E7B-BED6-4EBD-A596-7B903798AE6F}"/>
              </a:ext>
            </a:extLst>
          </p:cNvPr>
          <p:cNvSpPr txBox="1"/>
          <p:nvPr/>
        </p:nvSpPr>
        <p:spPr>
          <a:xfrm>
            <a:off x="553789" y="1703295"/>
            <a:ext cx="8036422" cy="3046988"/>
          </a:xfrm>
          <a:prstGeom prst="rect">
            <a:avLst/>
          </a:prstGeom>
          <a:noFill/>
        </p:spPr>
        <p:txBody>
          <a:bodyPr wrap="square">
            <a:spAutoFit/>
          </a:bodyPr>
          <a:lstStyle/>
          <a:p>
            <a:pPr algn="just"/>
            <a:r>
              <a:rPr lang="en-US" sz="1600" dirty="0">
                <a:latin typeface="Avenir Book" panose="02000503020000020003"/>
              </a:rPr>
              <a:t>In conclusion, the governance structure outlined for the Ilorin Innovation Hub represents a comprehensive framework designed to facilitate effective collaboration, accountability, and impact in pursuit of our shared vision and mission. By establishing clear roles, responsibilities, and decision-making processes, we aim to create an environment where innovation thrives, partnerships flourish, and positive change is realized.</a:t>
            </a:r>
          </a:p>
          <a:p>
            <a:pPr algn="just"/>
            <a:endParaRPr lang="en-US" sz="1600" dirty="0">
              <a:latin typeface="Avenir Book" panose="02000503020000020003"/>
            </a:endParaRPr>
          </a:p>
          <a:p>
            <a:pPr algn="just"/>
            <a:r>
              <a:rPr lang="en-US" sz="1600" dirty="0">
                <a:latin typeface="Avenir Book" panose="02000503020000020003"/>
              </a:rPr>
              <a:t>As we embark on this journey together, we reaffirm our commitment to upholding the values of integrity, collaboration, inclusivity, and impact that underpin the Ilorin Innovation Hub's governance structure. By working collaboratively and transparently, we believe that we can overcome challenges, seize opportunities, and achieve our collective goals for a brighter and more prosperous future for all.</a:t>
            </a:r>
          </a:p>
        </p:txBody>
      </p:sp>
    </p:spTree>
    <p:extLst>
      <p:ext uri="{BB962C8B-B14F-4D97-AF65-F5344CB8AC3E}">
        <p14:creationId xmlns:p14="http://schemas.microsoft.com/office/powerpoint/2010/main" val="2187892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58E166"/>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469859-87CA-4C06-AF2D-90E444E95AF9}"/>
              </a:ext>
            </a:extLst>
          </p:cNvPr>
          <p:cNvPicPr>
            <a:picLocks noChangeAspect="1"/>
          </p:cNvPicPr>
          <p:nvPr/>
        </p:nvPicPr>
        <p:blipFill>
          <a:blip r:embed="rId2"/>
          <a:stretch>
            <a:fillRect/>
          </a:stretch>
        </p:blipFill>
        <p:spPr>
          <a:xfrm>
            <a:off x="2517388" y="2168466"/>
            <a:ext cx="4597090" cy="2206603"/>
          </a:xfrm>
          <a:prstGeom prst="rect">
            <a:avLst/>
          </a:prstGeom>
        </p:spPr>
      </p:pic>
    </p:spTree>
    <p:extLst>
      <p:ext uri="{BB962C8B-B14F-4D97-AF65-F5344CB8AC3E}">
        <p14:creationId xmlns:p14="http://schemas.microsoft.com/office/powerpoint/2010/main" val="318180556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79752</TotalTime>
  <Words>1887</Words>
  <Application>Microsoft Macintosh PowerPoint</Application>
  <PresentationFormat>On-screen Show (4:3)</PresentationFormat>
  <Paragraphs>165</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Avenir Black</vt:lpstr>
      <vt:lpstr>Avenir Book</vt:lpstr>
      <vt:lpstr>Calibri</vt:lpstr>
      <vt:lpstr>Calibri Light</vt:lpstr>
      <vt:lpstr>Roboto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Temi Kolawole</dc:creator>
  <cp:lastModifiedBy>Temi Kolawole</cp:lastModifiedBy>
  <cp:revision>191</cp:revision>
  <cp:lastPrinted>2025-07-16T06:22:39Z</cp:lastPrinted>
  <dcterms:created xsi:type="dcterms:W3CDTF">2020-11-24T00:12:57Z</dcterms:created>
  <dcterms:modified xsi:type="dcterms:W3CDTF">2025-07-16T07:52:47Z</dcterms:modified>
</cp:coreProperties>
</file>