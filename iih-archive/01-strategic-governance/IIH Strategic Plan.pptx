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64" r:id="rId5"/>
    <p:sldId id="259" r:id="rId6"/>
    <p:sldId id="261" r:id="rId7"/>
    <p:sldId id="262" r:id="rId8"/>
    <p:sldId id="263" r:id="rId9"/>
    <p:sldId id="260"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F931"/>
    <a:srgbClr val="58E1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418"/>
    <p:restoredTop sz="95701"/>
  </p:normalViewPr>
  <p:slideViewPr>
    <p:cSldViewPr snapToGrid="0" snapToObjects="1">
      <p:cViewPr varScale="1">
        <p:scale>
          <a:sx n="105" d="100"/>
          <a:sy n="105" d="100"/>
        </p:scale>
        <p:origin x="92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2206702-883C-1C49-A3D9-95FC99D4F10F}" type="datetimeFigureOut">
              <a:rPr lang="en-US" smtClean="0"/>
              <a:t>10/22/21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81147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206702-883C-1C49-A3D9-95FC99D4F10F}" type="datetimeFigureOut">
              <a:rPr lang="en-US" smtClean="0"/>
              <a:t>10/22/21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1670715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206702-883C-1C49-A3D9-95FC99D4F10F}" type="datetimeFigureOut">
              <a:rPr lang="en-US" smtClean="0"/>
              <a:t>10/22/21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1615693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2206702-883C-1C49-A3D9-95FC99D4F10F}" type="datetimeFigureOut">
              <a:rPr lang="en-US" smtClean="0"/>
              <a:t>10/22/21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2326002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206702-883C-1C49-A3D9-95FC99D4F10F}" type="datetimeFigureOut">
              <a:rPr lang="en-US" smtClean="0"/>
              <a:t>10/22/21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691444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2206702-883C-1C49-A3D9-95FC99D4F10F}" type="datetimeFigureOut">
              <a:rPr lang="en-US" smtClean="0"/>
              <a:t>10/22/21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2267734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206702-883C-1C49-A3D9-95FC99D4F10F}" type="datetimeFigureOut">
              <a:rPr lang="en-US" smtClean="0"/>
              <a:t>10/22/21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872876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206702-883C-1C49-A3D9-95FC99D4F10F}" type="datetimeFigureOut">
              <a:rPr lang="en-US" smtClean="0"/>
              <a:t>10/22/21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1047629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206702-883C-1C49-A3D9-95FC99D4F10F}" type="datetimeFigureOut">
              <a:rPr lang="en-US" smtClean="0"/>
              <a:t>10/22/21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753249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206702-883C-1C49-A3D9-95FC99D4F10F}" type="datetimeFigureOut">
              <a:rPr lang="en-US" smtClean="0"/>
              <a:t>10/22/21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2416025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206702-883C-1C49-A3D9-95FC99D4F10F}" type="datetimeFigureOut">
              <a:rPr lang="en-US" smtClean="0"/>
              <a:t>10/22/21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398582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206702-883C-1C49-A3D9-95FC99D4F10F}" type="datetimeFigureOut">
              <a:rPr lang="en-US" smtClean="0"/>
              <a:t>10/22/21</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4C5C96-B43F-EF41-83BB-885FD2BDB03F}" type="slidenum">
              <a:rPr lang="en-US" smtClean="0"/>
              <a:t>‹#›</a:t>
            </a:fld>
            <a:endParaRPr lang="en-US"/>
          </a:p>
        </p:txBody>
      </p:sp>
    </p:spTree>
    <p:extLst>
      <p:ext uri="{BB962C8B-B14F-4D97-AF65-F5344CB8AC3E}">
        <p14:creationId xmlns:p14="http://schemas.microsoft.com/office/powerpoint/2010/main" val="13214386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jpg"/><Relationship Id="rId18" Type="http://schemas.openxmlformats.org/officeDocument/2006/relationships/image" Target="../media/image18.pn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jpg"/><Relationship Id="rId12" Type="http://schemas.openxmlformats.org/officeDocument/2006/relationships/image" Target="../media/image12.jpg"/><Relationship Id="rId17" Type="http://schemas.openxmlformats.org/officeDocument/2006/relationships/image" Target="../media/image17.jpe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6.jpe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jpg"/><Relationship Id="rId19" Type="http://schemas.openxmlformats.org/officeDocument/2006/relationships/image" Target="../media/image19.jpe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8E166"/>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9FE6C51-FFDA-1B4D-A499-FF8277F7F2B8}"/>
              </a:ext>
            </a:extLst>
          </p:cNvPr>
          <p:cNvPicPr>
            <a:picLocks noChangeAspect="1"/>
          </p:cNvPicPr>
          <p:nvPr/>
        </p:nvPicPr>
        <p:blipFill>
          <a:blip r:embed="rId2"/>
          <a:stretch>
            <a:fillRect/>
          </a:stretch>
        </p:blipFill>
        <p:spPr>
          <a:xfrm>
            <a:off x="543490" y="3429000"/>
            <a:ext cx="3744361" cy="1791483"/>
          </a:xfrm>
          <a:prstGeom prst="rect">
            <a:avLst/>
          </a:prstGeom>
        </p:spPr>
      </p:pic>
      <p:sp>
        <p:nvSpPr>
          <p:cNvPr id="12" name="TextBox 11">
            <a:extLst>
              <a:ext uri="{FF2B5EF4-FFF2-40B4-BE49-F238E27FC236}">
                <a16:creationId xmlns:a16="http://schemas.microsoft.com/office/drawing/2014/main" id="{1F9D572B-B3ED-904F-9CD5-AAFE070052F0}"/>
              </a:ext>
            </a:extLst>
          </p:cNvPr>
          <p:cNvSpPr txBox="1"/>
          <p:nvPr/>
        </p:nvSpPr>
        <p:spPr>
          <a:xfrm>
            <a:off x="876822" y="5220483"/>
            <a:ext cx="4847573" cy="369332"/>
          </a:xfrm>
          <a:prstGeom prst="rect">
            <a:avLst/>
          </a:prstGeom>
          <a:noFill/>
        </p:spPr>
        <p:txBody>
          <a:bodyPr wrap="square" rtlCol="0">
            <a:spAutoFit/>
          </a:bodyPr>
          <a:lstStyle/>
          <a:p>
            <a:r>
              <a:rPr lang="en-US" dirty="0">
                <a:solidFill>
                  <a:schemeClr val="bg1"/>
                </a:solidFill>
                <a:latin typeface="Roboto Light" panose="02000000000000000000" pitchFamily="2" charset="0"/>
                <a:ea typeface="Roboto Light" panose="02000000000000000000" pitchFamily="2" charset="0"/>
              </a:rPr>
              <a:t>STRATEGIC PLAN PROPOSAL</a:t>
            </a:r>
          </a:p>
        </p:txBody>
      </p:sp>
      <p:sp>
        <p:nvSpPr>
          <p:cNvPr id="13" name="TextBox 12">
            <a:extLst>
              <a:ext uri="{FF2B5EF4-FFF2-40B4-BE49-F238E27FC236}">
                <a16:creationId xmlns:a16="http://schemas.microsoft.com/office/drawing/2014/main" id="{0D1D6F3D-0AB0-5342-85F1-6C95F1F7360B}"/>
              </a:ext>
            </a:extLst>
          </p:cNvPr>
          <p:cNvSpPr txBox="1"/>
          <p:nvPr/>
        </p:nvSpPr>
        <p:spPr>
          <a:xfrm>
            <a:off x="876822" y="5639213"/>
            <a:ext cx="4847573" cy="307777"/>
          </a:xfrm>
          <a:prstGeom prst="rect">
            <a:avLst/>
          </a:prstGeom>
          <a:noFill/>
        </p:spPr>
        <p:txBody>
          <a:bodyPr wrap="square" rtlCol="0">
            <a:spAutoFit/>
          </a:bodyPr>
          <a:lstStyle/>
          <a:p>
            <a:r>
              <a:rPr lang="en-US" sz="1400" dirty="0">
                <a:solidFill>
                  <a:schemeClr val="bg1"/>
                </a:solidFill>
                <a:latin typeface="Roboto Light" panose="02000000000000000000" pitchFamily="2" charset="0"/>
                <a:ea typeface="Roboto Light" panose="02000000000000000000" pitchFamily="2" charset="0"/>
              </a:rPr>
              <a:t>November 2020</a:t>
            </a:r>
          </a:p>
        </p:txBody>
      </p:sp>
    </p:spTree>
    <p:extLst>
      <p:ext uri="{BB962C8B-B14F-4D97-AF65-F5344CB8AC3E}">
        <p14:creationId xmlns:p14="http://schemas.microsoft.com/office/powerpoint/2010/main" val="3543114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878904"/>
            <a:ext cx="4734839" cy="2133918"/>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dirty="0">
                <a:latin typeface="Avenir Book" panose="02000503020000020003" pitchFamily="2" charset="0"/>
              </a:rPr>
              <a:t>Introduction</a:t>
            </a:r>
          </a:p>
          <a:p>
            <a:pPr marL="285750" indent="-285750" algn="just">
              <a:lnSpc>
                <a:spcPct val="150000"/>
              </a:lnSpc>
              <a:buFont typeface="Arial" panose="020B0604020202020204" pitchFamily="34" charset="0"/>
              <a:buChar char="•"/>
            </a:pPr>
            <a:r>
              <a:rPr lang="en-US" dirty="0">
                <a:latin typeface="Avenir Book" panose="02000503020000020003" pitchFamily="2" charset="0"/>
              </a:rPr>
              <a:t>Vision &amp; Mission</a:t>
            </a:r>
          </a:p>
          <a:p>
            <a:pPr marL="285750" indent="-285750" algn="just">
              <a:lnSpc>
                <a:spcPct val="150000"/>
              </a:lnSpc>
              <a:buFont typeface="Arial" panose="020B0604020202020204" pitchFamily="34" charset="0"/>
              <a:buChar char="•"/>
            </a:pPr>
            <a:r>
              <a:rPr lang="en-US" dirty="0">
                <a:latin typeface="Avenir Book" panose="02000503020000020003" pitchFamily="2" charset="0"/>
              </a:rPr>
              <a:t>Structure &amp; Operations</a:t>
            </a:r>
          </a:p>
          <a:p>
            <a:pPr marL="285750" indent="-285750" algn="just">
              <a:lnSpc>
                <a:spcPct val="150000"/>
              </a:lnSpc>
              <a:buFont typeface="Arial" panose="020B0604020202020204" pitchFamily="34" charset="0"/>
              <a:buChar char="•"/>
            </a:pPr>
            <a:r>
              <a:rPr lang="en-US" dirty="0">
                <a:latin typeface="Avenir Book" panose="02000503020000020003" pitchFamily="2" charset="0"/>
              </a:rPr>
              <a:t>Proposed Key Partnerships</a:t>
            </a:r>
          </a:p>
          <a:p>
            <a:pPr marL="285750" indent="-285750" algn="just">
              <a:lnSpc>
                <a:spcPct val="150000"/>
              </a:lnSpc>
              <a:buFont typeface="Arial" panose="020B0604020202020204" pitchFamily="34" charset="0"/>
              <a:buChar char="•"/>
            </a:pPr>
            <a:r>
              <a:rPr lang="en-US" dirty="0">
                <a:latin typeface="Avenir Book" panose="02000503020000020003" pitchFamily="2" charset="0"/>
              </a:rPr>
              <a:t>Funding</a:t>
            </a:r>
          </a:p>
        </p:txBody>
      </p:sp>
      <p:sp>
        <p:nvSpPr>
          <p:cNvPr id="7" name="Rectangle 6">
            <a:extLst>
              <a:ext uri="{FF2B5EF4-FFF2-40B4-BE49-F238E27FC236}">
                <a16:creationId xmlns:a16="http://schemas.microsoft.com/office/drawing/2014/main" id="{F80BBCC8-94D9-8E42-938C-D6F5C1368C25}"/>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A529B26-AC42-D34F-8578-B4669A7997A4}"/>
              </a:ext>
            </a:extLst>
          </p:cNvPr>
          <p:cNvSpPr txBox="1"/>
          <p:nvPr/>
        </p:nvSpPr>
        <p:spPr>
          <a:xfrm>
            <a:off x="538618" y="371598"/>
            <a:ext cx="484757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Contents</a:t>
            </a:r>
          </a:p>
        </p:txBody>
      </p:sp>
    </p:spTree>
    <p:extLst>
      <p:ext uri="{BB962C8B-B14F-4D97-AF65-F5344CB8AC3E}">
        <p14:creationId xmlns:p14="http://schemas.microsoft.com/office/powerpoint/2010/main" val="295521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696024"/>
            <a:ext cx="4734839" cy="4588692"/>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The vision of the Governor of Kwara State, His Excellency Mallam </a:t>
            </a:r>
            <a:r>
              <a:rPr lang="en-US" sz="1400" dirty="0" err="1">
                <a:latin typeface="Avenir Book" panose="02000503020000020003" pitchFamily="2" charset="0"/>
              </a:rPr>
              <a:t>AbdulRahman</a:t>
            </a:r>
            <a:r>
              <a:rPr lang="en-US" sz="1400" dirty="0">
                <a:latin typeface="Avenir Book" panose="02000503020000020003" pitchFamily="2" charset="0"/>
              </a:rPr>
              <a:t> </a:t>
            </a:r>
            <a:r>
              <a:rPr lang="en-US" sz="1400" dirty="0" err="1">
                <a:latin typeface="Avenir Book" panose="02000503020000020003" pitchFamily="2" charset="0"/>
              </a:rPr>
              <a:t>AbdulRazaq</a:t>
            </a:r>
            <a:r>
              <a:rPr lang="en-US" sz="1400" dirty="0">
                <a:latin typeface="Avenir Book" panose="02000503020000020003" pitchFamily="2" charset="0"/>
              </a:rPr>
              <a:t> is to transform Kwara into an economically viable and self-sustainable state via digital literacy, youth empowerment, innovation and technology.</a:t>
            </a:r>
          </a:p>
          <a:p>
            <a:pPr algn="just">
              <a:lnSpc>
                <a:spcPct val="150000"/>
              </a:lnSpc>
            </a:pPr>
            <a:r>
              <a:rPr lang="en-US" sz="1400" dirty="0">
                <a:latin typeface="Avenir Book" panose="02000503020000020003" pitchFamily="2" charset="0"/>
              </a:rPr>
              <a:t>The Ilorin Innovation Hub (launching in 2022) is the one of several efforts to drive adoption of technology across the state, which will in turn drive economic development.</a:t>
            </a:r>
          </a:p>
          <a:p>
            <a:pPr algn="just">
              <a:lnSpc>
                <a:spcPct val="150000"/>
              </a:lnSpc>
            </a:pPr>
            <a:endParaRPr lang="en-US" sz="1400" dirty="0">
              <a:latin typeface="Avenir Book" panose="02000503020000020003" pitchFamily="2" charset="0"/>
            </a:endParaRPr>
          </a:p>
          <a:p>
            <a:pPr algn="just">
              <a:lnSpc>
                <a:spcPct val="150000"/>
              </a:lnSpc>
            </a:pPr>
            <a:r>
              <a:rPr lang="en-US" sz="1400" dirty="0">
                <a:latin typeface="Avenir Book" panose="02000503020000020003" pitchFamily="2" charset="0"/>
              </a:rPr>
              <a:t>In order to ensure this project fully reaches it’s potential and truly transforms Kwara State into the next tech destination in Nigeria and Africa, we are laying out a multi-faceted strategy to plan, execute and measure the impact of the Innovation Hub.</a:t>
            </a:r>
          </a:p>
        </p:txBody>
      </p:sp>
      <p:sp>
        <p:nvSpPr>
          <p:cNvPr id="7" name="Rectangle 6">
            <a:extLst>
              <a:ext uri="{FF2B5EF4-FFF2-40B4-BE49-F238E27FC236}">
                <a16:creationId xmlns:a16="http://schemas.microsoft.com/office/drawing/2014/main" id="{C1938511-037F-ED46-AB38-15FD5B6934D2}"/>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Introduction</a:t>
            </a:r>
          </a:p>
        </p:txBody>
      </p:sp>
    </p:spTree>
    <p:extLst>
      <p:ext uri="{BB962C8B-B14F-4D97-AF65-F5344CB8AC3E}">
        <p14:creationId xmlns:p14="http://schemas.microsoft.com/office/powerpoint/2010/main" val="3692627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398732"/>
            <a:ext cx="7910438" cy="4911857"/>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The Ilorin Innovation Hub will have a hybrid structure. Some aspects of operations will be handled by civil service staff while some will be handled by an </a:t>
            </a:r>
            <a:r>
              <a:rPr lang="en-US" sz="1400" b="1" dirty="0">
                <a:latin typeface="Avenir Book" panose="02000503020000020003" pitchFamily="2" charset="0"/>
              </a:rPr>
              <a:t>Innovation Management Consultant</a:t>
            </a:r>
            <a:r>
              <a:rPr lang="en-US" sz="1400" dirty="0">
                <a:latin typeface="Avenir Book" panose="02000503020000020003" pitchFamily="2" charset="0"/>
              </a:rPr>
              <a:t>. This is as a result of the specialized functions to be performed that require a level of experience in the field of innovation management.</a:t>
            </a:r>
          </a:p>
          <a:p>
            <a:pPr algn="just">
              <a:lnSpc>
                <a:spcPct val="150000"/>
              </a:lnSpc>
            </a:pPr>
            <a:endParaRPr lang="en-US" sz="1400" dirty="0">
              <a:latin typeface="Avenir Book" panose="02000503020000020003" pitchFamily="2" charset="0"/>
            </a:endParaRPr>
          </a:p>
          <a:p>
            <a:pPr algn="just">
              <a:lnSpc>
                <a:spcPct val="150000"/>
              </a:lnSpc>
            </a:pPr>
            <a:r>
              <a:rPr lang="en-US" sz="1400" dirty="0">
                <a:latin typeface="Avenir Book" panose="02000503020000020003" pitchFamily="2" charset="0"/>
              </a:rPr>
              <a:t>The operational roles will be shared as follows:</a:t>
            </a:r>
          </a:p>
          <a:p>
            <a:pPr algn="just">
              <a:lnSpc>
                <a:spcPct val="150000"/>
              </a:lnSpc>
            </a:pPr>
            <a:endParaRPr lang="en-US" sz="1400" dirty="0">
              <a:latin typeface="Avenir Book" panose="02000503020000020003" pitchFamily="2" charset="0"/>
            </a:endParaRPr>
          </a:p>
          <a:p>
            <a:pPr algn="just">
              <a:lnSpc>
                <a:spcPct val="150000"/>
              </a:lnSpc>
            </a:pPr>
            <a:r>
              <a:rPr lang="en-US" sz="1400" b="1" dirty="0">
                <a:latin typeface="Avenir Book" panose="02000503020000020003" pitchFamily="2" charset="0"/>
              </a:rPr>
              <a:t>Civil Service Staff</a:t>
            </a:r>
          </a:p>
          <a:p>
            <a:pPr marL="342900" indent="-342900" algn="just">
              <a:lnSpc>
                <a:spcPct val="150000"/>
              </a:lnSpc>
              <a:buFont typeface="+mj-lt"/>
              <a:buAutoNum type="arabicPeriod"/>
            </a:pPr>
            <a:r>
              <a:rPr lang="en-US" sz="1400" dirty="0">
                <a:latin typeface="Avenir Book" panose="02000503020000020003" pitchFamily="2" charset="0"/>
              </a:rPr>
              <a:t>Coworking &amp; Community</a:t>
            </a:r>
          </a:p>
          <a:p>
            <a:pPr marL="342900" indent="-342900">
              <a:lnSpc>
                <a:spcPct val="150000"/>
              </a:lnSpc>
              <a:buFont typeface="+mj-lt"/>
              <a:buAutoNum type="arabicPeriod"/>
            </a:pPr>
            <a:r>
              <a:rPr lang="en-US" sz="1400" dirty="0">
                <a:latin typeface="Avenir Book" panose="02000503020000020003" pitchFamily="2" charset="0"/>
              </a:rPr>
              <a:t>Administration</a:t>
            </a:r>
          </a:p>
          <a:p>
            <a:pPr marL="342900" indent="-342900">
              <a:lnSpc>
                <a:spcPct val="150000"/>
              </a:lnSpc>
              <a:buFont typeface="+mj-lt"/>
              <a:buAutoNum type="arabicPeriod"/>
            </a:pPr>
            <a:endParaRPr lang="en-US" sz="1400" dirty="0">
              <a:latin typeface="Avenir Book" panose="02000503020000020003" pitchFamily="2" charset="0"/>
            </a:endParaRPr>
          </a:p>
          <a:p>
            <a:pPr>
              <a:lnSpc>
                <a:spcPct val="150000"/>
              </a:lnSpc>
            </a:pPr>
            <a:r>
              <a:rPr lang="en-US" sz="1400" b="1" dirty="0">
                <a:latin typeface="Avenir Book" panose="02000503020000020003" pitchFamily="2" charset="0"/>
              </a:rPr>
              <a:t>Consultant Staff</a:t>
            </a:r>
          </a:p>
          <a:p>
            <a:pPr marL="342900" indent="-342900">
              <a:lnSpc>
                <a:spcPct val="150000"/>
              </a:lnSpc>
              <a:buFont typeface="+mj-lt"/>
              <a:buAutoNum type="arabicPeriod"/>
            </a:pPr>
            <a:r>
              <a:rPr lang="en-US" sz="1400" dirty="0">
                <a:latin typeface="Avenir Book" panose="02000503020000020003" pitchFamily="2" charset="0"/>
              </a:rPr>
              <a:t>Training &amp; Research</a:t>
            </a:r>
          </a:p>
          <a:p>
            <a:pPr marL="342900" indent="-342900">
              <a:lnSpc>
                <a:spcPct val="150000"/>
              </a:lnSpc>
              <a:buFont typeface="+mj-lt"/>
              <a:buAutoNum type="arabicPeriod"/>
            </a:pPr>
            <a:r>
              <a:rPr lang="en-US" sz="1400" dirty="0">
                <a:latin typeface="Avenir Book" panose="02000503020000020003" pitchFamily="2" charset="0"/>
              </a:rPr>
              <a:t>Startups &amp; Entrepreneurship</a:t>
            </a:r>
          </a:p>
          <a:p>
            <a:pPr marL="342900" indent="-342900">
              <a:lnSpc>
                <a:spcPct val="150000"/>
              </a:lnSpc>
              <a:buFont typeface="+mj-lt"/>
              <a:buAutoNum type="arabicPeriod"/>
            </a:pPr>
            <a:r>
              <a:rPr lang="en-US" sz="1400" dirty="0">
                <a:latin typeface="Avenir Book" panose="02000503020000020003" pitchFamily="2" charset="0"/>
              </a:rPr>
              <a:t>Marketing</a:t>
            </a:r>
          </a:p>
        </p:txBody>
      </p:sp>
      <p:sp>
        <p:nvSpPr>
          <p:cNvPr id="7" name="Rectangle 6">
            <a:extLst>
              <a:ext uri="{FF2B5EF4-FFF2-40B4-BE49-F238E27FC236}">
                <a16:creationId xmlns:a16="http://schemas.microsoft.com/office/drawing/2014/main" id="{C1938511-037F-ED46-AB38-15FD5B6934D2}"/>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a:t>
            </a:r>
          </a:p>
        </p:txBody>
      </p:sp>
    </p:spTree>
    <p:extLst>
      <p:ext uri="{BB962C8B-B14F-4D97-AF65-F5344CB8AC3E}">
        <p14:creationId xmlns:p14="http://schemas.microsoft.com/office/powerpoint/2010/main" val="105143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484757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a:t>
            </a:r>
          </a:p>
        </p:txBody>
      </p:sp>
      <p:sp>
        <p:nvSpPr>
          <p:cNvPr id="2" name="Rectangle 1">
            <a:extLst>
              <a:ext uri="{FF2B5EF4-FFF2-40B4-BE49-F238E27FC236}">
                <a16:creationId xmlns:a16="http://schemas.microsoft.com/office/drawing/2014/main" id="{043071D0-2F8D-E14C-B7CC-B3853FCDCB0D}"/>
              </a:ext>
            </a:extLst>
          </p:cNvPr>
          <p:cNvSpPr/>
          <p:nvPr/>
        </p:nvSpPr>
        <p:spPr>
          <a:xfrm>
            <a:off x="3331922" y="2069390"/>
            <a:ext cx="225468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Managing Director</a:t>
            </a:r>
          </a:p>
        </p:txBody>
      </p:sp>
      <p:sp>
        <p:nvSpPr>
          <p:cNvPr id="10" name="Rectangle 9">
            <a:extLst>
              <a:ext uri="{FF2B5EF4-FFF2-40B4-BE49-F238E27FC236}">
                <a16:creationId xmlns:a16="http://schemas.microsoft.com/office/drawing/2014/main" id="{6FD8AC99-43D0-9343-B1C4-1AC357EF7AD5}"/>
              </a:ext>
            </a:extLst>
          </p:cNvPr>
          <p:cNvSpPr/>
          <p:nvPr/>
        </p:nvSpPr>
        <p:spPr>
          <a:xfrm>
            <a:off x="3331922" y="1173264"/>
            <a:ext cx="225468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Advisory Board</a:t>
            </a:r>
          </a:p>
        </p:txBody>
      </p:sp>
      <p:sp>
        <p:nvSpPr>
          <p:cNvPr id="11" name="Rectangle 10">
            <a:extLst>
              <a:ext uri="{FF2B5EF4-FFF2-40B4-BE49-F238E27FC236}">
                <a16:creationId xmlns:a16="http://schemas.microsoft.com/office/drawing/2014/main" id="{B60FED1F-C71E-8149-B451-998EA9D809B5}"/>
              </a:ext>
            </a:extLst>
          </p:cNvPr>
          <p:cNvSpPr/>
          <p:nvPr/>
        </p:nvSpPr>
        <p:spPr>
          <a:xfrm>
            <a:off x="413359" y="3324081"/>
            <a:ext cx="121502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Training &amp; Research</a:t>
            </a:r>
          </a:p>
        </p:txBody>
      </p:sp>
      <p:sp>
        <p:nvSpPr>
          <p:cNvPr id="12" name="Rectangle 11">
            <a:extLst>
              <a:ext uri="{FF2B5EF4-FFF2-40B4-BE49-F238E27FC236}">
                <a16:creationId xmlns:a16="http://schemas.microsoft.com/office/drawing/2014/main" id="{A1F634FF-A9DB-AA4F-9916-01A46D454301}"/>
              </a:ext>
            </a:extLst>
          </p:cNvPr>
          <p:cNvSpPr/>
          <p:nvPr/>
        </p:nvSpPr>
        <p:spPr>
          <a:xfrm>
            <a:off x="1940492" y="3324081"/>
            <a:ext cx="1605417"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Startups &amp; Entrepreneurship</a:t>
            </a:r>
          </a:p>
        </p:txBody>
      </p:sp>
      <p:sp>
        <p:nvSpPr>
          <p:cNvPr id="13" name="Rectangle 12">
            <a:extLst>
              <a:ext uri="{FF2B5EF4-FFF2-40B4-BE49-F238E27FC236}">
                <a16:creationId xmlns:a16="http://schemas.microsoft.com/office/drawing/2014/main" id="{B48467C5-07BD-B04D-90C3-2269EDB9053C}"/>
              </a:ext>
            </a:extLst>
          </p:cNvPr>
          <p:cNvSpPr/>
          <p:nvPr/>
        </p:nvSpPr>
        <p:spPr>
          <a:xfrm>
            <a:off x="3834004" y="3324081"/>
            <a:ext cx="155531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Coworking &amp; Community</a:t>
            </a:r>
          </a:p>
        </p:txBody>
      </p:sp>
      <p:sp>
        <p:nvSpPr>
          <p:cNvPr id="14" name="Rectangle 13">
            <a:extLst>
              <a:ext uri="{FF2B5EF4-FFF2-40B4-BE49-F238E27FC236}">
                <a16:creationId xmlns:a16="http://schemas.microsoft.com/office/drawing/2014/main" id="{AB9D33C5-5A83-FA4C-A592-801DFD9E0C60}"/>
              </a:ext>
            </a:extLst>
          </p:cNvPr>
          <p:cNvSpPr/>
          <p:nvPr/>
        </p:nvSpPr>
        <p:spPr>
          <a:xfrm>
            <a:off x="7421665" y="3324081"/>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eGovernment</a:t>
            </a:r>
          </a:p>
        </p:txBody>
      </p:sp>
      <p:sp>
        <p:nvSpPr>
          <p:cNvPr id="15" name="Rectangle 14">
            <a:extLst>
              <a:ext uri="{FF2B5EF4-FFF2-40B4-BE49-F238E27FC236}">
                <a16:creationId xmlns:a16="http://schemas.microsoft.com/office/drawing/2014/main" id="{6B465138-B9AE-7449-A431-ACAEB43604BE}"/>
              </a:ext>
            </a:extLst>
          </p:cNvPr>
          <p:cNvSpPr/>
          <p:nvPr/>
        </p:nvSpPr>
        <p:spPr>
          <a:xfrm>
            <a:off x="5689945" y="3324081"/>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Admin &amp; Marketing</a:t>
            </a:r>
          </a:p>
        </p:txBody>
      </p:sp>
      <p:sp>
        <p:nvSpPr>
          <p:cNvPr id="16" name="TextBox 15">
            <a:extLst>
              <a:ext uri="{FF2B5EF4-FFF2-40B4-BE49-F238E27FC236}">
                <a16:creationId xmlns:a16="http://schemas.microsoft.com/office/drawing/2014/main" id="{35D57A60-8811-6F47-A2D2-A35EA8BDF56F}"/>
              </a:ext>
            </a:extLst>
          </p:cNvPr>
          <p:cNvSpPr txBox="1"/>
          <p:nvPr/>
        </p:nvSpPr>
        <p:spPr>
          <a:xfrm>
            <a:off x="375781" y="3995803"/>
            <a:ext cx="1471808" cy="899349"/>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Training Programs</a:t>
            </a:r>
          </a:p>
          <a:p>
            <a:pPr marL="171450" indent="-171450">
              <a:lnSpc>
                <a:spcPct val="150000"/>
              </a:lnSpc>
              <a:buFont typeface="Wingdings" pitchFamily="2" charset="2"/>
              <a:buChar char="§"/>
            </a:pPr>
            <a:r>
              <a:rPr lang="en-US" sz="1200" dirty="0">
                <a:latin typeface="Avenir Book" panose="02000503020000020003" pitchFamily="2" charset="0"/>
              </a:rPr>
              <a:t>Field Research</a:t>
            </a:r>
          </a:p>
        </p:txBody>
      </p:sp>
      <p:sp>
        <p:nvSpPr>
          <p:cNvPr id="17" name="TextBox 16">
            <a:extLst>
              <a:ext uri="{FF2B5EF4-FFF2-40B4-BE49-F238E27FC236}">
                <a16:creationId xmlns:a16="http://schemas.microsoft.com/office/drawing/2014/main" id="{97ABF986-217F-9640-AB46-0231DA7330A9}"/>
              </a:ext>
            </a:extLst>
          </p:cNvPr>
          <p:cNvSpPr txBox="1"/>
          <p:nvPr/>
        </p:nvSpPr>
        <p:spPr>
          <a:xfrm>
            <a:off x="1885167" y="3995803"/>
            <a:ext cx="1709803" cy="2561342"/>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Incubator Programs</a:t>
            </a:r>
          </a:p>
          <a:p>
            <a:pPr marL="171450" indent="-171450">
              <a:lnSpc>
                <a:spcPct val="150000"/>
              </a:lnSpc>
              <a:buFont typeface="Wingdings" pitchFamily="2" charset="2"/>
              <a:buChar char="§"/>
            </a:pPr>
            <a:r>
              <a:rPr lang="en-US" sz="1200" dirty="0">
                <a:latin typeface="Avenir Book" panose="02000503020000020003" pitchFamily="2" charset="0"/>
              </a:rPr>
              <a:t>Accelerator Programs</a:t>
            </a:r>
          </a:p>
          <a:p>
            <a:pPr marL="171450" indent="-171450">
              <a:lnSpc>
                <a:spcPct val="150000"/>
              </a:lnSpc>
              <a:buFont typeface="Wingdings" pitchFamily="2" charset="2"/>
              <a:buChar char="§"/>
            </a:pPr>
            <a:r>
              <a:rPr lang="en-US" sz="1200" dirty="0">
                <a:latin typeface="Avenir Book" panose="02000503020000020003" pitchFamily="2" charset="0"/>
              </a:rPr>
              <a:t>Grants</a:t>
            </a:r>
          </a:p>
          <a:p>
            <a:pPr marL="171450" indent="-171450">
              <a:lnSpc>
                <a:spcPct val="150000"/>
              </a:lnSpc>
              <a:buFont typeface="Wingdings" pitchFamily="2" charset="2"/>
              <a:buChar char="§"/>
            </a:pPr>
            <a:r>
              <a:rPr lang="en-US" sz="1200" dirty="0">
                <a:latin typeface="Avenir Book" panose="02000503020000020003" pitchFamily="2" charset="0"/>
              </a:rPr>
              <a:t>Competitions &amp; Hackathons</a:t>
            </a:r>
          </a:p>
          <a:p>
            <a:pPr marL="171450" indent="-171450">
              <a:lnSpc>
                <a:spcPct val="150000"/>
              </a:lnSpc>
              <a:buFont typeface="Wingdings" pitchFamily="2" charset="2"/>
              <a:buChar char="§"/>
            </a:pPr>
            <a:r>
              <a:rPr lang="en-US" sz="1200" dirty="0">
                <a:latin typeface="Avenir Book" panose="02000503020000020003" pitchFamily="2" charset="0"/>
              </a:rPr>
              <a:t>Remote Work</a:t>
            </a:r>
          </a:p>
          <a:p>
            <a:pPr marL="171450" indent="-171450">
              <a:lnSpc>
                <a:spcPct val="150000"/>
              </a:lnSpc>
              <a:buFont typeface="Wingdings" pitchFamily="2" charset="2"/>
              <a:buChar char="§"/>
            </a:pPr>
            <a:r>
              <a:rPr lang="en-US" sz="1200" dirty="0">
                <a:latin typeface="Avenir Book" panose="02000503020000020003" pitchFamily="2" charset="0"/>
              </a:rPr>
              <a:t>Business Process Outsourcing</a:t>
            </a:r>
          </a:p>
        </p:txBody>
      </p:sp>
      <p:sp>
        <p:nvSpPr>
          <p:cNvPr id="18" name="TextBox 17">
            <a:extLst>
              <a:ext uri="{FF2B5EF4-FFF2-40B4-BE49-F238E27FC236}">
                <a16:creationId xmlns:a16="http://schemas.microsoft.com/office/drawing/2014/main" id="{7D5F2207-B3DC-AC43-A7DD-38A7CE32A40B}"/>
              </a:ext>
            </a:extLst>
          </p:cNvPr>
          <p:cNvSpPr txBox="1"/>
          <p:nvPr/>
        </p:nvSpPr>
        <p:spPr>
          <a:xfrm>
            <a:off x="3834004" y="3995803"/>
            <a:ext cx="1709803" cy="2284343"/>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Coworking</a:t>
            </a:r>
          </a:p>
          <a:p>
            <a:pPr marL="171450" indent="-171450">
              <a:lnSpc>
                <a:spcPct val="150000"/>
              </a:lnSpc>
              <a:buFont typeface="Wingdings" pitchFamily="2" charset="2"/>
              <a:buChar char="§"/>
            </a:pPr>
            <a:r>
              <a:rPr lang="en-US" sz="1200" dirty="0">
                <a:latin typeface="Avenir Book" panose="02000503020000020003" pitchFamily="2" charset="0"/>
              </a:rPr>
              <a:t>Events</a:t>
            </a:r>
          </a:p>
          <a:p>
            <a:pPr marL="171450" indent="-171450">
              <a:lnSpc>
                <a:spcPct val="150000"/>
              </a:lnSpc>
              <a:buFont typeface="Wingdings" pitchFamily="2" charset="2"/>
              <a:buChar char="§"/>
            </a:pPr>
            <a:r>
              <a:rPr lang="en-US" sz="1200" dirty="0">
                <a:latin typeface="Avenir Book" panose="02000503020000020003" pitchFamily="2" charset="0"/>
              </a:rPr>
              <a:t>Conferences, Seminars &amp; Webinars</a:t>
            </a:r>
          </a:p>
          <a:p>
            <a:pPr marL="171450" indent="-171450">
              <a:lnSpc>
                <a:spcPct val="150000"/>
              </a:lnSpc>
              <a:buFont typeface="Wingdings" pitchFamily="2" charset="2"/>
              <a:buChar char="§"/>
            </a:pPr>
            <a:r>
              <a:rPr lang="en-US" sz="1200" dirty="0">
                <a:latin typeface="Avenir Book" panose="02000503020000020003" pitchFamily="2" charset="0"/>
              </a:rPr>
              <a:t>Facility Management</a:t>
            </a:r>
          </a:p>
          <a:p>
            <a:pPr marL="171450" indent="-171450">
              <a:lnSpc>
                <a:spcPct val="150000"/>
              </a:lnSpc>
              <a:buFont typeface="Wingdings" pitchFamily="2" charset="2"/>
              <a:buChar char="§"/>
            </a:pPr>
            <a:r>
              <a:rPr lang="en-US" sz="1200" dirty="0">
                <a:latin typeface="Avenir Book" panose="02000503020000020003" pitchFamily="2" charset="0"/>
              </a:rPr>
              <a:t>Human Resources</a:t>
            </a:r>
          </a:p>
        </p:txBody>
      </p:sp>
      <p:sp>
        <p:nvSpPr>
          <p:cNvPr id="19" name="TextBox 18">
            <a:extLst>
              <a:ext uri="{FF2B5EF4-FFF2-40B4-BE49-F238E27FC236}">
                <a16:creationId xmlns:a16="http://schemas.microsoft.com/office/drawing/2014/main" id="{CFE1F8EE-EE05-1242-AE12-6B38F0AA3E1C}"/>
              </a:ext>
            </a:extLst>
          </p:cNvPr>
          <p:cNvSpPr txBox="1"/>
          <p:nvPr/>
        </p:nvSpPr>
        <p:spPr>
          <a:xfrm>
            <a:off x="5689946" y="3995803"/>
            <a:ext cx="1419612" cy="1176348"/>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Social Media</a:t>
            </a:r>
          </a:p>
          <a:p>
            <a:pPr marL="171450" indent="-171450">
              <a:lnSpc>
                <a:spcPct val="150000"/>
              </a:lnSpc>
              <a:buFont typeface="Wingdings" pitchFamily="2" charset="2"/>
              <a:buChar char="§"/>
            </a:pPr>
            <a:r>
              <a:rPr lang="en-US" sz="1200" dirty="0">
                <a:latin typeface="Avenir Book" panose="02000503020000020003" pitchFamily="2" charset="0"/>
              </a:rPr>
              <a:t>PR, Advertising &amp; Awareness</a:t>
            </a:r>
          </a:p>
          <a:p>
            <a:pPr marL="171450" indent="-171450">
              <a:lnSpc>
                <a:spcPct val="150000"/>
              </a:lnSpc>
              <a:buFont typeface="Wingdings" pitchFamily="2" charset="2"/>
              <a:buChar char="§"/>
            </a:pPr>
            <a:r>
              <a:rPr lang="en-US" sz="1200" dirty="0">
                <a:latin typeface="Avenir Book" panose="02000503020000020003" pitchFamily="2" charset="0"/>
              </a:rPr>
              <a:t>Accounts</a:t>
            </a:r>
          </a:p>
        </p:txBody>
      </p:sp>
      <p:sp>
        <p:nvSpPr>
          <p:cNvPr id="20" name="TextBox 19">
            <a:extLst>
              <a:ext uri="{FF2B5EF4-FFF2-40B4-BE49-F238E27FC236}">
                <a16:creationId xmlns:a16="http://schemas.microsoft.com/office/drawing/2014/main" id="{B68EAD80-01EE-5B4D-AEA5-5315A1A1C874}"/>
              </a:ext>
            </a:extLst>
          </p:cNvPr>
          <p:cNvSpPr txBox="1"/>
          <p:nvPr/>
        </p:nvSpPr>
        <p:spPr>
          <a:xfrm>
            <a:off x="7399748" y="4029979"/>
            <a:ext cx="1441529" cy="1730345"/>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eGovernment</a:t>
            </a:r>
          </a:p>
          <a:p>
            <a:pPr marL="171450" indent="-171450">
              <a:lnSpc>
                <a:spcPct val="150000"/>
              </a:lnSpc>
              <a:buFont typeface="Wingdings" pitchFamily="2" charset="2"/>
              <a:buChar char="§"/>
            </a:pPr>
            <a:r>
              <a:rPr lang="en-US" sz="1200" dirty="0">
                <a:latin typeface="Avenir Book" panose="02000503020000020003" pitchFamily="2" charset="0"/>
              </a:rPr>
              <a:t>Website &amp; Email Management</a:t>
            </a:r>
          </a:p>
          <a:p>
            <a:pPr marL="171450" indent="-171450">
              <a:lnSpc>
                <a:spcPct val="150000"/>
              </a:lnSpc>
              <a:buFont typeface="Wingdings" pitchFamily="2" charset="2"/>
              <a:buChar char="§"/>
            </a:pPr>
            <a:r>
              <a:rPr lang="en-US" sz="1200" dirty="0">
                <a:latin typeface="Avenir Book" panose="02000503020000020003" pitchFamily="2" charset="0"/>
              </a:rPr>
              <a:t>IT Support across MDAs</a:t>
            </a:r>
          </a:p>
        </p:txBody>
      </p:sp>
      <p:cxnSp>
        <p:nvCxnSpPr>
          <p:cNvPr id="22" name="Straight Connector 21">
            <a:extLst>
              <a:ext uri="{FF2B5EF4-FFF2-40B4-BE49-F238E27FC236}">
                <a16:creationId xmlns:a16="http://schemas.microsoft.com/office/drawing/2014/main" id="{DB4EC7B4-F52F-2C41-A834-21FCB1CE3F02}"/>
              </a:ext>
            </a:extLst>
          </p:cNvPr>
          <p:cNvCxnSpPr>
            <a:stCxn id="10" idx="2"/>
            <a:endCxn id="2" idx="0"/>
          </p:cNvCxnSpPr>
          <p:nvPr/>
        </p:nvCxnSpPr>
        <p:spPr>
          <a:xfrm>
            <a:off x="4459265" y="1671710"/>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E0EB59F-F08E-0B44-B8C3-3B33EBC38C11}"/>
              </a:ext>
            </a:extLst>
          </p:cNvPr>
          <p:cNvCxnSpPr>
            <a:stCxn id="2" idx="2"/>
          </p:cNvCxnSpPr>
          <p:nvPr/>
        </p:nvCxnSpPr>
        <p:spPr>
          <a:xfrm>
            <a:off x="4459265" y="2567836"/>
            <a:ext cx="0" cy="3632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EF47DDB-D5EB-3145-9FAA-51236DFD182D}"/>
              </a:ext>
            </a:extLst>
          </p:cNvPr>
          <p:cNvCxnSpPr/>
          <p:nvPr/>
        </p:nvCxnSpPr>
        <p:spPr>
          <a:xfrm>
            <a:off x="1002082" y="2931090"/>
            <a:ext cx="71147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4C6822B-F96F-9043-9A16-3A53089BD768}"/>
              </a:ext>
            </a:extLst>
          </p:cNvPr>
          <p:cNvCxnSpPr>
            <a:cxnSpLocks/>
          </p:cNvCxnSpPr>
          <p:nvPr/>
        </p:nvCxnSpPr>
        <p:spPr>
          <a:xfrm>
            <a:off x="2732761"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F997826-124D-E147-B467-3763EDFA097F}"/>
              </a:ext>
            </a:extLst>
          </p:cNvPr>
          <p:cNvCxnSpPr>
            <a:cxnSpLocks/>
          </p:cNvCxnSpPr>
          <p:nvPr/>
        </p:nvCxnSpPr>
        <p:spPr>
          <a:xfrm>
            <a:off x="1002082"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FEE9C72-2AB3-3C42-8487-67EED92E8547}"/>
              </a:ext>
            </a:extLst>
          </p:cNvPr>
          <p:cNvCxnSpPr>
            <a:cxnSpLocks/>
          </p:cNvCxnSpPr>
          <p:nvPr/>
        </p:nvCxnSpPr>
        <p:spPr>
          <a:xfrm>
            <a:off x="4459264"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00652E5-BFFA-754B-A760-A5CFBCBCDD86}"/>
              </a:ext>
            </a:extLst>
          </p:cNvPr>
          <p:cNvCxnSpPr>
            <a:cxnSpLocks/>
          </p:cNvCxnSpPr>
          <p:nvPr/>
        </p:nvCxnSpPr>
        <p:spPr>
          <a:xfrm>
            <a:off x="6377836"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667EB8C-8BBC-B545-8BE7-3E2D19D9E651}"/>
              </a:ext>
            </a:extLst>
          </p:cNvPr>
          <p:cNvCxnSpPr>
            <a:cxnSpLocks/>
          </p:cNvCxnSpPr>
          <p:nvPr/>
        </p:nvCxnSpPr>
        <p:spPr>
          <a:xfrm>
            <a:off x="8116866"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CEA9BFD5-B349-9C46-8657-2DC5C4A7C191}"/>
              </a:ext>
            </a:extLst>
          </p:cNvPr>
          <p:cNvSpPr/>
          <p:nvPr/>
        </p:nvSpPr>
        <p:spPr>
          <a:xfrm>
            <a:off x="133614" y="2749463"/>
            <a:ext cx="3584448" cy="3989309"/>
          </a:xfrm>
          <a:prstGeom prst="rect">
            <a:avLst/>
          </a:prstGeom>
          <a:noFill/>
          <a:ln w="28575">
            <a:solidFill>
              <a:srgbClr val="2FF9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E0CE5DF-E916-064F-8761-7CDC90A3F475}"/>
              </a:ext>
            </a:extLst>
          </p:cNvPr>
          <p:cNvSpPr txBox="1"/>
          <p:nvPr/>
        </p:nvSpPr>
        <p:spPr>
          <a:xfrm>
            <a:off x="360332" y="2200544"/>
            <a:ext cx="2828790" cy="523220"/>
          </a:xfrm>
          <a:prstGeom prst="rect">
            <a:avLst/>
          </a:prstGeom>
          <a:noFill/>
        </p:spPr>
        <p:txBody>
          <a:bodyPr wrap="square" rtlCol="0">
            <a:spAutoFit/>
          </a:bodyPr>
          <a:lstStyle/>
          <a:p>
            <a:pPr algn="ctr"/>
            <a:r>
              <a:rPr lang="en-US" sz="1400" b="1" dirty="0">
                <a:solidFill>
                  <a:srgbClr val="2FF931"/>
                </a:solidFill>
                <a:latin typeface="Avenir Black" panose="02000503020000020003" pitchFamily="2" charset="0"/>
              </a:rPr>
              <a:t>INNOVATION MANAGEMENT CONSULTANT</a:t>
            </a:r>
          </a:p>
        </p:txBody>
      </p:sp>
      <p:sp>
        <p:nvSpPr>
          <p:cNvPr id="7" name="Rectangle 6">
            <a:extLst>
              <a:ext uri="{FF2B5EF4-FFF2-40B4-BE49-F238E27FC236}">
                <a16:creationId xmlns:a16="http://schemas.microsoft.com/office/drawing/2014/main" id="{FBE01560-F50C-9049-888C-D94443287755}"/>
              </a:ext>
            </a:extLst>
          </p:cNvPr>
          <p:cNvSpPr/>
          <p:nvPr/>
        </p:nvSpPr>
        <p:spPr>
          <a:xfrm>
            <a:off x="5586607" y="4029980"/>
            <a:ext cx="1631057" cy="865172"/>
          </a:xfrm>
          <a:prstGeom prst="rect">
            <a:avLst/>
          </a:prstGeom>
          <a:noFill/>
          <a:ln w="28575">
            <a:solidFill>
              <a:srgbClr val="2FF9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9815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6277811"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(Staffing)</a:t>
            </a:r>
          </a:p>
        </p:txBody>
      </p:sp>
      <p:sp>
        <p:nvSpPr>
          <p:cNvPr id="2" name="Rectangle 1">
            <a:extLst>
              <a:ext uri="{FF2B5EF4-FFF2-40B4-BE49-F238E27FC236}">
                <a16:creationId xmlns:a16="http://schemas.microsoft.com/office/drawing/2014/main" id="{043071D0-2F8D-E14C-B7CC-B3853FCDCB0D}"/>
              </a:ext>
            </a:extLst>
          </p:cNvPr>
          <p:cNvSpPr/>
          <p:nvPr/>
        </p:nvSpPr>
        <p:spPr>
          <a:xfrm>
            <a:off x="3284421" y="1279286"/>
            <a:ext cx="225468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Managing Director</a:t>
            </a:r>
          </a:p>
        </p:txBody>
      </p:sp>
      <p:sp>
        <p:nvSpPr>
          <p:cNvPr id="11" name="Rectangle 10">
            <a:extLst>
              <a:ext uri="{FF2B5EF4-FFF2-40B4-BE49-F238E27FC236}">
                <a16:creationId xmlns:a16="http://schemas.microsoft.com/office/drawing/2014/main" id="{B60FED1F-C71E-8149-B451-998EA9D809B5}"/>
              </a:ext>
            </a:extLst>
          </p:cNvPr>
          <p:cNvSpPr/>
          <p:nvPr/>
        </p:nvSpPr>
        <p:spPr>
          <a:xfrm>
            <a:off x="365858" y="2533977"/>
            <a:ext cx="121502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Training &amp; Research</a:t>
            </a:r>
          </a:p>
        </p:txBody>
      </p:sp>
      <p:sp>
        <p:nvSpPr>
          <p:cNvPr id="12" name="Rectangle 11">
            <a:extLst>
              <a:ext uri="{FF2B5EF4-FFF2-40B4-BE49-F238E27FC236}">
                <a16:creationId xmlns:a16="http://schemas.microsoft.com/office/drawing/2014/main" id="{A1F634FF-A9DB-AA4F-9916-01A46D454301}"/>
              </a:ext>
            </a:extLst>
          </p:cNvPr>
          <p:cNvSpPr/>
          <p:nvPr/>
        </p:nvSpPr>
        <p:spPr>
          <a:xfrm>
            <a:off x="1892991" y="2533977"/>
            <a:ext cx="1605417"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Startups &amp; Entrepreneurship</a:t>
            </a:r>
          </a:p>
        </p:txBody>
      </p:sp>
      <p:sp>
        <p:nvSpPr>
          <p:cNvPr id="13" name="Rectangle 12">
            <a:extLst>
              <a:ext uri="{FF2B5EF4-FFF2-40B4-BE49-F238E27FC236}">
                <a16:creationId xmlns:a16="http://schemas.microsoft.com/office/drawing/2014/main" id="{B48467C5-07BD-B04D-90C3-2269EDB9053C}"/>
              </a:ext>
            </a:extLst>
          </p:cNvPr>
          <p:cNvSpPr/>
          <p:nvPr/>
        </p:nvSpPr>
        <p:spPr>
          <a:xfrm>
            <a:off x="3786503" y="2533977"/>
            <a:ext cx="155531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Coworking &amp; Community</a:t>
            </a:r>
          </a:p>
        </p:txBody>
      </p:sp>
      <p:sp>
        <p:nvSpPr>
          <p:cNvPr id="14" name="Rectangle 13">
            <a:extLst>
              <a:ext uri="{FF2B5EF4-FFF2-40B4-BE49-F238E27FC236}">
                <a16:creationId xmlns:a16="http://schemas.microsoft.com/office/drawing/2014/main" id="{AB9D33C5-5A83-FA4C-A592-801DFD9E0C60}"/>
              </a:ext>
            </a:extLst>
          </p:cNvPr>
          <p:cNvSpPr/>
          <p:nvPr/>
        </p:nvSpPr>
        <p:spPr>
          <a:xfrm>
            <a:off x="7374164" y="2533977"/>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eGovernment</a:t>
            </a:r>
          </a:p>
        </p:txBody>
      </p:sp>
      <p:sp>
        <p:nvSpPr>
          <p:cNvPr id="15" name="Rectangle 14">
            <a:extLst>
              <a:ext uri="{FF2B5EF4-FFF2-40B4-BE49-F238E27FC236}">
                <a16:creationId xmlns:a16="http://schemas.microsoft.com/office/drawing/2014/main" id="{6B465138-B9AE-7449-A431-ACAEB43604BE}"/>
              </a:ext>
            </a:extLst>
          </p:cNvPr>
          <p:cNvSpPr/>
          <p:nvPr/>
        </p:nvSpPr>
        <p:spPr>
          <a:xfrm>
            <a:off x="5642444" y="2533977"/>
            <a:ext cx="1555314"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Admin &amp; Marketing</a:t>
            </a:r>
          </a:p>
        </p:txBody>
      </p:sp>
      <p:sp>
        <p:nvSpPr>
          <p:cNvPr id="16" name="TextBox 15">
            <a:extLst>
              <a:ext uri="{FF2B5EF4-FFF2-40B4-BE49-F238E27FC236}">
                <a16:creationId xmlns:a16="http://schemas.microsoft.com/office/drawing/2014/main" id="{35D57A60-8811-6F47-A2D2-A35EA8BDF56F}"/>
              </a:ext>
            </a:extLst>
          </p:cNvPr>
          <p:cNvSpPr txBox="1"/>
          <p:nvPr/>
        </p:nvSpPr>
        <p:spPr>
          <a:xfrm>
            <a:off x="328280" y="3205699"/>
            <a:ext cx="1471808" cy="899349"/>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Training Manager</a:t>
            </a:r>
          </a:p>
          <a:p>
            <a:pPr marL="171450" indent="-171450">
              <a:lnSpc>
                <a:spcPct val="150000"/>
              </a:lnSpc>
              <a:buFont typeface="Wingdings" pitchFamily="2" charset="2"/>
              <a:buChar char="§"/>
            </a:pPr>
            <a:r>
              <a:rPr lang="en-US" sz="1200" dirty="0">
                <a:latin typeface="Avenir Book" panose="02000503020000020003" pitchFamily="2" charset="0"/>
              </a:rPr>
              <a:t>Research Officer</a:t>
            </a:r>
          </a:p>
        </p:txBody>
      </p:sp>
      <p:sp>
        <p:nvSpPr>
          <p:cNvPr id="17" name="TextBox 16">
            <a:extLst>
              <a:ext uri="{FF2B5EF4-FFF2-40B4-BE49-F238E27FC236}">
                <a16:creationId xmlns:a16="http://schemas.microsoft.com/office/drawing/2014/main" id="{97ABF986-217F-9640-AB46-0231DA7330A9}"/>
              </a:ext>
            </a:extLst>
          </p:cNvPr>
          <p:cNvSpPr txBox="1"/>
          <p:nvPr/>
        </p:nvSpPr>
        <p:spPr>
          <a:xfrm>
            <a:off x="1837666" y="3205699"/>
            <a:ext cx="1802698" cy="2007344"/>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Program Manager (s)</a:t>
            </a:r>
          </a:p>
          <a:p>
            <a:pPr marL="171450" indent="-171450">
              <a:lnSpc>
                <a:spcPct val="150000"/>
              </a:lnSpc>
              <a:buFont typeface="Wingdings" pitchFamily="2" charset="2"/>
              <a:buChar char="§"/>
            </a:pPr>
            <a:r>
              <a:rPr lang="en-US" sz="1200" dirty="0">
                <a:latin typeface="Avenir Book" panose="02000503020000020003" pitchFamily="2" charset="0"/>
              </a:rPr>
              <a:t>1 Training Coordinator</a:t>
            </a:r>
          </a:p>
          <a:p>
            <a:pPr marL="171450" indent="-171450">
              <a:lnSpc>
                <a:spcPct val="150000"/>
              </a:lnSpc>
              <a:buFont typeface="Wingdings" pitchFamily="2" charset="2"/>
              <a:buChar char="§"/>
            </a:pPr>
            <a:r>
              <a:rPr lang="en-US" sz="1200" dirty="0">
                <a:latin typeface="Avenir Book" panose="02000503020000020003" pitchFamily="2" charset="0"/>
              </a:rPr>
              <a:t>1 Full Stack Developer (Web)</a:t>
            </a:r>
          </a:p>
          <a:p>
            <a:pPr marL="171450" indent="-171450">
              <a:lnSpc>
                <a:spcPct val="150000"/>
              </a:lnSpc>
              <a:buFont typeface="Wingdings" pitchFamily="2" charset="2"/>
              <a:buChar char="§"/>
            </a:pPr>
            <a:r>
              <a:rPr lang="en-US" sz="1200" dirty="0">
                <a:latin typeface="Avenir Book" panose="02000503020000020003" pitchFamily="2" charset="0"/>
              </a:rPr>
              <a:t>1 Full Stack Developer (Mobile)</a:t>
            </a:r>
          </a:p>
        </p:txBody>
      </p:sp>
      <p:sp>
        <p:nvSpPr>
          <p:cNvPr id="18" name="TextBox 17">
            <a:extLst>
              <a:ext uri="{FF2B5EF4-FFF2-40B4-BE49-F238E27FC236}">
                <a16:creationId xmlns:a16="http://schemas.microsoft.com/office/drawing/2014/main" id="{7D5F2207-B3DC-AC43-A7DD-38A7CE32A40B}"/>
              </a:ext>
            </a:extLst>
          </p:cNvPr>
          <p:cNvSpPr txBox="1"/>
          <p:nvPr/>
        </p:nvSpPr>
        <p:spPr>
          <a:xfrm>
            <a:off x="3786503" y="3205699"/>
            <a:ext cx="1709803" cy="2007344"/>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Community Manager</a:t>
            </a:r>
          </a:p>
          <a:p>
            <a:pPr marL="171450" indent="-171450">
              <a:lnSpc>
                <a:spcPct val="150000"/>
              </a:lnSpc>
              <a:buFont typeface="Wingdings" pitchFamily="2" charset="2"/>
              <a:buChar char="§"/>
            </a:pPr>
            <a:r>
              <a:rPr lang="en-US" sz="1200" dirty="0">
                <a:latin typeface="Avenir Book" panose="02000503020000020003" pitchFamily="2" charset="0"/>
              </a:rPr>
              <a:t>HR Manager</a:t>
            </a:r>
          </a:p>
          <a:p>
            <a:pPr marL="171450" indent="-171450">
              <a:lnSpc>
                <a:spcPct val="150000"/>
              </a:lnSpc>
              <a:buFont typeface="Wingdings" pitchFamily="2" charset="2"/>
              <a:buChar char="§"/>
            </a:pPr>
            <a:r>
              <a:rPr lang="en-US" sz="1200" dirty="0">
                <a:latin typeface="Avenir Book" panose="02000503020000020003" pitchFamily="2" charset="0"/>
              </a:rPr>
              <a:t>1 Training Coordinator</a:t>
            </a:r>
          </a:p>
          <a:p>
            <a:pPr marL="171450" indent="-171450">
              <a:lnSpc>
                <a:spcPct val="150000"/>
              </a:lnSpc>
              <a:buFont typeface="Wingdings" pitchFamily="2" charset="2"/>
              <a:buChar char="§"/>
            </a:pPr>
            <a:r>
              <a:rPr lang="en-US" sz="1200" dirty="0">
                <a:latin typeface="Avenir Book" panose="02000503020000020003" pitchFamily="2" charset="0"/>
              </a:rPr>
              <a:t>3 Front Desk Staff</a:t>
            </a:r>
          </a:p>
          <a:p>
            <a:pPr marL="171450" indent="-171450">
              <a:lnSpc>
                <a:spcPct val="150000"/>
              </a:lnSpc>
              <a:buFont typeface="Wingdings" pitchFamily="2" charset="2"/>
              <a:buChar char="§"/>
            </a:pPr>
            <a:r>
              <a:rPr lang="en-US" sz="1200" dirty="0">
                <a:latin typeface="Avenir Book" panose="02000503020000020003" pitchFamily="2" charset="0"/>
              </a:rPr>
              <a:t>2 Drivers</a:t>
            </a:r>
          </a:p>
        </p:txBody>
      </p:sp>
      <p:sp>
        <p:nvSpPr>
          <p:cNvPr id="19" name="TextBox 18">
            <a:extLst>
              <a:ext uri="{FF2B5EF4-FFF2-40B4-BE49-F238E27FC236}">
                <a16:creationId xmlns:a16="http://schemas.microsoft.com/office/drawing/2014/main" id="{CFE1F8EE-EE05-1242-AE12-6B38F0AA3E1C}"/>
              </a:ext>
            </a:extLst>
          </p:cNvPr>
          <p:cNvSpPr txBox="1"/>
          <p:nvPr/>
        </p:nvSpPr>
        <p:spPr>
          <a:xfrm>
            <a:off x="5642444" y="3205699"/>
            <a:ext cx="1602281" cy="3115340"/>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Director of Admin &amp; Corp</a:t>
            </a:r>
          </a:p>
          <a:p>
            <a:pPr marL="171450" indent="-171450">
              <a:lnSpc>
                <a:spcPct val="150000"/>
              </a:lnSpc>
              <a:buFont typeface="Wingdings" pitchFamily="2" charset="2"/>
              <a:buChar char="§"/>
            </a:pPr>
            <a:r>
              <a:rPr lang="en-US" sz="1200" dirty="0">
                <a:latin typeface="Avenir Book" panose="02000503020000020003" pitchFamily="2" charset="0"/>
              </a:rPr>
              <a:t>Facility Manager</a:t>
            </a:r>
          </a:p>
          <a:p>
            <a:pPr marL="171450" indent="-171450">
              <a:lnSpc>
                <a:spcPct val="150000"/>
              </a:lnSpc>
              <a:buFont typeface="Wingdings" pitchFamily="2" charset="2"/>
              <a:buChar char="§"/>
            </a:pPr>
            <a:r>
              <a:rPr lang="en-US" sz="1200" dirty="0">
                <a:latin typeface="Avenir Book" panose="02000503020000020003" pitchFamily="2" charset="0"/>
              </a:rPr>
              <a:t>2 Maintenance Officers</a:t>
            </a:r>
          </a:p>
          <a:p>
            <a:pPr marL="171450" indent="-171450">
              <a:lnSpc>
                <a:spcPct val="150000"/>
              </a:lnSpc>
              <a:buFont typeface="Wingdings" pitchFamily="2" charset="2"/>
              <a:buChar char="§"/>
            </a:pPr>
            <a:r>
              <a:rPr lang="en-US" sz="1200" dirty="0">
                <a:latin typeface="Avenir Book" panose="02000503020000020003" pitchFamily="2" charset="0"/>
              </a:rPr>
              <a:t>Head of Marketing &amp; PR</a:t>
            </a:r>
          </a:p>
          <a:p>
            <a:pPr marL="171450" indent="-171450">
              <a:lnSpc>
                <a:spcPct val="150000"/>
              </a:lnSpc>
              <a:buFont typeface="Wingdings" pitchFamily="2" charset="2"/>
              <a:buChar char="§"/>
            </a:pPr>
            <a:r>
              <a:rPr lang="en-US" sz="1200" dirty="0">
                <a:latin typeface="Avenir Book" panose="02000503020000020003" pitchFamily="2" charset="0"/>
              </a:rPr>
              <a:t>1 Graphic Designer</a:t>
            </a:r>
          </a:p>
          <a:p>
            <a:pPr marL="171450" indent="-171450">
              <a:lnSpc>
                <a:spcPct val="150000"/>
              </a:lnSpc>
              <a:buFont typeface="Wingdings" pitchFamily="2" charset="2"/>
              <a:buChar char="§"/>
            </a:pPr>
            <a:r>
              <a:rPr lang="en-US" sz="1200" dirty="0">
                <a:latin typeface="Avenir Book" panose="02000503020000020003" pitchFamily="2" charset="0"/>
              </a:rPr>
              <a:t>1 Social Media Manager</a:t>
            </a:r>
          </a:p>
        </p:txBody>
      </p:sp>
      <p:sp>
        <p:nvSpPr>
          <p:cNvPr id="20" name="TextBox 19">
            <a:extLst>
              <a:ext uri="{FF2B5EF4-FFF2-40B4-BE49-F238E27FC236}">
                <a16:creationId xmlns:a16="http://schemas.microsoft.com/office/drawing/2014/main" id="{B68EAD80-01EE-5B4D-AEA5-5315A1A1C874}"/>
              </a:ext>
            </a:extLst>
          </p:cNvPr>
          <p:cNvSpPr txBox="1"/>
          <p:nvPr/>
        </p:nvSpPr>
        <p:spPr>
          <a:xfrm>
            <a:off x="7352247" y="3239875"/>
            <a:ext cx="1441529" cy="2561342"/>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1 Hardware Engineer</a:t>
            </a:r>
          </a:p>
          <a:p>
            <a:pPr marL="171450" indent="-171450">
              <a:lnSpc>
                <a:spcPct val="150000"/>
              </a:lnSpc>
              <a:buFont typeface="Wingdings" pitchFamily="2" charset="2"/>
              <a:buChar char="§"/>
            </a:pPr>
            <a:r>
              <a:rPr lang="en-US" sz="1200" dirty="0">
                <a:latin typeface="Avenir Book" panose="02000503020000020003" pitchFamily="2" charset="0"/>
              </a:rPr>
              <a:t>1 Network Engineer</a:t>
            </a:r>
          </a:p>
          <a:p>
            <a:pPr marL="171450" indent="-171450">
              <a:lnSpc>
                <a:spcPct val="150000"/>
              </a:lnSpc>
              <a:buFont typeface="Wingdings" pitchFamily="2" charset="2"/>
              <a:buChar char="§"/>
            </a:pPr>
            <a:r>
              <a:rPr lang="en-US" sz="1200" dirty="0">
                <a:latin typeface="Avenir Book" panose="02000503020000020003" pitchFamily="2" charset="0"/>
              </a:rPr>
              <a:t>1 Content Manager</a:t>
            </a:r>
          </a:p>
          <a:p>
            <a:pPr marL="171450" indent="-171450">
              <a:lnSpc>
                <a:spcPct val="150000"/>
              </a:lnSpc>
              <a:buFont typeface="Wingdings" pitchFamily="2" charset="2"/>
              <a:buChar char="§"/>
            </a:pPr>
            <a:r>
              <a:rPr lang="en-US" sz="1200" dirty="0">
                <a:latin typeface="Avenir Book" panose="02000503020000020003" pitchFamily="2" charset="0"/>
              </a:rPr>
              <a:t>1 Business Analyst</a:t>
            </a:r>
          </a:p>
          <a:p>
            <a:pPr marL="171450" indent="-171450">
              <a:lnSpc>
                <a:spcPct val="150000"/>
              </a:lnSpc>
              <a:buFont typeface="Wingdings" pitchFamily="2" charset="2"/>
              <a:buChar char="§"/>
            </a:pPr>
            <a:endParaRPr lang="en-US" sz="1200" dirty="0">
              <a:latin typeface="Avenir Book" panose="02000503020000020003" pitchFamily="2" charset="0"/>
            </a:endParaRPr>
          </a:p>
        </p:txBody>
      </p:sp>
      <p:cxnSp>
        <p:nvCxnSpPr>
          <p:cNvPr id="24" name="Straight Connector 23">
            <a:extLst>
              <a:ext uri="{FF2B5EF4-FFF2-40B4-BE49-F238E27FC236}">
                <a16:creationId xmlns:a16="http://schemas.microsoft.com/office/drawing/2014/main" id="{2E0EB59F-F08E-0B44-B8C3-3B33EBC38C11}"/>
              </a:ext>
            </a:extLst>
          </p:cNvPr>
          <p:cNvCxnSpPr>
            <a:stCxn id="2" idx="2"/>
          </p:cNvCxnSpPr>
          <p:nvPr/>
        </p:nvCxnSpPr>
        <p:spPr>
          <a:xfrm>
            <a:off x="4411764" y="1777732"/>
            <a:ext cx="0" cy="3632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EF47DDB-D5EB-3145-9FAA-51236DFD182D}"/>
              </a:ext>
            </a:extLst>
          </p:cNvPr>
          <p:cNvCxnSpPr/>
          <p:nvPr/>
        </p:nvCxnSpPr>
        <p:spPr>
          <a:xfrm>
            <a:off x="954581" y="2140986"/>
            <a:ext cx="71147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4C6822B-F96F-9043-9A16-3A53089BD768}"/>
              </a:ext>
            </a:extLst>
          </p:cNvPr>
          <p:cNvCxnSpPr>
            <a:cxnSpLocks/>
          </p:cNvCxnSpPr>
          <p:nvPr/>
        </p:nvCxnSpPr>
        <p:spPr>
          <a:xfrm>
            <a:off x="2685260"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F997826-124D-E147-B467-3763EDFA097F}"/>
              </a:ext>
            </a:extLst>
          </p:cNvPr>
          <p:cNvCxnSpPr>
            <a:cxnSpLocks/>
          </p:cNvCxnSpPr>
          <p:nvPr/>
        </p:nvCxnSpPr>
        <p:spPr>
          <a:xfrm>
            <a:off x="954581"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FEE9C72-2AB3-3C42-8487-67EED92E8547}"/>
              </a:ext>
            </a:extLst>
          </p:cNvPr>
          <p:cNvCxnSpPr>
            <a:cxnSpLocks/>
          </p:cNvCxnSpPr>
          <p:nvPr/>
        </p:nvCxnSpPr>
        <p:spPr>
          <a:xfrm>
            <a:off x="4411763"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00652E5-BFFA-754B-A760-A5CFBCBCDD86}"/>
              </a:ext>
            </a:extLst>
          </p:cNvPr>
          <p:cNvCxnSpPr>
            <a:cxnSpLocks/>
          </p:cNvCxnSpPr>
          <p:nvPr/>
        </p:nvCxnSpPr>
        <p:spPr>
          <a:xfrm>
            <a:off x="6330335"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667EB8C-8BBC-B545-8BE7-3E2D19D9E651}"/>
              </a:ext>
            </a:extLst>
          </p:cNvPr>
          <p:cNvCxnSpPr>
            <a:cxnSpLocks/>
          </p:cNvCxnSpPr>
          <p:nvPr/>
        </p:nvCxnSpPr>
        <p:spPr>
          <a:xfrm>
            <a:off x="8069365"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D516D52E-5DDA-764B-BF5C-F2571E27D4E6}"/>
              </a:ext>
            </a:extLst>
          </p:cNvPr>
          <p:cNvSpPr txBox="1"/>
          <p:nvPr/>
        </p:nvSpPr>
        <p:spPr>
          <a:xfrm>
            <a:off x="350224" y="4216283"/>
            <a:ext cx="1471808" cy="345351"/>
          </a:xfrm>
          <a:prstGeom prst="rect">
            <a:avLst/>
          </a:prstGeom>
          <a:noFill/>
        </p:spPr>
        <p:txBody>
          <a:bodyPr wrap="square" rtlCol="0">
            <a:spAutoFit/>
          </a:bodyPr>
          <a:lstStyle/>
          <a:p>
            <a:pPr algn="ctr">
              <a:lnSpc>
                <a:spcPct val="150000"/>
              </a:lnSpc>
            </a:pPr>
            <a:r>
              <a:rPr lang="en-US" sz="1200" dirty="0">
                <a:latin typeface="Avenir Book" panose="02000503020000020003" pitchFamily="2" charset="0"/>
              </a:rPr>
              <a:t>2</a:t>
            </a:r>
          </a:p>
        </p:txBody>
      </p:sp>
      <p:sp>
        <p:nvSpPr>
          <p:cNvPr id="28" name="TextBox 27">
            <a:extLst>
              <a:ext uri="{FF2B5EF4-FFF2-40B4-BE49-F238E27FC236}">
                <a16:creationId xmlns:a16="http://schemas.microsoft.com/office/drawing/2014/main" id="{0A2A4575-2D20-B54E-A5D6-2665CE823718}"/>
              </a:ext>
            </a:extLst>
          </p:cNvPr>
          <p:cNvSpPr txBox="1"/>
          <p:nvPr/>
        </p:nvSpPr>
        <p:spPr>
          <a:xfrm>
            <a:off x="1892991" y="5233363"/>
            <a:ext cx="1471808" cy="345351"/>
          </a:xfrm>
          <a:prstGeom prst="rect">
            <a:avLst/>
          </a:prstGeom>
          <a:noFill/>
        </p:spPr>
        <p:txBody>
          <a:bodyPr wrap="square" rtlCol="0">
            <a:spAutoFit/>
          </a:bodyPr>
          <a:lstStyle/>
          <a:p>
            <a:pPr algn="ctr">
              <a:lnSpc>
                <a:spcPct val="150000"/>
              </a:lnSpc>
            </a:pPr>
            <a:r>
              <a:rPr lang="en-US" sz="1200" dirty="0">
                <a:latin typeface="Avenir Book" panose="02000503020000020003" pitchFamily="2" charset="0"/>
              </a:rPr>
              <a:t>4</a:t>
            </a:r>
          </a:p>
        </p:txBody>
      </p:sp>
      <p:sp>
        <p:nvSpPr>
          <p:cNvPr id="30" name="TextBox 29">
            <a:extLst>
              <a:ext uri="{FF2B5EF4-FFF2-40B4-BE49-F238E27FC236}">
                <a16:creationId xmlns:a16="http://schemas.microsoft.com/office/drawing/2014/main" id="{118B9072-20B3-154C-869A-25080FE1626B}"/>
              </a:ext>
            </a:extLst>
          </p:cNvPr>
          <p:cNvSpPr txBox="1"/>
          <p:nvPr/>
        </p:nvSpPr>
        <p:spPr>
          <a:xfrm>
            <a:off x="3786503" y="5329634"/>
            <a:ext cx="1471808" cy="345351"/>
          </a:xfrm>
          <a:prstGeom prst="rect">
            <a:avLst/>
          </a:prstGeom>
          <a:noFill/>
        </p:spPr>
        <p:txBody>
          <a:bodyPr wrap="square" rtlCol="0">
            <a:spAutoFit/>
          </a:bodyPr>
          <a:lstStyle/>
          <a:p>
            <a:pPr algn="ctr">
              <a:lnSpc>
                <a:spcPct val="150000"/>
              </a:lnSpc>
            </a:pPr>
            <a:r>
              <a:rPr lang="en-US" sz="1200" dirty="0">
                <a:latin typeface="Avenir Book" panose="02000503020000020003" pitchFamily="2" charset="0"/>
              </a:rPr>
              <a:t>8</a:t>
            </a:r>
          </a:p>
        </p:txBody>
      </p:sp>
      <p:sp>
        <p:nvSpPr>
          <p:cNvPr id="35" name="TextBox 34">
            <a:extLst>
              <a:ext uri="{FF2B5EF4-FFF2-40B4-BE49-F238E27FC236}">
                <a16:creationId xmlns:a16="http://schemas.microsoft.com/office/drawing/2014/main" id="{3E828D09-DCBE-4742-8B3C-2241038B9BEE}"/>
              </a:ext>
            </a:extLst>
          </p:cNvPr>
          <p:cNvSpPr txBox="1"/>
          <p:nvPr/>
        </p:nvSpPr>
        <p:spPr>
          <a:xfrm>
            <a:off x="5642444" y="6430489"/>
            <a:ext cx="1471808" cy="345351"/>
          </a:xfrm>
          <a:prstGeom prst="rect">
            <a:avLst/>
          </a:prstGeom>
          <a:noFill/>
        </p:spPr>
        <p:txBody>
          <a:bodyPr wrap="square" rtlCol="0">
            <a:spAutoFit/>
          </a:bodyPr>
          <a:lstStyle/>
          <a:p>
            <a:pPr algn="ctr">
              <a:lnSpc>
                <a:spcPct val="150000"/>
              </a:lnSpc>
            </a:pPr>
            <a:r>
              <a:rPr lang="en-US" sz="1200" dirty="0">
                <a:latin typeface="Avenir Book" panose="02000503020000020003" pitchFamily="2" charset="0"/>
              </a:rPr>
              <a:t>7</a:t>
            </a:r>
          </a:p>
        </p:txBody>
      </p:sp>
      <p:sp>
        <p:nvSpPr>
          <p:cNvPr id="36" name="TextBox 35">
            <a:extLst>
              <a:ext uri="{FF2B5EF4-FFF2-40B4-BE49-F238E27FC236}">
                <a16:creationId xmlns:a16="http://schemas.microsoft.com/office/drawing/2014/main" id="{22D56A78-919B-8E42-96A9-15544742C5ED}"/>
              </a:ext>
            </a:extLst>
          </p:cNvPr>
          <p:cNvSpPr txBox="1"/>
          <p:nvPr/>
        </p:nvSpPr>
        <p:spPr>
          <a:xfrm>
            <a:off x="7343912" y="5569729"/>
            <a:ext cx="1471808" cy="345351"/>
          </a:xfrm>
          <a:prstGeom prst="rect">
            <a:avLst/>
          </a:prstGeom>
          <a:noFill/>
        </p:spPr>
        <p:txBody>
          <a:bodyPr wrap="square" rtlCol="0">
            <a:spAutoFit/>
          </a:bodyPr>
          <a:lstStyle/>
          <a:p>
            <a:pPr algn="ctr">
              <a:lnSpc>
                <a:spcPct val="150000"/>
              </a:lnSpc>
            </a:pPr>
            <a:r>
              <a:rPr lang="en-US" sz="1200" dirty="0">
                <a:latin typeface="Avenir Book" panose="02000503020000020003" pitchFamily="2" charset="0"/>
              </a:rPr>
              <a:t>4</a:t>
            </a:r>
          </a:p>
        </p:txBody>
      </p:sp>
      <p:sp>
        <p:nvSpPr>
          <p:cNvPr id="39" name="TextBox 38">
            <a:extLst>
              <a:ext uri="{FF2B5EF4-FFF2-40B4-BE49-F238E27FC236}">
                <a16:creationId xmlns:a16="http://schemas.microsoft.com/office/drawing/2014/main" id="{D60690A6-75D3-C04F-AB5C-BDEAB437539C}"/>
              </a:ext>
            </a:extLst>
          </p:cNvPr>
          <p:cNvSpPr txBox="1"/>
          <p:nvPr/>
        </p:nvSpPr>
        <p:spPr>
          <a:xfrm>
            <a:off x="128066" y="5860414"/>
            <a:ext cx="2905633" cy="899349"/>
          </a:xfrm>
          <a:prstGeom prst="rect">
            <a:avLst/>
          </a:prstGeom>
          <a:noFill/>
        </p:spPr>
        <p:txBody>
          <a:bodyPr wrap="square" rtlCol="0">
            <a:spAutoFit/>
          </a:bodyPr>
          <a:lstStyle/>
          <a:p>
            <a:pPr>
              <a:lnSpc>
                <a:spcPct val="150000"/>
              </a:lnSpc>
            </a:pPr>
            <a:r>
              <a:rPr lang="en-US" sz="1200" dirty="0">
                <a:latin typeface="Avenir Book" panose="02000503020000020003" pitchFamily="2" charset="0"/>
              </a:rPr>
              <a:t>Civil Service Staff		16</a:t>
            </a:r>
          </a:p>
          <a:p>
            <a:pPr>
              <a:lnSpc>
                <a:spcPct val="150000"/>
              </a:lnSpc>
            </a:pPr>
            <a:r>
              <a:rPr lang="en-US" sz="1200" b="1" dirty="0">
                <a:solidFill>
                  <a:srgbClr val="2FF931"/>
                </a:solidFill>
                <a:latin typeface="Avenir Book" panose="02000503020000020003" pitchFamily="2" charset="0"/>
              </a:rPr>
              <a:t>Consultant Staff		9</a:t>
            </a:r>
          </a:p>
          <a:p>
            <a:pPr>
              <a:lnSpc>
                <a:spcPct val="150000"/>
              </a:lnSpc>
            </a:pPr>
            <a:r>
              <a:rPr lang="en-US" sz="1200" b="1" dirty="0">
                <a:latin typeface="Avenir Book" panose="02000503020000020003" pitchFamily="2" charset="0"/>
              </a:rPr>
              <a:t>Total Staff			25</a:t>
            </a:r>
          </a:p>
        </p:txBody>
      </p:sp>
      <p:sp>
        <p:nvSpPr>
          <p:cNvPr id="37" name="Rectangle 36">
            <a:extLst>
              <a:ext uri="{FF2B5EF4-FFF2-40B4-BE49-F238E27FC236}">
                <a16:creationId xmlns:a16="http://schemas.microsoft.com/office/drawing/2014/main" id="{0E9A87D5-52B0-0449-AF36-9D164908F777}"/>
              </a:ext>
            </a:extLst>
          </p:cNvPr>
          <p:cNvSpPr/>
          <p:nvPr/>
        </p:nvSpPr>
        <p:spPr>
          <a:xfrm>
            <a:off x="5577891" y="4624944"/>
            <a:ext cx="1631057" cy="1793351"/>
          </a:xfrm>
          <a:prstGeom prst="rect">
            <a:avLst/>
          </a:prstGeom>
          <a:noFill/>
          <a:ln w="28575">
            <a:solidFill>
              <a:srgbClr val="2FF9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7FD70D14-D2EC-D047-88F6-B9F78946B95B}"/>
              </a:ext>
            </a:extLst>
          </p:cNvPr>
          <p:cNvSpPr/>
          <p:nvPr/>
        </p:nvSpPr>
        <p:spPr>
          <a:xfrm>
            <a:off x="122004" y="1959360"/>
            <a:ext cx="3584448" cy="3619354"/>
          </a:xfrm>
          <a:prstGeom prst="rect">
            <a:avLst/>
          </a:prstGeom>
          <a:noFill/>
          <a:ln w="28575">
            <a:solidFill>
              <a:srgbClr val="2FF9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9060D029-61A9-584D-893A-7FA4F41250A7}"/>
              </a:ext>
            </a:extLst>
          </p:cNvPr>
          <p:cNvSpPr txBox="1"/>
          <p:nvPr/>
        </p:nvSpPr>
        <p:spPr>
          <a:xfrm>
            <a:off x="423271" y="1398732"/>
            <a:ext cx="2828790" cy="523220"/>
          </a:xfrm>
          <a:prstGeom prst="rect">
            <a:avLst/>
          </a:prstGeom>
          <a:noFill/>
        </p:spPr>
        <p:txBody>
          <a:bodyPr wrap="square" rtlCol="0">
            <a:spAutoFit/>
          </a:bodyPr>
          <a:lstStyle/>
          <a:p>
            <a:pPr algn="ctr"/>
            <a:r>
              <a:rPr lang="en-US" sz="1400" b="1" dirty="0">
                <a:solidFill>
                  <a:srgbClr val="2FF931"/>
                </a:solidFill>
                <a:latin typeface="Avenir Black" panose="02000503020000020003" pitchFamily="2" charset="0"/>
              </a:rPr>
              <a:t>INNOVATION MANAGEMENT CONSULTANT</a:t>
            </a:r>
          </a:p>
        </p:txBody>
      </p:sp>
    </p:spTree>
    <p:extLst>
      <p:ext uri="{BB962C8B-B14F-4D97-AF65-F5344CB8AC3E}">
        <p14:creationId xmlns:p14="http://schemas.microsoft.com/office/powerpoint/2010/main" val="31174618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6277811"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(Departments)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538617" y="1699466"/>
            <a:ext cx="7097217" cy="1357038"/>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department will be responsible for payroll and disbursement of funds to startups, grants, remote work earnings and returns to the Kwara State Government. This department will also handle all contracts, agreements and </a:t>
            </a:r>
            <a:r>
              <a:rPr lang="en-US" sz="1400" dirty="0" err="1">
                <a:latin typeface="Avenir Book" panose="02000503020000020003" pitchFamily="2" charset="0"/>
              </a:rPr>
              <a:t>MoUs</a:t>
            </a:r>
            <a:r>
              <a:rPr lang="en-US" sz="1400" dirty="0">
                <a:latin typeface="Avenir Book" panose="02000503020000020003" pitchFamily="2" charset="0"/>
              </a:rPr>
              <a:t> signed by the Ilorin Innovation Hub. It is a support department.</a:t>
            </a: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Finance &amp; Legal Department</a:t>
            </a:r>
          </a:p>
        </p:txBody>
      </p:sp>
      <p:sp>
        <p:nvSpPr>
          <p:cNvPr id="40" name="TextBox 39">
            <a:extLst>
              <a:ext uri="{FF2B5EF4-FFF2-40B4-BE49-F238E27FC236}">
                <a16:creationId xmlns:a16="http://schemas.microsoft.com/office/drawing/2014/main" id="{9F8BFCA5-06C7-B949-B41B-30E0BB0A1992}"/>
              </a:ext>
            </a:extLst>
          </p:cNvPr>
          <p:cNvSpPr txBox="1"/>
          <p:nvPr/>
        </p:nvSpPr>
        <p:spPr>
          <a:xfrm>
            <a:off x="538617" y="3741185"/>
            <a:ext cx="7097217" cy="1033873"/>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department will be in charge of the Startup Incubation programs as well as handling all partnerships with different stakeholders and partners. This department is at the heart of one of the core functions of the Ilorin Innovation Hub – Startup Incubation.</a:t>
            </a:r>
          </a:p>
        </p:txBody>
      </p:sp>
      <p:sp>
        <p:nvSpPr>
          <p:cNvPr id="41" name="TextBox 40">
            <a:extLst>
              <a:ext uri="{FF2B5EF4-FFF2-40B4-BE49-F238E27FC236}">
                <a16:creationId xmlns:a16="http://schemas.microsoft.com/office/drawing/2014/main" id="{6ADF696F-EA95-2448-B6A8-EB38CD90F5CC}"/>
              </a:ext>
            </a:extLst>
          </p:cNvPr>
          <p:cNvSpPr txBox="1"/>
          <p:nvPr/>
        </p:nvSpPr>
        <p:spPr>
          <a:xfrm>
            <a:off x="538618" y="3308134"/>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Innovation &amp; Partnerships Department</a:t>
            </a:r>
          </a:p>
        </p:txBody>
      </p:sp>
      <p:sp>
        <p:nvSpPr>
          <p:cNvPr id="42" name="TextBox 41">
            <a:extLst>
              <a:ext uri="{FF2B5EF4-FFF2-40B4-BE49-F238E27FC236}">
                <a16:creationId xmlns:a16="http://schemas.microsoft.com/office/drawing/2014/main" id="{B406105F-C3C7-CE4D-8777-EA5F32C7212F}"/>
              </a:ext>
            </a:extLst>
          </p:cNvPr>
          <p:cNvSpPr txBox="1"/>
          <p:nvPr/>
        </p:nvSpPr>
        <p:spPr>
          <a:xfrm>
            <a:off x="538617" y="5452529"/>
            <a:ext cx="7097217" cy="1033873"/>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department is the pulse of the Ilorin Innovation Hub and will handle events and activities to build the local ecosystem. This department handles all people in the Hub, both members and internal staff (Human Resources).</a:t>
            </a:r>
          </a:p>
        </p:txBody>
      </p:sp>
      <p:sp>
        <p:nvSpPr>
          <p:cNvPr id="43" name="TextBox 42">
            <a:extLst>
              <a:ext uri="{FF2B5EF4-FFF2-40B4-BE49-F238E27FC236}">
                <a16:creationId xmlns:a16="http://schemas.microsoft.com/office/drawing/2014/main" id="{E38EB75F-432B-2840-B831-1456F042DA8F}"/>
              </a:ext>
            </a:extLst>
          </p:cNvPr>
          <p:cNvSpPr txBox="1"/>
          <p:nvPr/>
        </p:nvSpPr>
        <p:spPr>
          <a:xfrm>
            <a:off x="538618" y="5019478"/>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Coworking &amp; Community Department</a:t>
            </a:r>
          </a:p>
        </p:txBody>
      </p:sp>
    </p:spTree>
    <p:extLst>
      <p:ext uri="{BB962C8B-B14F-4D97-AF65-F5344CB8AC3E}">
        <p14:creationId xmlns:p14="http://schemas.microsoft.com/office/powerpoint/2010/main" val="2232834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6277811"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(Departments)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538617" y="1699466"/>
            <a:ext cx="7097217" cy="1033873"/>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is where all the awareness campaigns for the Innovation Hub will reside. This department will handle local and international public relations as well as ensuring constant release of news and interviews to the public. </a:t>
            </a: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Marketing &amp; Communications Department</a:t>
            </a:r>
          </a:p>
        </p:txBody>
      </p:sp>
      <p:sp>
        <p:nvSpPr>
          <p:cNvPr id="40" name="TextBox 39">
            <a:extLst>
              <a:ext uri="{FF2B5EF4-FFF2-40B4-BE49-F238E27FC236}">
                <a16:creationId xmlns:a16="http://schemas.microsoft.com/office/drawing/2014/main" id="{9F8BFCA5-06C7-B949-B41B-30E0BB0A1992}"/>
              </a:ext>
            </a:extLst>
          </p:cNvPr>
          <p:cNvSpPr txBox="1"/>
          <p:nvPr/>
        </p:nvSpPr>
        <p:spPr>
          <a:xfrm>
            <a:off x="538617" y="3741185"/>
            <a:ext cx="7097217" cy="710707"/>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department will be in charge of continuing the eGovernment project and supporting IT infrastructure across the state government MDAs.</a:t>
            </a:r>
          </a:p>
        </p:txBody>
      </p:sp>
      <p:sp>
        <p:nvSpPr>
          <p:cNvPr id="41" name="TextBox 40">
            <a:extLst>
              <a:ext uri="{FF2B5EF4-FFF2-40B4-BE49-F238E27FC236}">
                <a16:creationId xmlns:a16="http://schemas.microsoft.com/office/drawing/2014/main" id="{6ADF696F-EA95-2448-B6A8-EB38CD90F5CC}"/>
              </a:ext>
            </a:extLst>
          </p:cNvPr>
          <p:cNvSpPr txBox="1"/>
          <p:nvPr/>
        </p:nvSpPr>
        <p:spPr>
          <a:xfrm>
            <a:off x="538618" y="3308134"/>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eGovernment Department</a:t>
            </a:r>
          </a:p>
        </p:txBody>
      </p:sp>
    </p:spTree>
    <p:extLst>
      <p:ext uri="{BB962C8B-B14F-4D97-AF65-F5344CB8AC3E}">
        <p14:creationId xmlns:p14="http://schemas.microsoft.com/office/powerpoint/2010/main" val="2836153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484757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Proposed Key Partnerships</a:t>
            </a:r>
          </a:p>
        </p:txBody>
      </p:sp>
      <p:cxnSp>
        <p:nvCxnSpPr>
          <p:cNvPr id="7" name="Straight Connector 6">
            <a:extLst>
              <a:ext uri="{FF2B5EF4-FFF2-40B4-BE49-F238E27FC236}">
                <a16:creationId xmlns:a16="http://schemas.microsoft.com/office/drawing/2014/main" id="{9E099893-858C-6643-8907-8786523E399B}"/>
              </a:ext>
            </a:extLst>
          </p:cNvPr>
          <p:cNvCxnSpPr>
            <a:cxnSpLocks/>
          </p:cNvCxnSpPr>
          <p:nvPr/>
        </p:nvCxnSpPr>
        <p:spPr>
          <a:xfrm>
            <a:off x="4496842" y="1341912"/>
            <a:ext cx="0" cy="5218595"/>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E138411E-8396-3F43-979C-CFEEA751EE73}"/>
              </a:ext>
            </a:extLst>
          </p:cNvPr>
          <p:cNvCxnSpPr>
            <a:cxnSpLocks/>
          </p:cNvCxnSpPr>
          <p:nvPr/>
        </p:nvCxnSpPr>
        <p:spPr>
          <a:xfrm>
            <a:off x="6841297" y="1330036"/>
            <a:ext cx="0" cy="5230470"/>
          </a:xfrm>
          <a:prstGeom prst="line">
            <a:avLst/>
          </a:prstGeom>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4DC6F780-AE70-5049-A006-42E6E69023D0}"/>
              </a:ext>
            </a:extLst>
          </p:cNvPr>
          <p:cNvSpPr txBox="1"/>
          <p:nvPr/>
        </p:nvSpPr>
        <p:spPr>
          <a:xfrm>
            <a:off x="407029" y="1329988"/>
            <a:ext cx="3647417" cy="345351"/>
          </a:xfrm>
          <a:prstGeom prst="rect">
            <a:avLst/>
          </a:prstGeom>
          <a:noFill/>
        </p:spPr>
        <p:txBody>
          <a:bodyPr wrap="square" rtlCol="0">
            <a:spAutoFit/>
          </a:bodyPr>
          <a:lstStyle/>
          <a:p>
            <a:pPr algn="ctr">
              <a:lnSpc>
                <a:spcPct val="150000"/>
              </a:lnSpc>
            </a:pPr>
            <a:r>
              <a:rPr lang="en-US" sz="1200" b="1" dirty="0">
                <a:latin typeface="Avenir Book" panose="02000503020000020003" pitchFamily="2" charset="0"/>
              </a:rPr>
              <a:t>Education &amp; Research Partners</a:t>
            </a:r>
          </a:p>
        </p:txBody>
      </p:sp>
      <p:sp>
        <p:nvSpPr>
          <p:cNvPr id="11" name="TextBox 10">
            <a:extLst>
              <a:ext uri="{FF2B5EF4-FFF2-40B4-BE49-F238E27FC236}">
                <a16:creationId xmlns:a16="http://schemas.microsoft.com/office/drawing/2014/main" id="{F0F3D868-9F8C-E840-B60C-B26ACF9A84A1}"/>
              </a:ext>
            </a:extLst>
          </p:cNvPr>
          <p:cNvSpPr txBox="1"/>
          <p:nvPr/>
        </p:nvSpPr>
        <p:spPr>
          <a:xfrm>
            <a:off x="4876145" y="1262234"/>
            <a:ext cx="1471808" cy="622350"/>
          </a:xfrm>
          <a:prstGeom prst="rect">
            <a:avLst/>
          </a:prstGeom>
          <a:noFill/>
        </p:spPr>
        <p:txBody>
          <a:bodyPr wrap="square" rtlCol="0">
            <a:spAutoFit/>
          </a:bodyPr>
          <a:lstStyle/>
          <a:p>
            <a:pPr algn="ctr">
              <a:lnSpc>
                <a:spcPct val="150000"/>
              </a:lnSpc>
            </a:pPr>
            <a:r>
              <a:rPr lang="en-US" sz="1200" b="1" dirty="0">
                <a:latin typeface="Avenir Book" panose="02000503020000020003" pitchFamily="2" charset="0"/>
              </a:rPr>
              <a:t>Funding &amp; Strategic Partners</a:t>
            </a:r>
          </a:p>
        </p:txBody>
      </p:sp>
      <p:pic>
        <p:nvPicPr>
          <p:cNvPr id="6" name="Picture 5">
            <a:extLst>
              <a:ext uri="{FF2B5EF4-FFF2-40B4-BE49-F238E27FC236}">
                <a16:creationId xmlns:a16="http://schemas.microsoft.com/office/drawing/2014/main" id="{ACCF66C2-9492-A845-801C-A35C6C1FE923}"/>
              </a:ext>
            </a:extLst>
          </p:cNvPr>
          <p:cNvPicPr>
            <a:picLocks noChangeAspect="1"/>
          </p:cNvPicPr>
          <p:nvPr/>
        </p:nvPicPr>
        <p:blipFill>
          <a:blip r:embed="rId2"/>
          <a:stretch>
            <a:fillRect/>
          </a:stretch>
        </p:blipFill>
        <p:spPr>
          <a:xfrm>
            <a:off x="325125" y="2081006"/>
            <a:ext cx="1708058" cy="555119"/>
          </a:xfrm>
          <a:prstGeom prst="rect">
            <a:avLst/>
          </a:prstGeom>
        </p:spPr>
      </p:pic>
      <p:pic>
        <p:nvPicPr>
          <p:cNvPr id="13" name="Picture 12">
            <a:extLst>
              <a:ext uri="{FF2B5EF4-FFF2-40B4-BE49-F238E27FC236}">
                <a16:creationId xmlns:a16="http://schemas.microsoft.com/office/drawing/2014/main" id="{B9DB6F68-2162-2643-AB0C-E7F5A9348D0F}"/>
              </a:ext>
            </a:extLst>
          </p:cNvPr>
          <p:cNvPicPr>
            <a:picLocks noChangeAspect="1"/>
          </p:cNvPicPr>
          <p:nvPr/>
        </p:nvPicPr>
        <p:blipFill>
          <a:blip r:embed="rId3"/>
          <a:stretch>
            <a:fillRect/>
          </a:stretch>
        </p:blipFill>
        <p:spPr>
          <a:xfrm>
            <a:off x="2763961" y="3156685"/>
            <a:ext cx="1071463" cy="648518"/>
          </a:xfrm>
          <a:prstGeom prst="rect">
            <a:avLst/>
          </a:prstGeom>
        </p:spPr>
      </p:pic>
      <p:pic>
        <p:nvPicPr>
          <p:cNvPr id="15" name="Picture 14">
            <a:extLst>
              <a:ext uri="{FF2B5EF4-FFF2-40B4-BE49-F238E27FC236}">
                <a16:creationId xmlns:a16="http://schemas.microsoft.com/office/drawing/2014/main" id="{CCE3AFB4-4C07-6C4A-8B65-52EA41D6837C}"/>
              </a:ext>
            </a:extLst>
          </p:cNvPr>
          <p:cNvPicPr>
            <a:picLocks noChangeAspect="1"/>
          </p:cNvPicPr>
          <p:nvPr/>
        </p:nvPicPr>
        <p:blipFill>
          <a:blip r:embed="rId4"/>
          <a:stretch>
            <a:fillRect/>
          </a:stretch>
        </p:blipFill>
        <p:spPr>
          <a:xfrm>
            <a:off x="2582016" y="2114928"/>
            <a:ext cx="1485198" cy="821810"/>
          </a:xfrm>
          <a:prstGeom prst="rect">
            <a:avLst/>
          </a:prstGeom>
        </p:spPr>
      </p:pic>
      <p:sp>
        <p:nvSpPr>
          <p:cNvPr id="31" name="TextBox 30">
            <a:extLst>
              <a:ext uri="{FF2B5EF4-FFF2-40B4-BE49-F238E27FC236}">
                <a16:creationId xmlns:a16="http://schemas.microsoft.com/office/drawing/2014/main" id="{9A4B2850-56D5-F84D-A934-05FF51101C87}"/>
              </a:ext>
            </a:extLst>
          </p:cNvPr>
          <p:cNvSpPr txBox="1"/>
          <p:nvPr/>
        </p:nvSpPr>
        <p:spPr>
          <a:xfrm>
            <a:off x="7243086" y="1266415"/>
            <a:ext cx="1471808" cy="622350"/>
          </a:xfrm>
          <a:prstGeom prst="rect">
            <a:avLst/>
          </a:prstGeom>
          <a:noFill/>
        </p:spPr>
        <p:txBody>
          <a:bodyPr wrap="square" rtlCol="0">
            <a:spAutoFit/>
          </a:bodyPr>
          <a:lstStyle/>
          <a:p>
            <a:pPr algn="ctr">
              <a:lnSpc>
                <a:spcPct val="150000"/>
              </a:lnSpc>
            </a:pPr>
            <a:r>
              <a:rPr lang="en-US" sz="1200" b="1" dirty="0">
                <a:latin typeface="Avenir Book" panose="02000503020000020003" pitchFamily="2" charset="0"/>
              </a:rPr>
              <a:t>Technology &amp; Media Partners</a:t>
            </a:r>
          </a:p>
        </p:txBody>
      </p:sp>
      <p:sp>
        <p:nvSpPr>
          <p:cNvPr id="32" name="TextBox 31">
            <a:extLst>
              <a:ext uri="{FF2B5EF4-FFF2-40B4-BE49-F238E27FC236}">
                <a16:creationId xmlns:a16="http://schemas.microsoft.com/office/drawing/2014/main" id="{AB8C1265-60A0-0B4B-AF0A-E91C58B50ED9}"/>
              </a:ext>
            </a:extLst>
          </p:cNvPr>
          <p:cNvSpPr txBox="1"/>
          <p:nvPr/>
        </p:nvSpPr>
        <p:spPr>
          <a:xfrm>
            <a:off x="7205790" y="5133647"/>
            <a:ext cx="1471808" cy="622350"/>
          </a:xfrm>
          <a:prstGeom prst="rect">
            <a:avLst/>
          </a:prstGeom>
          <a:noFill/>
        </p:spPr>
        <p:txBody>
          <a:bodyPr wrap="square" rtlCol="0">
            <a:spAutoFit/>
          </a:bodyPr>
          <a:lstStyle/>
          <a:p>
            <a:pPr algn="ctr">
              <a:lnSpc>
                <a:spcPct val="150000"/>
              </a:lnSpc>
            </a:pPr>
            <a:r>
              <a:rPr lang="en-US" sz="1200" b="1" dirty="0">
                <a:latin typeface="Avenir Book" panose="02000503020000020003" pitchFamily="2" charset="0"/>
              </a:rPr>
              <a:t>Hub Network Partners</a:t>
            </a:r>
          </a:p>
        </p:txBody>
      </p:sp>
      <p:pic>
        <p:nvPicPr>
          <p:cNvPr id="34" name="Picture 33">
            <a:extLst>
              <a:ext uri="{FF2B5EF4-FFF2-40B4-BE49-F238E27FC236}">
                <a16:creationId xmlns:a16="http://schemas.microsoft.com/office/drawing/2014/main" id="{7D338149-6DC4-AC40-8C31-931A4377CC5C}"/>
              </a:ext>
            </a:extLst>
          </p:cNvPr>
          <p:cNvPicPr>
            <a:picLocks noChangeAspect="1"/>
          </p:cNvPicPr>
          <p:nvPr/>
        </p:nvPicPr>
        <p:blipFill>
          <a:blip r:embed="rId5"/>
          <a:stretch>
            <a:fillRect/>
          </a:stretch>
        </p:blipFill>
        <p:spPr>
          <a:xfrm>
            <a:off x="4930285" y="1903870"/>
            <a:ext cx="1574387" cy="909996"/>
          </a:xfrm>
          <a:prstGeom prst="rect">
            <a:avLst/>
          </a:prstGeom>
        </p:spPr>
      </p:pic>
      <p:pic>
        <p:nvPicPr>
          <p:cNvPr id="36" name="Picture 35">
            <a:extLst>
              <a:ext uri="{FF2B5EF4-FFF2-40B4-BE49-F238E27FC236}">
                <a16:creationId xmlns:a16="http://schemas.microsoft.com/office/drawing/2014/main" id="{076103A5-2C0F-D24E-923C-5A1A73287FDE}"/>
              </a:ext>
            </a:extLst>
          </p:cNvPr>
          <p:cNvPicPr>
            <a:picLocks noChangeAspect="1"/>
          </p:cNvPicPr>
          <p:nvPr/>
        </p:nvPicPr>
        <p:blipFill>
          <a:blip r:embed="rId6"/>
          <a:stretch>
            <a:fillRect/>
          </a:stretch>
        </p:blipFill>
        <p:spPr>
          <a:xfrm>
            <a:off x="7283640" y="3222846"/>
            <a:ext cx="1365661" cy="450775"/>
          </a:xfrm>
          <a:prstGeom prst="rect">
            <a:avLst/>
          </a:prstGeom>
        </p:spPr>
      </p:pic>
      <p:pic>
        <p:nvPicPr>
          <p:cNvPr id="38" name="Picture 37">
            <a:extLst>
              <a:ext uri="{FF2B5EF4-FFF2-40B4-BE49-F238E27FC236}">
                <a16:creationId xmlns:a16="http://schemas.microsoft.com/office/drawing/2014/main" id="{649E7392-818A-6F44-8D72-8803E4B00B1E}"/>
              </a:ext>
            </a:extLst>
          </p:cNvPr>
          <p:cNvPicPr>
            <a:picLocks noChangeAspect="1"/>
          </p:cNvPicPr>
          <p:nvPr/>
        </p:nvPicPr>
        <p:blipFill>
          <a:blip r:embed="rId7"/>
          <a:stretch>
            <a:fillRect/>
          </a:stretch>
        </p:blipFill>
        <p:spPr>
          <a:xfrm>
            <a:off x="202075" y="3015885"/>
            <a:ext cx="775582" cy="856372"/>
          </a:xfrm>
          <a:prstGeom prst="rect">
            <a:avLst/>
          </a:prstGeom>
        </p:spPr>
      </p:pic>
      <p:pic>
        <p:nvPicPr>
          <p:cNvPr id="40" name="Picture 39">
            <a:extLst>
              <a:ext uri="{FF2B5EF4-FFF2-40B4-BE49-F238E27FC236}">
                <a16:creationId xmlns:a16="http://schemas.microsoft.com/office/drawing/2014/main" id="{B249AA69-5295-7A4C-A47F-F4F989D741BC}"/>
              </a:ext>
            </a:extLst>
          </p:cNvPr>
          <p:cNvPicPr>
            <a:picLocks noChangeAspect="1"/>
          </p:cNvPicPr>
          <p:nvPr/>
        </p:nvPicPr>
        <p:blipFill>
          <a:blip r:embed="rId8"/>
          <a:stretch>
            <a:fillRect/>
          </a:stretch>
        </p:blipFill>
        <p:spPr>
          <a:xfrm>
            <a:off x="4901614" y="2858594"/>
            <a:ext cx="1406441" cy="622350"/>
          </a:xfrm>
          <a:prstGeom prst="rect">
            <a:avLst/>
          </a:prstGeom>
        </p:spPr>
      </p:pic>
      <p:pic>
        <p:nvPicPr>
          <p:cNvPr id="42" name="Picture 41">
            <a:extLst>
              <a:ext uri="{FF2B5EF4-FFF2-40B4-BE49-F238E27FC236}">
                <a16:creationId xmlns:a16="http://schemas.microsoft.com/office/drawing/2014/main" id="{CE4FEE4C-48B7-A040-9457-D3BF97401AB3}"/>
              </a:ext>
            </a:extLst>
          </p:cNvPr>
          <p:cNvPicPr>
            <a:picLocks noChangeAspect="1"/>
          </p:cNvPicPr>
          <p:nvPr/>
        </p:nvPicPr>
        <p:blipFill>
          <a:blip r:embed="rId9"/>
          <a:stretch>
            <a:fillRect/>
          </a:stretch>
        </p:blipFill>
        <p:spPr>
          <a:xfrm>
            <a:off x="7039260" y="5864441"/>
            <a:ext cx="1905000" cy="596900"/>
          </a:xfrm>
          <a:prstGeom prst="rect">
            <a:avLst/>
          </a:prstGeom>
        </p:spPr>
      </p:pic>
      <p:pic>
        <p:nvPicPr>
          <p:cNvPr id="44" name="Picture 43">
            <a:extLst>
              <a:ext uri="{FF2B5EF4-FFF2-40B4-BE49-F238E27FC236}">
                <a16:creationId xmlns:a16="http://schemas.microsoft.com/office/drawing/2014/main" id="{6475D707-6C1B-0149-8ECF-F935B9043ECB}"/>
              </a:ext>
            </a:extLst>
          </p:cNvPr>
          <p:cNvPicPr>
            <a:picLocks noChangeAspect="1"/>
          </p:cNvPicPr>
          <p:nvPr/>
        </p:nvPicPr>
        <p:blipFill rotWithShape="1">
          <a:blip r:embed="rId10"/>
          <a:srcRect t="21344" b="20537"/>
          <a:stretch/>
        </p:blipFill>
        <p:spPr>
          <a:xfrm>
            <a:off x="7243085" y="2059672"/>
            <a:ext cx="1378857" cy="450775"/>
          </a:xfrm>
          <a:prstGeom prst="rect">
            <a:avLst/>
          </a:prstGeom>
        </p:spPr>
      </p:pic>
      <p:pic>
        <p:nvPicPr>
          <p:cNvPr id="46" name="Picture 45">
            <a:extLst>
              <a:ext uri="{FF2B5EF4-FFF2-40B4-BE49-F238E27FC236}">
                <a16:creationId xmlns:a16="http://schemas.microsoft.com/office/drawing/2014/main" id="{7619BC22-7C33-6544-BC68-03EFC1D89EBD}"/>
              </a:ext>
            </a:extLst>
          </p:cNvPr>
          <p:cNvPicPr>
            <a:picLocks noChangeAspect="1"/>
          </p:cNvPicPr>
          <p:nvPr/>
        </p:nvPicPr>
        <p:blipFill>
          <a:blip r:embed="rId11"/>
          <a:stretch>
            <a:fillRect/>
          </a:stretch>
        </p:blipFill>
        <p:spPr>
          <a:xfrm>
            <a:off x="365037" y="4188494"/>
            <a:ext cx="1428755" cy="559963"/>
          </a:xfrm>
          <a:prstGeom prst="rect">
            <a:avLst/>
          </a:prstGeom>
        </p:spPr>
      </p:pic>
      <p:pic>
        <p:nvPicPr>
          <p:cNvPr id="48" name="Picture 47">
            <a:extLst>
              <a:ext uri="{FF2B5EF4-FFF2-40B4-BE49-F238E27FC236}">
                <a16:creationId xmlns:a16="http://schemas.microsoft.com/office/drawing/2014/main" id="{18F3B7D7-7815-4E48-9F69-26E3B9783C5E}"/>
              </a:ext>
            </a:extLst>
          </p:cNvPr>
          <p:cNvPicPr>
            <a:picLocks noChangeAspect="1"/>
          </p:cNvPicPr>
          <p:nvPr/>
        </p:nvPicPr>
        <p:blipFill rotWithShape="1">
          <a:blip r:embed="rId12"/>
          <a:srcRect t="16183" b="17453"/>
          <a:stretch/>
        </p:blipFill>
        <p:spPr>
          <a:xfrm>
            <a:off x="7177923" y="2542074"/>
            <a:ext cx="1597995" cy="596900"/>
          </a:xfrm>
          <a:prstGeom prst="rect">
            <a:avLst/>
          </a:prstGeom>
        </p:spPr>
      </p:pic>
      <p:pic>
        <p:nvPicPr>
          <p:cNvPr id="50" name="Picture 49">
            <a:extLst>
              <a:ext uri="{FF2B5EF4-FFF2-40B4-BE49-F238E27FC236}">
                <a16:creationId xmlns:a16="http://schemas.microsoft.com/office/drawing/2014/main" id="{CB7AAB49-6E26-2E46-9A0E-E799176C8370}"/>
              </a:ext>
            </a:extLst>
          </p:cNvPr>
          <p:cNvPicPr>
            <a:picLocks noChangeAspect="1"/>
          </p:cNvPicPr>
          <p:nvPr/>
        </p:nvPicPr>
        <p:blipFill rotWithShape="1">
          <a:blip r:embed="rId13"/>
          <a:srcRect l="21473" r="22973"/>
          <a:stretch/>
        </p:blipFill>
        <p:spPr>
          <a:xfrm>
            <a:off x="1387357" y="3004178"/>
            <a:ext cx="899928" cy="821810"/>
          </a:xfrm>
          <a:prstGeom prst="rect">
            <a:avLst/>
          </a:prstGeom>
        </p:spPr>
      </p:pic>
      <p:pic>
        <p:nvPicPr>
          <p:cNvPr id="54" name="Picture 53">
            <a:extLst>
              <a:ext uri="{FF2B5EF4-FFF2-40B4-BE49-F238E27FC236}">
                <a16:creationId xmlns:a16="http://schemas.microsoft.com/office/drawing/2014/main" id="{B1797302-9B3A-D444-BF26-FC4D0B7E00BD}"/>
              </a:ext>
            </a:extLst>
          </p:cNvPr>
          <p:cNvPicPr>
            <a:picLocks noChangeAspect="1"/>
          </p:cNvPicPr>
          <p:nvPr/>
        </p:nvPicPr>
        <p:blipFill rotWithShape="1">
          <a:blip r:embed="rId14"/>
          <a:srcRect l="5775" t="29806" r="5328" b="32294"/>
          <a:stretch/>
        </p:blipFill>
        <p:spPr>
          <a:xfrm>
            <a:off x="4760365" y="3642749"/>
            <a:ext cx="1882970" cy="802772"/>
          </a:xfrm>
          <a:prstGeom prst="rect">
            <a:avLst/>
          </a:prstGeom>
        </p:spPr>
      </p:pic>
      <p:pic>
        <p:nvPicPr>
          <p:cNvPr id="56" name="Picture 55">
            <a:extLst>
              <a:ext uri="{FF2B5EF4-FFF2-40B4-BE49-F238E27FC236}">
                <a16:creationId xmlns:a16="http://schemas.microsoft.com/office/drawing/2014/main" id="{5E3B39CD-8204-2B46-82F8-6B41AEFEC9E8}"/>
              </a:ext>
            </a:extLst>
          </p:cNvPr>
          <p:cNvPicPr>
            <a:picLocks noChangeAspect="1"/>
          </p:cNvPicPr>
          <p:nvPr/>
        </p:nvPicPr>
        <p:blipFill rotWithShape="1">
          <a:blip r:embed="rId15"/>
          <a:srcRect t="25718" b="25864"/>
          <a:stretch/>
        </p:blipFill>
        <p:spPr>
          <a:xfrm>
            <a:off x="5036625" y="5133647"/>
            <a:ext cx="1468047" cy="710799"/>
          </a:xfrm>
          <a:prstGeom prst="rect">
            <a:avLst/>
          </a:prstGeom>
        </p:spPr>
      </p:pic>
      <p:pic>
        <p:nvPicPr>
          <p:cNvPr id="58" name="Picture 57">
            <a:extLst>
              <a:ext uri="{FF2B5EF4-FFF2-40B4-BE49-F238E27FC236}">
                <a16:creationId xmlns:a16="http://schemas.microsoft.com/office/drawing/2014/main" id="{44922639-0A6E-EC46-8E8B-1661B39ECA2B}"/>
              </a:ext>
            </a:extLst>
          </p:cNvPr>
          <p:cNvPicPr>
            <a:picLocks noChangeAspect="1"/>
          </p:cNvPicPr>
          <p:nvPr/>
        </p:nvPicPr>
        <p:blipFill>
          <a:blip r:embed="rId16"/>
          <a:stretch>
            <a:fillRect/>
          </a:stretch>
        </p:blipFill>
        <p:spPr>
          <a:xfrm>
            <a:off x="4950873" y="4572031"/>
            <a:ext cx="1525932" cy="333797"/>
          </a:xfrm>
          <a:prstGeom prst="rect">
            <a:avLst/>
          </a:prstGeom>
        </p:spPr>
      </p:pic>
      <p:pic>
        <p:nvPicPr>
          <p:cNvPr id="60" name="Picture 59">
            <a:extLst>
              <a:ext uri="{FF2B5EF4-FFF2-40B4-BE49-F238E27FC236}">
                <a16:creationId xmlns:a16="http://schemas.microsoft.com/office/drawing/2014/main" id="{9F02DD72-2A40-1E42-AF1B-8AAD7E9EA7F3}"/>
              </a:ext>
            </a:extLst>
          </p:cNvPr>
          <p:cNvPicPr>
            <a:picLocks noChangeAspect="1"/>
          </p:cNvPicPr>
          <p:nvPr/>
        </p:nvPicPr>
        <p:blipFill rotWithShape="1">
          <a:blip r:embed="rId17"/>
          <a:srcRect l="13823" t="7643" r="15787"/>
          <a:stretch/>
        </p:blipFill>
        <p:spPr>
          <a:xfrm>
            <a:off x="459752" y="5070165"/>
            <a:ext cx="1035809" cy="970752"/>
          </a:xfrm>
          <a:prstGeom prst="rect">
            <a:avLst/>
          </a:prstGeom>
        </p:spPr>
      </p:pic>
      <p:pic>
        <p:nvPicPr>
          <p:cNvPr id="62" name="Picture 61">
            <a:extLst>
              <a:ext uri="{FF2B5EF4-FFF2-40B4-BE49-F238E27FC236}">
                <a16:creationId xmlns:a16="http://schemas.microsoft.com/office/drawing/2014/main" id="{AAC62D9B-123D-7144-8BA5-0D5092B49A4E}"/>
              </a:ext>
            </a:extLst>
          </p:cNvPr>
          <p:cNvPicPr>
            <a:picLocks noChangeAspect="1"/>
          </p:cNvPicPr>
          <p:nvPr/>
        </p:nvPicPr>
        <p:blipFill>
          <a:blip r:embed="rId18"/>
          <a:stretch>
            <a:fillRect/>
          </a:stretch>
        </p:blipFill>
        <p:spPr>
          <a:xfrm>
            <a:off x="2655413" y="4114831"/>
            <a:ext cx="1219200" cy="914400"/>
          </a:xfrm>
          <a:prstGeom prst="rect">
            <a:avLst/>
          </a:prstGeom>
        </p:spPr>
      </p:pic>
      <p:pic>
        <p:nvPicPr>
          <p:cNvPr id="3" name="Picture 2" descr="A picture containing logo&#10;&#10;Description automatically generated">
            <a:extLst>
              <a:ext uri="{FF2B5EF4-FFF2-40B4-BE49-F238E27FC236}">
                <a16:creationId xmlns:a16="http://schemas.microsoft.com/office/drawing/2014/main" id="{7BBC22BC-6D92-0D43-87DA-131A2C8720A7}"/>
              </a:ext>
            </a:extLst>
          </p:cNvPr>
          <p:cNvPicPr>
            <a:picLocks noChangeAspect="1"/>
          </p:cNvPicPr>
          <p:nvPr/>
        </p:nvPicPr>
        <p:blipFill rotWithShape="1">
          <a:blip r:embed="rId19"/>
          <a:srcRect l="8689" t="28153" r="6072" b="25097"/>
          <a:stretch/>
        </p:blipFill>
        <p:spPr>
          <a:xfrm>
            <a:off x="4694237" y="5941547"/>
            <a:ext cx="1993291" cy="591025"/>
          </a:xfrm>
          <a:prstGeom prst="rect">
            <a:avLst/>
          </a:prstGeom>
        </p:spPr>
      </p:pic>
      <p:pic>
        <p:nvPicPr>
          <p:cNvPr id="12" name="Picture 11">
            <a:extLst>
              <a:ext uri="{FF2B5EF4-FFF2-40B4-BE49-F238E27FC236}">
                <a16:creationId xmlns:a16="http://schemas.microsoft.com/office/drawing/2014/main" id="{6BB5D5C3-F0AB-574D-B541-9F9CD65AC778}"/>
              </a:ext>
            </a:extLst>
          </p:cNvPr>
          <p:cNvPicPr>
            <a:picLocks noChangeAspect="1"/>
          </p:cNvPicPr>
          <p:nvPr/>
        </p:nvPicPr>
        <p:blipFill>
          <a:blip r:embed="rId20"/>
          <a:stretch>
            <a:fillRect/>
          </a:stretch>
        </p:blipFill>
        <p:spPr>
          <a:xfrm>
            <a:off x="7446405" y="3792283"/>
            <a:ext cx="1124266" cy="494677"/>
          </a:xfrm>
          <a:prstGeom prst="rect">
            <a:avLst/>
          </a:prstGeom>
        </p:spPr>
      </p:pic>
      <p:pic>
        <p:nvPicPr>
          <p:cNvPr id="16" name="Picture 15" descr="Logo&#10;&#10;Description automatically generated">
            <a:extLst>
              <a:ext uri="{FF2B5EF4-FFF2-40B4-BE49-F238E27FC236}">
                <a16:creationId xmlns:a16="http://schemas.microsoft.com/office/drawing/2014/main" id="{4591D0CB-8DB0-974D-BEFE-A7665C7338CF}"/>
              </a:ext>
            </a:extLst>
          </p:cNvPr>
          <p:cNvPicPr>
            <a:picLocks noChangeAspect="1"/>
          </p:cNvPicPr>
          <p:nvPr/>
        </p:nvPicPr>
        <p:blipFill>
          <a:blip r:embed="rId21"/>
          <a:stretch>
            <a:fillRect/>
          </a:stretch>
        </p:blipFill>
        <p:spPr>
          <a:xfrm>
            <a:off x="7306449" y="4395404"/>
            <a:ext cx="1252128" cy="588500"/>
          </a:xfrm>
          <a:prstGeom prst="rect">
            <a:avLst/>
          </a:prstGeom>
        </p:spPr>
      </p:pic>
    </p:spTree>
    <p:extLst>
      <p:ext uri="{BB962C8B-B14F-4D97-AF65-F5344CB8AC3E}">
        <p14:creationId xmlns:p14="http://schemas.microsoft.com/office/powerpoint/2010/main" val="422137489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37323</TotalTime>
  <Words>644</Words>
  <Application>Microsoft Macintosh PowerPoint</Application>
  <PresentationFormat>On-screen Show (4:3)</PresentationFormat>
  <Paragraphs>108</Paragraphs>
  <Slides>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Avenir Black</vt:lpstr>
      <vt:lpstr>Avenir Book</vt:lpstr>
      <vt:lpstr>Calibri</vt:lpstr>
      <vt:lpstr>Calibri Light</vt:lpstr>
      <vt:lpstr>Roboto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Temi Kolawole</dc:creator>
  <cp:lastModifiedBy>Temi Kolawole</cp:lastModifiedBy>
  <cp:revision>105</cp:revision>
  <dcterms:created xsi:type="dcterms:W3CDTF">2020-11-24T00:12:57Z</dcterms:created>
  <dcterms:modified xsi:type="dcterms:W3CDTF">2021-10-22T15:40:02Z</dcterms:modified>
</cp:coreProperties>
</file>