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96" r:id="rId3"/>
    <p:sldId id="298" r:id="rId4"/>
    <p:sldId id="300" r:id="rId5"/>
    <p:sldId id="321" r:id="rId6"/>
    <p:sldId id="322" r:id="rId7"/>
    <p:sldId id="333" r:id="rId8"/>
    <p:sldId id="334" r:id="rId9"/>
    <p:sldId id="324" r:id="rId10"/>
    <p:sldId id="331" r:id="rId11"/>
    <p:sldId id="323" r:id="rId12"/>
    <p:sldId id="325" r:id="rId13"/>
    <p:sldId id="326" r:id="rId14"/>
    <p:sldId id="327" r:id="rId15"/>
    <p:sldId id="328" r:id="rId16"/>
    <p:sldId id="330" r:id="rId17"/>
    <p:sldId id="329" r:id="rId18"/>
    <p:sldId id="332" r:id="rId19"/>
    <p:sldId id="261" r:id="rId20"/>
  </p:sldIdLst>
  <p:sldSz cx="9144000" cy="5143500" type="screen16x9"/>
  <p:notesSz cx="6858000" cy="9144000"/>
  <p:embeddedFontLst>
    <p:embeddedFont>
      <p:font typeface="Avenir Book" panose="02000503020000020003" pitchFamily="2" charset="0"/>
      <p:regular r:id="rId22"/>
      <p:italic r:id="rId23"/>
    </p:embeddedFont>
    <p:embeddedFont>
      <p:font typeface="Helvetica Neue" panose="02000503000000020004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F938"/>
    <a:srgbClr val="002D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16"/>
  </p:normalViewPr>
  <p:slideViewPr>
    <p:cSldViewPr snapToGrid="0">
      <p:cViewPr varScale="1">
        <p:scale>
          <a:sx n="119" d="100"/>
          <a:sy n="119" d="100"/>
        </p:scale>
        <p:origin x="240" y="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1CBA6904-5384-E360-C448-62BA34423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315e328b_0_4:notes">
            <a:extLst>
              <a:ext uri="{FF2B5EF4-FFF2-40B4-BE49-F238E27FC236}">
                <a16:creationId xmlns:a16="http://schemas.microsoft.com/office/drawing/2014/main" id="{F2263B8E-931E-73CD-B016-21F9197AAC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315e328b_0_4:notes">
            <a:extLst>
              <a:ext uri="{FF2B5EF4-FFF2-40B4-BE49-F238E27FC236}">
                <a16:creationId xmlns:a16="http://schemas.microsoft.com/office/drawing/2014/main" id="{F294F138-1E0F-D764-347C-7E88081273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5543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AA91F25B-5AEB-8881-B2F0-1C4012E1B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315e328b_0_4:notes">
            <a:extLst>
              <a:ext uri="{FF2B5EF4-FFF2-40B4-BE49-F238E27FC236}">
                <a16:creationId xmlns:a16="http://schemas.microsoft.com/office/drawing/2014/main" id="{41A4CD57-9AA6-86C5-E42B-F75811AD76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315e328b_0_4:notes">
            <a:extLst>
              <a:ext uri="{FF2B5EF4-FFF2-40B4-BE49-F238E27FC236}">
                <a16:creationId xmlns:a16="http://schemas.microsoft.com/office/drawing/2014/main" id="{20675D69-E03B-996D-26B8-895D50FEB8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2003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1C897E86-D80F-E068-CA49-1162842F1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315e328b_0_4:notes">
            <a:extLst>
              <a:ext uri="{FF2B5EF4-FFF2-40B4-BE49-F238E27FC236}">
                <a16:creationId xmlns:a16="http://schemas.microsoft.com/office/drawing/2014/main" id="{43E531F8-838B-C355-4CEC-484835819A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315e328b_0_4:notes">
            <a:extLst>
              <a:ext uri="{FF2B5EF4-FFF2-40B4-BE49-F238E27FC236}">
                <a16:creationId xmlns:a16="http://schemas.microsoft.com/office/drawing/2014/main" id="{A3741307-AE4F-E75F-21E9-29041B82B9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641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9B6B83D5-F29D-C3A1-7B23-C71A66BD5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315e328b_0_4:notes">
            <a:extLst>
              <a:ext uri="{FF2B5EF4-FFF2-40B4-BE49-F238E27FC236}">
                <a16:creationId xmlns:a16="http://schemas.microsoft.com/office/drawing/2014/main" id="{0D330312-5455-3F66-0813-D6C87F236C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315e328b_0_4:notes">
            <a:extLst>
              <a:ext uri="{FF2B5EF4-FFF2-40B4-BE49-F238E27FC236}">
                <a16:creationId xmlns:a16="http://schemas.microsoft.com/office/drawing/2014/main" id="{AA246BA9-B70C-6FBC-0876-75224AD89A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4816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8CA87B3D-E046-148B-15C1-1E02B1449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315e328b_0_4:notes">
            <a:extLst>
              <a:ext uri="{FF2B5EF4-FFF2-40B4-BE49-F238E27FC236}">
                <a16:creationId xmlns:a16="http://schemas.microsoft.com/office/drawing/2014/main" id="{AE75E615-3EE0-5010-F4C3-B1BFEF494C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315e328b_0_4:notes">
            <a:extLst>
              <a:ext uri="{FF2B5EF4-FFF2-40B4-BE49-F238E27FC236}">
                <a16:creationId xmlns:a16="http://schemas.microsoft.com/office/drawing/2014/main" id="{5151C800-8CF3-FC5D-2660-6FC5B6683E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5107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20DB4A7C-C60C-3F48-A167-9375816E7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315e328b_0_4:notes">
            <a:extLst>
              <a:ext uri="{FF2B5EF4-FFF2-40B4-BE49-F238E27FC236}">
                <a16:creationId xmlns:a16="http://schemas.microsoft.com/office/drawing/2014/main" id="{076B4944-C663-2654-8CF1-E6D79A1B32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315e328b_0_4:notes">
            <a:extLst>
              <a:ext uri="{FF2B5EF4-FFF2-40B4-BE49-F238E27FC236}">
                <a16:creationId xmlns:a16="http://schemas.microsoft.com/office/drawing/2014/main" id="{F92ABCCA-4CCF-F379-5CB1-EC79F011C1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4144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228D536B-B5E1-15E4-362D-08726AB9C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315e328b_0_4:notes">
            <a:extLst>
              <a:ext uri="{FF2B5EF4-FFF2-40B4-BE49-F238E27FC236}">
                <a16:creationId xmlns:a16="http://schemas.microsoft.com/office/drawing/2014/main" id="{40A56DAD-F049-B843-3502-B49CDC3F6A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315e328b_0_4:notes">
            <a:extLst>
              <a:ext uri="{FF2B5EF4-FFF2-40B4-BE49-F238E27FC236}">
                <a16:creationId xmlns:a16="http://schemas.microsoft.com/office/drawing/2014/main" id="{4E04121B-1BA7-1D29-D628-CEF7D1CDD9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0188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7E7D1718-4E6C-7B91-EBE9-083E65882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315e328b_0_4:notes">
            <a:extLst>
              <a:ext uri="{FF2B5EF4-FFF2-40B4-BE49-F238E27FC236}">
                <a16:creationId xmlns:a16="http://schemas.microsoft.com/office/drawing/2014/main" id="{818E5795-6833-4E7B-969E-BE702303F6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315e328b_0_4:notes">
            <a:extLst>
              <a:ext uri="{FF2B5EF4-FFF2-40B4-BE49-F238E27FC236}">
                <a16:creationId xmlns:a16="http://schemas.microsoft.com/office/drawing/2014/main" id="{FEAC1234-73CD-C67F-C019-298CDF64B1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5878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A5FA955F-2D8E-B738-EA4B-59DB24A3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315e328b_0_4:notes">
            <a:extLst>
              <a:ext uri="{FF2B5EF4-FFF2-40B4-BE49-F238E27FC236}">
                <a16:creationId xmlns:a16="http://schemas.microsoft.com/office/drawing/2014/main" id="{DE271D99-21A4-78D6-C176-CFFF55ABF4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315e328b_0_4:notes">
            <a:extLst>
              <a:ext uri="{FF2B5EF4-FFF2-40B4-BE49-F238E27FC236}">
                <a16:creationId xmlns:a16="http://schemas.microsoft.com/office/drawing/2014/main" id="{C92986F2-5933-1A51-7EA6-C50CFE34F5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1672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8E25D450-619A-FA8B-26A4-A247AABFA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315e328b_0_4:notes">
            <a:extLst>
              <a:ext uri="{FF2B5EF4-FFF2-40B4-BE49-F238E27FC236}">
                <a16:creationId xmlns:a16="http://schemas.microsoft.com/office/drawing/2014/main" id="{5E8DA140-DB2B-D60D-6E2B-A0E7F91EB4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315e328b_0_4:notes">
            <a:extLst>
              <a:ext uri="{FF2B5EF4-FFF2-40B4-BE49-F238E27FC236}">
                <a16:creationId xmlns:a16="http://schemas.microsoft.com/office/drawing/2014/main" id="{863F000B-A9A7-BE43-B010-C7139EC014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7378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17E39E27-6924-8C28-0771-317C7D6D0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315e328b_0_4:notes">
            <a:extLst>
              <a:ext uri="{FF2B5EF4-FFF2-40B4-BE49-F238E27FC236}">
                <a16:creationId xmlns:a16="http://schemas.microsoft.com/office/drawing/2014/main" id="{876DC383-F0DF-FFBE-8F90-0C567AE45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315e328b_0_4:notes">
            <a:extLst>
              <a:ext uri="{FF2B5EF4-FFF2-40B4-BE49-F238E27FC236}">
                <a16:creationId xmlns:a16="http://schemas.microsoft.com/office/drawing/2014/main" id="{CE91F9EA-9E45-9E0B-0813-CF7970B033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39842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0899754F-21BF-8A02-4A54-C07C1A4CB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315e328b_0_4:notes">
            <a:extLst>
              <a:ext uri="{FF2B5EF4-FFF2-40B4-BE49-F238E27FC236}">
                <a16:creationId xmlns:a16="http://schemas.microsoft.com/office/drawing/2014/main" id="{057ACCCC-DD50-D86F-CA22-788AA8FE50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315e328b_0_4:notes">
            <a:extLst>
              <a:ext uri="{FF2B5EF4-FFF2-40B4-BE49-F238E27FC236}">
                <a16:creationId xmlns:a16="http://schemas.microsoft.com/office/drawing/2014/main" id="{9DE3A060-5103-B64E-9742-39403B1C81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20288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BB36AEE6-E4E8-C84E-CF4C-49194307A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315e328b_0_4:notes">
            <a:extLst>
              <a:ext uri="{FF2B5EF4-FFF2-40B4-BE49-F238E27FC236}">
                <a16:creationId xmlns:a16="http://schemas.microsoft.com/office/drawing/2014/main" id="{95FC6322-274B-9910-F5D0-7AB326ED0E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315e328b_0_4:notes">
            <a:extLst>
              <a:ext uri="{FF2B5EF4-FFF2-40B4-BE49-F238E27FC236}">
                <a16:creationId xmlns:a16="http://schemas.microsoft.com/office/drawing/2014/main" id="{CB3F1419-94E6-9C9F-4BE2-F4F488DEE6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68255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3563A58F-2FBE-9050-E0A1-06C8369E3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315e328b_0_4:notes">
            <a:extLst>
              <a:ext uri="{FF2B5EF4-FFF2-40B4-BE49-F238E27FC236}">
                <a16:creationId xmlns:a16="http://schemas.microsoft.com/office/drawing/2014/main" id="{3B9845A2-D293-0FA1-8FD3-8B39A42A48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315e328b_0_4:notes">
            <a:extLst>
              <a:ext uri="{FF2B5EF4-FFF2-40B4-BE49-F238E27FC236}">
                <a16:creationId xmlns:a16="http://schemas.microsoft.com/office/drawing/2014/main" id="{2A95B4DB-1F4F-EF82-2F27-412E925C79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799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AD4B0CBA-0DF0-1ED3-B79D-646A970EF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315e328b_0_4:notes">
            <a:extLst>
              <a:ext uri="{FF2B5EF4-FFF2-40B4-BE49-F238E27FC236}">
                <a16:creationId xmlns:a16="http://schemas.microsoft.com/office/drawing/2014/main" id="{5B90597F-8197-BA65-E128-02463E3D7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315e328b_0_4:notes">
            <a:extLst>
              <a:ext uri="{FF2B5EF4-FFF2-40B4-BE49-F238E27FC236}">
                <a16:creationId xmlns:a16="http://schemas.microsoft.com/office/drawing/2014/main" id="{97233720-8710-04C6-52F1-234EB2C280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11113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3998E404-F5EC-8851-3B92-5625A009E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315e328b_0_4:notes">
            <a:extLst>
              <a:ext uri="{FF2B5EF4-FFF2-40B4-BE49-F238E27FC236}">
                <a16:creationId xmlns:a16="http://schemas.microsoft.com/office/drawing/2014/main" id="{831F785D-EC3E-2D2B-D018-D15F96691F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315e328b_0_4:notes">
            <a:extLst>
              <a:ext uri="{FF2B5EF4-FFF2-40B4-BE49-F238E27FC236}">
                <a16:creationId xmlns:a16="http://schemas.microsoft.com/office/drawing/2014/main" id="{E25A9DA8-A0BA-207B-7D37-D6817F168A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96165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BE730DCA-C7F2-196C-9836-FFC66C4EA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315e328b_0_4:notes">
            <a:extLst>
              <a:ext uri="{FF2B5EF4-FFF2-40B4-BE49-F238E27FC236}">
                <a16:creationId xmlns:a16="http://schemas.microsoft.com/office/drawing/2014/main" id="{F86E8221-0947-4D4E-8A20-C62E7D2FC3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315e328b_0_4:notes">
            <a:extLst>
              <a:ext uri="{FF2B5EF4-FFF2-40B4-BE49-F238E27FC236}">
                <a16:creationId xmlns:a16="http://schemas.microsoft.com/office/drawing/2014/main" id="{F7D07171-2745-563A-FA82-5A334A159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77205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1315e328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61315e328b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jpe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platform.openai.com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14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hs bg.png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-4463"/>
            <a:ext cx="9143997" cy="514796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414225" y="1697425"/>
            <a:ext cx="6381300" cy="101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Ilorin &lt;/&gt; </a:t>
            </a:r>
            <a:r>
              <a:rPr lang="en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DevBox</a:t>
            </a:r>
            <a:endParaRPr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414224" y="2647950"/>
            <a:ext cx="6795525" cy="63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indent="0" algn="l"/>
            <a:r>
              <a:rPr lang="en-US" sz="26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APIs &amp; Microservices (Advanced Hands-On Workshop)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14225" y="3785450"/>
            <a:ext cx="1918774" cy="33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Tuesday Sept 30 2025</a:t>
            </a:r>
            <a:endParaRPr sz="14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414224" y="4282775"/>
            <a:ext cx="3922385" cy="33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Facilitator: Temi Kolawole, Managing Director</a:t>
            </a:r>
            <a:endParaRPr sz="14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9" name="Google Shape;59;p13" title="IIH powered by IHS 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2525" y="550225"/>
            <a:ext cx="1870474" cy="79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C3B8F6A0-EACB-953B-E031-4D4064C0D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12D57208-928C-EEFE-924C-428F5F0578C6}"/>
              </a:ext>
            </a:extLst>
          </p:cNvPr>
          <p:cNvSpPr/>
          <p:nvPr/>
        </p:nvSpPr>
        <p:spPr>
          <a:xfrm>
            <a:off x="7525" y="7525"/>
            <a:ext cx="9144000" cy="620700"/>
          </a:xfrm>
          <a:prstGeom prst="rect">
            <a:avLst/>
          </a:prstGeom>
          <a:solidFill>
            <a:srgbClr val="002D1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4" title="longer border.png">
            <a:extLst>
              <a:ext uri="{FF2B5EF4-FFF2-40B4-BE49-F238E27FC236}">
                <a16:creationId xmlns:a16="http://schemas.microsoft.com/office/drawing/2014/main" id="{F88F1704-F0B0-8BD4-FB38-785DCB01584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5025"/>
            <a:ext cx="9144003" cy="18305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32896C8A-05B4-E463-3754-B3038634D3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025" y="124350"/>
            <a:ext cx="8520600" cy="2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Ilorin &lt;/&gt; </a:t>
            </a:r>
            <a:r>
              <a:rPr lang="en-US" sz="1000" dirty="0" err="1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DevBox</a:t>
            </a:r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0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APIs &amp; Microservices (Advanced Hands-On Workshop)</a:t>
            </a:r>
            <a:endParaRPr lang="en-US" sz="1000" dirty="0">
              <a:solidFill>
                <a:srgbClr val="EFFF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8" name="Google Shape;68;p14">
            <a:extLst>
              <a:ext uri="{FF2B5EF4-FFF2-40B4-BE49-F238E27FC236}">
                <a16:creationId xmlns:a16="http://schemas.microsoft.com/office/drawing/2014/main" id="{2F3AE9E0-F2AE-F92E-45B8-55F7C6A65A0F}"/>
              </a:ext>
            </a:extLst>
          </p:cNvPr>
          <p:cNvCxnSpPr/>
          <p:nvPr/>
        </p:nvCxnSpPr>
        <p:spPr>
          <a:xfrm>
            <a:off x="-7525" y="4706725"/>
            <a:ext cx="9149400" cy="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4" title="IIH powered by IHS 1.png">
            <a:extLst>
              <a:ext uri="{FF2B5EF4-FFF2-40B4-BE49-F238E27FC236}">
                <a16:creationId xmlns:a16="http://schemas.microsoft.com/office/drawing/2014/main" id="{4B1B46DC-E1F0-5E4D-31E8-2DA945FC515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25" y="4781674"/>
            <a:ext cx="676905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A437C13A-F12C-024A-4B8B-AA26A0811E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876" y="942372"/>
            <a:ext cx="5241870" cy="615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venir Book" panose="02000503020000020003" pitchFamily="2" charset="0"/>
              </a:rPr>
              <a:t>Outline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3C3682-2BD2-B991-BF3C-F4541D6BBCCB}"/>
              </a:ext>
            </a:extLst>
          </p:cNvPr>
          <p:cNvSpPr txBox="1"/>
          <p:nvPr/>
        </p:nvSpPr>
        <p:spPr>
          <a:xfrm>
            <a:off x="888554" y="1613076"/>
            <a:ext cx="7357242" cy="3296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Objectives &amp; Recap</a:t>
            </a:r>
            <a:r>
              <a:rPr lang="en-US" dirty="0">
                <a:latin typeface="Avenir Book" panose="02000503020000020003" pitchFamily="2" charset="0"/>
              </a:rPr>
              <a:t> – Quick look back at Part 1 and today’s learning goals.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Advanced API Design</a:t>
            </a:r>
            <a:r>
              <a:rPr lang="en-US" dirty="0">
                <a:latin typeface="Avenir Book" panose="02000503020000020003" pitchFamily="2" charset="0"/>
              </a:rPr>
              <a:t> – How to structure endpoints, handle errors, and version APIs.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Security &amp; Authentication</a:t>
            </a:r>
            <a:r>
              <a:rPr lang="en-US" dirty="0">
                <a:latin typeface="Avenir Book" panose="02000503020000020003" pitchFamily="2" charset="0"/>
              </a:rPr>
              <a:t> – Explore JWT with </a:t>
            </a:r>
            <a:r>
              <a:rPr lang="en-US" dirty="0" err="1">
                <a:latin typeface="Avenir Book" panose="02000503020000020003" pitchFamily="2" charset="0"/>
              </a:rPr>
              <a:t>ReqRes</a:t>
            </a:r>
            <a:r>
              <a:rPr lang="en-US" dirty="0">
                <a:latin typeface="Avenir Book" panose="02000503020000020003" pitchFamily="2" charset="0"/>
              </a:rPr>
              <a:t> demo and OAuth 2.0 basics.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Documentation &amp; Testing</a:t>
            </a:r>
            <a:r>
              <a:rPr lang="en-US" dirty="0">
                <a:latin typeface="Avenir Book" panose="02000503020000020003" pitchFamily="2" charset="0"/>
              </a:rPr>
              <a:t> – Using Swagger/</a:t>
            </a:r>
            <a:r>
              <a:rPr lang="en-US" dirty="0" err="1">
                <a:latin typeface="Avenir Book" panose="02000503020000020003" pitchFamily="2" charset="0"/>
              </a:rPr>
              <a:t>OpenAPI</a:t>
            </a:r>
            <a:r>
              <a:rPr lang="en-US" dirty="0">
                <a:latin typeface="Avenir Book" panose="02000503020000020003" pitchFamily="2" charset="0"/>
              </a:rPr>
              <a:t>, Postman, and </a:t>
            </a:r>
            <a:r>
              <a:rPr lang="en-US" dirty="0" err="1">
                <a:latin typeface="Avenir Book" panose="02000503020000020003" pitchFamily="2" charset="0"/>
              </a:rPr>
              <a:t>Hoppscotch</a:t>
            </a:r>
            <a:r>
              <a:rPr lang="en-US" dirty="0">
                <a:latin typeface="Avenir Book" panose="02000503020000020003" pitchFamily="2" charset="0"/>
              </a:rPr>
              <a:t> effectively.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Microservices in Action</a:t>
            </a:r>
            <a:r>
              <a:rPr lang="en-US" dirty="0">
                <a:latin typeface="Avenir Book" panose="02000503020000020003" pitchFamily="2" charset="0"/>
              </a:rPr>
              <a:t> – Real-world examples and how services communicate.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APIs + AI</a:t>
            </a:r>
            <a:r>
              <a:rPr lang="en-US" dirty="0">
                <a:latin typeface="Avenir Book" panose="02000503020000020003" pitchFamily="2" charset="0"/>
              </a:rPr>
              <a:t> – Using the OpenAI API as a powerful real-world service.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Capstone Project (</a:t>
            </a:r>
            <a:r>
              <a:rPr lang="en-US" b="1" dirty="0" err="1">
                <a:latin typeface="Avenir Book" panose="02000503020000020003" pitchFamily="2" charset="0"/>
              </a:rPr>
              <a:t>Lovable.dev</a:t>
            </a:r>
            <a:r>
              <a:rPr lang="en-US" b="1" dirty="0">
                <a:latin typeface="Avenir Book" panose="02000503020000020003" pitchFamily="2" charset="0"/>
              </a:rPr>
              <a:t>)</a:t>
            </a:r>
            <a:r>
              <a:rPr lang="en-US" dirty="0">
                <a:latin typeface="Avenir Book" panose="02000503020000020003" pitchFamily="2" charset="0"/>
              </a:rPr>
              <a:t> – Build a Task Manager microservice with CRUD operations.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Best Practices &amp; Wrap-Up</a:t>
            </a:r>
            <a:r>
              <a:rPr lang="en-US" dirty="0">
                <a:latin typeface="Avenir Book" panose="02000503020000020003" pitchFamily="2" charset="0"/>
              </a:rPr>
              <a:t> – Security, scalability, and next steps for your journey.</a:t>
            </a:r>
          </a:p>
        </p:txBody>
      </p:sp>
    </p:spTree>
    <p:extLst>
      <p:ext uri="{BB962C8B-B14F-4D97-AF65-F5344CB8AC3E}">
        <p14:creationId xmlns:p14="http://schemas.microsoft.com/office/powerpoint/2010/main" val="1621997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4C29D920-8CE5-4D76-F909-99369FFDB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EA0E545B-4EA2-CE61-1D0F-8E2A61EFC095}"/>
              </a:ext>
            </a:extLst>
          </p:cNvPr>
          <p:cNvSpPr/>
          <p:nvPr/>
        </p:nvSpPr>
        <p:spPr>
          <a:xfrm>
            <a:off x="7525" y="7525"/>
            <a:ext cx="9144000" cy="620700"/>
          </a:xfrm>
          <a:prstGeom prst="rect">
            <a:avLst/>
          </a:prstGeom>
          <a:solidFill>
            <a:srgbClr val="002D1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4" title="longer border.png">
            <a:extLst>
              <a:ext uri="{FF2B5EF4-FFF2-40B4-BE49-F238E27FC236}">
                <a16:creationId xmlns:a16="http://schemas.microsoft.com/office/drawing/2014/main" id="{CCE92884-958A-123F-D5FD-33B11032450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5025"/>
            <a:ext cx="9144003" cy="18305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E94BCDD6-E0F1-E308-3ED9-154AF75D1F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025" y="124350"/>
            <a:ext cx="8520600" cy="2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Ilorin &lt;/&gt; </a:t>
            </a:r>
            <a:r>
              <a:rPr lang="en-US" sz="1000" dirty="0" err="1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DevBox</a:t>
            </a:r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0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APIs &amp; Microservices (Advanced Hands-On Workshop)</a:t>
            </a:r>
            <a:endParaRPr lang="en-US" sz="1000" dirty="0">
              <a:solidFill>
                <a:srgbClr val="EFFF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8" name="Google Shape;68;p14">
            <a:extLst>
              <a:ext uri="{FF2B5EF4-FFF2-40B4-BE49-F238E27FC236}">
                <a16:creationId xmlns:a16="http://schemas.microsoft.com/office/drawing/2014/main" id="{D2F91DD6-6488-7818-A126-65324F0E8FD3}"/>
              </a:ext>
            </a:extLst>
          </p:cNvPr>
          <p:cNvCxnSpPr/>
          <p:nvPr/>
        </p:nvCxnSpPr>
        <p:spPr>
          <a:xfrm>
            <a:off x="-7525" y="4706725"/>
            <a:ext cx="9149400" cy="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4" title="IIH powered by IHS 1.png">
            <a:extLst>
              <a:ext uri="{FF2B5EF4-FFF2-40B4-BE49-F238E27FC236}">
                <a16:creationId xmlns:a16="http://schemas.microsoft.com/office/drawing/2014/main" id="{C655CA08-7AA5-65CB-6CE7-2CE6095CE534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25" y="4781674"/>
            <a:ext cx="676905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8DF6ACC9-3165-9C80-D6B0-605A0F6E37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876" y="942372"/>
            <a:ext cx="5241870" cy="615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venir Book" panose="02000503020000020003" pitchFamily="2" charset="0"/>
              </a:rPr>
              <a:t>Objectives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869DB5-29FF-10AE-8113-BD2FC466CC99}"/>
              </a:ext>
            </a:extLst>
          </p:cNvPr>
          <p:cNvSpPr txBox="1"/>
          <p:nvPr/>
        </p:nvSpPr>
        <p:spPr>
          <a:xfrm>
            <a:off x="827334" y="1565970"/>
            <a:ext cx="7357242" cy="2360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Deep dive into advanced API &amp; microservice design.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Learn authentication, authorization, and security patterns.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Get hands-on with documentation and testing.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Understand microservices and real-world integrations.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Build a working API in </a:t>
            </a:r>
            <a:r>
              <a:rPr lang="en-US" sz="2000" dirty="0" err="1">
                <a:latin typeface="Avenir Book" panose="02000503020000020003" pitchFamily="2" charset="0"/>
              </a:rPr>
              <a:t>Lovable.dev</a:t>
            </a:r>
            <a:r>
              <a:rPr lang="en-US" sz="2000" dirty="0">
                <a:latin typeface="Avenir Book" panose="02000503020000020003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4472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E5D75FCC-1B15-08B3-D463-210719FF6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17E9A5C5-927D-3A4D-ED62-B91BCC00DF0A}"/>
              </a:ext>
            </a:extLst>
          </p:cNvPr>
          <p:cNvSpPr/>
          <p:nvPr/>
        </p:nvSpPr>
        <p:spPr>
          <a:xfrm>
            <a:off x="7525" y="7525"/>
            <a:ext cx="9144000" cy="620700"/>
          </a:xfrm>
          <a:prstGeom prst="rect">
            <a:avLst/>
          </a:prstGeom>
          <a:solidFill>
            <a:srgbClr val="002D1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4" title="longer border.png">
            <a:extLst>
              <a:ext uri="{FF2B5EF4-FFF2-40B4-BE49-F238E27FC236}">
                <a16:creationId xmlns:a16="http://schemas.microsoft.com/office/drawing/2014/main" id="{37D35D4A-2BC9-AAAC-DAA0-BA124CD003A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5025"/>
            <a:ext cx="9144003" cy="18305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7709F997-D1A5-2807-7C21-93D7EAB7B6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025" y="124350"/>
            <a:ext cx="8520600" cy="2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Ilorin &lt;/&gt; </a:t>
            </a:r>
            <a:r>
              <a:rPr lang="en-US" sz="1000" dirty="0" err="1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DevBox</a:t>
            </a:r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0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APIs &amp; Microservices (Advanced Hands-On Workshop)</a:t>
            </a:r>
            <a:endParaRPr lang="en-US" sz="1000" dirty="0">
              <a:solidFill>
                <a:srgbClr val="EFFF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8" name="Google Shape;68;p14">
            <a:extLst>
              <a:ext uri="{FF2B5EF4-FFF2-40B4-BE49-F238E27FC236}">
                <a16:creationId xmlns:a16="http://schemas.microsoft.com/office/drawing/2014/main" id="{AC54FA4F-26E1-5091-EF18-E25164A87095}"/>
              </a:ext>
            </a:extLst>
          </p:cNvPr>
          <p:cNvCxnSpPr/>
          <p:nvPr/>
        </p:nvCxnSpPr>
        <p:spPr>
          <a:xfrm>
            <a:off x="-7525" y="4706725"/>
            <a:ext cx="9149400" cy="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4" title="IIH powered by IHS 1.png">
            <a:extLst>
              <a:ext uri="{FF2B5EF4-FFF2-40B4-BE49-F238E27FC236}">
                <a16:creationId xmlns:a16="http://schemas.microsoft.com/office/drawing/2014/main" id="{5F524198-C9AE-237A-1E3D-6C9C6239834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25" y="4781674"/>
            <a:ext cx="676905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D1DF95FB-4FB0-F34E-2EB1-7CFC04256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876" y="942372"/>
            <a:ext cx="5241870" cy="615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venir Book" panose="02000503020000020003" pitchFamily="2" charset="0"/>
              </a:rPr>
              <a:t>Recap of Part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87A736-F5C1-D4E9-C570-6265E5F50696}"/>
              </a:ext>
            </a:extLst>
          </p:cNvPr>
          <p:cNvSpPr txBox="1"/>
          <p:nvPr/>
        </p:nvSpPr>
        <p:spPr>
          <a:xfrm>
            <a:off x="433206" y="1630822"/>
            <a:ext cx="6473203" cy="301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venir Book" panose="02000503020000020003" pitchFamily="2" charset="0"/>
              </a:rPr>
              <a:t>APIs in Everyday Apps</a:t>
            </a:r>
            <a:r>
              <a:rPr lang="en-US" sz="1600" dirty="0">
                <a:latin typeface="Avenir Book" panose="02000503020000020003" pitchFamily="2" charset="0"/>
              </a:rPr>
              <a:t> – How apps connect for banking, rides, social, etc.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venir Book" panose="02000503020000020003" pitchFamily="2" charset="0"/>
              </a:rPr>
              <a:t>JSON Basics</a:t>
            </a:r>
            <a:r>
              <a:rPr lang="en-US" sz="1600" dirty="0">
                <a:latin typeface="Avenir Book" panose="02000503020000020003" pitchFamily="2" charset="0"/>
              </a:rPr>
              <a:t> – Reading requests, responses, and payloads.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venir Book" panose="02000503020000020003" pitchFamily="2" charset="0"/>
              </a:rPr>
              <a:t>Monolith vs Microservices</a:t>
            </a:r>
            <a:r>
              <a:rPr lang="en-US" sz="1600" dirty="0">
                <a:latin typeface="Avenir Book" panose="02000503020000020003" pitchFamily="2" charset="0"/>
              </a:rPr>
              <a:t> – One big kitchen vs food court analogy.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venir Book" panose="02000503020000020003" pitchFamily="2" charset="0"/>
              </a:rPr>
              <a:t>Public APIs with </a:t>
            </a:r>
            <a:r>
              <a:rPr lang="en-US" sz="1600" b="1" dirty="0" err="1">
                <a:latin typeface="Avenir Book" panose="02000503020000020003" pitchFamily="2" charset="0"/>
              </a:rPr>
              <a:t>Hoppscotch</a:t>
            </a:r>
            <a:r>
              <a:rPr lang="en-US" sz="1600" dirty="0">
                <a:latin typeface="Avenir Book" panose="02000503020000020003" pitchFamily="2" charset="0"/>
              </a:rPr>
              <a:t> – Live demo from any phone browser.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venir Book" panose="02000503020000020003" pitchFamily="2" charset="0"/>
              </a:rPr>
              <a:t>African Countries Explorer</a:t>
            </a:r>
            <a:r>
              <a:rPr lang="en-US" sz="1600" dirty="0">
                <a:latin typeface="Avenir Book" panose="02000503020000020003" pitchFamily="2" charset="0"/>
              </a:rPr>
              <a:t> – Built a working app consuming APIs.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D721E7-E109-D73A-6EF1-55332DC617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55859" y1="60352" x2="55859" y2="60352"/>
                        <a14:foregroundMark x1="52295" y1="74512" x2="52295" y2="74512"/>
                        <a14:foregroundMark x1="72461" y1="72021" x2="72461" y2="72021"/>
                        <a14:foregroundMark x1="81689" y1="61035" x2="81689" y2="61035"/>
                        <a14:foregroundMark x1="50879" y1="50098" x2="50879" y2="5009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99734" y="628077"/>
            <a:ext cx="2401184" cy="2401184"/>
          </a:xfrm>
          <a:prstGeom prst="rect">
            <a:avLst/>
          </a:prstGeom>
        </p:spPr>
      </p:pic>
      <p:pic>
        <p:nvPicPr>
          <p:cNvPr id="3" name="Picture 2" descr="A green puzzle pieces with a tall building&#10;&#10;AI-generated content may be incorrect.">
            <a:extLst>
              <a:ext uri="{FF2B5EF4-FFF2-40B4-BE49-F238E27FC236}">
                <a16:creationId xmlns:a16="http://schemas.microsoft.com/office/drawing/2014/main" id="{2018E510-A4BC-D9B8-D1CE-7844C0D873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3967" b="69128" l="20820" r="76729">
                        <a14:foregroundMark x1="58447" y1="37012" x2="58447" y2="37012"/>
                        <a14:foregroundMark x1="68115" y1="40137" x2="68115" y2="40137"/>
                        <a14:foregroundMark x1="70605" y1="36816" x2="70605" y2="36816"/>
                        <a14:foregroundMark x1="70020" y1="32617" x2="70020" y2="32617"/>
                        <a14:foregroundMark x1="53418" y1="48047" x2="53418" y2="48047"/>
                        <a14:foregroundMark x1="57275" y1="58838" x2="57275" y2="58838"/>
                        <a14:foregroundMark x1="69824" y1="61572" x2="69824" y2="61572"/>
                        <a14:foregroundMark x1="52637" y1="49756" x2="52637" y2="49756"/>
                        <a14:foregroundMark x1="48975" y1="48047" x2="48975" y2="48047"/>
                        <a14:foregroundMark x1="65967" y1="48828" x2="65967" y2="48828"/>
                        <a14:foregroundMark x1="52441" y1="57861" x2="52441" y2="57861"/>
                        <a14:foregroundMark x1="52637" y1="61377" x2="52637" y2="61377"/>
                        <a14:foregroundMark x1="52441" y1="59229" x2="52441" y2="59229"/>
                        <a14:foregroundMark x1="52637" y1="61572" x2="52637" y2="61572"/>
                        <a14:foregroundMark x1="52637" y1="57861" x2="52637" y2="57861"/>
                        <a14:foregroundMark x1="53027" y1="61572" x2="53027" y2="61572"/>
                        <a14:foregroundMark x1="26611" y1="51904" x2="26611" y2="51904"/>
                        <a14:foregroundMark x1="26416" y1="52490" x2="26416" y2="52490"/>
                        <a14:foregroundMark x1="26807" y1="58447" x2="26807" y2="58447"/>
                        <a14:foregroundMark x1="26807" y1="48047" x2="26807" y2="48047"/>
                      </a14:backgroundRemoval>
                    </a14:imgEffect>
                  </a14:imgLayer>
                </a14:imgProps>
              </a:ext>
            </a:extLst>
          </a:blip>
          <a:srcRect l="13831" t="18322" r="16283" b="25227"/>
          <a:stretch/>
        </p:blipFill>
        <p:spPr>
          <a:xfrm>
            <a:off x="6382322" y="2404491"/>
            <a:ext cx="2759553" cy="222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5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9EC4702C-4776-853F-C7F9-EA2579D11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CB714CF9-DCEF-B4D9-B8AD-5CEF1E2ECE3F}"/>
              </a:ext>
            </a:extLst>
          </p:cNvPr>
          <p:cNvSpPr/>
          <p:nvPr/>
        </p:nvSpPr>
        <p:spPr>
          <a:xfrm>
            <a:off x="7525" y="7525"/>
            <a:ext cx="9144000" cy="620700"/>
          </a:xfrm>
          <a:prstGeom prst="rect">
            <a:avLst/>
          </a:prstGeom>
          <a:solidFill>
            <a:srgbClr val="002D1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4" title="longer border.png">
            <a:extLst>
              <a:ext uri="{FF2B5EF4-FFF2-40B4-BE49-F238E27FC236}">
                <a16:creationId xmlns:a16="http://schemas.microsoft.com/office/drawing/2014/main" id="{2CB31B1D-6F5A-480D-728E-EAC7FD10EDF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5025"/>
            <a:ext cx="9144003" cy="18305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03392E1D-CD88-CED9-F50F-17389C2153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025" y="124350"/>
            <a:ext cx="8520600" cy="2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Ilorin &lt;/&gt; </a:t>
            </a:r>
            <a:r>
              <a:rPr lang="en-US" sz="1000" dirty="0" err="1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DevBox</a:t>
            </a:r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0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APIs &amp; Microservices (Advanced Hands-On Workshop)</a:t>
            </a:r>
            <a:endParaRPr lang="en-US" sz="1000" dirty="0">
              <a:solidFill>
                <a:srgbClr val="EFFF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8" name="Google Shape;68;p14">
            <a:extLst>
              <a:ext uri="{FF2B5EF4-FFF2-40B4-BE49-F238E27FC236}">
                <a16:creationId xmlns:a16="http://schemas.microsoft.com/office/drawing/2014/main" id="{F969168D-A24C-1A90-2520-1685115A5E79}"/>
              </a:ext>
            </a:extLst>
          </p:cNvPr>
          <p:cNvCxnSpPr/>
          <p:nvPr/>
        </p:nvCxnSpPr>
        <p:spPr>
          <a:xfrm>
            <a:off x="-7525" y="4706725"/>
            <a:ext cx="9149400" cy="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4" title="IIH powered by IHS 1.png">
            <a:extLst>
              <a:ext uri="{FF2B5EF4-FFF2-40B4-BE49-F238E27FC236}">
                <a16:creationId xmlns:a16="http://schemas.microsoft.com/office/drawing/2014/main" id="{B1B640B3-4406-44D5-9535-16483D90F60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25" y="4781674"/>
            <a:ext cx="676905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790A5EA8-A3A8-6E1E-7EB1-55C87B75DF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876" y="942372"/>
            <a:ext cx="5241870" cy="615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venir Book" panose="02000503020000020003" pitchFamily="2" charset="0"/>
              </a:rPr>
              <a:t>Advanced API Design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D102E5-57C7-A6CF-EE15-564F9FAD4975}"/>
              </a:ext>
            </a:extLst>
          </p:cNvPr>
          <p:cNvSpPr txBox="1"/>
          <p:nvPr/>
        </p:nvSpPr>
        <p:spPr>
          <a:xfrm>
            <a:off x="433206" y="1630822"/>
            <a:ext cx="5580319" cy="2649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REST Principles</a:t>
            </a:r>
            <a:r>
              <a:rPr lang="en-US" dirty="0">
                <a:latin typeface="Avenir Book" panose="02000503020000020003" pitchFamily="2" charset="0"/>
              </a:rPr>
              <a:t> – Organize resources with clear URIs and HTTP verbs (GET, POST, PUT, DELETE).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Endpoint Design</a:t>
            </a:r>
            <a:r>
              <a:rPr lang="en-US" dirty="0">
                <a:latin typeface="Avenir Book" panose="02000503020000020003" pitchFamily="2" charset="0"/>
              </a:rPr>
              <a:t> – Keep names simple, predictable, and plural (e.g., /tasks, /users/123).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Error Handling</a:t>
            </a:r>
            <a:r>
              <a:rPr lang="en-US" dirty="0">
                <a:latin typeface="Avenir Book" panose="02000503020000020003" pitchFamily="2" charset="0"/>
              </a:rPr>
              <a:t> – Return meaningful status codes (200 OK, 400 Bad Request, 404 Not Found, 500 Server Error).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API Versioning</a:t>
            </a:r>
            <a:r>
              <a:rPr lang="en-US" dirty="0">
                <a:latin typeface="Avenir Book" panose="02000503020000020003" pitchFamily="2" charset="0"/>
              </a:rPr>
              <a:t> – Use /v1/ or headers to support updates without breaking clients.</a:t>
            </a:r>
          </a:p>
        </p:txBody>
      </p:sp>
      <p:pic>
        <p:nvPicPr>
          <p:cNvPr id="4" name="Picture 3" descr="A logo of a gear with a wrench&#10;&#10;AI-generated content may be incorrect.">
            <a:extLst>
              <a:ext uri="{FF2B5EF4-FFF2-40B4-BE49-F238E27FC236}">
                <a16:creationId xmlns:a16="http://schemas.microsoft.com/office/drawing/2014/main" id="{BAFB35EE-0FA0-59D2-5EC5-0361C85A4B7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1974" t="23077" r="21974" b="23869"/>
          <a:stretch/>
        </p:blipFill>
        <p:spPr>
          <a:xfrm>
            <a:off x="6142616" y="1455881"/>
            <a:ext cx="2883051" cy="27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60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1C5964BF-BE10-993D-2850-34AA8CFE8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CB6124F1-CF84-0E19-6C8F-EF82F44C88E4}"/>
              </a:ext>
            </a:extLst>
          </p:cNvPr>
          <p:cNvSpPr/>
          <p:nvPr/>
        </p:nvSpPr>
        <p:spPr>
          <a:xfrm>
            <a:off x="7525" y="7525"/>
            <a:ext cx="9144000" cy="620700"/>
          </a:xfrm>
          <a:prstGeom prst="rect">
            <a:avLst/>
          </a:prstGeom>
          <a:solidFill>
            <a:srgbClr val="002D1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4" title="longer border.png">
            <a:extLst>
              <a:ext uri="{FF2B5EF4-FFF2-40B4-BE49-F238E27FC236}">
                <a16:creationId xmlns:a16="http://schemas.microsoft.com/office/drawing/2014/main" id="{73C04C64-2571-722E-024B-39F8F9D76E7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5025"/>
            <a:ext cx="9144003" cy="18305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9C28DEE0-7D5C-E81B-D462-EFD3F8C603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025" y="124350"/>
            <a:ext cx="8520600" cy="2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Ilorin &lt;/&gt; </a:t>
            </a:r>
            <a:r>
              <a:rPr lang="en-US" sz="1000" dirty="0" err="1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DevBox</a:t>
            </a:r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0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APIs &amp; Microservices (Advanced Hands-On Workshop)</a:t>
            </a:r>
            <a:endParaRPr lang="en-US" sz="1000" dirty="0">
              <a:solidFill>
                <a:srgbClr val="EFFF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8" name="Google Shape;68;p14">
            <a:extLst>
              <a:ext uri="{FF2B5EF4-FFF2-40B4-BE49-F238E27FC236}">
                <a16:creationId xmlns:a16="http://schemas.microsoft.com/office/drawing/2014/main" id="{4190E6B3-F8E2-9639-5DB3-0410AB35D5A0}"/>
              </a:ext>
            </a:extLst>
          </p:cNvPr>
          <p:cNvCxnSpPr/>
          <p:nvPr/>
        </p:nvCxnSpPr>
        <p:spPr>
          <a:xfrm>
            <a:off x="-7525" y="4706725"/>
            <a:ext cx="9149400" cy="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4" title="IIH powered by IHS 1.png">
            <a:extLst>
              <a:ext uri="{FF2B5EF4-FFF2-40B4-BE49-F238E27FC236}">
                <a16:creationId xmlns:a16="http://schemas.microsoft.com/office/drawing/2014/main" id="{8F3EEAAF-3038-567B-7BB3-4E354C61237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25" y="4781674"/>
            <a:ext cx="676905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1C6F3A-529D-F92F-CB1A-82A568A1B3DB}"/>
              </a:ext>
            </a:extLst>
          </p:cNvPr>
          <p:cNvSpPr txBox="1"/>
          <p:nvPr/>
        </p:nvSpPr>
        <p:spPr>
          <a:xfrm>
            <a:off x="433206" y="1630822"/>
            <a:ext cx="5580319" cy="2972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Why Security?</a:t>
            </a:r>
            <a:r>
              <a:rPr lang="en-US" dirty="0">
                <a:latin typeface="Avenir Book" panose="02000503020000020003" pitchFamily="2" charset="0"/>
              </a:rPr>
              <a:t> – Protect data, prevent misuse, and ensure trust.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Avenir Book" panose="02000503020000020003" pitchFamily="2" charset="0"/>
              </a:rPr>
              <a:t>AuthN</a:t>
            </a:r>
            <a:r>
              <a:rPr lang="en-US" b="1" dirty="0">
                <a:latin typeface="Avenir Book" panose="02000503020000020003" pitchFamily="2" charset="0"/>
              </a:rPr>
              <a:t> vs </a:t>
            </a:r>
            <a:r>
              <a:rPr lang="en-US" b="1" dirty="0" err="1">
                <a:latin typeface="Avenir Book" panose="02000503020000020003" pitchFamily="2" charset="0"/>
              </a:rPr>
              <a:t>AuthZ</a:t>
            </a:r>
            <a:r>
              <a:rPr lang="en-US" dirty="0">
                <a:latin typeface="Avenir Book" panose="02000503020000020003" pitchFamily="2" charset="0"/>
              </a:rPr>
              <a:t> – Authentication = </a:t>
            </a:r>
            <a:r>
              <a:rPr lang="en-US" i="1" dirty="0">
                <a:latin typeface="Avenir Book" panose="02000503020000020003" pitchFamily="2" charset="0"/>
              </a:rPr>
              <a:t>who you are</a:t>
            </a:r>
            <a:r>
              <a:rPr lang="en-US" dirty="0">
                <a:latin typeface="Avenir Book" panose="02000503020000020003" pitchFamily="2" charset="0"/>
              </a:rPr>
              <a:t>; Authorization = </a:t>
            </a:r>
            <a:r>
              <a:rPr lang="en-US" i="1" dirty="0">
                <a:latin typeface="Avenir Book" panose="02000503020000020003" pitchFamily="2" charset="0"/>
              </a:rPr>
              <a:t>what you can do</a:t>
            </a:r>
            <a:r>
              <a:rPr lang="en-US" dirty="0">
                <a:latin typeface="Avenir Book" panose="02000503020000020003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Tokens vs Sessions</a:t>
            </a:r>
            <a:r>
              <a:rPr lang="en-US" dirty="0">
                <a:latin typeface="Avenir Book" panose="02000503020000020003" pitchFamily="2" charset="0"/>
              </a:rPr>
              <a:t> – Tokens travel with each request; sessions stored on server.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JWT Flow</a:t>
            </a:r>
            <a:r>
              <a:rPr lang="en-US" dirty="0">
                <a:latin typeface="Avenir Book" panose="02000503020000020003" pitchFamily="2" charset="0"/>
              </a:rPr>
              <a:t> – Login → get token → include in Authorization: Bearer &lt;token&gt; header.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OAuth 2.0 Basics</a:t>
            </a:r>
            <a:r>
              <a:rPr lang="en-US" dirty="0">
                <a:latin typeface="Avenir Book" panose="02000503020000020003" pitchFamily="2" charset="0"/>
              </a:rPr>
              <a:t> – Delegated login with Google, Facebook, GitHub, etc.</a:t>
            </a:r>
          </a:p>
        </p:txBody>
      </p:sp>
      <p:sp>
        <p:nvSpPr>
          <p:cNvPr id="6" name="Google Shape;67;p14">
            <a:extLst>
              <a:ext uri="{FF2B5EF4-FFF2-40B4-BE49-F238E27FC236}">
                <a16:creationId xmlns:a16="http://schemas.microsoft.com/office/drawing/2014/main" id="{F5842BB5-EAB2-A450-C8AC-EBBEE923D5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876" y="942372"/>
            <a:ext cx="5241870" cy="615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venir Book" panose="02000503020000020003" pitchFamily="2" charset="0"/>
              </a:rPr>
              <a:t>Security &amp; Authentication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4F8ADA-2576-FA77-6388-6D4C01C0759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046" t="20717" r="18418" b="18357"/>
          <a:stretch/>
        </p:blipFill>
        <p:spPr>
          <a:xfrm>
            <a:off x="6013525" y="1527784"/>
            <a:ext cx="2825829" cy="275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549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9F4D928A-BCC3-0BD7-F5FA-39C5FFF10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84C8E93E-4473-7153-B760-F83DEE8FAF0F}"/>
              </a:ext>
            </a:extLst>
          </p:cNvPr>
          <p:cNvSpPr/>
          <p:nvPr/>
        </p:nvSpPr>
        <p:spPr>
          <a:xfrm>
            <a:off x="7525" y="7525"/>
            <a:ext cx="9144000" cy="620700"/>
          </a:xfrm>
          <a:prstGeom prst="rect">
            <a:avLst/>
          </a:prstGeom>
          <a:solidFill>
            <a:srgbClr val="002D1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4" title="longer border.png">
            <a:extLst>
              <a:ext uri="{FF2B5EF4-FFF2-40B4-BE49-F238E27FC236}">
                <a16:creationId xmlns:a16="http://schemas.microsoft.com/office/drawing/2014/main" id="{C53A4599-10F2-69E3-A816-B5A66E1D41A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5025"/>
            <a:ext cx="9144003" cy="18305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0A9E3EC3-6BBC-65E1-2376-14E2693A01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025" y="124350"/>
            <a:ext cx="8520600" cy="2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Ilorin &lt;/&gt; </a:t>
            </a:r>
            <a:r>
              <a:rPr lang="en-US" sz="1000" dirty="0" err="1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DevBox</a:t>
            </a:r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0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APIs &amp; Microservices (Advanced Hands-On Workshop)</a:t>
            </a:r>
            <a:endParaRPr lang="en-US" sz="1000" dirty="0">
              <a:solidFill>
                <a:srgbClr val="EFFF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8" name="Google Shape;68;p14">
            <a:extLst>
              <a:ext uri="{FF2B5EF4-FFF2-40B4-BE49-F238E27FC236}">
                <a16:creationId xmlns:a16="http://schemas.microsoft.com/office/drawing/2014/main" id="{23E5D266-C09F-437B-EB12-D2551EE7B3DD}"/>
              </a:ext>
            </a:extLst>
          </p:cNvPr>
          <p:cNvCxnSpPr/>
          <p:nvPr/>
        </p:nvCxnSpPr>
        <p:spPr>
          <a:xfrm>
            <a:off x="-7525" y="4706725"/>
            <a:ext cx="9149400" cy="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4" title="IIH powered by IHS 1.png">
            <a:extLst>
              <a:ext uri="{FF2B5EF4-FFF2-40B4-BE49-F238E27FC236}">
                <a16:creationId xmlns:a16="http://schemas.microsoft.com/office/drawing/2014/main" id="{1EF34CCC-35C4-447B-452D-B458AD70E59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25" y="4781674"/>
            <a:ext cx="676905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29B7A8C-AA7E-CC18-AF8B-629C73142B88}"/>
              </a:ext>
            </a:extLst>
          </p:cNvPr>
          <p:cNvSpPr txBox="1"/>
          <p:nvPr/>
        </p:nvSpPr>
        <p:spPr>
          <a:xfrm>
            <a:off x="3370044" y="1003315"/>
            <a:ext cx="5580319" cy="4181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What is OAuth?</a:t>
            </a:r>
            <a:endParaRPr lang="en-US" sz="1200" dirty="0">
              <a:latin typeface="Avenir Book" panose="02000503020000020003" pitchFamily="2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An </a:t>
            </a:r>
            <a:r>
              <a:rPr lang="en-US" sz="1200" b="1" dirty="0">
                <a:latin typeface="Avenir Book" panose="02000503020000020003" pitchFamily="2" charset="0"/>
              </a:rPr>
              <a:t>authorization framework</a:t>
            </a:r>
            <a:r>
              <a:rPr lang="en-US" sz="1200" dirty="0">
                <a:latin typeface="Avenir Book" panose="02000503020000020003" pitchFamily="2" charset="0"/>
              </a:rPr>
              <a:t> for secure delegated access.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Lets apps access user data on another service </a:t>
            </a:r>
            <a:r>
              <a:rPr lang="en-US" sz="1200" b="1" dirty="0">
                <a:latin typeface="Avenir Book" panose="02000503020000020003" pitchFamily="2" charset="0"/>
              </a:rPr>
              <a:t>without sharing passwords</a:t>
            </a:r>
            <a:r>
              <a:rPr lang="en-US" sz="1200" dirty="0">
                <a:latin typeface="Avenir Book" panose="02000503020000020003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1200" b="1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How it works (simplified)</a:t>
            </a:r>
            <a:endParaRPr lang="en-US" sz="1200" dirty="0">
              <a:latin typeface="Avenir Book" panose="02000503020000020003" pitchFamily="2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venir Book" panose="02000503020000020003" pitchFamily="2" charset="0"/>
              </a:rPr>
              <a:t>User clicks “Login with …”</a:t>
            </a:r>
            <a:r>
              <a:rPr lang="en-US" sz="1200" dirty="0">
                <a:latin typeface="Avenir Book" panose="02000503020000020003" pitchFamily="2" charset="0"/>
              </a:rPr>
              <a:t> (Google, Facebook, etc.)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Redirect to provider → user approves access.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Provider sends back an </a:t>
            </a:r>
            <a:r>
              <a:rPr lang="en-US" sz="1200" b="1" dirty="0">
                <a:latin typeface="Avenir Book" panose="02000503020000020003" pitchFamily="2" charset="0"/>
              </a:rPr>
              <a:t>access token</a:t>
            </a:r>
            <a:r>
              <a:rPr lang="en-US" sz="1200" dirty="0">
                <a:latin typeface="Avenir Book" panose="02000503020000020003" pitchFamily="2" charset="0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App uses the token to access APIs on behalf of the user.</a:t>
            </a:r>
          </a:p>
          <a:p>
            <a:pPr>
              <a:lnSpc>
                <a:spcPct val="150000"/>
              </a:lnSpc>
            </a:pPr>
            <a:endParaRPr lang="en-US" sz="1200" b="1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Key Benefits</a:t>
            </a:r>
            <a:endParaRPr lang="en-US" sz="1200" dirty="0">
              <a:latin typeface="Avenir Book" panose="02000503020000020003" pitchFamily="2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More secure than passwords.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Widely used across the web (social logins, payments, APIs).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Standardized and scalable.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50" dirty="0">
              <a:latin typeface="Avenir Book" panose="02000503020000020003" pitchFamily="2" charset="0"/>
            </a:endParaRPr>
          </a:p>
        </p:txBody>
      </p:sp>
      <p:sp>
        <p:nvSpPr>
          <p:cNvPr id="6" name="Google Shape;67;p14">
            <a:extLst>
              <a:ext uri="{FF2B5EF4-FFF2-40B4-BE49-F238E27FC236}">
                <a16:creationId xmlns:a16="http://schemas.microsoft.com/office/drawing/2014/main" id="{E30A3733-4486-C72F-6E89-8435AA5CD2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876" y="942372"/>
            <a:ext cx="5241870" cy="615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venir Book" panose="02000503020000020003" pitchFamily="2" charset="0"/>
              </a:rPr>
              <a:t>OAuth Basics</a:t>
            </a:r>
          </a:p>
        </p:txBody>
      </p:sp>
      <p:pic>
        <p:nvPicPr>
          <p:cNvPr id="3" name="Picture 2" descr="A person sitting at a desk with a computer&#10;&#10;AI-generated content may be incorrect.">
            <a:extLst>
              <a:ext uri="{FF2B5EF4-FFF2-40B4-BE49-F238E27FC236}">
                <a16:creationId xmlns:a16="http://schemas.microsoft.com/office/drawing/2014/main" id="{1E68DEBC-3FBF-0524-D7D3-135E8DC59D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5" y="1509994"/>
            <a:ext cx="3271680" cy="327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653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8E58FC0D-1FB4-0D7B-1FAB-25BD332A4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14189E4F-6CBD-081E-349B-75CA5DCE3954}"/>
              </a:ext>
            </a:extLst>
          </p:cNvPr>
          <p:cNvSpPr/>
          <p:nvPr/>
        </p:nvSpPr>
        <p:spPr>
          <a:xfrm>
            <a:off x="7525" y="7525"/>
            <a:ext cx="9144000" cy="620700"/>
          </a:xfrm>
          <a:prstGeom prst="rect">
            <a:avLst/>
          </a:prstGeom>
          <a:solidFill>
            <a:srgbClr val="002D1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4" title="longer border.png">
            <a:extLst>
              <a:ext uri="{FF2B5EF4-FFF2-40B4-BE49-F238E27FC236}">
                <a16:creationId xmlns:a16="http://schemas.microsoft.com/office/drawing/2014/main" id="{E03851DC-D9CF-FD5F-F096-227A5D18459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5025"/>
            <a:ext cx="9144003" cy="18305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B9C88154-1C17-B3EF-472D-BCF5969033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025" y="124350"/>
            <a:ext cx="8520600" cy="2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Ilorin &lt;/&gt; </a:t>
            </a:r>
            <a:r>
              <a:rPr lang="en-US" sz="1000" dirty="0" err="1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DevBox</a:t>
            </a:r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0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APIs &amp; Microservices (Advanced Hands-On Workshop)</a:t>
            </a:r>
            <a:endParaRPr lang="en-US" sz="1000" dirty="0">
              <a:solidFill>
                <a:srgbClr val="EFFF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8" name="Google Shape;68;p14">
            <a:extLst>
              <a:ext uri="{FF2B5EF4-FFF2-40B4-BE49-F238E27FC236}">
                <a16:creationId xmlns:a16="http://schemas.microsoft.com/office/drawing/2014/main" id="{D84CFDBA-2E5C-2AFD-1525-72AE7322823B}"/>
              </a:ext>
            </a:extLst>
          </p:cNvPr>
          <p:cNvCxnSpPr/>
          <p:nvPr/>
        </p:nvCxnSpPr>
        <p:spPr>
          <a:xfrm>
            <a:off x="-7525" y="4706725"/>
            <a:ext cx="9149400" cy="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4" title="IIH powered by IHS 1.png">
            <a:extLst>
              <a:ext uri="{FF2B5EF4-FFF2-40B4-BE49-F238E27FC236}">
                <a16:creationId xmlns:a16="http://schemas.microsoft.com/office/drawing/2014/main" id="{13010D53-56B1-BBB8-16D6-F18463C30D4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25" y="4781674"/>
            <a:ext cx="676905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A9EFD6-C606-E034-A0BB-9DBC9A251FEE}"/>
              </a:ext>
            </a:extLst>
          </p:cNvPr>
          <p:cNvSpPr txBox="1"/>
          <p:nvPr/>
        </p:nvSpPr>
        <p:spPr>
          <a:xfrm>
            <a:off x="319226" y="1871820"/>
            <a:ext cx="3854742" cy="2764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00" b="1" dirty="0">
                <a:latin typeface="Avenir Book" panose="02000503020000020003" pitchFamily="2" charset="0"/>
              </a:rPr>
              <a:t>What is JWT?</a:t>
            </a:r>
            <a:endParaRPr lang="en-US" sz="1300" dirty="0">
              <a:latin typeface="Avenir Book" panose="02000503020000020003" pitchFamily="2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Avenir Book" panose="02000503020000020003" pitchFamily="2" charset="0"/>
              </a:rPr>
              <a:t>A compact, secure way to transmit information between client and server.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Avenir Book" panose="02000503020000020003" pitchFamily="2" charset="0"/>
              </a:rPr>
              <a:t>Used for authentication and authorization.</a:t>
            </a:r>
          </a:p>
          <a:p>
            <a:pPr>
              <a:lnSpc>
                <a:spcPct val="150000"/>
              </a:lnSpc>
            </a:pPr>
            <a:endParaRPr lang="en-US" sz="1300" b="1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300" b="1" dirty="0">
                <a:latin typeface="Avenir Book" panose="02000503020000020003" pitchFamily="2" charset="0"/>
              </a:rPr>
              <a:t>Structure (3 parts)</a:t>
            </a:r>
            <a:endParaRPr lang="en-US" sz="1300" dirty="0">
              <a:latin typeface="Avenir Book" panose="02000503020000020003" pitchFamily="2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Avenir Book" panose="02000503020000020003" pitchFamily="2" charset="0"/>
              </a:rPr>
              <a:t>Header</a:t>
            </a:r>
            <a:r>
              <a:rPr lang="en-US" sz="1300" dirty="0">
                <a:latin typeface="Avenir Book" panose="02000503020000020003" pitchFamily="2" charset="0"/>
              </a:rPr>
              <a:t> → algorithm &amp; token type.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Avenir Book" panose="02000503020000020003" pitchFamily="2" charset="0"/>
              </a:rPr>
              <a:t>Payload</a:t>
            </a:r>
            <a:r>
              <a:rPr lang="en-US" sz="1300" dirty="0">
                <a:latin typeface="Avenir Book" panose="02000503020000020003" pitchFamily="2" charset="0"/>
              </a:rPr>
              <a:t> → user data / claims.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Avenir Book" panose="02000503020000020003" pitchFamily="2" charset="0"/>
              </a:rPr>
              <a:t>Signature</a:t>
            </a:r>
            <a:r>
              <a:rPr lang="en-US" sz="1300" dirty="0">
                <a:latin typeface="Avenir Book" panose="02000503020000020003" pitchFamily="2" charset="0"/>
              </a:rPr>
              <a:t> → verifies authenticity.</a:t>
            </a:r>
          </a:p>
        </p:txBody>
      </p:sp>
      <p:sp>
        <p:nvSpPr>
          <p:cNvPr id="6" name="Google Shape;67;p14">
            <a:extLst>
              <a:ext uri="{FF2B5EF4-FFF2-40B4-BE49-F238E27FC236}">
                <a16:creationId xmlns:a16="http://schemas.microsoft.com/office/drawing/2014/main" id="{3A4342C0-7FD7-131D-E7EB-EDA7A74DBA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876" y="942372"/>
            <a:ext cx="5241870" cy="615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venir Book" panose="02000503020000020003" pitchFamily="2" charset="0"/>
              </a:rPr>
              <a:t>JWT (JSON Web Token)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860FAF-CCE1-C9EE-CF6E-34C9892134C8}"/>
              </a:ext>
            </a:extLst>
          </p:cNvPr>
          <p:cNvSpPr txBox="1"/>
          <p:nvPr/>
        </p:nvSpPr>
        <p:spPr>
          <a:xfrm>
            <a:off x="4579525" y="1250011"/>
            <a:ext cx="3854742" cy="3367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00" b="1" dirty="0">
                <a:latin typeface="Avenir Book" panose="02000503020000020003" pitchFamily="2" charset="0"/>
              </a:rPr>
              <a:t>How it works</a:t>
            </a:r>
            <a:endParaRPr lang="en-US" sz="1300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300" dirty="0">
                <a:latin typeface="Avenir Book" panose="02000503020000020003" pitchFamily="2" charset="0"/>
              </a:rPr>
              <a:t>User logs in → server issues JWT.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300" dirty="0">
                <a:latin typeface="Avenir Book" panose="02000503020000020003" pitchFamily="2" charset="0"/>
              </a:rPr>
              <a:t>Client stores token (usually in memory).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300" dirty="0">
                <a:latin typeface="Avenir Book" panose="02000503020000020003" pitchFamily="2" charset="0"/>
              </a:rPr>
              <a:t>Every request → send Authorization: Bearer &lt;token&gt;.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300" dirty="0">
                <a:latin typeface="Avenir Book" panose="02000503020000020003" pitchFamily="2" charset="0"/>
              </a:rPr>
              <a:t>Server verifies signature before granting access.</a:t>
            </a:r>
          </a:p>
          <a:p>
            <a:pPr>
              <a:lnSpc>
                <a:spcPct val="150000"/>
              </a:lnSpc>
            </a:pPr>
            <a:endParaRPr lang="en-US" sz="1300" b="1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300" b="1" dirty="0">
                <a:latin typeface="Avenir Book" panose="02000503020000020003" pitchFamily="2" charset="0"/>
              </a:rPr>
              <a:t>Why JWT?</a:t>
            </a:r>
            <a:endParaRPr lang="en-US" sz="1300" dirty="0">
              <a:latin typeface="Avenir Book" panose="02000503020000020003" pitchFamily="2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Avenir Book" panose="02000503020000020003" pitchFamily="2" charset="0"/>
              </a:rPr>
              <a:t>Stateless (no need to store sessions on server).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Avenir Book" panose="02000503020000020003" pitchFamily="2" charset="0"/>
              </a:rPr>
              <a:t>Widely used in modern APIs.</a:t>
            </a:r>
          </a:p>
        </p:txBody>
      </p:sp>
    </p:spTree>
    <p:extLst>
      <p:ext uri="{BB962C8B-B14F-4D97-AF65-F5344CB8AC3E}">
        <p14:creationId xmlns:p14="http://schemas.microsoft.com/office/powerpoint/2010/main" val="2456396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13D14A0D-EA8F-67AF-5611-85E0A7CB6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35FFA0F0-4056-101E-56DE-CF6E08365C78}"/>
              </a:ext>
            </a:extLst>
          </p:cNvPr>
          <p:cNvSpPr/>
          <p:nvPr/>
        </p:nvSpPr>
        <p:spPr>
          <a:xfrm>
            <a:off x="7525" y="7525"/>
            <a:ext cx="9144000" cy="620700"/>
          </a:xfrm>
          <a:prstGeom prst="rect">
            <a:avLst/>
          </a:prstGeom>
          <a:solidFill>
            <a:srgbClr val="002D1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4" title="longer border.png">
            <a:extLst>
              <a:ext uri="{FF2B5EF4-FFF2-40B4-BE49-F238E27FC236}">
                <a16:creationId xmlns:a16="http://schemas.microsoft.com/office/drawing/2014/main" id="{8EAC84E2-B250-7F51-B4BD-1AD6811C1A3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5025"/>
            <a:ext cx="9144003" cy="18305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FFA12B3D-AB1F-2910-3F36-27A7444C2F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025" y="124350"/>
            <a:ext cx="8520600" cy="2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Ilorin &lt;/&gt; </a:t>
            </a:r>
            <a:r>
              <a:rPr lang="en-US" sz="1000" dirty="0" err="1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DevBox</a:t>
            </a:r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0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APIs &amp; Microservices (Advanced Hands-On Workshop)</a:t>
            </a:r>
            <a:endParaRPr lang="en-US" sz="1000" dirty="0">
              <a:solidFill>
                <a:srgbClr val="EFFF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8" name="Google Shape;68;p14">
            <a:extLst>
              <a:ext uri="{FF2B5EF4-FFF2-40B4-BE49-F238E27FC236}">
                <a16:creationId xmlns:a16="http://schemas.microsoft.com/office/drawing/2014/main" id="{6AA313BF-D7C8-4D85-B14F-7BE50D84BCE8}"/>
              </a:ext>
            </a:extLst>
          </p:cNvPr>
          <p:cNvCxnSpPr/>
          <p:nvPr/>
        </p:nvCxnSpPr>
        <p:spPr>
          <a:xfrm>
            <a:off x="-7525" y="4706725"/>
            <a:ext cx="9149400" cy="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4" title="IIH powered by IHS 1.png">
            <a:extLst>
              <a:ext uri="{FF2B5EF4-FFF2-40B4-BE49-F238E27FC236}">
                <a16:creationId xmlns:a16="http://schemas.microsoft.com/office/drawing/2014/main" id="{CB358E34-1461-D6AA-A1D1-074C0B6461A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25" y="4781674"/>
            <a:ext cx="676905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357B38-1364-B882-CB56-36DC93B5377A}"/>
              </a:ext>
            </a:extLst>
          </p:cNvPr>
          <p:cNvSpPr txBox="1"/>
          <p:nvPr/>
        </p:nvSpPr>
        <p:spPr>
          <a:xfrm>
            <a:off x="433206" y="1630822"/>
            <a:ext cx="5115539" cy="2972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Swagger / </a:t>
            </a:r>
            <a:r>
              <a:rPr lang="en-US" b="1" dirty="0" err="1">
                <a:latin typeface="Avenir Book" panose="02000503020000020003" pitchFamily="2" charset="0"/>
              </a:rPr>
              <a:t>OpenAPI</a:t>
            </a:r>
            <a:br>
              <a:rPr lang="en-US" dirty="0">
                <a:latin typeface="Avenir Book" panose="02000503020000020003" pitchFamily="2" charset="0"/>
              </a:rPr>
            </a:br>
            <a:r>
              <a:rPr lang="en-US" dirty="0">
                <a:latin typeface="Avenir Book" panose="02000503020000020003" pitchFamily="2" charset="0"/>
              </a:rPr>
              <a:t>Auto-generate interactive docs, test endpoints, and share with teams.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Avenir Book" panose="02000503020000020003" pitchFamily="2" charset="0"/>
              </a:rPr>
              <a:t>Hoppscotch</a:t>
            </a:r>
            <a:r>
              <a:rPr lang="en-US" b="1" dirty="0">
                <a:latin typeface="Avenir Book" panose="02000503020000020003" pitchFamily="2" charset="0"/>
              </a:rPr>
              <a:t> (alternative to Postman)</a:t>
            </a:r>
            <a:br>
              <a:rPr lang="en-US" dirty="0">
                <a:latin typeface="Avenir Book" panose="02000503020000020003" pitchFamily="2" charset="0"/>
              </a:rPr>
            </a:br>
            <a:r>
              <a:rPr lang="en-US" dirty="0">
                <a:latin typeface="Avenir Book" panose="02000503020000020003" pitchFamily="2" charset="0"/>
              </a:rPr>
              <a:t>Lightweight web app for testing APIs — no install, works on any device, supports GET, POST, PUT, DELETE.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Why It Matters</a:t>
            </a:r>
            <a:br>
              <a:rPr lang="en-US" dirty="0">
                <a:latin typeface="Avenir Book" panose="02000503020000020003" pitchFamily="2" charset="0"/>
              </a:rPr>
            </a:br>
            <a:r>
              <a:rPr lang="en-US" dirty="0">
                <a:latin typeface="Avenir Book" panose="02000503020000020003" pitchFamily="2" charset="0"/>
              </a:rPr>
              <a:t>Documentation + testing keep APIs consistent, easy to use, and prevent confusion across developers and teams.</a:t>
            </a:r>
          </a:p>
        </p:txBody>
      </p:sp>
      <p:sp>
        <p:nvSpPr>
          <p:cNvPr id="6" name="Google Shape;67;p14">
            <a:extLst>
              <a:ext uri="{FF2B5EF4-FFF2-40B4-BE49-F238E27FC236}">
                <a16:creationId xmlns:a16="http://schemas.microsoft.com/office/drawing/2014/main" id="{17F1DD42-04BD-F230-2385-703F23A1F9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876" y="942372"/>
            <a:ext cx="5241870" cy="615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venir Book" panose="02000503020000020003" pitchFamily="2" charset="0"/>
              </a:rPr>
              <a:t>Documentation &amp; Testing Tools</a:t>
            </a:r>
          </a:p>
        </p:txBody>
      </p:sp>
      <p:pic>
        <p:nvPicPr>
          <p:cNvPr id="9" name="Picture 8" descr="A magnifying glass and a paper&#10;&#10;AI-generated content may be incorrect.">
            <a:extLst>
              <a:ext uri="{FF2B5EF4-FFF2-40B4-BE49-F238E27FC236}">
                <a16:creationId xmlns:a16="http://schemas.microsoft.com/office/drawing/2014/main" id="{E01C3044-BB51-66D4-4F46-8EA8BD77C14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255" t="16482" r="20092" b="18322"/>
          <a:stretch/>
        </p:blipFill>
        <p:spPr>
          <a:xfrm>
            <a:off x="6005926" y="1405693"/>
            <a:ext cx="2660699" cy="285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704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38E7B44E-8FD6-E332-3EEA-314D0E4B2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05F9D36C-D084-30D2-5545-325D42ABBF40}"/>
              </a:ext>
            </a:extLst>
          </p:cNvPr>
          <p:cNvSpPr/>
          <p:nvPr/>
        </p:nvSpPr>
        <p:spPr>
          <a:xfrm>
            <a:off x="7525" y="7525"/>
            <a:ext cx="9144000" cy="620700"/>
          </a:xfrm>
          <a:prstGeom prst="rect">
            <a:avLst/>
          </a:prstGeom>
          <a:solidFill>
            <a:srgbClr val="002D1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4" title="longer border.png">
            <a:extLst>
              <a:ext uri="{FF2B5EF4-FFF2-40B4-BE49-F238E27FC236}">
                <a16:creationId xmlns:a16="http://schemas.microsoft.com/office/drawing/2014/main" id="{378D96EE-27B3-FE27-0209-5ECF2A36D41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5025"/>
            <a:ext cx="9144003" cy="18305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1BAEFCA6-457F-6A70-4656-36ABCF73F6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025" y="124350"/>
            <a:ext cx="8520600" cy="2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Ilorin &lt;/&gt; </a:t>
            </a:r>
            <a:r>
              <a:rPr lang="en-US" sz="1000" dirty="0" err="1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DevBox</a:t>
            </a:r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0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APIs &amp; Microservices (Advanced Hands-On Workshop)</a:t>
            </a:r>
            <a:endParaRPr lang="en-US" sz="1000" dirty="0">
              <a:solidFill>
                <a:srgbClr val="EFFF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8" name="Google Shape;68;p14">
            <a:extLst>
              <a:ext uri="{FF2B5EF4-FFF2-40B4-BE49-F238E27FC236}">
                <a16:creationId xmlns:a16="http://schemas.microsoft.com/office/drawing/2014/main" id="{1873ECDF-93DE-4E83-1B90-4601DD099C25}"/>
              </a:ext>
            </a:extLst>
          </p:cNvPr>
          <p:cNvCxnSpPr/>
          <p:nvPr/>
        </p:nvCxnSpPr>
        <p:spPr>
          <a:xfrm>
            <a:off x="-7525" y="4706725"/>
            <a:ext cx="9149400" cy="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4" title="IIH powered by IHS 1.png">
            <a:extLst>
              <a:ext uri="{FF2B5EF4-FFF2-40B4-BE49-F238E27FC236}">
                <a16:creationId xmlns:a16="http://schemas.microsoft.com/office/drawing/2014/main" id="{4D7B015E-4352-4D49-5A4F-D9DEA68DEA2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25" y="4781674"/>
            <a:ext cx="676905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5D834FF-9370-E33F-16DD-EBB00C3B62D8}"/>
              </a:ext>
            </a:extLst>
          </p:cNvPr>
          <p:cNvSpPr txBox="1"/>
          <p:nvPr/>
        </p:nvSpPr>
        <p:spPr>
          <a:xfrm>
            <a:off x="433206" y="1577032"/>
            <a:ext cx="5666380" cy="3190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900" b="1" dirty="0">
                <a:latin typeface="Avenir Book" panose="02000503020000020003" pitchFamily="2" charset="0"/>
              </a:rPr>
              <a:t>What is Swagger?</a:t>
            </a:r>
            <a:endParaRPr lang="en-US" sz="900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900" dirty="0">
                <a:latin typeface="Avenir Book" panose="02000503020000020003" pitchFamily="2" charset="0"/>
              </a:rPr>
              <a:t>A framework for describing APIs in a standardized way.</a:t>
            </a:r>
          </a:p>
          <a:p>
            <a:pPr>
              <a:lnSpc>
                <a:spcPct val="150000"/>
              </a:lnSpc>
            </a:pPr>
            <a:r>
              <a:rPr lang="en-US" sz="900" dirty="0">
                <a:latin typeface="Avenir Book" panose="02000503020000020003" pitchFamily="2" charset="0"/>
              </a:rPr>
              <a:t>Uses </a:t>
            </a:r>
            <a:r>
              <a:rPr lang="en-US" sz="900" b="1" dirty="0" err="1">
                <a:latin typeface="Avenir Book" panose="02000503020000020003" pitchFamily="2" charset="0"/>
              </a:rPr>
              <a:t>OpenAPI</a:t>
            </a:r>
            <a:r>
              <a:rPr lang="en-US" sz="900" b="1" dirty="0">
                <a:latin typeface="Avenir Book" panose="02000503020000020003" pitchFamily="2" charset="0"/>
              </a:rPr>
              <a:t> Specification (OAS)</a:t>
            </a:r>
            <a:r>
              <a:rPr lang="en-US" sz="900" dirty="0">
                <a:latin typeface="Avenir Book" panose="02000503020000020003" pitchFamily="2" charset="0"/>
              </a:rPr>
              <a:t> to define endpoints, requests, and responses.</a:t>
            </a:r>
          </a:p>
          <a:p>
            <a:pPr>
              <a:lnSpc>
                <a:spcPct val="150000"/>
              </a:lnSpc>
            </a:pPr>
            <a:endParaRPr lang="en-US" sz="900" b="1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900" b="1" dirty="0">
                <a:latin typeface="Avenir Book" panose="02000503020000020003" pitchFamily="2" charset="0"/>
              </a:rPr>
              <a:t>Why it matters</a:t>
            </a:r>
            <a:endParaRPr lang="en-US" sz="900" dirty="0">
              <a:latin typeface="Avenir Book" panose="02000503020000020003" pitchFamily="2" charset="0"/>
            </a:endParaRPr>
          </a:p>
          <a:p>
            <a:pPr lvl="3">
              <a:lnSpc>
                <a:spcPct val="150000"/>
              </a:lnSpc>
            </a:pPr>
            <a:r>
              <a:rPr lang="en-US" sz="900" dirty="0">
                <a:latin typeface="Avenir Book" panose="02000503020000020003" pitchFamily="2" charset="0"/>
              </a:rPr>
              <a:t>Generates interactive documentation automatically.</a:t>
            </a:r>
          </a:p>
          <a:p>
            <a:pPr lvl="3">
              <a:lnSpc>
                <a:spcPct val="150000"/>
              </a:lnSpc>
            </a:pPr>
            <a:r>
              <a:rPr lang="en-US" sz="900" dirty="0">
                <a:latin typeface="Avenir Book" panose="02000503020000020003" pitchFamily="2" charset="0"/>
              </a:rPr>
              <a:t>Lets developers </a:t>
            </a:r>
            <a:r>
              <a:rPr lang="en-US" sz="900" b="1" dirty="0">
                <a:latin typeface="Avenir Book" panose="02000503020000020003" pitchFamily="2" charset="0"/>
              </a:rPr>
              <a:t>test APIs in the browser</a:t>
            </a:r>
            <a:r>
              <a:rPr lang="en-US" sz="900" dirty="0">
                <a:latin typeface="Avenir Book" panose="02000503020000020003" pitchFamily="2" charset="0"/>
              </a:rPr>
              <a:t> (try it out).</a:t>
            </a:r>
          </a:p>
          <a:p>
            <a:pPr>
              <a:lnSpc>
                <a:spcPct val="150000"/>
              </a:lnSpc>
            </a:pPr>
            <a:r>
              <a:rPr lang="en-US" sz="900" dirty="0">
                <a:latin typeface="Avenir Book" panose="02000503020000020003" pitchFamily="2" charset="0"/>
              </a:rPr>
              <a:t>Helps keep docs and implementation in sync.</a:t>
            </a:r>
          </a:p>
          <a:p>
            <a:pPr>
              <a:lnSpc>
                <a:spcPct val="150000"/>
              </a:lnSpc>
            </a:pPr>
            <a:endParaRPr lang="en-US" sz="900" b="1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900" b="1" dirty="0">
                <a:latin typeface="Avenir Book" panose="02000503020000020003" pitchFamily="2" charset="0"/>
              </a:rPr>
              <a:t>Example</a:t>
            </a:r>
            <a:endParaRPr lang="en-US" sz="900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900" dirty="0">
                <a:latin typeface="Avenir Book" panose="02000503020000020003" pitchFamily="2" charset="0"/>
              </a:rPr>
              <a:t>/docs endpoint in many APIs opens Swagger UI.</a:t>
            </a:r>
          </a:p>
          <a:p>
            <a:pPr>
              <a:lnSpc>
                <a:spcPct val="150000"/>
              </a:lnSpc>
            </a:pPr>
            <a:r>
              <a:rPr lang="en-US" sz="900" dirty="0">
                <a:latin typeface="Avenir Book" panose="02000503020000020003" pitchFamily="2" charset="0"/>
              </a:rPr>
              <a:t>Clear sections: endpoints, parameters, responses, errors.</a:t>
            </a:r>
          </a:p>
          <a:p>
            <a:pPr>
              <a:lnSpc>
                <a:spcPct val="150000"/>
              </a:lnSpc>
            </a:pPr>
            <a:endParaRPr lang="en-US" sz="900" b="1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900" b="1" dirty="0">
                <a:latin typeface="Avenir Book" panose="02000503020000020003" pitchFamily="2" charset="0"/>
              </a:rPr>
              <a:t>Key takeaway</a:t>
            </a:r>
            <a:br>
              <a:rPr lang="en-US" sz="900" dirty="0">
                <a:latin typeface="Avenir Book" panose="02000503020000020003" pitchFamily="2" charset="0"/>
              </a:rPr>
            </a:br>
            <a:r>
              <a:rPr lang="en-US" sz="900" dirty="0">
                <a:latin typeface="Avenir Book" panose="02000503020000020003" pitchFamily="2" charset="0"/>
              </a:rPr>
              <a:t>Swagger makes APIs </a:t>
            </a:r>
            <a:r>
              <a:rPr lang="en-US" sz="900" b="1" dirty="0">
                <a:latin typeface="Avenir Book" panose="02000503020000020003" pitchFamily="2" charset="0"/>
              </a:rPr>
              <a:t>self-explanatory, testable, and shareable</a:t>
            </a:r>
            <a:r>
              <a:rPr lang="en-US" sz="900" dirty="0">
                <a:latin typeface="Avenir Book" panose="02000503020000020003" pitchFamily="2" charset="0"/>
              </a:rPr>
              <a:t>.</a:t>
            </a:r>
          </a:p>
        </p:txBody>
      </p:sp>
      <p:sp>
        <p:nvSpPr>
          <p:cNvPr id="6" name="Google Shape;67;p14">
            <a:extLst>
              <a:ext uri="{FF2B5EF4-FFF2-40B4-BE49-F238E27FC236}">
                <a16:creationId xmlns:a16="http://schemas.microsoft.com/office/drawing/2014/main" id="{B146A611-38E9-5FA2-BC4C-9B04A48103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876" y="942372"/>
            <a:ext cx="5241870" cy="615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venir Book" panose="02000503020000020003" pitchFamily="2" charset="0"/>
              </a:rPr>
              <a:t>Swagger/</a:t>
            </a:r>
            <a:r>
              <a:rPr lang="en-US" sz="2400" b="1" dirty="0" err="1">
                <a:solidFill>
                  <a:schemeClr val="tx1"/>
                </a:solidFill>
                <a:latin typeface="Avenir Book" panose="02000503020000020003" pitchFamily="2" charset="0"/>
              </a:rPr>
              <a:t>OpenAPI</a:t>
            </a:r>
            <a:endParaRPr lang="en-US" sz="2400" b="1" dirty="0">
              <a:solidFill>
                <a:schemeClr val="tx1"/>
              </a:solidFill>
              <a:latin typeface="Avenir Book" panose="02000503020000020003" pitchFamily="2" charset="0"/>
            </a:endParaRPr>
          </a:p>
        </p:txBody>
      </p:sp>
      <p:pic>
        <p:nvPicPr>
          <p:cNvPr id="2" name="Picture 1" descr="A computer on a table&#10;&#10;AI-generated content may be incorrect.">
            <a:extLst>
              <a:ext uri="{FF2B5EF4-FFF2-40B4-BE49-F238E27FC236}">
                <a16:creationId xmlns:a16="http://schemas.microsoft.com/office/drawing/2014/main" id="{F3874AAA-0EBE-5D4F-DD9B-1C226BF48F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5563" y="1250022"/>
            <a:ext cx="3461062" cy="346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971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50C84650-A7C7-AD6A-F444-3160E3376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B1056901-3525-A9C5-1E2E-4A2116FAA0A3}"/>
              </a:ext>
            </a:extLst>
          </p:cNvPr>
          <p:cNvSpPr/>
          <p:nvPr/>
        </p:nvSpPr>
        <p:spPr>
          <a:xfrm>
            <a:off x="7525" y="7525"/>
            <a:ext cx="9144000" cy="620700"/>
          </a:xfrm>
          <a:prstGeom prst="rect">
            <a:avLst/>
          </a:prstGeom>
          <a:solidFill>
            <a:srgbClr val="002D1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4" title="longer border.png">
            <a:extLst>
              <a:ext uri="{FF2B5EF4-FFF2-40B4-BE49-F238E27FC236}">
                <a16:creationId xmlns:a16="http://schemas.microsoft.com/office/drawing/2014/main" id="{4AE4F174-FE17-60F4-D924-4783DA07CE4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5025"/>
            <a:ext cx="9144003" cy="18305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C6537705-E2FF-38A2-099F-C496EE9F3B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025" y="124350"/>
            <a:ext cx="8520600" cy="2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Ilorin &lt;/&gt; </a:t>
            </a:r>
            <a:r>
              <a:rPr lang="en-US" sz="1000" dirty="0" err="1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DevBox</a:t>
            </a:r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0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APIs &amp; Microservices (Advanced Hands-On Workshop)</a:t>
            </a:r>
            <a:endParaRPr lang="en-US" sz="1000" dirty="0">
              <a:solidFill>
                <a:srgbClr val="EFFF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8" name="Google Shape;68;p14">
            <a:extLst>
              <a:ext uri="{FF2B5EF4-FFF2-40B4-BE49-F238E27FC236}">
                <a16:creationId xmlns:a16="http://schemas.microsoft.com/office/drawing/2014/main" id="{019CA3BC-064D-26D1-4317-AF0F34808D28}"/>
              </a:ext>
            </a:extLst>
          </p:cNvPr>
          <p:cNvCxnSpPr/>
          <p:nvPr/>
        </p:nvCxnSpPr>
        <p:spPr>
          <a:xfrm>
            <a:off x="-7525" y="4706725"/>
            <a:ext cx="9149400" cy="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4" title="IIH powered by IHS 1.png">
            <a:extLst>
              <a:ext uri="{FF2B5EF4-FFF2-40B4-BE49-F238E27FC236}">
                <a16:creationId xmlns:a16="http://schemas.microsoft.com/office/drawing/2014/main" id="{8287C1BA-E43D-231F-04A8-5C7154C52C0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25" y="4781674"/>
            <a:ext cx="676905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DE324F-0EA4-955E-DB28-DA3A46A365BB}"/>
              </a:ext>
            </a:extLst>
          </p:cNvPr>
          <p:cNvSpPr txBox="1"/>
          <p:nvPr/>
        </p:nvSpPr>
        <p:spPr>
          <a:xfrm>
            <a:off x="433206" y="1630822"/>
            <a:ext cx="5115539" cy="2972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venir Book" panose="02000503020000020003" pitchFamily="2" charset="0"/>
              </a:rPr>
              <a:t>Purpose: Fake API for testing authentication flows.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Login Endpoint:</a:t>
            </a:r>
            <a:br>
              <a:rPr lang="en-US" dirty="0">
                <a:latin typeface="Avenir Book" panose="02000503020000020003" pitchFamily="2" charset="0"/>
              </a:rPr>
            </a:br>
            <a:r>
              <a:rPr lang="en-US" dirty="0">
                <a:latin typeface="Avenir Book" panose="02000503020000020003" pitchFamily="2" charset="0"/>
              </a:rPr>
              <a:t>POST https://</a:t>
            </a:r>
            <a:r>
              <a:rPr lang="en-US" dirty="0" err="1">
                <a:latin typeface="Avenir Book" panose="02000503020000020003" pitchFamily="2" charset="0"/>
              </a:rPr>
              <a:t>reqres.in</a:t>
            </a:r>
            <a:r>
              <a:rPr lang="en-US" dirty="0">
                <a:latin typeface="Avenir Book" panose="02000503020000020003" pitchFamily="2" charset="0"/>
              </a:rPr>
              <a:t>/</a:t>
            </a:r>
            <a:r>
              <a:rPr lang="en-US" dirty="0" err="1">
                <a:latin typeface="Avenir Book" panose="02000503020000020003" pitchFamily="2" charset="0"/>
              </a:rPr>
              <a:t>api</a:t>
            </a:r>
            <a:r>
              <a:rPr lang="en-US" dirty="0">
                <a:latin typeface="Avenir Book" panose="02000503020000020003" pitchFamily="2" charset="0"/>
              </a:rPr>
              <a:t>/login</a:t>
            </a:r>
            <a:br>
              <a:rPr lang="en-US" dirty="0">
                <a:latin typeface="Avenir Book" panose="02000503020000020003" pitchFamily="2" charset="0"/>
              </a:rPr>
            </a:br>
            <a:r>
              <a:rPr lang="en-US" dirty="0">
                <a:latin typeface="Avenir Book" panose="02000503020000020003" pitchFamily="2" charset="0"/>
              </a:rPr>
              <a:t>Body:</a:t>
            </a:r>
          </a:p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venir Book" panose="02000503020000020003" pitchFamily="2" charset="0"/>
              </a:rPr>
              <a:t>{ "email": "</a:t>
            </a:r>
            <a:r>
              <a:rPr lang="en-US" dirty="0" err="1">
                <a:latin typeface="Avenir Book" panose="02000503020000020003" pitchFamily="2" charset="0"/>
              </a:rPr>
              <a:t>eve.holt@reqres.in</a:t>
            </a:r>
            <a:r>
              <a:rPr lang="en-US" dirty="0">
                <a:latin typeface="Avenir Book" panose="02000503020000020003" pitchFamily="2" charset="0"/>
              </a:rPr>
              <a:t>", "password": "</a:t>
            </a:r>
            <a:r>
              <a:rPr lang="en-US" dirty="0" err="1">
                <a:latin typeface="Avenir Book" panose="02000503020000020003" pitchFamily="2" charset="0"/>
              </a:rPr>
              <a:t>cityslicka</a:t>
            </a:r>
            <a:r>
              <a:rPr lang="en-US" dirty="0">
                <a:latin typeface="Avenir Book" panose="02000503020000020003" pitchFamily="2" charset="0"/>
              </a:rPr>
              <a:t>" }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Response:</a:t>
            </a:r>
            <a:endParaRPr lang="en-US" dirty="0">
              <a:latin typeface="Avenir Book" panose="02000503020000020003" pitchFamily="2" charset="0"/>
            </a:endParaRPr>
          </a:p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venir Book" panose="02000503020000020003" pitchFamily="2" charset="0"/>
              </a:rPr>
              <a:t>{ "token": "QpwL5tke4Pnpja7X4" }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venir Book" panose="02000503020000020003" pitchFamily="2" charset="0"/>
              </a:rPr>
              <a:t>You can then pass that token in Authorization: Bearer headers to access protected resources (simulated).</a:t>
            </a:r>
          </a:p>
        </p:txBody>
      </p:sp>
      <p:sp>
        <p:nvSpPr>
          <p:cNvPr id="6" name="Google Shape;67;p14">
            <a:extLst>
              <a:ext uri="{FF2B5EF4-FFF2-40B4-BE49-F238E27FC236}">
                <a16:creationId xmlns:a16="http://schemas.microsoft.com/office/drawing/2014/main" id="{93AD5D58-1A73-784E-1BA9-C2AF93ABC8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876" y="942372"/>
            <a:ext cx="5241870" cy="615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venir Book" panose="02000503020000020003" pitchFamily="2" charset="0"/>
              </a:rPr>
              <a:t>Hands-On: JWT with </a:t>
            </a:r>
            <a:r>
              <a:rPr lang="en-US" sz="2400" b="1" dirty="0" err="1">
                <a:solidFill>
                  <a:schemeClr val="tx1"/>
                </a:solidFill>
                <a:latin typeface="Avenir Book" panose="02000503020000020003" pitchFamily="2" charset="0"/>
              </a:rPr>
              <a:t>ReqRes</a:t>
            </a:r>
            <a:endParaRPr lang="en-US" sz="2400" b="1" dirty="0">
              <a:solidFill>
                <a:schemeClr val="tx1"/>
              </a:solidFill>
              <a:latin typeface="Avenir Book" panose="02000503020000020003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696E33-F0F0-97F3-D9E9-0BAA62BB58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5339" y="1464682"/>
            <a:ext cx="3127848" cy="312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57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3878D2AA-A244-CDD8-4511-1E2B6A8D6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D9D55450-769B-506F-17BE-6649ED8360AC}"/>
              </a:ext>
            </a:extLst>
          </p:cNvPr>
          <p:cNvSpPr/>
          <p:nvPr/>
        </p:nvSpPr>
        <p:spPr>
          <a:xfrm>
            <a:off x="7525" y="7525"/>
            <a:ext cx="9144000" cy="620700"/>
          </a:xfrm>
          <a:prstGeom prst="rect">
            <a:avLst/>
          </a:prstGeom>
          <a:solidFill>
            <a:srgbClr val="002D1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4" title="longer border.png">
            <a:extLst>
              <a:ext uri="{FF2B5EF4-FFF2-40B4-BE49-F238E27FC236}">
                <a16:creationId xmlns:a16="http://schemas.microsoft.com/office/drawing/2014/main" id="{7574362E-6173-67D5-DDCC-EB3051FA236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5025"/>
            <a:ext cx="9144003" cy="18305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A58A9568-DE88-1642-D230-C57524798C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025" y="124350"/>
            <a:ext cx="8520600" cy="2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Ilorin &lt;/&gt; </a:t>
            </a:r>
            <a:r>
              <a:rPr lang="en-US" sz="1000" dirty="0" err="1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DevBox</a:t>
            </a:r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0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APIs &amp; Microservices (Advanced Hands-On Workshop)</a:t>
            </a:r>
            <a:endParaRPr lang="en-US" sz="1000" dirty="0">
              <a:solidFill>
                <a:srgbClr val="EFFF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8" name="Google Shape;68;p14">
            <a:extLst>
              <a:ext uri="{FF2B5EF4-FFF2-40B4-BE49-F238E27FC236}">
                <a16:creationId xmlns:a16="http://schemas.microsoft.com/office/drawing/2014/main" id="{973D69AF-29BF-44D6-A1B2-CAED98072E35}"/>
              </a:ext>
            </a:extLst>
          </p:cNvPr>
          <p:cNvCxnSpPr/>
          <p:nvPr/>
        </p:nvCxnSpPr>
        <p:spPr>
          <a:xfrm>
            <a:off x="-7525" y="4706725"/>
            <a:ext cx="9149400" cy="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4" title="IIH powered by IHS 1.png">
            <a:extLst>
              <a:ext uri="{FF2B5EF4-FFF2-40B4-BE49-F238E27FC236}">
                <a16:creationId xmlns:a16="http://schemas.microsoft.com/office/drawing/2014/main" id="{127F88B5-AC16-C2FD-3009-627B604DB9C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25" y="4781674"/>
            <a:ext cx="676905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012780-A3D9-9507-1DE2-5F67C4E2324E}"/>
              </a:ext>
            </a:extLst>
          </p:cNvPr>
          <p:cNvSpPr txBox="1"/>
          <p:nvPr/>
        </p:nvSpPr>
        <p:spPr>
          <a:xfrm>
            <a:off x="433206" y="1630822"/>
            <a:ext cx="5115539" cy="3117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latin typeface="Avenir Book" panose="02000503020000020003" pitchFamily="2" charset="0"/>
              </a:rPr>
              <a:t>Real-World Use Cases</a:t>
            </a:r>
            <a:br>
              <a:rPr lang="en-US" sz="1100" dirty="0">
                <a:latin typeface="Avenir Book" panose="02000503020000020003" pitchFamily="2" charset="0"/>
              </a:rPr>
            </a:br>
            <a:r>
              <a:rPr lang="en-US" sz="1100" dirty="0">
                <a:latin typeface="Avenir Book" panose="02000503020000020003" pitchFamily="2" charset="0"/>
              </a:rPr>
              <a:t>Payments (</a:t>
            </a:r>
            <a:r>
              <a:rPr lang="en-US" sz="1100" dirty="0" err="1">
                <a:latin typeface="Avenir Book" panose="02000503020000020003" pitchFamily="2" charset="0"/>
              </a:rPr>
              <a:t>Paystack</a:t>
            </a:r>
            <a:r>
              <a:rPr lang="en-US" sz="1100" dirty="0">
                <a:latin typeface="Avenir Book" panose="02000503020000020003" pitchFamily="2" charset="0"/>
              </a:rPr>
              <a:t>, </a:t>
            </a:r>
            <a:r>
              <a:rPr lang="en-US" sz="1100" dirty="0" err="1">
                <a:latin typeface="Avenir Book" panose="02000503020000020003" pitchFamily="2" charset="0"/>
              </a:rPr>
              <a:t>Flutterwave</a:t>
            </a:r>
            <a:r>
              <a:rPr lang="en-US" sz="1100" dirty="0">
                <a:latin typeface="Avenir Book" panose="02000503020000020003" pitchFamily="2" charset="0"/>
              </a:rPr>
              <a:t>), messaging (WhatsApp), authentication (Google login).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latin typeface="Avenir Book" panose="02000503020000020003" pitchFamily="2" charset="0"/>
              </a:rPr>
              <a:t>Service-to-Service Communication</a:t>
            </a:r>
            <a:br>
              <a:rPr lang="en-US" sz="1100" dirty="0">
                <a:latin typeface="Avenir Book" panose="02000503020000020003" pitchFamily="2" charset="0"/>
              </a:rPr>
            </a:br>
            <a:r>
              <a:rPr lang="en-US" sz="1100" dirty="0">
                <a:latin typeface="Avenir Book" panose="02000503020000020003" pitchFamily="2" charset="0"/>
              </a:rPr>
              <a:t>REST APIs (common, human-readable) vs </a:t>
            </a:r>
            <a:r>
              <a:rPr lang="en-US" sz="1100" dirty="0" err="1">
                <a:latin typeface="Avenir Book" panose="02000503020000020003" pitchFamily="2" charset="0"/>
              </a:rPr>
              <a:t>gRPC</a:t>
            </a:r>
            <a:r>
              <a:rPr lang="en-US" sz="1100" dirty="0">
                <a:latin typeface="Avenir Book" panose="02000503020000020003" pitchFamily="2" charset="0"/>
              </a:rPr>
              <a:t> (faster, binary, optimized for service-to-service).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latin typeface="Avenir Book" panose="02000503020000020003" pitchFamily="2" charset="0"/>
              </a:rPr>
              <a:t>Scaling &amp; Deployment</a:t>
            </a:r>
            <a:br>
              <a:rPr lang="en-US" sz="1100" dirty="0">
                <a:latin typeface="Avenir Book" panose="02000503020000020003" pitchFamily="2" charset="0"/>
              </a:rPr>
            </a:br>
            <a:r>
              <a:rPr lang="en-US" sz="1100" dirty="0">
                <a:latin typeface="Avenir Book" panose="02000503020000020003" pitchFamily="2" charset="0"/>
              </a:rPr>
              <a:t>Independent services scale individually; use Docker and cloud orchestration (Kubernetes) for deployment.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latin typeface="Avenir Book" panose="02000503020000020003" pitchFamily="2" charset="0"/>
              </a:rPr>
              <a:t>Visualize It</a:t>
            </a:r>
            <a:br>
              <a:rPr lang="en-US" sz="1100" dirty="0">
                <a:latin typeface="Avenir Book" panose="02000503020000020003" pitchFamily="2" charset="0"/>
              </a:rPr>
            </a:br>
            <a:r>
              <a:rPr lang="en-US" sz="1100" dirty="0">
                <a:latin typeface="Avenir Book" panose="02000503020000020003" pitchFamily="2" charset="0"/>
              </a:rPr>
              <a:t>Imagine a diagram: multiple small services (Auth, Payments, Orders, Notifications) communicating through APIs instead of one large system.</a:t>
            </a:r>
          </a:p>
        </p:txBody>
      </p:sp>
      <p:sp>
        <p:nvSpPr>
          <p:cNvPr id="6" name="Google Shape;67;p14">
            <a:extLst>
              <a:ext uri="{FF2B5EF4-FFF2-40B4-BE49-F238E27FC236}">
                <a16:creationId xmlns:a16="http://schemas.microsoft.com/office/drawing/2014/main" id="{468C37CD-2D10-2A8E-DBCE-A7D4D2A15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876" y="942372"/>
            <a:ext cx="5241870" cy="615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venir Book" panose="02000503020000020003" pitchFamily="2" charset="0"/>
              </a:rPr>
              <a:t>Microservices in Action</a:t>
            </a:r>
          </a:p>
        </p:txBody>
      </p:sp>
      <p:pic>
        <p:nvPicPr>
          <p:cNvPr id="3" name="Picture 2" descr="A diagram of a network&#10;&#10;AI-generated content may be incorrect.">
            <a:extLst>
              <a:ext uri="{FF2B5EF4-FFF2-40B4-BE49-F238E27FC236}">
                <a16:creationId xmlns:a16="http://schemas.microsoft.com/office/drawing/2014/main" id="{D9147367-CDEB-DE59-08EB-B4DE70CBA1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296" t="15327" r="10642" b="14868"/>
          <a:stretch/>
        </p:blipFill>
        <p:spPr>
          <a:xfrm>
            <a:off x="5759858" y="1557673"/>
            <a:ext cx="3164023" cy="272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12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C42980F1-9358-445D-C25E-458963308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2A8ABB2A-EC44-FF34-377F-0F222217A610}"/>
              </a:ext>
            </a:extLst>
          </p:cNvPr>
          <p:cNvSpPr/>
          <p:nvPr/>
        </p:nvSpPr>
        <p:spPr>
          <a:xfrm>
            <a:off x="7525" y="7525"/>
            <a:ext cx="9144000" cy="620700"/>
          </a:xfrm>
          <a:prstGeom prst="rect">
            <a:avLst/>
          </a:prstGeom>
          <a:solidFill>
            <a:srgbClr val="002D1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4" title="longer border.png">
            <a:extLst>
              <a:ext uri="{FF2B5EF4-FFF2-40B4-BE49-F238E27FC236}">
                <a16:creationId xmlns:a16="http://schemas.microsoft.com/office/drawing/2014/main" id="{2C032DD9-C2FE-C276-E082-88C36DD086F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5025"/>
            <a:ext cx="9144003" cy="18305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1ED83303-98BA-E796-C237-389830C8C9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025" y="124350"/>
            <a:ext cx="8520600" cy="2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Ilorin &lt;/&gt; </a:t>
            </a:r>
            <a:r>
              <a:rPr lang="en-US" sz="1000" dirty="0" err="1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DevBox</a:t>
            </a:r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0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APIs &amp; Microservices (Advanced Hands-On Workshop)</a:t>
            </a:r>
            <a:endParaRPr lang="en-US" sz="1000" dirty="0">
              <a:solidFill>
                <a:srgbClr val="EFFF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8" name="Google Shape;68;p14">
            <a:extLst>
              <a:ext uri="{FF2B5EF4-FFF2-40B4-BE49-F238E27FC236}">
                <a16:creationId xmlns:a16="http://schemas.microsoft.com/office/drawing/2014/main" id="{F98579A4-61EF-48C6-52B3-379A010C0E91}"/>
              </a:ext>
            </a:extLst>
          </p:cNvPr>
          <p:cNvCxnSpPr/>
          <p:nvPr/>
        </p:nvCxnSpPr>
        <p:spPr>
          <a:xfrm>
            <a:off x="-7525" y="4706725"/>
            <a:ext cx="9149400" cy="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4" title="IIH powered by IHS 1.png">
            <a:extLst>
              <a:ext uri="{FF2B5EF4-FFF2-40B4-BE49-F238E27FC236}">
                <a16:creationId xmlns:a16="http://schemas.microsoft.com/office/drawing/2014/main" id="{86EAE178-0D55-E4CA-1833-2865186192B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25" y="4781674"/>
            <a:ext cx="676905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0F39D5-2572-FB61-DF78-7B2E1136FCB1}"/>
              </a:ext>
            </a:extLst>
          </p:cNvPr>
          <p:cNvSpPr txBox="1"/>
          <p:nvPr/>
        </p:nvSpPr>
        <p:spPr>
          <a:xfrm>
            <a:off x="433206" y="1630822"/>
            <a:ext cx="5115539" cy="2838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venir Book" panose="02000503020000020003" pitchFamily="2" charset="0"/>
              </a:rPr>
              <a:t>How It Works</a:t>
            </a:r>
            <a:br>
              <a:rPr lang="en-US" sz="1200" dirty="0">
                <a:latin typeface="Avenir Book" panose="02000503020000020003" pitchFamily="2" charset="0"/>
              </a:rPr>
            </a:br>
            <a:r>
              <a:rPr lang="en-US" sz="1200" dirty="0">
                <a:latin typeface="Avenir Book" panose="02000503020000020003" pitchFamily="2" charset="0"/>
              </a:rPr>
              <a:t>OpenAI API = </a:t>
            </a:r>
            <a:r>
              <a:rPr lang="en-US" sz="1200" i="1" dirty="0">
                <a:latin typeface="Avenir Book" panose="02000503020000020003" pitchFamily="2" charset="0"/>
              </a:rPr>
              <a:t>text in</a:t>
            </a:r>
            <a:r>
              <a:rPr lang="en-US" sz="1200" dirty="0">
                <a:latin typeface="Avenir Book" panose="02000503020000020003" pitchFamily="2" charset="0"/>
              </a:rPr>
              <a:t> → </a:t>
            </a:r>
            <a:r>
              <a:rPr lang="en-US" sz="1200" i="1" dirty="0">
                <a:latin typeface="Avenir Book" panose="02000503020000020003" pitchFamily="2" charset="0"/>
              </a:rPr>
              <a:t>JSON out</a:t>
            </a:r>
            <a:r>
              <a:rPr lang="en-US" sz="1200" dirty="0">
                <a:latin typeface="Avenir Book" panose="02000503020000020003" pitchFamily="2" charset="0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venir Book" panose="02000503020000020003" pitchFamily="2" charset="0"/>
              </a:rPr>
              <a:t>Example</a:t>
            </a:r>
            <a:br>
              <a:rPr lang="en-US" sz="1200" dirty="0">
                <a:latin typeface="Avenir Book" panose="02000503020000020003" pitchFamily="2" charset="0"/>
              </a:rPr>
            </a:br>
            <a:r>
              <a:rPr lang="en-US" sz="1200" dirty="0">
                <a:latin typeface="Avenir Book" panose="02000503020000020003" pitchFamily="2" charset="0"/>
              </a:rPr>
              <a:t>Request: prompt in natural language.</a:t>
            </a:r>
            <a:br>
              <a:rPr lang="en-US" sz="1200" dirty="0">
                <a:latin typeface="Avenir Book" panose="02000503020000020003" pitchFamily="2" charset="0"/>
              </a:rPr>
            </a:br>
            <a:r>
              <a:rPr lang="en-US" sz="1200" dirty="0">
                <a:latin typeface="Avenir Book" panose="02000503020000020003" pitchFamily="2" charset="0"/>
              </a:rPr>
              <a:t>Response: structured JSON with AI-generated text.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venir Book" panose="02000503020000020003" pitchFamily="2" charset="0"/>
              </a:rPr>
              <a:t>Use Case</a:t>
            </a:r>
            <a:br>
              <a:rPr lang="en-US" sz="1200" dirty="0">
                <a:latin typeface="Avenir Book" panose="02000503020000020003" pitchFamily="2" charset="0"/>
              </a:rPr>
            </a:br>
            <a:r>
              <a:rPr lang="en-US" sz="1200" dirty="0">
                <a:latin typeface="Avenir Book" panose="02000503020000020003" pitchFamily="2" charset="0"/>
              </a:rPr>
              <a:t>Add intelligence to microservices (chatbots, summarization, content generation).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venir Book" panose="02000503020000020003" pitchFamily="2" charset="0"/>
              </a:rPr>
              <a:t>Resources</a:t>
            </a:r>
            <a:br>
              <a:rPr lang="en-US" sz="1200" dirty="0">
                <a:latin typeface="Avenir Book" panose="02000503020000020003" pitchFamily="2" charset="0"/>
              </a:rPr>
            </a:br>
            <a:r>
              <a:rPr lang="en-US" sz="1200" dirty="0">
                <a:latin typeface="Avenir Book" panose="02000503020000020003" pitchFamily="2" charset="0"/>
              </a:rPr>
              <a:t>Explore docs &amp; playground: </a:t>
            </a:r>
            <a:r>
              <a:rPr lang="en-US" sz="1200" dirty="0">
                <a:latin typeface="Avenir Book" panose="02000503020000020003" pitchFamily="2" charset="0"/>
                <a:hlinkClick r:id="rId6"/>
              </a:rPr>
              <a:t>platform.openai.com</a:t>
            </a:r>
            <a:r>
              <a:rPr lang="en-US" sz="1200" dirty="0">
                <a:latin typeface="Avenir Book" panose="02000503020000020003" pitchFamily="2" charset="0"/>
              </a:rPr>
              <a:t>.</a:t>
            </a:r>
          </a:p>
        </p:txBody>
      </p:sp>
      <p:sp>
        <p:nvSpPr>
          <p:cNvPr id="6" name="Google Shape;67;p14">
            <a:extLst>
              <a:ext uri="{FF2B5EF4-FFF2-40B4-BE49-F238E27FC236}">
                <a16:creationId xmlns:a16="http://schemas.microsoft.com/office/drawing/2014/main" id="{09BB70A8-DA90-D64B-A058-D3502F3098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876" y="942372"/>
            <a:ext cx="5241870" cy="615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venir Book" panose="02000503020000020003" pitchFamily="2" charset="0"/>
              </a:rPr>
              <a:t>APIs + AI (OpenAI Example)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3671E8-3627-D584-C36C-90AF82B9CE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6321" y="1180784"/>
            <a:ext cx="3288379" cy="328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653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AB17428B-F13C-3BF3-BFBB-FC8AF8098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35BF4E28-D14E-17DD-1FEB-C80CF1043142}"/>
              </a:ext>
            </a:extLst>
          </p:cNvPr>
          <p:cNvSpPr/>
          <p:nvPr/>
        </p:nvSpPr>
        <p:spPr>
          <a:xfrm>
            <a:off x="7525" y="7525"/>
            <a:ext cx="9144000" cy="620700"/>
          </a:xfrm>
          <a:prstGeom prst="rect">
            <a:avLst/>
          </a:prstGeom>
          <a:solidFill>
            <a:srgbClr val="002D1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4" title="longer border.png">
            <a:extLst>
              <a:ext uri="{FF2B5EF4-FFF2-40B4-BE49-F238E27FC236}">
                <a16:creationId xmlns:a16="http://schemas.microsoft.com/office/drawing/2014/main" id="{2D0972CF-A7E7-83BB-68F0-65E9F36640C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5025"/>
            <a:ext cx="9144003" cy="18305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BB9B8922-2737-8BF0-9395-D70962D76E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025" y="124350"/>
            <a:ext cx="8520600" cy="2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Ilorin &lt;/&gt; </a:t>
            </a:r>
            <a:r>
              <a:rPr lang="en-US" sz="1000" dirty="0" err="1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DevBox</a:t>
            </a:r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0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APIs &amp; Microservices (Advanced Hands-On Workshop)</a:t>
            </a:r>
            <a:endParaRPr lang="en-US" sz="1000" dirty="0">
              <a:solidFill>
                <a:srgbClr val="EFFF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8" name="Google Shape;68;p14">
            <a:extLst>
              <a:ext uri="{FF2B5EF4-FFF2-40B4-BE49-F238E27FC236}">
                <a16:creationId xmlns:a16="http://schemas.microsoft.com/office/drawing/2014/main" id="{D5079BC1-2EFC-C76A-9D12-83D2E36D1404}"/>
              </a:ext>
            </a:extLst>
          </p:cNvPr>
          <p:cNvCxnSpPr/>
          <p:nvPr/>
        </p:nvCxnSpPr>
        <p:spPr>
          <a:xfrm>
            <a:off x="-7525" y="4706725"/>
            <a:ext cx="9149400" cy="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4" title="IIH powered by IHS 1.png">
            <a:extLst>
              <a:ext uri="{FF2B5EF4-FFF2-40B4-BE49-F238E27FC236}">
                <a16:creationId xmlns:a16="http://schemas.microsoft.com/office/drawing/2014/main" id="{2AA73787-38BC-2FE0-DDE9-100BFCBDCED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25" y="4781674"/>
            <a:ext cx="676905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609C9F-A7FE-DECE-21D2-E8C0EDE41E9D}"/>
              </a:ext>
            </a:extLst>
          </p:cNvPr>
          <p:cNvSpPr txBox="1"/>
          <p:nvPr/>
        </p:nvSpPr>
        <p:spPr>
          <a:xfrm>
            <a:off x="433206" y="1630822"/>
            <a:ext cx="5115539" cy="2861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venir Book" panose="02000503020000020003" pitchFamily="2" charset="0"/>
              </a:rPr>
              <a:t>Paste the exact API prompt (the one in QR) into Lovable.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venir Book" panose="02000503020000020003" pitchFamily="2" charset="0"/>
              </a:rPr>
              <a:t>Generate the </a:t>
            </a:r>
            <a:r>
              <a:rPr lang="en-US" sz="1100" b="1" dirty="0">
                <a:latin typeface="Avenir Book" panose="02000503020000020003" pitchFamily="2" charset="0"/>
              </a:rPr>
              <a:t>Nigeria Civic Geo API</a:t>
            </a:r>
            <a:r>
              <a:rPr lang="en-US" sz="1100" dirty="0">
                <a:latin typeface="Avenir Book" panose="02000503020000020003" pitchFamily="2" charset="0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venir Book" panose="02000503020000020003" pitchFamily="2" charset="0"/>
              </a:rPr>
              <a:t>Show the Swagger docs at /docs.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venir Book" panose="02000503020000020003" pitchFamily="2" charset="0"/>
              </a:rPr>
              <a:t>Demo endpoints in </a:t>
            </a:r>
            <a:r>
              <a:rPr lang="en-US" sz="1100" b="1" dirty="0" err="1">
                <a:latin typeface="Avenir Book" panose="02000503020000020003" pitchFamily="2" charset="0"/>
              </a:rPr>
              <a:t>Hoppscotch</a:t>
            </a:r>
            <a:r>
              <a:rPr lang="en-US" sz="1100" dirty="0">
                <a:latin typeface="Avenir Book" panose="02000503020000020003" pitchFamily="2" charset="0"/>
              </a:rPr>
              <a:t> (using JWT auth flow):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venir Book" panose="02000503020000020003" pitchFamily="2" charset="0"/>
              </a:rPr>
              <a:t>POST /auth/login → get token.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venir Book" panose="02000503020000020003" pitchFamily="2" charset="0"/>
              </a:rPr>
              <a:t>GET /states (with Bearer token).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venir Book" panose="02000503020000020003" pitchFamily="2" charset="0"/>
              </a:rPr>
              <a:t>GET /</a:t>
            </a:r>
            <a:r>
              <a:rPr lang="en-US" sz="1100" dirty="0" err="1">
                <a:latin typeface="Avenir Book" panose="02000503020000020003" pitchFamily="2" charset="0"/>
              </a:rPr>
              <a:t>lgas?state</a:t>
            </a:r>
            <a:r>
              <a:rPr lang="en-US" sz="1100" dirty="0">
                <a:latin typeface="Avenir Book" panose="02000503020000020003" pitchFamily="2" charset="0"/>
              </a:rPr>
              <a:t>=Kwara.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venir Book" panose="02000503020000020003" pitchFamily="2" charset="0"/>
              </a:rPr>
              <a:t>GET /</a:t>
            </a:r>
            <a:r>
              <a:rPr lang="en-US" sz="1100" dirty="0" err="1">
                <a:latin typeface="Avenir Book" panose="02000503020000020003" pitchFamily="2" charset="0"/>
              </a:rPr>
              <a:t>wards?state</a:t>
            </a:r>
            <a:r>
              <a:rPr lang="en-US" sz="1100" dirty="0">
                <a:latin typeface="Avenir Book" panose="02000503020000020003" pitchFamily="2" charset="0"/>
              </a:rPr>
              <a:t>=</a:t>
            </a:r>
            <a:r>
              <a:rPr lang="en-US" sz="1100" dirty="0" err="1">
                <a:latin typeface="Avenir Book" panose="02000503020000020003" pitchFamily="2" charset="0"/>
              </a:rPr>
              <a:t>Kwara&amp;lga</a:t>
            </a:r>
            <a:r>
              <a:rPr lang="en-US" sz="1100" dirty="0">
                <a:latin typeface="Avenir Book" panose="02000503020000020003" pitchFamily="2" charset="0"/>
              </a:rPr>
              <a:t>=Ilorin East.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venir Book" panose="02000503020000020003" pitchFamily="2" charset="0"/>
              </a:rPr>
              <a:t>GET /</a:t>
            </a:r>
            <a:r>
              <a:rPr lang="en-US" sz="1100" dirty="0" err="1">
                <a:latin typeface="Avenir Book" panose="02000503020000020003" pitchFamily="2" charset="0"/>
              </a:rPr>
              <a:t>search?q</a:t>
            </a:r>
            <a:r>
              <a:rPr lang="en-US" sz="1100" dirty="0">
                <a:latin typeface="Avenir Book" panose="02000503020000020003" pitchFamily="2" charset="0"/>
              </a:rPr>
              <a:t>=Ilorin.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latin typeface="Avenir Book" panose="02000503020000020003" pitchFamily="2" charset="0"/>
              </a:rPr>
              <a:t>Learning Outcome</a:t>
            </a:r>
            <a:r>
              <a:rPr lang="en-US" sz="1100" dirty="0">
                <a:latin typeface="Avenir Book" panose="02000503020000020003" pitchFamily="2" charset="0"/>
              </a:rPr>
              <a:t>: Students see how JSON → becomes → API → becomes → usable service.</a:t>
            </a:r>
          </a:p>
        </p:txBody>
      </p:sp>
      <p:sp>
        <p:nvSpPr>
          <p:cNvPr id="6" name="Google Shape;67;p14">
            <a:extLst>
              <a:ext uri="{FF2B5EF4-FFF2-40B4-BE49-F238E27FC236}">
                <a16:creationId xmlns:a16="http://schemas.microsoft.com/office/drawing/2014/main" id="{33ED8354-1829-3D6D-CBBC-433DCBF671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876" y="942372"/>
            <a:ext cx="5241870" cy="615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venir Book" panose="02000503020000020003" pitchFamily="2" charset="0"/>
              </a:rPr>
              <a:t>Capstone 1 – Build an API</a:t>
            </a:r>
          </a:p>
        </p:txBody>
      </p:sp>
      <p:pic>
        <p:nvPicPr>
          <p:cNvPr id="7" name="Picture 6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ACCC77CA-7159-D8F3-7BF1-28AFB187F0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8450" y="1227199"/>
            <a:ext cx="3402344" cy="340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73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B5481311-E2B6-57D0-A269-295CF390A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0A0558DD-DB8F-763A-3E92-136A489FD10A}"/>
              </a:ext>
            </a:extLst>
          </p:cNvPr>
          <p:cNvSpPr/>
          <p:nvPr/>
        </p:nvSpPr>
        <p:spPr>
          <a:xfrm>
            <a:off x="7525" y="7525"/>
            <a:ext cx="9144000" cy="620700"/>
          </a:xfrm>
          <a:prstGeom prst="rect">
            <a:avLst/>
          </a:prstGeom>
          <a:solidFill>
            <a:srgbClr val="002D1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4" title="longer border.png">
            <a:extLst>
              <a:ext uri="{FF2B5EF4-FFF2-40B4-BE49-F238E27FC236}">
                <a16:creationId xmlns:a16="http://schemas.microsoft.com/office/drawing/2014/main" id="{5DCEFE8F-632D-2450-20DC-A0E29CFB9DD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5025"/>
            <a:ext cx="9144003" cy="18305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6A426E48-F73D-FD1C-CECB-828C8C477E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025" y="124350"/>
            <a:ext cx="8520600" cy="2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Ilorin &lt;/&gt; </a:t>
            </a:r>
            <a:r>
              <a:rPr lang="en-US" sz="1000" dirty="0" err="1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DevBox</a:t>
            </a:r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0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APIs &amp; Microservices (Advanced Hands-On Workshop)</a:t>
            </a:r>
            <a:endParaRPr lang="en-US" sz="1000" dirty="0">
              <a:solidFill>
                <a:srgbClr val="EFFF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8" name="Google Shape;68;p14">
            <a:extLst>
              <a:ext uri="{FF2B5EF4-FFF2-40B4-BE49-F238E27FC236}">
                <a16:creationId xmlns:a16="http://schemas.microsoft.com/office/drawing/2014/main" id="{DCFB4D2E-B8BD-00B9-C249-7A258B9948BD}"/>
              </a:ext>
            </a:extLst>
          </p:cNvPr>
          <p:cNvCxnSpPr/>
          <p:nvPr/>
        </p:nvCxnSpPr>
        <p:spPr>
          <a:xfrm>
            <a:off x="-7525" y="4706725"/>
            <a:ext cx="9149400" cy="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4" title="IIH powered by IHS 1.png">
            <a:extLst>
              <a:ext uri="{FF2B5EF4-FFF2-40B4-BE49-F238E27FC236}">
                <a16:creationId xmlns:a16="http://schemas.microsoft.com/office/drawing/2014/main" id="{E4B6FA21-FAE7-BD99-1056-9A72BD43F06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25" y="4781674"/>
            <a:ext cx="676905" cy="2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1A092B-D49C-1BF8-20E5-FDF39FF610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242" y="1840219"/>
            <a:ext cx="5819887" cy="2914076"/>
          </a:xfrm>
          <a:prstGeom prst="rect">
            <a:avLst/>
          </a:prstGeom>
        </p:spPr>
      </p:pic>
      <p:pic>
        <p:nvPicPr>
          <p:cNvPr id="9" name="Picture 8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35C6B785-43C4-22F1-3C83-EC1EFD9A7D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5496" y="1777482"/>
            <a:ext cx="2767416" cy="27674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F4F9F1-F824-73F3-97CF-560E4FF9352A}"/>
              </a:ext>
            </a:extLst>
          </p:cNvPr>
          <p:cNvSpPr txBox="1"/>
          <p:nvPr/>
        </p:nvSpPr>
        <p:spPr>
          <a:xfrm>
            <a:off x="406242" y="1533778"/>
            <a:ext cx="30123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https://</a:t>
            </a:r>
            <a:r>
              <a:rPr lang="en-US" b="1" dirty="0" err="1">
                <a:latin typeface="Avenir Book" panose="02000503020000020003" pitchFamily="2" charset="0"/>
              </a:rPr>
              <a:t>naija</a:t>
            </a:r>
            <a:r>
              <a:rPr lang="en-US" b="1" dirty="0">
                <a:latin typeface="Avenir Book" panose="02000503020000020003" pitchFamily="2" charset="0"/>
              </a:rPr>
              <a:t>-geo-</a:t>
            </a:r>
            <a:r>
              <a:rPr lang="en-US" b="1" dirty="0" err="1">
                <a:latin typeface="Avenir Book" panose="02000503020000020003" pitchFamily="2" charset="0"/>
              </a:rPr>
              <a:t>api.lovable.app</a:t>
            </a:r>
            <a:r>
              <a:rPr lang="en-US" b="1" dirty="0">
                <a:latin typeface="Avenir Book" panose="02000503020000020003" pitchFamily="2" charset="0"/>
              </a:rPr>
              <a:t>/</a:t>
            </a:r>
          </a:p>
        </p:txBody>
      </p:sp>
      <p:sp>
        <p:nvSpPr>
          <p:cNvPr id="14" name="Google Shape;67;p14">
            <a:extLst>
              <a:ext uri="{FF2B5EF4-FFF2-40B4-BE49-F238E27FC236}">
                <a16:creationId xmlns:a16="http://schemas.microsoft.com/office/drawing/2014/main" id="{1896D336-9F99-EDB6-BBA5-71E50CCD6050}"/>
              </a:ext>
            </a:extLst>
          </p:cNvPr>
          <p:cNvSpPr txBox="1">
            <a:spLocks/>
          </p:cNvSpPr>
          <p:nvPr/>
        </p:nvSpPr>
        <p:spPr>
          <a:xfrm>
            <a:off x="306876" y="942372"/>
            <a:ext cx="5241870" cy="61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US" sz="2400" b="1">
                <a:solidFill>
                  <a:schemeClr val="tx1"/>
                </a:solidFill>
                <a:latin typeface="Avenir Book" panose="02000503020000020003" pitchFamily="2" charset="0"/>
              </a:rPr>
              <a:t>Capstone 1 – Build an API</a:t>
            </a:r>
            <a:endParaRPr lang="en-US" sz="2400" b="1" dirty="0">
              <a:solidFill>
                <a:schemeClr val="tx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746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6627A5FF-B69C-C7C2-84EE-DFD661091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C3627887-84CB-C14A-65DB-E12608D28B76}"/>
              </a:ext>
            </a:extLst>
          </p:cNvPr>
          <p:cNvSpPr/>
          <p:nvPr/>
        </p:nvSpPr>
        <p:spPr>
          <a:xfrm>
            <a:off x="7525" y="7525"/>
            <a:ext cx="9144000" cy="620700"/>
          </a:xfrm>
          <a:prstGeom prst="rect">
            <a:avLst/>
          </a:prstGeom>
          <a:solidFill>
            <a:srgbClr val="002D1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4" title="longer border.png">
            <a:extLst>
              <a:ext uri="{FF2B5EF4-FFF2-40B4-BE49-F238E27FC236}">
                <a16:creationId xmlns:a16="http://schemas.microsoft.com/office/drawing/2014/main" id="{34F976FB-349D-A3DF-BEF7-ECA0ADA9ED8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5025"/>
            <a:ext cx="9144003" cy="18305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1B6E9FBC-A329-9F75-9C2F-0C3031453A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025" y="124350"/>
            <a:ext cx="8520600" cy="2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Ilorin &lt;/&gt; </a:t>
            </a:r>
            <a:r>
              <a:rPr lang="en-US" sz="1000" dirty="0" err="1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DevBox</a:t>
            </a:r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0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APIs &amp; Microservices (Advanced Hands-On Workshop)</a:t>
            </a:r>
            <a:endParaRPr lang="en-US" sz="1000" dirty="0">
              <a:solidFill>
                <a:srgbClr val="EFFF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8" name="Google Shape;68;p14">
            <a:extLst>
              <a:ext uri="{FF2B5EF4-FFF2-40B4-BE49-F238E27FC236}">
                <a16:creationId xmlns:a16="http://schemas.microsoft.com/office/drawing/2014/main" id="{879A8997-0043-B198-447C-A1B63FD97A08}"/>
              </a:ext>
            </a:extLst>
          </p:cNvPr>
          <p:cNvCxnSpPr/>
          <p:nvPr/>
        </p:nvCxnSpPr>
        <p:spPr>
          <a:xfrm>
            <a:off x="-7525" y="4706725"/>
            <a:ext cx="9149400" cy="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4" title="IIH powered by IHS 1.png">
            <a:extLst>
              <a:ext uri="{FF2B5EF4-FFF2-40B4-BE49-F238E27FC236}">
                <a16:creationId xmlns:a16="http://schemas.microsoft.com/office/drawing/2014/main" id="{EEC60A11-A849-C6AD-577B-8250042DCD8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25" y="4781674"/>
            <a:ext cx="676905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667B62-F2DA-140D-1F92-88AE49C4FCB4}"/>
              </a:ext>
            </a:extLst>
          </p:cNvPr>
          <p:cNvSpPr txBox="1"/>
          <p:nvPr/>
        </p:nvSpPr>
        <p:spPr>
          <a:xfrm>
            <a:off x="433206" y="1630822"/>
            <a:ext cx="5343650" cy="3073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venir Book" panose="02000503020000020003" pitchFamily="2" charset="0"/>
              </a:rPr>
              <a:t>Paste the exact API prompt (the one in QR) into Lovable.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venir Book" panose="02000503020000020003" pitchFamily="2" charset="0"/>
              </a:rPr>
              <a:t>Build a mobile-friendly app called </a:t>
            </a:r>
            <a:r>
              <a:rPr lang="en-US" sz="1000" b="1" dirty="0">
                <a:latin typeface="Avenir Book" panose="02000503020000020003" pitchFamily="2" charset="0"/>
              </a:rPr>
              <a:t>Nigeria Civic Explorer</a:t>
            </a:r>
            <a:r>
              <a:rPr lang="en-US" sz="1000" dirty="0">
                <a:latin typeface="Avenir Book" panose="02000503020000020003" pitchFamily="2" charset="0"/>
              </a:rPr>
              <a:t> that consumes the API built.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venir Book" panose="02000503020000020003" pitchFamily="2" charset="0"/>
              </a:rPr>
              <a:t>Core Features: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latin typeface="Avenir Book" panose="02000503020000020003" pitchFamily="2" charset="0"/>
              </a:rPr>
              <a:t>Login Screen</a:t>
            </a:r>
            <a:r>
              <a:rPr lang="en-US" sz="1000" dirty="0">
                <a:latin typeface="Avenir Book" panose="02000503020000020003" pitchFamily="2" charset="0"/>
              </a:rPr>
              <a:t> → enter email/password, call /auth/login.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latin typeface="Avenir Book" panose="02000503020000020003" pitchFamily="2" charset="0"/>
              </a:rPr>
              <a:t>Search Bar</a:t>
            </a:r>
            <a:r>
              <a:rPr lang="en-US" sz="1000" dirty="0">
                <a:latin typeface="Avenir Book" panose="02000503020000020003" pitchFamily="2" charset="0"/>
              </a:rPr>
              <a:t> → calls /</a:t>
            </a:r>
            <a:r>
              <a:rPr lang="en-US" sz="1000" dirty="0" err="1">
                <a:latin typeface="Avenir Book" panose="02000503020000020003" pitchFamily="2" charset="0"/>
              </a:rPr>
              <a:t>search?q</a:t>
            </a:r>
            <a:r>
              <a:rPr lang="en-US" sz="1000" dirty="0">
                <a:latin typeface="Avenir Book" panose="02000503020000020003" pitchFamily="2" charset="0"/>
              </a:rPr>
              <a:t>= and displays grouped results (state, LGA, ward).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latin typeface="Avenir Book" panose="02000503020000020003" pitchFamily="2" charset="0"/>
              </a:rPr>
              <a:t>Browse Filters</a:t>
            </a:r>
            <a:r>
              <a:rPr lang="en-US" sz="1000" dirty="0">
                <a:latin typeface="Avenir Book" panose="02000503020000020003" pitchFamily="2" charset="0"/>
              </a:rPr>
              <a:t> → dropdowns for State → LGA → Ward.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latin typeface="Avenir Book" panose="02000503020000020003" pitchFamily="2" charset="0"/>
              </a:rPr>
              <a:t>Ward Details Page</a:t>
            </a:r>
            <a:r>
              <a:rPr lang="en-US" sz="1000" dirty="0">
                <a:latin typeface="Avenir Book" panose="02000503020000020003" pitchFamily="2" charset="0"/>
              </a:rPr>
              <a:t> → show ward name, parent LGA and State. If geometry exists, map it with Leaflet.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latin typeface="Avenir Book" panose="02000503020000020003" pitchFamily="2" charset="0"/>
              </a:rPr>
              <a:t>Error Handling</a:t>
            </a:r>
            <a:r>
              <a:rPr lang="en-US" sz="1000" dirty="0">
                <a:latin typeface="Avenir Book" panose="02000503020000020003" pitchFamily="2" charset="0"/>
              </a:rPr>
              <a:t> → show alerts for 401 (unauthorized) and 404 (not found).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venir Book" panose="02000503020000020003" pitchFamily="2" charset="0"/>
              </a:rPr>
              <a:t>Add a footer: </a:t>
            </a:r>
            <a:r>
              <a:rPr lang="en-US" sz="1000" i="1" dirty="0">
                <a:latin typeface="Avenir Book" panose="02000503020000020003" pitchFamily="2" charset="0"/>
              </a:rPr>
              <a:t>“Built during Ilorin </a:t>
            </a:r>
            <a:r>
              <a:rPr lang="en-US" sz="1000" i="1" dirty="0" err="1">
                <a:latin typeface="Avenir Book" panose="02000503020000020003" pitchFamily="2" charset="0"/>
              </a:rPr>
              <a:t>DevBox</a:t>
            </a:r>
            <a:r>
              <a:rPr lang="en-US" sz="1000" i="1" dirty="0">
                <a:latin typeface="Avenir Book" panose="02000503020000020003" pitchFamily="2" charset="0"/>
              </a:rPr>
              <a:t> Part 2 at Ilorin Innovation Hub.”</a:t>
            </a:r>
            <a:endParaRPr lang="en-US" sz="1000" dirty="0">
              <a:latin typeface="Avenir Book" panose="02000503020000020003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latin typeface="Avenir Book" panose="02000503020000020003" pitchFamily="2" charset="0"/>
              </a:rPr>
              <a:t>Learning Outcome</a:t>
            </a:r>
            <a:r>
              <a:rPr lang="en-US" sz="1000" dirty="0">
                <a:latin typeface="Avenir Book" panose="02000503020000020003" pitchFamily="2" charset="0"/>
              </a:rPr>
              <a:t>: Students experience how an API powers a </a:t>
            </a:r>
            <a:r>
              <a:rPr lang="en-US" sz="1000" b="1" dirty="0">
                <a:latin typeface="Avenir Book" panose="02000503020000020003" pitchFamily="2" charset="0"/>
              </a:rPr>
              <a:t>real-world civic app</a:t>
            </a:r>
            <a:r>
              <a:rPr lang="en-US" sz="1000" dirty="0">
                <a:latin typeface="Avenir Book" panose="02000503020000020003" pitchFamily="2" charset="0"/>
              </a:rPr>
              <a:t> for elections and governance.</a:t>
            </a:r>
          </a:p>
        </p:txBody>
      </p:sp>
      <p:sp>
        <p:nvSpPr>
          <p:cNvPr id="6" name="Google Shape;67;p14">
            <a:extLst>
              <a:ext uri="{FF2B5EF4-FFF2-40B4-BE49-F238E27FC236}">
                <a16:creationId xmlns:a16="http://schemas.microsoft.com/office/drawing/2014/main" id="{EF9F2F96-9B38-F453-A962-B75F555AB0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876" y="942372"/>
            <a:ext cx="6018620" cy="615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venir Book" panose="02000503020000020003" pitchFamily="2" charset="0"/>
              </a:rPr>
              <a:t>Capstone Part 2 – Build the Civic App</a:t>
            </a:r>
          </a:p>
        </p:txBody>
      </p:sp>
      <p:pic>
        <p:nvPicPr>
          <p:cNvPr id="3" name="Picture 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13D6536C-B928-45F8-A76D-A81A81633C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8522" y="1470661"/>
            <a:ext cx="3268245" cy="326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422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86D7827D-338D-A6C1-60FE-E15191FFD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85195DD1-5B96-9076-A3AA-B324FEC9481C}"/>
              </a:ext>
            </a:extLst>
          </p:cNvPr>
          <p:cNvSpPr/>
          <p:nvPr/>
        </p:nvSpPr>
        <p:spPr>
          <a:xfrm>
            <a:off x="7525" y="7525"/>
            <a:ext cx="9144000" cy="620700"/>
          </a:xfrm>
          <a:prstGeom prst="rect">
            <a:avLst/>
          </a:prstGeom>
          <a:solidFill>
            <a:srgbClr val="002D1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4" title="longer border.png">
            <a:extLst>
              <a:ext uri="{FF2B5EF4-FFF2-40B4-BE49-F238E27FC236}">
                <a16:creationId xmlns:a16="http://schemas.microsoft.com/office/drawing/2014/main" id="{09208262-5895-40D6-AB08-38619CCFF23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5025"/>
            <a:ext cx="9144003" cy="18305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BB9A8BDA-7EB0-89DE-AD74-0695D8876E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025" y="124350"/>
            <a:ext cx="8520600" cy="2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Ilorin &lt;/&gt; </a:t>
            </a:r>
            <a:r>
              <a:rPr lang="en-US" sz="1000" dirty="0" err="1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DevBox</a:t>
            </a:r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0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APIs &amp; Microservices (Advanced Hands-On Workshop)</a:t>
            </a:r>
            <a:endParaRPr lang="en-US" sz="1000" dirty="0">
              <a:solidFill>
                <a:srgbClr val="EFFF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8" name="Google Shape;68;p14">
            <a:extLst>
              <a:ext uri="{FF2B5EF4-FFF2-40B4-BE49-F238E27FC236}">
                <a16:creationId xmlns:a16="http://schemas.microsoft.com/office/drawing/2014/main" id="{22CDCD6F-4049-7D17-04D4-5667894596D5}"/>
              </a:ext>
            </a:extLst>
          </p:cNvPr>
          <p:cNvCxnSpPr/>
          <p:nvPr/>
        </p:nvCxnSpPr>
        <p:spPr>
          <a:xfrm>
            <a:off x="-7525" y="4706725"/>
            <a:ext cx="9149400" cy="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4" title="IIH powered by IHS 1.png">
            <a:extLst>
              <a:ext uri="{FF2B5EF4-FFF2-40B4-BE49-F238E27FC236}">
                <a16:creationId xmlns:a16="http://schemas.microsoft.com/office/drawing/2014/main" id="{866F69A3-33A4-5F7B-0519-526111E1D05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25" y="4781674"/>
            <a:ext cx="676905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7445908-956C-14ED-84E9-B7579F3E5C26}"/>
              </a:ext>
            </a:extLst>
          </p:cNvPr>
          <p:cNvSpPr txBox="1"/>
          <p:nvPr/>
        </p:nvSpPr>
        <p:spPr>
          <a:xfrm>
            <a:off x="433206" y="1630822"/>
            <a:ext cx="5115539" cy="2899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Secure Your APIs</a:t>
            </a:r>
            <a:r>
              <a:rPr lang="en-US" dirty="0">
                <a:latin typeface="Avenir Book" panose="02000503020000020003" pitchFamily="2" charset="0"/>
              </a:rPr>
              <a:t> – Protect endpoints with authentication, authorization, and rate limits.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Always Document</a:t>
            </a:r>
            <a:r>
              <a:rPr lang="en-US" dirty="0">
                <a:latin typeface="Avenir Book" panose="02000503020000020003" pitchFamily="2" charset="0"/>
              </a:rPr>
              <a:t> – Use Swagger/</a:t>
            </a:r>
            <a:r>
              <a:rPr lang="en-US" dirty="0" err="1">
                <a:latin typeface="Avenir Book" panose="02000503020000020003" pitchFamily="2" charset="0"/>
              </a:rPr>
              <a:t>OpenAPI</a:t>
            </a:r>
            <a:r>
              <a:rPr lang="en-US" dirty="0">
                <a:latin typeface="Avenir Book" panose="02000503020000020003" pitchFamily="2" charset="0"/>
              </a:rPr>
              <a:t> to keep APIs clear and consistent.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Respect Limits &amp; Ethics</a:t>
            </a:r>
            <a:r>
              <a:rPr lang="en-US" dirty="0">
                <a:latin typeface="Avenir Book" panose="02000503020000020003" pitchFamily="2" charset="0"/>
              </a:rPr>
              <a:t> – Avoid abuse, handle data responsibly, and respect user privacy.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venir Book" panose="02000503020000020003" pitchFamily="2" charset="0"/>
              </a:rPr>
              <a:t>Plan for Scalability &amp; Versioning</a:t>
            </a:r>
            <a:r>
              <a:rPr lang="en-US" dirty="0">
                <a:latin typeface="Avenir Book" panose="02000503020000020003" pitchFamily="2" charset="0"/>
              </a:rPr>
              <a:t> – Design APIs that can grow and evolve without breaking existing apps.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>
              <a:latin typeface="Avenir Book" panose="02000503020000020003" pitchFamily="2" charset="0"/>
            </a:endParaRPr>
          </a:p>
        </p:txBody>
      </p:sp>
      <p:sp>
        <p:nvSpPr>
          <p:cNvPr id="6" name="Google Shape;67;p14">
            <a:extLst>
              <a:ext uri="{FF2B5EF4-FFF2-40B4-BE49-F238E27FC236}">
                <a16:creationId xmlns:a16="http://schemas.microsoft.com/office/drawing/2014/main" id="{195EE9DB-FE8B-CF2D-D9FC-BB4A4BAAAF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876" y="942372"/>
            <a:ext cx="6018620" cy="615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venir Book" panose="02000503020000020003" pitchFamily="2" charset="0"/>
              </a:rPr>
              <a:t>Best Practices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CD363-C848-331C-5F0A-8B6BE528062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131" t="12425" r="16249" b="10813"/>
          <a:stretch/>
        </p:blipFill>
        <p:spPr>
          <a:xfrm>
            <a:off x="6110344" y="1557673"/>
            <a:ext cx="2269864" cy="269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706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04B24CB0-C7FE-A312-0BB1-30FB3B0BC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48E37161-E5F1-D121-BC57-BDA2D09B34FF}"/>
              </a:ext>
            </a:extLst>
          </p:cNvPr>
          <p:cNvSpPr/>
          <p:nvPr/>
        </p:nvSpPr>
        <p:spPr>
          <a:xfrm>
            <a:off x="7525" y="7525"/>
            <a:ext cx="9144000" cy="620700"/>
          </a:xfrm>
          <a:prstGeom prst="rect">
            <a:avLst/>
          </a:prstGeom>
          <a:solidFill>
            <a:srgbClr val="002D1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4" title="longer border.png">
            <a:extLst>
              <a:ext uri="{FF2B5EF4-FFF2-40B4-BE49-F238E27FC236}">
                <a16:creationId xmlns:a16="http://schemas.microsoft.com/office/drawing/2014/main" id="{C7AB345C-7ECD-3369-B9C0-0AD2ACAA506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5025"/>
            <a:ext cx="9144003" cy="18305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89482FAC-28A7-2FB4-74E6-0E1CB94A77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025" y="124350"/>
            <a:ext cx="8520600" cy="2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Ilorin &lt;/&gt; </a:t>
            </a:r>
            <a:r>
              <a:rPr lang="en-US" sz="1000" dirty="0" err="1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DevBox</a:t>
            </a:r>
            <a:r>
              <a:rPr lang="en-US" sz="1000" dirty="0">
                <a:solidFill>
                  <a:srgbClr val="EFFF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0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APIs &amp; Microservices (Advanced Hands-On Workshop)</a:t>
            </a:r>
            <a:endParaRPr lang="en-US" sz="1000" dirty="0">
              <a:solidFill>
                <a:srgbClr val="EFFF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8" name="Google Shape;68;p14">
            <a:extLst>
              <a:ext uri="{FF2B5EF4-FFF2-40B4-BE49-F238E27FC236}">
                <a16:creationId xmlns:a16="http://schemas.microsoft.com/office/drawing/2014/main" id="{17EA7D10-DFA7-11B4-BEC5-66D3F5A8C65E}"/>
              </a:ext>
            </a:extLst>
          </p:cNvPr>
          <p:cNvCxnSpPr/>
          <p:nvPr/>
        </p:nvCxnSpPr>
        <p:spPr>
          <a:xfrm>
            <a:off x="-7525" y="4706725"/>
            <a:ext cx="9149400" cy="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4" title="IIH powered by IHS 1.png">
            <a:extLst>
              <a:ext uri="{FF2B5EF4-FFF2-40B4-BE49-F238E27FC236}">
                <a16:creationId xmlns:a16="http://schemas.microsoft.com/office/drawing/2014/main" id="{B3692794-3DD3-D728-BB48-2CF1C21F980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25" y="4781674"/>
            <a:ext cx="676905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238ED9-7D58-9D7A-7C24-CE7B2DB2B7BD}"/>
              </a:ext>
            </a:extLst>
          </p:cNvPr>
          <p:cNvSpPr txBox="1"/>
          <p:nvPr/>
        </p:nvSpPr>
        <p:spPr>
          <a:xfrm>
            <a:off x="433206" y="1630822"/>
            <a:ext cx="5115539" cy="2972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venir Book" panose="02000503020000020003" pitchFamily="2" charset="0"/>
              </a:rPr>
              <a:t>Recap</a:t>
            </a:r>
            <a:endParaRPr lang="en-US" dirty="0">
              <a:latin typeface="Avenir Book" panose="02000503020000020003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venir Book" panose="02000503020000020003" pitchFamily="2" charset="0"/>
              </a:rPr>
              <a:t>Advanced API design, JWT &amp; OAuth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venir Book" panose="02000503020000020003" pitchFamily="2" charset="0"/>
              </a:rPr>
              <a:t>Documentation &amp; testing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venir Book" panose="02000503020000020003" pitchFamily="2" charset="0"/>
              </a:rPr>
              <a:t>Microservices in action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venir Book" panose="02000503020000020003" pitchFamily="2" charset="0"/>
              </a:rPr>
              <a:t>OpenAI integration</a:t>
            </a:r>
          </a:p>
          <a:p>
            <a:pPr>
              <a:lnSpc>
                <a:spcPct val="150000"/>
              </a:lnSpc>
            </a:pPr>
            <a:endParaRPr lang="en-US" b="1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Avenir Book" panose="02000503020000020003" pitchFamily="2" charset="0"/>
              </a:rPr>
              <a:t>Follow-up</a:t>
            </a:r>
            <a:endParaRPr lang="en-US" dirty="0">
              <a:latin typeface="Avenir Book" panose="02000503020000020003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venir Book" panose="02000503020000020003" pitchFamily="2" charset="0"/>
              </a:rPr>
              <a:t>Share sample projects &amp; code templates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venir Book" panose="02000503020000020003" pitchFamily="2" charset="0"/>
              </a:rPr>
              <a:t>Community showcase at next </a:t>
            </a:r>
            <a:r>
              <a:rPr lang="en-US" dirty="0" err="1">
                <a:latin typeface="Avenir Book" panose="02000503020000020003" pitchFamily="2" charset="0"/>
              </a:rPr>
              <a:t>DevBox</a:t>
            </a:r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6" name="Google Shape;67;p14">
            <a:extLst>
              <a:ext uri="{FF2B5EF4-FFF2-40B4-BE49-F238E27FC236}">
                <a16:creationId xmlns:a16="http://schemas.microsoft.com/office/drawing/2014/main" id="{B79A6D09-A9CB-BDD1-C673-9132E6F2E9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876" y="942372"/>
            <a:ext cx="6018620" cy="615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venir Book" panose="02000503020000020003" pitchFamily="2" charset="0"/>
              </a:rPr>
              <a:t>Wrap Up &amp; Next Steps</a:t>
            </a:r>
          </a:p>
        </p:txBody>
      </p:sp>
      <p:pic>
        <p:nvPicPr>
          <p:cNvPr id="4" name="Picture 3" descr="A group of people around a table&#10;&#10;AI-generated content may be incorrect.">
            <a:extLst>
              <a:ext uri="{FF2B5EF4-FFF2-40B4-BE49-F238E27FC236}">
                <a16:creationId xmlns:a16="http://schemas.microsoft.com/office/drawing/2014/main" id="{5DD7FFF4-E83B-BB6E-009B-46D57EB62C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1616" y="1250022"/>
            <a:ext cx="3194566" cy="319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210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14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8" title="Ihs bg.png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-4463"/>
            <a:ext cx="9143997" cy="5147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59;p13" title="IIH powered by IHS 2.png">
            <a:extLst>
              <a:ext uri="{FF2B5EF4-FFF2-40B4-BE49-F238E27FC236}">
                <a16:creationId xmlns:a16="http://schemas.microsoft.com/office/drawing/2014/main" id="{3972F830-4365-7283-7681-FD360844A9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6761" y="2727173"/>
            <a:ext cx="1870474" cy="79002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9793FE8D-C3E2-9992-EEA8-CC48C06D0F86}"/>
              </a:ext>
            </a:extLst>
          </p:cNvPr>
          <p:cNvSpPr txBox="1">
            <a:spLocks/>
          </p:cNvSpPr>
          <p:nvPr/>
        </p:nvSpPr>
        <p:spPr>
          <a:xfrm>
            <a:off x="1951063" y="1636055"/>
            <a:ext cx="5241870" cy="61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/>
            <a:r>
              <a:rPr lang="en-US" sz="3200" b="1" dirty="0">
                <a:solidFill>
                  <a:schemeClr val="bg1"/>
                </a:solidFill>
                <a:latin typeface="Avenir Book" panose="02000503020000020003" pitchFamily="2" charset="0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</TotalTime>
  <Words>1629</Words>
  <Application>Microsoft Macintosh PowerPoint</Application>
  <PresentationFormat>On-screen Show (16:9)</PresentationFormat>
  <Paragraphs>162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Avenir Book</vt:lpstr>
      <vt:lpstr>Helvetica Neue</vt:lpstr>
      <vt:lpstr>Arial</vt:lpstr>
      <vt:lpstr>Simple Light</vt:lpstr>
      <vt:lpstr>Ilorin &lt;/&gt; DevBox</vt:lpstr>
      <vt:lpstr>Ilorin &lt;/&gt; DevBox: Building APIs &amp; Microservices (Advanced Hands-On Workshop)</vt:lpstr>
      <vt:lpstr>Ilorin &lt;/&gt; DevBox: Building APIs &amp; Microservices (Advanced Hands-On Workshop)</vt:lpstr>
      <vt:lpstr>Ilorin &lt;/&gt; DevBox: Building APIs &amp; Microservices (Advanced Hands-On Workshop)</vt:lpstr>
      <vt:lpstr>Ilorin &lt;/&gt; DevBox: Building APIs &amp; Microservices (Advanced Hands-On Workshop)</vt:lpstr>
      <vt:lpstr>Ilorin &lt;/&gt; DevBox: Building APIs &amp; Microservices (Advanced Hands-On Workshop)</vt:lpstr>
      <vt:lpstr>Ilorin &lt;/&gt; DevBox: Building APIs &amp; Microservices (Advanced Hands-On Workshop)</vt:lpstr>
      <vt:lpstr>Ilorin &lt;/&gt; DevBox: Building APIs &amp; Microservices (Advanced Hands-On Workshop)</vt:lpstr>
      <vt:lpstr>Ilorin &lt;/&gt; DevBox: Building APIs &amp; Microservices (Advanced Hands-On Workshop)</vt:lpstr>
      <vt:lpstr>Ilorin &lt;/&gt; DevBox: Building APIs &amp; Microservices (Advanced Hands-On Workshop)</vt:lpstr>
      <vt:lpstr>Ilorin &lt;/&gt; DevBox: Building APIs &amp; Microservices (Advanced Hands-On Workshop)</vt:lpstr>
      <vt:lpstr>Ilorin &lt;/&gt; DevBox: Building APIs &amp; Microservices (Advanced Hands-On Workshop)</vt:lpstr>
      <vt:lpstr>Ilorin &lt;/&gt; DevBox: Building APIs &amp; Microservices (Advanced Hands-On Workshop)</vt:lpstr>
      <vt:lpstr>Ilorin &lt;/&gt; DevBox: Building APIs &amp; Microservices (Advanced Hands-On Workshop)</vt:lpstr>
      <vt:lpstr>Ilorin &lt;/&gt; DevBox: Building APIs &amp; Microservices (Advanced Hands-On Workshop)</vt:lpstr>
      <vt:lpstr>Ilorin &lt;/&gt; DevBox: Building APIs &amp; Microservices (Advanced Hands-On Workshop)</vt:lpstr>
      <vt:lpstr>Ilorin &lt;/&gt; DevBox: Building APIs &amp; Microservices (Advanced Hands-On Workshop)</vt:lpstr>
      <vt:lpstr>Ilorin &lt;/&gt; DevBox: Building APIs &amp; Microservices (Advanced Hands-On Workshop)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Temi Kolawole</cp:lastModifiedBy>
  <cp:revision>60</cp:revision>
  <cp:lastPrinted>2025-09-18T14:46:00Z</cp:lastPrinted>
  <dcterms:modified xsi:type="dcterms:W3CDTF">2025-09-30T15:08:28Z</dcterms:modified>
</cp:coreProperties>
</file>