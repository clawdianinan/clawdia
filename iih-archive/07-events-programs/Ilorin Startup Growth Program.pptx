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1" r:id="rId5"/>
    <p:sldId id="259" r:id="rId6"/>
    <p:sldId id="260" r:id="rId7"/>
    <p:sldId id="263" r:id="rId8"/>
    <p:sldId id="262" r:id="rId9"/>
    <p:sldId id="267" r:id="rId10"/>
    <p:sldId id="264" r:id="rId11"/>
    <p:sldId id="265"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E166"/>
    <a:srgbClr val="2FF9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83"/>
    <p:restoredTop sz="95701"/>
  </p:normalViewPr>
  <p:slideViewPr>
    <p:cSldViewPr snapToGrid="0" snapToObjects="1">
      <p:cViewPr varScale="1">
        <p:scale>
          <a:sx n="105" d="100"/>
          <a:sy n="105" d="100"/>
        </p:scale>
        <p:origin x="9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5/23/21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5/23/21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5/23/21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5/23/21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5/23/21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5/23/21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5/23/21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5/23/21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5/23/21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5/23/21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5/23/21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5/23/21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f6s.com/ilorinstartupgrowth"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ILORIN STARTUP GROWTH PROGRAM</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JANUARY 2021</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878904"/>
            <a:ext cx="7785985" cy="296491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Avenir Book" panose="02000503020000020003" pitchFamily="2" charset="0"/>
              </a:rPr>
              <a:t>Introduction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Structure &amp; Operations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Application &amp; Selection Process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Partners &amp; Resources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Training</a:t>
            </a:r>
          </a:p>
          <a:p>
            <a:pPr marL="285750" indent="-285750" algn="just">
              <a:lnSpc>
                <a:spcPct val="150000"/>
              </a:lnSpc>
              <a:buFont typeface="Arial" panose="020B0604020202020204" pitchFamily="34" charset="0"/>
              <a:buChar char="•"/>
            </a:pPr>
            <a:r>
              <a:rPr lang="en-US" dirty="0">
                <a:latin typeface="Avenir Book" panose="02000503020000020003" pitchFamily="2" charset="0"/>
              </a:rPr>
              <a:t>Mentors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Funding</a:t>
            </a:r>
          </a:p>
        </p:txBody>
      </p:sp>
      <p:sp>
        <p:nvSpPr>
          <p:cNvPr id="7" name="Rectangle 6">
            <a:extLst>
              <a:ext uri="{FF2B5EF4-FFF2-40B4-BE49-F238E27FC236}">
                <a16:creationId xmlns:a16="http://schemas.microsoft.com/office/drawing/2014/main" id="{F80BBCC8-94D9-8E42-938C-D6F5C1368C25}"/>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529B26-AC42-D34F-8578-B4669A7997A4}"/>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Contents</a:t>
            </a:r>
          </a:p>
        </p:txBody>
      </p:sp>
    </p:spTree>
    <p:extLst>
      <p:ext uri="{BB962C8B-B14F-4D97-AF65-F5344CB8AC3E}">
        <p14:creationId xmlns:p14="http://schemas.microsoft.com/office/powerpoint/2010/main" val="2955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892863"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Startup Growth Program is designed to quickly scale technology startups within Kwara State to a point where they can continue to grow on their own.</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program has two cohorts a year and each cohort will accept ten startups making twenty startups a year.</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First Cohort 			May 2021 – July 2021</a:t>
            </a:r>
          </a:p>
          <a:p>
            <a:pPr algn="just">
              <a:lnSpc>
                <a:spcPct val="150000"/>
              </a:lnSpc>
            </a:pPr>
            <a:r>
              <a:rPr lang="en-US" sz="1400" b="1" dirty="0">
                <a:latin typeface="Avenir Book" panose="02000503020000020003" pitchFamily="2" charset="0"/>
              </a:rPr>
              <a:t>Second Cohort 			September 2021 </a:t>
            </a:r>
            <a:r>
              <a:rPr lang="en-US" sz="1400" b="1">
                <a:latin typeface="Avenir Book" panose="02000503020000020003" pitchFamily="2" charset="0"/>
              </a:rPr>
              <a:t>– December </a:t>
            </a:r>
            <a:r>
              <a:rPr lang="en-US" sz="1400" b="1" dirty="0">
                <a:latin typeface="Avenir Book" panose="02000503020000020003" pitchFamily="2" charset="0"/>
              </a:rPr>
              <a:t>2021</a:t>
            </a:r>
          </a:p>
          <a:p>
            <a:pPr algn="just">
              <a:lnSpc>
                <a:spcPct val="150000"/>
              </a:lnSpc>
            </a:pPr>
            <a:endParaRPr lang="en-US" sz="1400" b="1" dirty="0">
              <a:latin typeface="Avenir Book" panose="02000503020000020003" pitchFamily="2" charset="0"/>
            </a:endParaRPr>
          </a:p>
          <a:p>
            <a:pPr algn="just">
              <a:lnSpc>
                <a:spcPct val="150000"/>
              </a:lnSpc>
            </a:pPr>
            <a:r>
              <a:rPr lang="en-US" sz="1400" dirty="0">
                <a:latin typeface="Avenir Book" panose="02000503020000020003" pitchFamily="2" charset="0"/>
              </a:rPr>
              <a:t>The startups will go through an extensive training program, regular virtual meetings with mentors, gain access to professional business services like accounting, HR, legal and seed funding. In return, the Ilorin Innovation Hub will take 8% ownership of the company.</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areas of focus are Fintech, Agriculture, Education, Transportation, Government, Business process, E-Commerce &amp; Logistics, Artificial Intelligence, Energy and Blockchain.</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Introduction</a:t>
            </a:r>
          </a:p>
        </p:txBody>
      </p:sp>
    </p:spTree>
    <p:extLst>
      <p:ext uri="{BB962C8B-B14F-4D97-AF65-F5344CB8AC3E}">
        <p14:creationId xmlns:p14="http://schemas.microsoft.com/office/powerpoint/2010/main" val="369262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426552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program will have the following parties involved:</a:t>
            </a:r>
          </a:p>
          <a:p>
            <a:pPr algn="just">
              <a:lnSpc>
                <a:spcPct val="150000"/>
              </a:lnSpc>
            </a:pPr>
            <a:endParaRPr lang="en-US" sz="1400" dirty="0">
              <a:latin typeface="Avenir Book" panose="02000503020000020003" pitchFamily="2" charset="0"/>
            </a:endParaRPr>
          </a:p>
          <a:p>
            <a:pPr marL="342900" indent="-342900" algn="just">
              <a:lnSpc>
                <a:spcPct val="150000"/>
              </a:lnSpc>
              <a:buFont typeface="+mj-lt"/>
              <a:buAutoNum type="arabicPeriod"/>
            </a:pPr>
            <a:r>
              <a:rPr lang="en-US" sz="1400" b="1" dirty="0">
                <a:latin typeface="Avenir Book" panose="02000503020000020003" pitchFamily="2" charset="0"/>
              </a:rPr>
              <a:t>Startup Teams </a:t>
            </a:r>
            <a:r>
              <a:rPr lang="en-US" sz="1400" dirty="0">
                <a:latin typeface="Avenir Book" panose="02000503020000020003" pitchFamily="2" charset="0"/>
              </a:rPr>
              <a:t>– they are the main reason for the program, and will learn how to grow and scale their business while improving their product.</a:t>
            </a:r>
          </a:p>
          <a:p>
            <a:pPr marL="342900" indent="-342900" algn="just">
              <a:lnSpc>
                <a:spcPct val="150000"/>
              </a:lnSpc>
              <a:buFont typeface="+mj-lt"/>
              <a:buAutoNum type="arabicPeriod"/>
            </a:pPr>
            <a:r>
              <a:rPr lang="en-US" sz="1400" b="1" dirty="0">
                <a:latin typeface="Avenir Book" panose="02000503020000020003" pitchFamily="2" charset="0"/>
              </a:rPr>
              <a:t>Program Manager</a:t>
            </a:r>
            <a:r>
              <a:rPr lang="en-US" sz="1400" dirty="0">
                <a:latin typeface="Avenir Book" panose="02000503020000020003" pitchFamily="2" charset="0"/>
              </a:rPr>
              <a:t> (Ilorin Innovation Hub)</a:t>
            </a:r>
          </a:p>
          <a:p>
            <a:pPr marL="342900" indent="-342900" algn="just">
              <a:lnSpc>
                <a:spcPct val="150000"/>
              </a:lnSpc>
              <a:buFont typeface="+mj-lt"/>
              <a:buAutoNum type="arabicPeriod"/>
            </a:pPr>
            <a:r>
              <a:rPr lang="en-US" sz="1400" b="1" dirty="0">
                <a:latin typeface="Avenir Book" panose="02000503020000020003" pitchFamily="2" charset="0"/>
              </a:rPr>
              <a:t>Advisors</a:t>
            </a:r>
            <a:r>
              <a:rPr lang="en-US" sz="1400" dirty="0">
                <a:latin typeface="Avenir Book" panose="02000503020000020003" pitchFamily="2" charset="0"/>
              </a:rPr>
              <a:t> – these are the people to conduct the selection process and judge the Demo Day pitches along with the Investors.</a:t>
            </a:r>
          </a:p>
          <a:p>
            <a:pPr marL="342900" indent="-342900" algn="just">
              <a:lnSpc>
                <a:spcPct val="150000"/>
              </a:lnSpc>
              <a:buFont typeface="+mj-lt"/>
              <a:buAutoNum type="arabicPeriod"/>
            </a:pPr>
            <a:r>
              <a:rPr lang="en-US" sz="1400" b="1" dirty="0">
                <a:latin typeface="Avenir Book" panose="02000503020000020003" pitchFamily="2" charset="0"/>
              </a:rPr>
              <a:t>Mentors</a:t>
            </a:r>
            <a:r>
              <a:rPr lang="en-US" sz="1400" dirty="0">
                <a:latin typeface="Avenir Book" panose="02000503020000020003" pitchFamily="2" charset="0"/>
              </a:rPr>
              <a:t> (one for each industry the startups enrolled are in)</a:t>
            </a:r>
          </a:p>
          <a:p>
            <a:pPr marL="342900" indent="-342900" algn="just">
              <a:lnSpc>
                <a:spcPct val="150000"/>
              </a:lnSpc>
              <a:buFont typeface="+mj-lt"/>
              <a:buAutoNum type="arabicPeriod"/>
            </a:pPr>
            <a:r>
              <a:rPr lang="en-US" sz="1400" b="1" dirty="0">
                <a:latin typeface="Avenir Book" panose="02000503020000020003" pitchFamily="2" charset="0"/>
              </a:rPr>
              <a:t>Partners</a:t>
            </a:r>
            <a:r>
              <a:rPr lang="en-US" sz="1400" dirty="0">
                <a:latin typeface="Avenir Book" panose="02000503020000020003" pitchFamily="2" charset="0"/>
              </a:rPr>
              <a:t> – these are parties that will offer free resources and benefits to the startups e.g. Google, Facebook, Twilio, </a:t>
            </a:r>
            <a:r>
              <a:rPr lang="en-US" sz="1400" dirty="0" err="1">
                <a:latin typeface="Avenir Book" panose="02000503020000020003" pitchFamily="2" charset="0"/>
              </a:rPr>
              <a:t>Sendgrid</a:t>
            </a:r>
            <a:r>
              <a:rPr lang="en-US" sz="1400" dirty="0">
                <a:latin typeface="Avenir Book" panose="02000503020000020003" pitchFamily="2" charset="0"/>
              </a:rPr>
              <a:t>, Mailchimp etc.</a:t>
            </a:r>
          </a:p>
          <a:p>
            <a:pPr marL="342900" indent="-342900" algn="just">
              <a:lnSpc>
                <a:spcPct val="150000"/>
              </a:lnSpc>
              <a:buFont typeface="+mj-lt"/>
              <a:buAutoNum type="arabicPeriod"/>
            </a:pPr>
            <a:r>
              <a:rPr lang="en-US" sz="1400" b="1" dirty="0">
                <a:latin typeface="Avenir Book" panose="02000503020000020003" pitchFamily="2" charset="0"/>
              </a:rPr>
              <a:t>Investors</a:t>
            </a:r>
            <a:r>
              <a:rPr lang="en-US" sz="1400" dirty="0">
                <a:latin typeface="Avenir Book" panose="02000503020000020003" pitchFamily="2" charset="0"/>
              </a:rPr>
              <a:t> – These are the investors that will be present at the end of the program for the Demo Day pitches. They will be invited to join the Ilorin Angel Network.</a:t>
            </a:r>
          </a:p>
          <a:p>
            <a:pPr marL="342900" indent="-342900" algn="just">
              <a:lnSpc>
                <a:spcPct val="150000"/>
              </a:lnSpc>
              <a:buFont typeface="+mj-lt"/>
              <a:buAutoNum type="arabicPeriod"/>
            </a:pPr>
            <a:endParaRPr lang="en-US" sz="1400" dirty="0">
              <a:latin typeface="Avenir Book" panose="02000503020000020003" pitchFamily="2" charset="0"/>
            </a:endParaRP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592768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405166"/>
            <a:ext cx="7892863" cy="2972865"/>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application form for the Ilorin Startup Accelerator Program will be available on F6S at </a:t>
            </a:r>
            <a:r>
              <a:rPr lang="en-US" sz="1400" dirty="0">
                <a:latin typeface="Avenir Book" panose="02000503020000020003" pitchFamily="2" charset="0"/>
                <a:hlinkClick r:id="rId2"/>
              </a:rPr>
              <a:t>https://www.f6s.com/ilorinstartupgrowth</a:t>
            </a:r>
            <a:r>
              <a:rPr lang="en-US" sz="1400" dirty="0">
                <a:latin typeface="Avenir Book" panose="02000503020000020003" pitchFamily="2" charset="0"/>
              </a:rPr>
              <a:t> for startups to complete and submit. </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F6S platform has several robust features to handle the entire application and selection process. All of our team members, mentors and startups will be on the platform. F6S also creates exposure for our selected startups to more investors and accelerator programs from across the globe.</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stages in the process for each cohort are:</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Application &amp; Selection Process</a:t>
            </a:r>
          </a:p>
        </p:txBody>
      </p:sp>
      <p:sp>
        <p:nvSpPr>
          <p:cNvPr id="2" name="Rectangle 1">
            <a:extLst>
              <a:ext uri="{FF2B5EF4-FFF2-40B4-BE49-F238E27FC236}">
                <a16:creationId xmlns:a16="http://schemas.microsoft.com/office/drawing/2014/main" id="{F3798B06-45D2-4844-B4A1-C2C134BF4357}"/>
              </a:ext>
            </a:extLst>
          </p:cNvPr>
          <p:cNvSpPr/>
          <p:nvPr/>
        </p:nvSpPr>
        <p:spPr>
          <a:xfrm>
            <a:off x="752374" y="4527881"/>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Receive Applications</a:t>
            </a:r>
          </a:p>
        </p:txBody>
      </p:sp>
      <p:sp>
        <p:nvSpPr>
          <p:cNvPr id="10" name="Rectangle 9">
            <a:extLst>
              <a:ext uri="{FF2B5EF4-FFF2-40B4-BE49-F238E27FC236}">
                <a16:creationId xmlns:a16="http://schemas.microsoft.com/office/drawing/2014/main" id="{72C43A52-32F9-614A-9CF0-90E9F8436527}"/>
              </a:ext>
            </a:extLst>
          </p:cNvPr>
          <p:cNvSpPr/>
          <p:nvPr/>
        </p:nvSpPr>
        <p:spPr>
          <a:xfrm>
            <a:off x="2341552" y="4527881"/>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Shortlist Applications</a:t>
            </a:r>
          </a:p>
        </p:txBody>
      </p:sp>
      <p:sp>
        <p:nvSpPr>
          <p:cNvPr id="11" name="Rectangle 10">
            <a:extLst>
              <a:ext uri="{FF2B5EF4-FFF2-40B4-BE49-F238E27FC236}">
                <a16:creationId xmlns:a16="http://schemas.microsoft.com/office/drawing/2014/main" id="{E808DFAF-8B98-C647-BB1F-24C94D7149EC}"/>
              </a:ext>
            </a:extLst>
          </p:cNvPr>
          <p:cNvSpPr/>
          <p:nvPr/>
        </p:nvSpPr>
        <p:spPr>
          <a:xfrm>
            <a:off x="3930730" y="4531263"/>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Select 20 Finalists</a:t>
            </a:r>
          </a:p>
        </p:txBody>
      </p:sp>
      <p:sp>
        <p:nvSpPr>
          <p:cNvPr id="12" name="Rectangle 11">
            <a:extLst>
              <a:ext uri="{FF2B5EF4-FFF2-40B4-BE49-F238E27FC236}">
                <a16:creationId xmlns:a16="http://schemas.microsoft.com/office/drawing/2014/main" id="{42CCC9CD-7F3A-AA44-9EF4-8629E6CA7A53}"/>
              </a:ext>
            </a:extLst>
          </p:cNvPr>
          <p:cNvSpPr/>
          <p:nvPr/>
        </p:nvSpPr>
        <p:spPr>
          <a:xfrm>
            <a:off x="5519908" y="4543139"/>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Select 10 Winners</a:t>
            </a:r>
          </a:p>
        </p:txBody>
      </p:sp>
      <p:sp>
        <p:nvSpPr>
          <p:cNvPr id="13" name="Rectangle 12">
            <a:extLst>
              <a:ext uri="{FF2B5EF4-FFF2-40B4-BE49-F238E27FC236}">
                <a16:creationId xmlns:a16="http://schemas.microsoft.com/office/drawing/2014/main" id="{C6B936E9-3076-BE4A-B234-584DD3F097E4}"/>
              </a:ext>
            </a:extLst>
          </p:cNvPr>
          <p:cNvSpPr/>
          <p:nvPr/>
        </p:nvSpPr>
        <p:spPr>
          <a:xfrm>
            <a:off x="7109086" y="4543139"/>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Commence Program</a:t>
            </a:r>
          </a:p>
        </p:txBody>
      </p:sp>
      <p:cxnSp>
        <p:nvCxnSpPr>
          <p:cNvPr id="4" name="Straight Arrow Connector 3">
            <a:extLst>
              <a:ext uri="{FF2B5EF4-FFF2-40B4-BE49-F238E27FC236}">
                <a16:creationId xmlns:a16="http://schemas.microsoft.com/office/drawing/2014/main" id="{06D79CD3-8BE9-DA4C-9E70-C58C188AEEF4}"/>
              </a:ext>
            </a:extLst>
          </p:cNvPr>
          <p:cNvCxnSpPr>
            <a:stCxn id="2" idx="3"/>
            <a:endCxn id="10" idx="1"/>
          </p:cNvCxnSpPr>
          <p:nvPr/>
        </p:nvCxnSpPr>
        <p:spPr>
          <a:xfrm>
            <a:off x="1963658" y="4931642"/>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B4B4E20-BF87-AC49-9B72-7594AAA2999B}"/>
              </a:ext>
            </a:extLst>
          </p:cNvPr>
          <p:cNvCxnSpPr/>
          <p:nvPr/>
        </p:nvCxnSpPr>
        <p:spPr>
          <a:xfrm>
            <a:off x="3552836" y="4931642"/>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E31C59B-D4A7-E24F-89E6-4974961FE486}"/>
              </a:ext>
            </a:extLst>
          </p:cNvPr>
          <p:cNvCxnSpPr/>
          <p:nvPr/>
        </p:nvCxnSpPr>
        <p:spPr>
          <a:xfrm>
            <a:off x="5142014" y="4931642"/>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069EB5-8732-2347-B764-BC5D63DF499A}"/>
              </a:ext>
            </a:extLst>
          </p:cNvPr>
          <p:cNvCxnSpPr/>
          <p:nvPr/>
        </p:nvCxnSpPr>
        <p:spPr>
          <a:xfrm>
            <a:off x="6731192" y="4921170"/>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6A93885-4095-B645-A1D6-12B5E8900883}"/>
              </a:ext>
            </a:extLst>
          </p:cNvPr>
          <p:cNvSpPr/>
          <p:nvPr/>
        </p:nvSpPr>
        <p:spPr>
          <a:xfrm>
            <a:off x="7109086" y="5875668"/>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4 Months of Training &amp; Mentorship</a:t>
            </a:r>
          </a:p>
        </p:txBody>
      </p:sp>
      <p:cxnSp>
        <p:nvCxnSpPr>
          <p:cNvPr id="22" name="Straight Arrow Connector 21">
            <a:extLst>
              <a:ext uri="{FF2B5EF4-FFF2-40B4-BE49-F238E27FC236}">
                <a16:creationId xmlns:a16="http://schemas.microsoft.com/office/drawing/2014/main" id="{1ECCB307-E149-C146-A63F-34E3E3904A4F}"/>
              </a:ext>
            </a:extLst>
          </p:cNvPr>
          <p:cNvCxnSpPr>
            <a:stCxn id="13" idx="2"/>
            <a:endCxn id="20" idx="0"/>
          </p:cNvCxnSpPr>
          <p:nvPr/>
        </p:nvCxnSpPr>
        <p:spPr>
          <a:xfrm>
            <a:off x="7714728" y="5350661"/>
            <a:ext cx="0" cy="5250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26ED593-FA92-224F-967E-7F9A518FD7C0}"/>
              </a:ext>
            </a:extLst>
          </p:cNvPr>
          <p:cNvSpPr/>
          <p:nvPr/>
        </p:nvSpPr>
        <p:spPr>
          <a:xfrm>
            <a:off x="5533901" y="5893800"/>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Demo Day</a:t>
            </a:r>
          </a:p>
        </p:txBody>
      </p:sp>
      <p:cxnSp>
        <p:nvCxnSpPr>
          <p:cNvPr id="24" name="Straight Arrow Connector 23">
            <a:extLst>
              <a:ext uri="{FF2B5EF4-FFF2-40B4-BE49-F238E27FC236}">
                <a16:creationId xmlns:a16="http://schemas.microsoft.com/office/drawing/2014/main" id="{09D1F486-3D4C-F94A-B405-D86D68FA6690}"/>
              </a:ext>
            </a:extLst>
          </p:cNvPr>
          <p:cNvCxnSpPr>
            <a:cxnSpLocks/>
          </p:cNvCxnSpPr>
          <p:nvPr/>
        </p:nvCxnSpPr>
        <p:spPr>
          <a:xfrm flipH="1">
            <a:off x="6731192" y="6270360"/>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591D923-465A-2A48-9E8D-B3BB3947DA9D}"/>
              </a:ext>
            </a:extLst>
          </p:cNvPr>
          <p:cNvSpPr/>
          <p:nvPr/>
        </p:nvSpPr>
        <p:spPr>
          <a:xfrm>
            <a:off x="3930730" y="5875668"/>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Graduation</a:t>
            </a:r>
          </a:p>
        </p:txBody>
      </p:sp>
      <p:cxnSp>
        <p:nvCxnSpPr>
          <p:cNvPr id="29" name="Straight Arrow Connector 28">
            <a:extLst>
              <a:ext uri="{FF2B5EF4-FFF2-40B4-BE49-F238E27FC236}">
                <a16:creationId xmlns:a16="http://schemas.microsoft.com/office/drawing/2014/main" id="{107C3C9B-ECAE-8943-BE60-20166AC361A9}"/>
              </a:ext>
            </a:extLst>
          </p:cNvPr>
          <p:cNvCxnSpPr>
            <a:cxnSpLocks/>
          </p:cNvCxnSpPr>
          <p:nvPr/>
        </p:nvCxnSpPr>
        <p:spPr>
          <a:xfrm flipH="1">
            <a:off x="5128021" y="6252228"/>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F3DDB98-3BAF-F145-8E02-6B0E2A6DB84D}"/>
              </a:ext>
            </a:extLst>
          </p:cNvPr>
          <p:cNvSpPr/>
          <p:nvPr/>
        </p:nvSpPr>
        <p:spPr>
          <a:xfrm>
            <a:off x="2327559" y="5875668"/>
            <a:ext cx="1211284" cy="8075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venir Book" panose="02000503020000020003" pitchFamily="2" charset="0"/>
              </a:rPr>
              <a:t>Further Funding</a:t>
            </a:r>
          </a:p>
        </p:txBody>
      </p:sp>
      <p:cxnSp>
        <p:nvCxnSpPr>
          <p:cNvPr id="31" name="Straight Arrow Connector 30">
            <a:extLst>
              <a:ext uri="{FF2B5EF4-FFF2-40B4-BE49-F238E27FC236}">
                <a16:creationId xmlns:a16="http://schemas.microsoft.com/office/drawing/2014/main" id="{A9C2F6FE-CED6-154C-9F36-3DD045AB11B2}"/>
              </a:ext>
            </a:extLst>
          </p:cNvPr>
          <p:cNvCxnSpPr>
            <a:cxnSpLocks/>
          </p:cNvCxnSpPr>
          <p:nvPr/>
        </p:nvCxnSpPr>
        <p:spPr>
          <a:xfrm flipH="1">
            <a:off x="3524850" y="6252228"/>
            <a:ext cx="3778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2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523502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criteria for selection of startups are:</a:t>
            </a:r>
          </a:p>
          <a:p>
            <a:pPr algn="just">
              <a:lnSpc>
                <a:spcPct val="150000"/>
              </a:lnSpc>
            </a:pPr>
            <a:endParaRPr lang="en-US" sz="1400" dirty="0">
              <a:latin typeface="Avenir Book" panose="02000503020000020003" pitchFamily="2" charset="0"/>
            </a:endParaRPr>
          </a:p>
          <a:p>
            <a:pPr marL="342900" indent="-342900" algn="just">
              <a:lnSpc>
                <a:spcPct val="150000"/>
              </a:lnSpc>
              <a:buFont typeface="+mj-lt"/>
              <a:buAutoNum type="arabicPeriod"/>
            </a:pPr>
            <a:r>
              <a:rPr lang="en-US" sz="1400" b="1" dirty="0">
                <a:latin typeface="Avenir Book" panose="02000503020000020003" pitchFamily="2" charset="0"/>
              </a:rPr>
              <a:t>Idea &amp; Technology	 (10 marks)</a:t>
            </a:r>
            <a:r>
              <a:rPr lang="en-US" sz="1400" dirty="0">
                <a:latin typeface="Avenir Book" panose="02000503020000020003" pitchFamily="2" charset="0"/>
              </a:rPr>
              <a:t> - Innovativeness of an idea, unique value proposition, unfair advantage from competition and intellectual property. </a:t>
            </a:r>
          </a:p>
          <a:p>
            <a:pPr marL="342900" indent="-342900" algn="just">
              <a:lnSpc>
                <a:spcPct val="150000"/>
              </a:lnSpc>
              <a:buFont typeface="+mj-lt"/>
              <a:buAutoNum type="arabicPeriod"/>
            </a:pPr>
            <a:r>
              <a:rPr lang="en-US" sz="1400" b="1" dirty="0">
                <a:latin typeface="Avenir Book" panose="02000503020000020003" pitchFamily="2" charset="0"/>
              </a:rPr>
              <a:t>Quality of Team (25 marks)</a:t>
            </a:r>
            <a:r>
              <a:rPr lang="en-US" sz="1400" dirty="0">
                <a:latin typeface="Avenir Book" panose="02000503020000020003" pitchFamily="2" charset="0"/>
              </a:rPr>
              <a:t> - Number of founders, their competences and experience and how long they have been working together. </a:t>
            </a:r>
          </a:p>
          <a:p>
            <a:pPr marL="342900" indent="-342900" algn="just">
              <a:lnSpc>
                <a:spcPct val="150000"/>
              </a:lnSpc>
              <a:buFont typeface="+mj-lt"/>
              <a:buAutoNum type="arabicPeriod"/>
            </a:pPr>
            <a:r>
              <a:rPr lang="en-US" sz="1400" b="1" dirty="0">
                <a:latin typeface="Avenir Book" panose="02000503020000020003" pitchFamily="2" charset="0"/>
              </a:rPr>
              <a:t>Market Potential (20 marks)</a:t>
            </a:r>
            <a:r>
              <a:rPr lang="en-US" sz="1400" dirty="0">
                <a:latin typeface="Avenir Book" panose="02000503020000020003" pitchFamily="2" charset="0"/>
              </a:rPr>
              <a:t> - Market size and market growth, is the company targeting local or global markets, what are the entrance obstacles and similar. </a:t>
            </a:r>
          </a:p>
          <a:p>
            <a:pPr marL="342900" indent="-342900" algn="just">
              <a:lnSpc>
                <a:spcPct val="150000"/>
              </a:lnSpc>
              <a:buFont typeface="+mj-lt"/>
              <a:buAutoNum type="arabicPeriod"/>
            </a:pPr>
            <a:r>
              <a:rPr lang="en-US" sz="1400" b="1" dirty="0">
                <a:latin typeface="Avenir Book" panose="02000503020000020003" pitchFamily="2" charset="0"/>
              </a:rPr>
              <a:t>Minimum Viable Product &amp; Traction (20 marks)</a:t>
            </a:r>
            <a:r>
              <a:rPr lang="en-US" sz="1400" dirty="0">
                <a:latin typeface="Avenir Book" panose="02000503020000020003" pitchFamily="2" charset="0"/>
              </a:rPr>
              <a:t> - Does the company already have a minimum viable product or a prototype, early evangelists (first customers) and other proofs of idea validation?</a:t>
            </a:r>
          </a:p>
          <a:p>
            <a:pPr marL="342900" indent="-342900" algn="just">
              <a:lnSpc>
                <a:spcPct val="150000"/>
              </a:lnSpc>
              <a:buFont typeface="+mj-lt"/>
              <a:buAutoNum type="arabicPeriod"/>
            </a:pPr>
            <a:r>
              <a:rPr lang="en-US" sz="1400" b="1" dirty="0">
                <a:latin typeface="Avenir Book" panose="02000503020000020003" pitchFamily="2" charset="0"/>
              </a:rPr>
              <a:t>Business Model (15 marks) </a:t>
            </a:r>
            <a:r>
              <a:rPr lang="en-US" sz="1400" dirty="0">
                <a:latin typeface="Avenir Book" panose="02000503020000020003" pitchFamily="2" charset="0"/>
              </a:rPr>
              <a:t>- Does a company have a viable and profitable business model, including a defined supply chain, distribution channels, marketing and customer relationship strategy, partners, resources, activities, revenue streams and cost structure? </a:t>
            </a:r>
          </a:p>
          <a:p>
            <a:pPr marL="342900" indent="-342900" algn="just">
              <a:lnSpc>
                <a:spcPct val="150000"/>
              </a:lnSpc>
              <a:buFont typeface="+mj-lt"/>
              <a:buAutoNum type="arabicPeriod"/>
            </a:pPr>
            <a:r>
              <a:rPr lang="en-US" sz="1400" b="1" dirty="0">
                <a:latin typeface="Avenir Book" panose="02000503020000020003" pitchFamily="2" charset="0"/>
              </a:rPr>
              <a:t>Quality of Pitch (10 marks)</a:t>
            </a:r>
            <a:r>
              <a:rPr lang="en-US" sz="1400" dirty="0">
                <a:latin typeface="Avenir Book" panose="02000503020000020003" pitchFamily="2" charset="0"/>
              </a:rPr>
              <a:t> - How well did a startup team prepare the pitch, were they confident, professional and made a good impression that they can execute their plan? </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Application &amp; Selection Process</a:t>
            </a:r>
          </a:p>
        </p:txBody>
      </p:sp>
    </p:spTree>
    <p:extLst>
      <p:ext uri="{BB962C8B-B14F-4D97-AF65-F5344CB8AC3E}">
        <p14:creationId xmlns:p14="http://schemas.microsoft.com/office/powerpoint/2010/main" val="1477902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426552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purpose of the initial application screening process is to eliminate the ones that don’t fit the basic criteria. Examples of basic criteria that need to be met, otherwise applications are eliminated immediately: </a:t>
            </a:r>
          </a:p>
          <a:p>
            <a:pPr algn="just">
              <a:lnSpc>
                <a:spcPct val="150000"/>
              </a:lnSpc>
            </a:pPr>
            <a:endParaRPr lang="en-US" sz="1400" dirty="0">
              <a:latin typeface="Avenir Book" panose="02000503020000020003" pitchFamily="2" charset="0"/>
            </a:endParaRPr>
          </a:p>
          <a:p>
            <a:pPr marL="285750" indent="-285750" algn="just">
              <a:lnSpc>
                <a:spcPct val="150000"/>
              </a:lnSpc>
              <a:buFont typeface="Arial" panose="020B0604020202020204" pitchFamily="34" charset="0"/>
              <a:buChar char="•"/>
            </a:pPr>
            <a:r>
              <a:rPr lang="en-US" sz="1400" dirty="0">
                <a:latin typeface="Avenir Book" panose="02000503020000020003" pitchFamily="2" charset="0"/>
              </a:rPr>
              <a:t>The age or stage of the startup (less than 3 years, for example) </a:t>
            </a:r>
          </a:p>
          <a:p>
            <a:pPr marL="285750" indent="-285750" algn="just">
              <a:lnSpc>
                <a:spcPct val="150000"/>
              </a:lnSpc>
              <a:buFont typeface="Arial" panose="020B0604020202020204" pitchFamily="34" charset="0"/>
              <a:buChar char="•"/>
            </a:pPr>
            <a:r>
              <a:rPr lang="en-US" sz="1400" dirty="0">
                <a:latin typeface="Avenir Book" panose="02000503020000020003" pitchFamily="2" charset="0"/>
              </a:rPr>
              <a:t>Industries that are not targeted by the accelerator (traditional industries, for example) </a:t>
            </a:r>
          </a:p>
          <a:p>
            <a:pPr marL="285750" indent="-285750" algn="just">
              <a:lnSpc>
                <a:spcPct val="150000"/>
              </a:lnSpc>
              <a:buFont typeface="Arial" panose="020B0604020202020204" pitchFamily="34" charset="0"/>
              <a:buChar char="•"/>
            </a:pPr>
            <a:r>
              <a:rPr lang="en-US" sz="1400" dirty="0">
                <a:latin typeface="Avenir Book" panose="02000503020000020003" pitchFamily="2" charset="0"/>
              </a:rPr>
              <a:t>Commitment of founders (not fully committed or not prepared to move to another location) </a:t>
            </a:r>
          </a:p>
          <a:p>
            <a:pPr marL="285750" indent="-285750" algn="just">
              <a:lnSpc>
                <a:spcPct val="150000"/>
              </a:lnSpc>
              <a:buFont typeface="Arial" panose="020B0604020202020204" pitchFamily="34" charset="0"/>
              <a:buChar char="•"/>
            </a:pPr>
            <a:r>
              <a:rPr lang="en-US" sz="1400" dirty="0">
                <a:latin typeface="Avenir Book" panose="02000503020000020003" pitchFamily="2" charset="0"/>
              </a:rPr>
              <a:t>Private investors (we will prefer our startups not yet have any investors) </a:t>
            </a:r>
          </a:p>
          <a:p>
            <a:pPr marL="285750" indent="-285750" algn="just">
              <a:lnSpc>
                <a:spcPct val="150000"/>
              </a:lnSpc>
              <a:buFont typeface="Arial" panose="020B0604020202020204" pitchFamily="34" charset="0"/>
              <a:buChar char="•"/>
            </a:pPr>
            <a:r>
              <a:rPr lang="en-US" sz="1400" dirty="0">
                <a:latin typeface="Avenir Book" panose="02000503020000020003" pitchFamily="2" charset="0"/>
              </a:rPr>
              <a:t>Additional criteria when public funds are provided (funding schemes maximums, at least one person formally employed in the company, planned use of proceeds etc.) </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applications that don’t fit the basic criteria can be excluded immediately, without judges even seeing them. A formal rejection with an explanation will be provided to the teams. </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Application &amp; Selection Process</a:t>
            </a:r>
          </a:p>
        </p:txBody>
      </p:sp>
    </p:spTree>
    <p:extLst>
      <p:ext uri="{BB962C8B-B14F-4D97-AF65-F5344CB8AC3E}">
        <p14:creationId xmlns:p14="http://schemas.microsoft.com/office/powerpoint/2010/main" val="3299793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131211"/>
            <a:ext cx="8082869" cy="1680204"/>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program is partnering with the following organizations and sponsors to expand the reach of the applications received and also to create more awareness/opportunity for the member startups.</a:t>
            </a:r>
          </a:p>
          <a:p>
            <a:pPr algn="just">
              <a:lnSpc>
                <a:spcPct val="150000"/>
              </a:lnSpc>
            </a:pPr>
            <a:r>
              <a:rPr lang="en-US" sz="1400" dirty="0">
                <a:latin typeface="Avenir Book" panose="02000503020000020003" pitchFamily="2" charset="0"/>
              </a:rPr>
              <a:t>We are in the process of confirming these partnerships.</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Some will also assist with the training and resources required by the startups.</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Partners &amp; Resources</a:t>
            </a:r>
          </a:p>
        </p:txBody>
      </p:sp>
      <p:pic>
        <p:nvPicPr>
          <p:cNvPr id="36" name="Picture 35">
            <a:extLst>
              <a:ext uri="{FF2B5EF4-FFF2-40B4-BE49-F238E27FC236}">
                <a16:creationId xmlns:a16="http://schemas.microsoft.com/office/drawing/2014/main" id="{9D08A9DC-3850-F849-B650-71F83C008AA2}"/>
              </a:ext>
            </a:extLst>
          </p:cNvPr>
          <p:cNvPicPr>
            <a:picLocks noChangeAspect="1"/>
          </p:cNvPicPr>
          <p:nvPr/>
        </p:nvPicPr>
        <p:blipFill>
          <a:blip r:embed="rId2"/>
          <a:stretch>
            <a:fillRect/>
          </a:stretch>
        </p:blipFill>
        <p:spPr>
          <a:xfrm>
            <a:off x="671483" y="4055014"/>
            <a:ext cx="1905000" cy="1101090"/>
          </a:xfrm>
          <a:prstGeom prst="rect">
            <a:avLst/>
          </a:prstGeom>
        </p:spPr>
      </p:pic>
      <p:pic>
        <p:nvPicPr>
          <p:cNvPr id="37" name="Picture 36">
            <a:extLst>
              <a:ext uri="{FF2B5EF4-FFF2-40B4-BE49-F238E27FC236}">
                <a16:creationId xmlns:a16="http://schemas.microsoft.com/office/drawing/2014/main" id="{C3C4ED95-9C29-2847-A2B0-3E329783761E}"/>
              </a:ext>
            </a:extLst>
          </p:cNvPr>
          <p:cNvPicPr>
            <a:picLocks noChangeAspect="1"/>
          </p:cNvPicPr>
          <p:nvPr/>
        </p:nvPicPr>
        <p:blipFill>
          <a:blip r:embed="rId3"/>
          <a:stretch>
            <a:fillRect/>
          </a:stretch>
        </p:blipFill>
        <p:spPr>
          <a:xfrm>
            <a:off x="3528001" y="4254210"/>
            <a:ext cx="2184030" cy="684329"/>
          </a:xfrm>
          <a:prstGeom prst="rect">
            <a:avLst/>
          </a:prstGeom>
        </p:spPr>
      </p:pic>
      <p:pic>
        <p:nvPicPr>
          <p:cNvPr id="38" name="Picture 37">
            <a:extLst>
              <a:ext uri="{FF2B5EF4-FFF2-40B4-BE49-F238E27FC236}">
                <a16:creationId xmlns:a16="http://schemas.microsoft.com/office/drawing/2014/main" id="{BAC10D72-8C00-5748-8B92-33BF31780F20}"/>
              </a:ext>
            </a:extLst>
          </p:cNvPr>
          <p:cNvPicPr>
            <a:picLocks noChangeAspect="1"/>
          </p:cNvPicPr>
          <p:nvPr/>
        </p:nvPicPr>
        <p:blipFill rotWithShape="1">
          <a:blip r:embed="rId4"/>
          <a:srcRect t="21344" b="20537"/>
          <a:stretch/>
        </p:blipFill>
        <p:spPr>
          <a:xfrm>
            <a:off x="671483" y="3072780"/>
            <a:ext cx="1912790" cy="625328"/>
          </a:xfrm>
          <a:prstGeom prst="rect">
            <a:avLst/>
          </a:prstGeom>
        </p:spPr>
      </p:pic>
      <p:pic>
        <p:nvPicPr>
          <p:cNvPr id="39" name="Picture 38">
            <a:extLst>
              <a:ext uri="{FF2B5EF4-FFF2-40B4-BE49-F238E27FC236}">
                <a16:creationId xmlns:a16="http://schemas.microsoft.com/office/drawing/2014/main" id="{502AAF9B-CB74-F840-A13C-9F1FEAAAF2FA}"/>
              </a:ext>
            </a:extLst>
          </p:cNvPr>
          <p:cNvPicPr>
            <a:picLocks noChangeAspect="1"/>
          </p:cNvPicPr>
          <p:nvPr/>
        </p:nvPicPr>
        <p:blipFill rotWithShape="1">
          <a:blip r:embed="rId5"/>
          <a:srcRect t="16183" b="17453"/>
          <a:stretch/>
        </p:blipFill>
        <p:spPr>
          <a:xfrm>
            <a:off x="3528001" y="3072780"/>
            <a:ext cx="1597995" cy="596900"/>
          </a:xfrm>
          <a:prstGeom prst="rect">
            <a:avLst/>
          </a:prstGeom>
        </p:spPr>
      </p:pic>
      <p:pic>
        <p:nvPicPr>
          <p:cNvPr id="40" name="Picture 39">
            <a:extLst>
              <a:ext uri="{FF2B5EF4-FFF2-40B4-BE49-F238E27FC236}">
                <a16:creationId xmlns:a16="http://schemas.microsoft.com/office/drawing/2014/main" id="{E8A1894D-5D59-2C4F-AD44-9745BD7007DA}"/>
              </a:ext>
            </a:extLst>
          </p:cNvPr>
          <p:cNvPicPr>
            <a:picLocks noChangeAspect="1"/>
          </p:cNvPicPr>
          <p:nvPr/>
        </p:nvPicPr>
        <p:blipFill rotWithShape="1">
          <a:blip r:embed="rId6"/>
          <a:srcRect t="25718" b="25864"/>
          <a:stretch/>
        </p:blipFill>
        <p:spPr>
          <a:xfrm>
            <a:off x="6758763" y="4254211"/>
            <a:ext cx="1862723" cy="901893"/>
          </a:xfrm>
          <a:prstGeom prst="rect">
            <a:avLst/>
          </a:prstGeom>
        </p:spPr>
      </p:pic>
      <p:pic>
        <p:nvPicPr>
          <p:cNvPr id="42" name="Picture 41">
            <a:extLst>
              <a:ext uri="{FF2B5EF4-FFF2-40B4-BE49-F238E27FC236}">
                <a16:creationId xmlns:a16="http://schemas.microsoft.com/office/drawing/2014/main" id="{93E3337C-1497-4C4C-9F82-0860A7C34360}"/>
              </a:ext>
            </a:extLst>
          </p:cNvPr>
          <p:cNvPicPr>
            <a:picLocks noChangeAspect="1"/>
          </p:cNvPicPr>
          <p:nvPr/>
        </p:nvPicPr>
        <p:blipFill>
          <a:blip r:embed="rId7"/>
          <a:stretch>
            <a:fillRect/>
          </a:stretch>
        </p:blipFill>
        <p:spPr>
          <a:xfrm>
            <a:off x="6559729" y="2781027"/>
            <a:ext cx="1968020" cy="1102091"/>
          </a:xfrm>
          <a:prstGeom prst="rect">
            <a:avLst/>
          </a:prstGeom>
        </p:spPr>
      </p:pic>
    </p:spTree>
    <p:extLst>
      <p:ext uri="{BB962C8B-B14F-4D97-AF65-F5344CB8AC3E}">
        <p14:creationId xmlns:p14="http://schemas.microsoft.com/office/powerpoint/2010/main" val="4148472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131211"/>
            <a:ext cx="5203299"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program has secured sponsorship of free resources for member startups from but not limited to the companies on the list below:</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Partners &amp; Resources</a:t>
            </a:r>
          </a:p>
        </p:txBody>
      </p:sp>
      <p:pic>
        <p:nvPicPr>
          <p:cNvPr id="5" name="Picture 4">
            <a:extLst>
              <a:ext uri="{FF2B5EF4-FFF2-40B4-BE49-F238E27FC236}">
                <a16:creationId xmlns:a16="http://schemas.microsoft.com/office/drawing/2014/main" id="{D3CC0D50-8616-614B-A37C-2D2CE509630C}"/>
              </a:ext>
            </a:extLst>
          </p:cNvPr>
          <p:cNvPicPr>
            <a:picLocks noChangeAspect="1"/>
          </p:cNvPicPr>
          <p:nvPr/>
        </p:nvPicPr>
        <p:blipFill>
          <a:blip r:embed="rId2"/>
          <a:stretch>
            <a:fillRect/>
          </a:stretch>
        </p:blipFill>
        <p:spPr>
          <a:xfrm>
            <a:off x="587059" y="2280942"/>
            <a:ext cx="2187946" cy="816754"/>
          </a:xfrm>
          <a:prstGeom prst="rect">
            <a:avLst/>
          </a:prstGeom>
        </p:spPr>
      </p:pic>
      <p:pic>
        <p:nvPicPr>
          <p:cNvPr id="10" name="Picture 9">
            <a:extLst>
              <a:ext uri="{FF2B5EF4-FFF2-40B4-BE49-F238E27FC236}">
                <a16:creationId xmlns:a16="http://schemas.microsoft.com/office/drawing/2014/main" id="{B8E80599-C2E9-7D4E-A84C-E8098AFCACA2}"/>
              </a:ext>
            </a:extLst>
          </p:cNvPr>
          <p:cNvPicPr>
            <a:picLocks noChangeAspect="1"/>
          </p:cNvPicPr>
          <p:nvPr/>
        </p:nvPicPr>
        <p:blipFill>
          <a:blip r:embed="rId3"/>
          <a:stretch>
            <a:fillRect/>
          </a:stretch>
        </p:blipFill>
        <p:spPr>
          <a:xfrm>
            <a:off x="3104344" y="2065796"/>
            <a:ext cx="2819646" cy="1301375"/>
          </a:xfrm>
          <a:prstGeom prst="rect">
            <a:avLst/>
          </a:prstGeom>
        </p:spPr>
      </p:pic>
      <p:pic>
        <p:nvPicPr>
          <p:cNvPr id="12" name="Picture 11">
            <a:extLst>
              <a:ext uri="{FF2B5EF4-FFF2-40B4-BE49-F238E27FC236}">
                <a16:creationId xmlns:a16="http://schemas.microsoft.com/office/drawing/2014/main" id="{1A5BC27B-F8D8-AA49-B3A9-E20FB2384686}"/>
              </a:ext>
            </a:extLst>
          </p:cNvPr>
          <p:cNvPicPr>
            <a:picLocks noChangeAspect="1"/>
          </p:cNvPicPr>
          <p:nvPr/>
        </p:nvPicPr>
        <p:blipFill>
          <a:blip r:embed="rId4"/>
          <a:stretch>
            <a:fillRect/>
          </a:stretch>
        </p:blipFill>
        <p:spPr>
          <a:xfrm>
            <a:off x="6134575" y="2033614"/>
            <a:ext cx="2716631" cy="1426231"/>
          </a:xfrm>
          <a:prstGeom prst="rect">
            <a:avLst/>
          </a:prstGeom>
        </p:spPr>
      </p:pic>
      <p:pic>
        <p:nvPicPr>
          <p:cNvPr id="14" name="Picture 13">
            <a:extLst>
              <a:ext uri="{FF2B5EF4-FFF2-40B4-BE49-F238E27FC236}">
                <a16:creationId xmlns:a16="http://schemas.microsoft.com/office/drawing/2014/main" id="{D4B3B524-75B4-4243-AEEA-C6586B78B5A5}"/>
              </a:ext>
            </a:extLst>
          </p:cNvPr>
          <p:cNvPicPr>
            <a:picLocks noChangeAspect="1"/>
          </p:cNvPicPr>
          <p:nvPr/>
        </p:nvPicPr>
        <p:blipFill>
          <a:blip r:embed="rId5"/>
          <a:stretch>
            <a:fillRect/>
          </a:stretch>
        </p:blipFill>
        <p:spPr>
          <a:xfrm>
            <a:off x="494193" y="4164229"/>
            <a:ext cx="2501015" cy="420646"/>
          </a:xfrm>
          <a:prstGeom prst="rect">
            <a:avLst/>
          </a:prstGeom>
        </p:spPr>
      </p:pic>
      <p:sp>
        <p:nvSpPr>
          <p:cNvPr id="15" name="TextBox 14">
            <a:extLst>
              <a:ext uri="{FF2B5EF4-FFF2-40B4-BE49-F238E27FC236}">
                <a16:creationId xmlns:a16="http://schemas.microsoft.com/office/drawing/2014/main" id="{3B303989-AF29-7149-9ED8-DD6588C97DE9}"/>
              </a:ext>
            </a:extLst>
          </p:cNvPr>
          <p:cNvSpPr txBox="1"/>
          <p:nvPr/>
        </p:nvSpPr>
        <p:spPr>
          <a:xfrm>
            <a:off x="400878" y="3184421"/>
            <a:ext cx="2687646"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Up to $25k in AWS Web Hosting</a:t>
            </a:r>
          </a:p>
        </p:txBody>
      </p:sp>
      <p:sp>
        <p:nvSpPr>
          <p:cNvPr id="16" name="TextBox 15">
            <a:extLst>
              <a:ext uri="{FF2B5EF4-FFF2-40B4-BE49-F238E27FC236}">
                <a16:creationId xmlns:a16="http://schemas.microsoft.com/office/drawing/2014/main" id="{47EB3CE0-B20A-9443-9B6D-F3710B49DC20}"/>
              </a:ext>
            </a:extLst>
          </p:cNvPr>
          <p:cNvSpPr txBox="1"/>
          <p:nvPr/>
        </p:nvSpPr>
        <p:spPr>
          <a:xfrm>
            <a:off x="3565550" y="3184421"/>
            <a:ext cx="1670395"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$500 SMS Credit</a:t>
            </a:r>
          </a:p>
        </p:txBody>
      </p:sp>
      <p:sp>
        <p:nvSpPr>
          <p:cNvPr id="17" name="TextBox 16">
            <a:extLst>
              <a:ext uri="{FF2B5EF4-FFF2-40B4-BE49-F238E27FC236}">
                <a16:creationId xmlns:a16="http://schemas.microsoft.com/office/drawing/2014/main" id="{004D7F5E-9064-764B-A26C-DC3CA6EBE237}"/>
              </a:ext>
            </a:extLst>
          </p:cNvPr>
          <p:cNvSpPr txBox="1"/>
          <p:nvPr/>
        </p:nvSpPr>
        <p:spPr>
          <a:xfrm>
            <a:off x="6491054" y="3184420"/>
            <a:ext cx="1670395"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$1000 Email Credit</a:t>
            </a:r>
          </a:p>
        </p:txBody>
      </p:sp>
      <p:sp>
        <p:nvSpPr>
          <p:cNvPr id="18" name="TextBox 17">
            <a:extLst>
              <a:ext uri="{FF2B5EF4-FFF2-40B4-BE49-F238E27FC236}">
                <a16:creationId xmlns:a16="http://schemas.microsoft.com/office/drawing/2014/main" id="{E6AFDDE7-6FF4-844D-9380-D892B2F42D9E}"/>
              </a:ext>
            </a:extLst>
          </p:cNvPr>
          <p:cNvSpPr txBox="1"/>
          <p:nvPr/>
        </p:nvSpPr>
        <p:spPr>
          <a:xfrm>
            <a:off x="400878" y="4707249"/>
            <a:ext cx="2687646"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$50 Cloud Hosting</a:t>
            </a:r>
          </a:p>
        </p:txBody>
      </p:sp>
      <p:pic>
        <p:nvPicPr>
          <p:cNvPr id="20" name="Picture 19">
            <a:extLst>
              <a:ext uri="{FF2B5EF4-FFF2-40B4-BE49-F238E27FC236}">
                <a16:creationId xmlns:a16="http://schemas.microsoft.com/office/drawing/2014/main" id="{DB610B4F-F163-2549-B139-ACA24258708F}"/>
              </a:ext>
            </a:extLst>
          </p:cNvPr>
          <p:cNvPicPr>
            <a:picLocks noChangeAspect="1"/>
          </p:cNvPicPr>
          <p:nvPr/>
        </p:nvPicPr>
        <p:blipFill>
          <a:blip r:embed="rId6"/>
          <a:stretch>
            <a:fillRect/>
          </a:stretch>
        </p:blipFill>
        <p:spPr>
          <a:xfrm>
            <a:off x="3387521" y="3931074"/>
            <a:ext cx="2501015" cy="879987"/>
          </a:xfrm>
          <a:prstGeom prst="rect">
            <a:avLst/>
          </a:prstGeom>
        </p:spPr>
      </p:pic>
      <p:sp>
        <p:nvSpPr>
          <p:cNvPr id="21" name="TextBox 20">
            <a:extLst>
              <a:ext uri="{FF2B5EF4-FFF2-40B4-BE49-F238E27FC236}">
                <a16:creationId xmlns:a16="http://schemas.microsoft.com/office/drawing/2014/main" id="{B72DB880-B5C4-3E43-92FC-5647143522C5}"/>
              </a:ext>
            </a:extLst>
          </p:cNvPr>
          <p:cNvSpPr txBox="1"/>
          <p:nvPr/>
        </p:nvSpPr>
        <p:spPr>
          <a:xfrm>
            <a:off x="3276618" y="4707249"/>
            <a:ext cx="2687646"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6 months free</a:t>
            </a:r>
          </a:p>
        </p:txBody>
      </p:sp>
      <p:pic>
        <p:nvPicPr>
          <p:cNvPr id="23" name="Picture 22">
            <a:extLst>
              <a:ext uri="{FF2B5EF4-FFF2-40B4-BE49-F238E27FC236}">
                <a16:creationId xmlns:a16="http://schemas.microsoft.com/office/drawing/2014/main" id="{D16CAAF4-FF8C-2641-BB3D-4ECE1C16A815}"/>
              </a:ext>
            </a:extLst>
          </p:cNvPr>
          <p:cNvPicPr>
            <a:picLocks noChangeAspect="1"/>
          </p:cNvPicPr>
          <p:nvPr/>
        </p:nvPicPr>
        <p:blipFill>
          <a:blip r:embed="rId7"/>
          <a:stretch>
            <a:fillRect/>
          </a:stretch>
        </p:blipFill>
        <p:spPr>
          <a:xfrm>
            <a:off x="6491054" y="3682991"/>
            <a:ext cx="2340572" cy="1426231"/>
          </a:xfrm>
          <a:prstGeom prst="rect">
            <a:avLst/>
          </a:prstGeom>
        </p:spPr>
      </p:pic>
      <p:sp>
        <p:nvSpPr>
          <p:cNvPr id="24" name="TextBox 23">
            <a:extLst>
              <a:ext uri="{FF2B5EF4-FFF2-40B4-BE49-F238E27FC236}">
                <a16:creationId xmlns:a16="http://schemas.microsoft.com/office/drawing/2014/main" id="{E288ED03-4CA0-5045-8B87-D01A63B14E19}"/>
              </a:ext>
            </a:extLst>
          </p:cNvPr>
          <p:cNvSpPr txBox="1"/>
          <p:nvPr/>
        </p:nvSpPr>
        <p:spPr>
          <a:xfrm>
            <a:off x="6251169" y="4707249"/>
            <a:ext cx="2687646"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6 months free CRM</a:t>
            </a:r>
          </a:p>
        </p:txBody>
      </p:sp>
      <p:pic>
        <p:nvPicPr>
          <p:cNvPr id="25" name="Picture 24">
            <a:extLst>
              <a:ext uri="{FF2B5EF4-FFF2-40B4-BE49-F238E27FC236}">
                <a16:creationId xmlns:a16="http://schemas.microsoft.com/office/drawing/2014/main" id="{69EA8741-14AE-0C45-B6FA-D45EEDC898E8}"/>
              </a:ext>
            </a:extLst>
          </p:cNvPr>
          <p:cNvPicPr>
            <a:picLocks noChangeAspect="1"/>
          </p:cNvPicPr>
          <p:nvPr/>
        </p:nvPicPr>
        <p:blipFill>
          <a:blip r:embed="rId8"/>
          <a:stretch>
            <a:fillRect/>
          </a:stretch>
        </p:blipFill>
        <p:spPr>
          <a:xfrm>
            <a:off x="644776" y="5410017"/>
            <a:ext cx="2277494" cy="704670"/>
          </a:xfrm>
          <a:prstGeom prst="rect">
            <a:avLst/>
          </a:prstGeom>
        </p:spPr>
      </p:pic>
      <p:sp>
        <p:nvSpPr>
          <p:cNvPr id="26" name="TextBox 25">
            <a:extLst>
              <a:ext uri="{FF2B5EF4-FFF2-40B4-BE49-F238E27FC236}">
                <a16:creationId xmlns:a16="http://schemas.microsoft.com/office/drawing/2014/main" id="{8A56A48F-D028-6845-AC92-D7FC070E129E}"/>
              </a:ext>
            </a:extLst>
          </p:cNvPr>
          <p:cNvSpPr txBox="1"/>
          <p:nvPr/>
        </p:nvSpPr>
        <p:spPr>
          <a:xfrm>
            <a:off x="439700" y="6057401"/>
            <a:ext cx="2687646"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Free from beta to $50k revenue</a:t>
            </a:r>
          </a:p>
        </p:txBody>
      </p:sp>
      <p:pic>
        <p:nvPicPr>
          <p:cNvPr id="28" name="Picture 27">
            <a:extLst>
              <a:ext uri="{FF2B5EF4-FFF2-40B4-BE49-F238E27FC236}">
                <a16:creationId xmlns:a16="http://schemas.microsoft.com/office/drawing/2014/main" id="{F22AD6D9-F520-5E49-A735-A2548F93A265}"/>
              </a:ext>
            </a:extLst>
          </p:cNvPr>
          <p:cNvPicPr>
            <a:picLocks noChangeAspect="1"/>
          </p:cNvPicPr>
          <p:nvPr/>
        </p:nvPicPr>
        <p:blipFill>
          <a:blip r:embed="rId9"/>
          <a:stretch>
            <a:fillRect/>
          </a:stretch>
        </p:blipFill>
        <p:spPr>
          <a:xfrm>
            <a:off x="3657600" y="5454660"/>
            <a:ext cx="2084317" cy="475526"/>
          </a:xfrm>
          <a:prstGeom prst="rect">
            <a:avLst/>
          </a:prstGeom>
        </p:spPr>
      </p:pic>
      <p:sp>
        <p:nvSpPr>
          <p:cNvPr id="29" name="TextBox 28">
            <a:extLst>
              <a:ext uri="{FF2B5EF4-FFF2-40B4-BE49-F238E27FC236}">
                <a16:creationId xmlns:a16="http://schemas.microsoft.com/office/drawing/2014/main" id="{88D47EBE-C461-1143-9FA2-970C3D664D9B}"/>
              </a:ext>
            </a:extLst>
          </p:cNvPr>
          <p:cNvSpPr txBox="1"/>
          <p:nvPr/>
        </p:nvSpPr>
        <p:spPr>
          <a:xfrm>
            <a:off x="3708314" y="6057400"/>
            <a:ext cx="1859427"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3 months free pro plan</a:t>
            </a:r>
          </a:p>
        </p:txBody>
      </p:sp>
      <p:pic>
        <p:nvPicPr>
          <p:cNvPr id="31" name="Picture 30">
            <a:extLst>
              <a:ext uri="{FF2B5EF4-FFF2-40B4-BE49-F238E27FC236}">
                <a16:creationId xmlns:a16="http://schemas.microsoft.com/office/drawing/2014/main" id="{DFC12046-8A2E-494E-A44A-13283CC40071}"/>
              </a:ext>
            </a:extLst>
          </p:cNvPr>
          <p:cNvPicPr>
            <a:picLocks noChangeAspect="1"/>
          </p:cNvPicPr>
          <p:nvPr/>
        </p:nvPicPr>
        <p:blipFill>
          <a:blip r:embed="rId10"/>
          <a:stretch>
            <a:fillRect/>
          </a:stretch>
        </p:blipFill>
        <p:spPr>
          <a:xfrm>
            <a:off x="6353785" y="5234700"/>
            <a:ext cx="2431371" cy="879987"/>
          </a:xfrm>
          <a:prstGeom prst="rect">
            <a:avLst/>
          </a:prstGeom>
        </p:spPr>
      </p:pic>
      <p:sp>
        <p:nvSpPr>
          <p:cNvPr id="32" name="TextBox 31">
            <a:extLst>
              <a:ext uri="{FF2B5EF4-FFF2-40B4-BE49-F238E27FC236}">
                <a16:creationId xmlns:a16="http://schemas.microsoft.com/office/drawing/2014/main" id="{A93559A1-5D17-7B4B-BDBF-9C2C1F8A6F47}"/>
              </a:ext>
            </a:extLst>
          </p:cNvPr>
          <p:cNvSpPr txBox="1"/>
          <p:nvPr/>
        </p:nvSpPr>
        <p:spPr>
          <a:xfrm>
            <a:off x="6731626" y="6055936"/>
            <a:ext cx="1859427"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$44 off </a:t>
            </a:r>
          </a:p>
        </p:txBody>
      </p:sp>
      <p:pic>
        <p:nvPicPr>
          <p:cNvPr id="34" name="Picture 33">
            <a:extLst>
              <a:ext uri="{FF2B5EF4-FFF2-40B4-BE49-F238E27FC236}">
                <a16:creationId xmlns:a16="http://schemas.microsoft.com/office/drawing/2014/main" id="{DA111068-B0F6-8443-8465-54A873C6BEAC}"/>
              </a:ext>
            </a:extLst>
          </p:cNvPr>
          <p:cNvPicPr>
            <a:picLocks noChangeAspect="1"/>
          </p:cNvPicPr>
          <p:nvPr/>
        </p:nvPicPr>
        <p:blipFill rotWithShape="1">
          <a:blip r:embed="rId11"/>
          <a:srcRect t="12638" b="24163"/>
          <a:stretch/>
        </p:blipFill>
        <p:spPr>
          <a:xfrm>
            <a:off x="6251169" y="1060678"/>
            <a:ext cx="2295931" cy="885442"/>
          </a:xfrm>
          <a:prstGeom prst="rect">
            <a:avLst/>
          </a:prstGeom>
        </p:spPr>
      </p:pic>
      <p:sp>
        <p:nvSpPr>
          <p:cNvPr id="35" name="TextBox 34">
            <a:extLst>
              <a:ext uri="{FF2B5EF4-FFF2-40B4-BE49-F238E27FC236}">
                <a16:creationId xmlns:a16="http://schemas.microsoft.com/office/drawing/2014/main" id="{5AFA8903-9CB7-5B4D-89EB-4425D59D9864}"/>
              </a:ext>
            </a:extLst>
          </p:cNvPr>
          <p:cNvSpPr txBox="1"/>
          <p:nvPr/>
        </p:nvSpPr>
        <p:spPr>
          <a:xfrm>
            <a:off x="6563936" y="1784329"/>
            <a:ext cx="1670395"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20% off</a:t>
            </a:r>
          </a:p>
        </p:txBody>
      </p:sp>
    </p:spTree>
    <p:extLst>
      <p:ext uri="{BB962C8B-B14F-4D97-AF65-F5344CB8AC3E}">
        <p14:creationId xmlns:p14="http://schemas.microsoft.com/office/powerpoint/2010/main" val="3710538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666529"/>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The startup teams will be taken through a training program that will coach them on all the various aspects of running a technology company like:</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Training</a:t>
            </a:r>
          </a:p>
        </p:txBody>
      </p:sp>
      <p:sp>
        <p:nvSpPr>
          <p:cNvPr id="5" name="TextBox 4">
            <a:extLst>
              <a:ext uri="{FF2B5EF4-FFF2-40B4-BE49-F238E27FC236}">
                <a16:creationId xmlns:a16="http://schemas.microsoft.com/office/drawing/2014/main" id="{AFC6C6AF-C641-3243-8584-3402A780FD7C}"/>
              </a:ext>
            </a:extLst>
          </p:cNvPr>
          <p:cNvSpPr txBox="1"/>
          <p:nvPr/>
        </p:nvSpPr>
        <p:spPr>
          <a:xfrm>
            <a:off x="538618" y="2536210"/>
            <a:ext cx="3376416" cy="1266693"/>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Build a great team</a:t>
            </a:r>
          </a:p>
          <a:p>
            <a:pPr algn="just">
              <a:lnSpc>
                <a:spcPct val="150000"/>
              </a:lnSpc>
            </a:pPr>
            <a:r>
              <a:rPr lang="en-US" sz="1300" dirty="0">
                <a:latin typeface="Avenir Book" panose="02000503020000020003" pitchFamily="2" charset="0"/>
              </a:rPr>
              <a:t>Product development</a:t>
            </a:r>
          </a:p>
          <a:p>
            <a:pPr algn="just">
              <a:lnSpc>
                <a:spcPct val="150000"/>
              </a:lnSpc>
            </a:pPr>
            <a:r>
              <a:rPr lang="en-US" sz="1300" dirty="0">
                <a:latin typeface="Avenir Book" panose="02000503020000020003" pitchFamily="2" charset="0"/>
              </a:rPr>
              <a:t>Understand the external environment</a:t>
            </a:r>
          </a:p>
          <a:p>
            <a:pPr algn="just">
              <a:lnSpc>
                <a:spcPct val="150000"/>
              </a:lnSpc>
            </a:pPr>
            <a:r>
              <a:rPr lang="en-US" sz="1300" dirty="0">
                <a:latin typeface="Avenir Book" panose="02000503020000020003" pitchFamily="2" charset="0"/>
              </a:rPr>
              <a:t>Know the target market</a:t>
            </a:r>
          </a:p>
        </p:txBody>
      </p:sp>
      <p:sp>
        <p:nvSpPr>
          <p:cNvPr id="9" name="TextBox 8">
            <a:extLst>
              <a:ext uri="{FF2B5EF4-FFF2-40B4-BE49-F238E27FC236}">
                <a16:creationId xmlns:a16="http://schemas.microsoft.com/office/drawing/2014/main" id="{9F6BA97A-7D74-504D-A86E-83FBFFD27321}"/>
              </a:ext>
            </a:extLst>
          </p:cNvPr>
          <p:cNvSpPr txBox="1"/>
          <p:nvPr/>
        </p:nvSpPr>
        <p:spPr>
          <a:xfrm>
            <a:off x="4451335" y="2536209"/>
            <a:ext cx="3376416" cy="1266693"/>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Marketing and business development</a:t>
            </a:r>
          </a:p>
          <a:p>
            <a:pPr algn="just">
              <a:lnSpc>
                <a:spcPct val="150000"/>
              </a:lnSpc>
            </a:pPr>
            <a:r>
              <a:rPr lang="en-US" sz="1300" dirty="0">
                <a:latin typeface="Avenir Book" panose="02000503020000020003" pitchFamily="2" charset="0"/>
              </a:rPr>
              <a:t>Deconstruct the business model</a:t>
            </a:r>
          </a:p>
          <a:p>
            <a:pPr algn="just">
              <a:lnSpc>
                <a:spcPct val="150000"/>
              </a:lnSpc>
            </a:pPr>
            <a:r>
              <a:rPr lang="en-US" sz="1300" dirty="0">
                <a:latin typeface="Avenir Book" panose="02000503020000020003" pitchFamily="2" charset="0"/>
              </a:rPr>
              <a:t>Strategic partnerships</a:t>
            </a:r>
          </a:p>
          <a:p>
            <a:pPr algn="just">
              <a:lnSpc>
                <a:spcPct val="150000"/>
              </a:lnSpc>
            </a:pPr>
            <a:r>
              <a:rPr lang="en-US" sz="1300" dirty="0">
                <a:latin typeface="Avenir Book" panose="02000503020000020003" pitchFamily="2" charset="0"/>
              </a:rPr>
              <a:t>Build traction</a:t>
            </a:r>
          </a:p>
        </p:txBody>
      </p:sp>
      <p:sp>
        <p:nvSpPr>
          <p:cNvPr id="10" name="TextBox 9">
            <a:extLst>
              <a:ext uri="{FF2B5EF4-FFF2-40B4-BE49-F238E27FC236}">
                <a16:creationId xmlns:a16="http://schemas.microsoft.com/office/drawing/2014/main" id="{0257B3CA-E6DD-FF4C-BAC1-8E8D9ECA1D93}"/>
              </a:ext>
            </a:extLst>
          </p:cNvPr>
          <p:cNvSpPr txBox="1"/>
          <p:nvPr/>
        </p:nvSpPr>
        <p:spPr>
          <a:xfrm>
            <a:off x="538618" y="2162307"/>
            <a:ext cx="3376416" cy="366447"/>
          </a:xfrm>
          <a:prstGeom prst="rect">
            <a:avLst/>
          </a:prstGeom>
          <a:noFill/>
        </p:spPr>
        <p:txBody>
          <a:bodyPr wrap="square" rtlCol="0">
            <a:spAutoFit/>
          </a:bodyPr>
          <a:lstStyle/>
          <a:p>
            <a:pPr algn="just">
              <a:lnSpc>
                <a:spcPct val="150000"/>
              </a:lnSpc>
            </a:pPr>
            <a:r>
              <a:rPr lang="en-US" sz="1300" b="1" dirty="0">
                <a:latin typeface="Avenir Book" panose="02000503020000020003" pitchFamily="2" charset="0"/>
              </a:rPr>
              <a:t>Launch</a:t>
            </a:r>
          </a:p>
        </p:txBody>
      </p:sp>
      <p:sp>
        <p:nvSpPr>
          <p:cNvPr id="11" name="TextBox 10">
            <a:extLst>
              <a:ext uri="{FF2B5EF4-FFF2-40B4-BE49-F238E27FC236}">
                <a16:creationId xmlns:a16="http://schemas.microsoft.com/office/drawing/2014/main" id="{7031B0E2-E0E2-5C4E-88EB-A490F9F14E33}"/>
              </a:ext>
            </a:extLst>
          </p:cNvPr>
          <p:cNvSpPr txBox="1"/>
          <p:nvPr/>
        </p:nvSpPr>
        <p:spPr>
          <a:xfrm>
            <a:off x="4451335" y="2162306"/>
            <a:ext cx="3376416" cy="366447"/>
          </a:xfrm>
          <a:prstGeom prst="rect">
            <a:avLst/>
          </a:prstGeom>
          <a:noFill/>
        </p:spPr>
        <p:txBody>
          <a:bodyPr wrap="square" rtlCol="0">
            <a:spAutoFit/>
          </a:bodyPr>
          <a:lstStyle/>
          <a:p>
            <a:pPr algn="just">
              <a:lnSpc>
                <a:spcPct val="150000"/>
              </a:lnSpc>
            </a:pPr>
            <a:r>
              <a:rPr lang="en-US" sz="1300" b="1" dirty="0">
                <a:latin typeface="Avenir Book" panose="02000503020000020003" pitchFamily="2" charset="0"/>
              </a:rPr>
              <a:t>Grow</a:t>
            </a:r>
          </a:p>
        </p:txBody>
      </p:sp>
      <p:sp>
        <p:nvSpPr>
          <p:cNvPr id="12" name="TextBox 11">
            <a:extLst>
              <a:ext uri="{FF2B5EF4-FFF2-40B4-BE49-F238E27FC236}">
                <a16:creationId xmlns:a16="http://schemas.microsoft.com/office/drawing/2014/main" id="{9D757D3B-F911-9B49-B3F4-CE478A254FC7}"/>
              </a:ext>
            </a:extLst>
          </p:cNvPr>
          <p:cNvSpPr txBox="1"/>
          <p:nvPr/>
        </p:nvSpPr>
        <p:spPr>
          <a:xfrm>
            <a:off x="538618" y="4668975"/>
            <a:ext cx="3376416" cy="966611"/>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Fundraise for the business</a:t>
            </a:r>
          </a:p>
          <a:p>
            <a:pPr algn="just">
              <a:lnSpc>
                <a:spcPct val="150000"/>
              </a:lnSpc>
            </a:pPr>
            <a:r>
              <a:rPr lang="en-US" sz="1300" dirty="0">
                <a:latin typeface="Avenir Book" panose="02000503020000020003" pitchFamily="2" charset="0"/>
              </a:rPr>
              <a:t>Pitch your business</a:t>
            </a:r>
          </a:p>
          <a:p>
            <a:pPr algn="just">
              <a:lnSpc>
                <a:spcPct val="150000"/>
              </a:lnSpc>
            </a:pPr>
            <a:r>
              <a:rPr lang="en-US" sz="1300" dirty="0">
                <a:latin typeface="Avenir Book" panose="02000503020000020003" pitchFamily="2" charset="0"/>
              </a:rPr>
              <a:t>Prepare financials, contracts and legal</a:t>
            </a:r>
          </a:p>
        </p:txBody>
      </p:sp>
      <p:sp>
        <p:nvSpPr>
          <p:cNvPr id="13" name="TextBox 12">
            <a:extLst>
              <a:ext uri="{FF2B5EF4-FFF2-40B4-BE49-F238E27FC236}">
                <a16:creationId xmlns:a16="http://schemas.microsoft.com/office/drawing/2014/main" id="{9180200F-CB98-8941-B1E5-9CDC6AE6676D}"/>
              </a:ext>
            </a:extLst>
          </p:cNvPr>
          <p:cNvSpPr txBox="1"/>
          <p:nvPr/>
        </p:nvSpPr>
        <p:spPr>
          <a:xfrm>
            <a:off x="538618" y="4295072"/>
            <a:ext cx="3376416" cy="366447"/>
          </a:xfrm>
          <a:prstGeom prst="rect">
            <a:avLst/>
          </a:prstGeom>
          <a:noFill/>
        </p:spPr>
        <p:txBody>
          <a:bodyPr wrap="square" rtlCol="0">
            <a:spAutoFit/>
          </a:bodyPr>
          <a:lstStyle/>
          <a:p>
            <a:pPr algn="just">
              <a:lnSpc>
                <a:spcPct val="150000"/>
              </a:lnSpc>
            </a:pPr>
            <a:r>
              <a:rPr lang="en-US" sz="1300" b="1" dirty="0">
                <a:latin typeface="Avenir Book" panose="02000503020000020003" pitchFamily="2" charset="0"/>
              </a:rPr>
              <a:t>Raising Money</a:t>
            </a:r>
          </a:p>
        </p:txBody>
      </p:sp>
      <p:sp>
        <p:nvSpPr>
          <p:cNvPr id="14" name="TextBox 13">
            <a:extLst>
              <a:ext uri="{FF2B5EF4-FFF2-40B4-BE49-F238E27FC236}">
                <a16:creationId xmlns:a16="http://schemas.microsoft.com/office/drawing/2014/main" id="{C543D756-EC52-2849-9A2C-F05A58849643}"/>
              </a:ext>
            </a:extLst>
          </p:cNvPr>
          <p:cNvSpPr txBox="1"/>
          <p:nvPr/>
        </p:nvSpPr>
        <p:spPr>
          <a:xfrm>
            <a:off x="4451335" y="4668975"/>
            <a:ext cx="3376416" cy="666529"/>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Legal basics</a:t>
            </a:r>
          </a:p>
          <a:p>
            <a:pPr algn="just">
              <a:lnSpc>
                <a:spcPct val="150000"/>
              </a:lnSpc>
            </a:pPr>
            <a:r>
              <a:rPr lang="en-US" sz="1300" dirty="0">
                <a:latin typeface="Avenir Book" panose="02000503020000020003" pitchFamily="2" charset="0"/>
              </a:rPr>
              <a:t>Funding concepts explained</a:t>
            </a:r>
          </a:p>
        </p:txBody>
      </p:sp>
      <p:sp>
        <p:nvSpPr>
          <p:cNvPr id="15" name="TextBox 14">
            <a:extLst>
              <a:ext uri="{FF2B5EF4-FFF2-40B4-BE49-F238E27FC236}">
                <a16:creationId xmlns:a16="http://schemas.microsoft.com/office/drawing/2014/main" id="{6BC4C2F7-1E40-F244-B465-72C145C93C0F}"/>
              </a:ext>
            </a:extLst>
          </p:cNvPr>
          <p:cNvSpPr txBox="1"/>
          <p:nvPr/>
        </p:nvSpPr>
        <p:spPr>
          <a:xfrm>
            <a:off x="4451335" y="4295072"/>
            <a:ext cx="3376416" cy="366447"/>
          </a:xfrm>
          <a:prstGeom prst="rect">
            <a:avLst/>
          </a:prstGeom>
          <a:noFill/>
        </p:spPr>
        <p:txBody>
          <a:bodyPr wrap="square" rtlCol="0">
            <a:spAutoFit/>
          </a:bodyPr>
          <a:lstStyle/>
          <a:p>
            <a:pPr algn="just">
              <a:lnSpc>
                <a:spcPct val="150000"/>
              </a:lnSpc>
            </a:pPr>
            <a:r>
              <a:rPr lang="en-US" sz="1300" b="1" dirty="0">
                <a:latin typeface="Avenir Book" panose="02000503020000020003" pitchFamily="2" charset="0"/>
              </a:rPr>
              <a:t>Legal</a:t>
            </a:r>
          </a:p>
        </p:txBody>
      </p:sp>
      <p:sp>
        <p:nvSpPr>
          <p:cNvPr id="16" name="TextBox 15">
            <a:extLst>
              <a:ext uri="{FF2B5EF4-FFF2-40B4-BE49-F238E27FC236}">
                <a16:creationId xmlns:a16="http://schemas.microsoft.com/office/drawing/2014/main" id="{731783CD-9287-674C-80F9-67B12B265E95}"/>
              </a:ext>
            </a:extLst>
          </p:cNvPr>
          <p:cNvSpPr txBox="1"/>
          <p:nvPr/>
        </p:nvSpPr>
        <p:spPr>
          <a:xfrm>
            <a:off x="538618" y="5819873"/>
            <a:ext cx="7892863" cy="666529"/>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The training is meant to kickstart their business while formally teaching them how to grow beyond the program, raising more money and becoming successful.</a:t>
            </a:r>
          </a:p>
        </p:txBody>
      </p:sp>
    </p:spTree>
    <p:extLst>
      <p:ext uri="{BB962C8B-B14F-4D97-AF65-F5344CB8AC3E}">
        <p14:creationId xmlns:p14="http://schemas.microsoft.com/office/powerpoint/2010/main" val="8068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5467843"/>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The program will have a selection committee, which will consist of successful entrepreneurs, mentors, startup ecosystem representatives and other experts. Our tentative list of Mentors for the program are:</a:t>
            </a:r>
          </a:p>
          <a:p>
            <a:pPr algn="just">
              <a:lnSpc>
                <a:spcPct val="150000"/>
              </a:lnSpc>
            </a:pP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Ayodeji Adewunmi</a:t>
            </a:r>
            <a:r>
              <a:rPr lang="en-US" sz="1300" dirty="0">
                <a:latin typeface="Avenir Book" panose="02000503020000020003" pitchFamily="2" charset="0"/>
              </a:rPr>
              <a:t>			Former </a:t>
            </a:r>
            <a:r>
              <a:rPr lang="en-US" sz="1300" dirty="0" err="1">
                <a:latin typeface="Avenir Book" panose="02000503020000020003" pitchFamily="2" charset="0"/>
              </a:rPr>
              <a:t>Jobberman</a:t>
            </a:r>
            <a:r>
              <a:rPr lang="en-US" sz="1300" dirty="0">
                <a:latin typeface="Avenir Book" panose="02000503020000020003" pitchFamily="2" charset="0"/>
              </a:rPr>
              <a:t> Founder, </a:t>
            </a:r>
            <a:r>
              <a:rPr lang="en-US" sz="1300" dirty="0" err="1">
                <a:latin typeface="Avenir Book" panose="02000503020000020003" pitchFamily="2" charset="0"/>
              </a:rPr>
              <a:t>Gokada</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err="1">
                <a:latin typeface="Avenir Book" panose="02000503020000020003" pitchFamily="2" charset="0"/>
              </a:rPr>
              <a:t>Gossy</a:t>
            </a:r>
            <a:r>
              <a:rPr lang="en-US" sz="1300" b="1" dirty="0">
                <a:latin typeface="Avenir Book" panose="02000503020000020003" pitchFamily="2" charset="0"/>
              </a:rPr>
              <a:t> </a:t>
            </a:r>
            <a:r>
              <a:rPr lang="en-US" sz="1300" b="1" dirty="0" err="1">
                <a:latin typeface="Avenir Book" panose="02000503020000020003" pitchFamily="2" charset="0"/>
              </a:rPr>
              <a:t>Nkanwoke</a:t>
            </a:r>
            <a:r>
              <a:rPr lang="en-US" sz="1300" dirty="0">
                <a:latin typeface="Avenir Book" panose="02000503020000020003" pitchFamily="2" charset="0"/>
              </a:rPr>
              <a:t>			CEO </a:t>
            </a:r>
            <a:r>
              <a:rPr lang="en-US" sz="1300" dirty="0" err="1">
                <a:latin typeface="Avenir Book" panose="02000503020000020003" pitchFamily="2" charset="0"/>
              </a:rPr>
              <a:t>Betking</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err="1">
                <a:latin typeface="Avenir Book" panose="02000503020000020003" pitchFamily="2" charset="0"/>
              </a:rPr>
              <a:t>Oo</a:t>
            </a:r>
            <a:r>
              <a:rPr lang="en-US" sz="1300" b="1" dirty="0">
                <a:latin typeface="Avenir Book" panose="02000503020000020003" pitchFamily="2" charset="0"/>
              </a:rPr>
              <a:t> Nwoye</a:t>
            </a:r>
            <a:r>
              <a:rPr lang="en-US" sz="1300" dirty="0">
                <a:latin typeface="Avenir Book" panose="02000503020000020003" pitchFamily="2" charset="0"/>
              </a:rPr>
              <a:t>				Founder </a:t>
            </a:r>
            <a:r>
              <a:rPr lang="en-US" sz="1300" dirty="0" err="1">
                <a:latin typeface="Avenir Book" panose="02000503020000020003" pitchFamily="2" charset="0"/>
              </a:rPr>
              <a:t>Techcircle</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Adekunle </a:t>
            </a:r>
            <a:r>
              <a:rPr lang="en-US" sz="1300" b="1" dirty="0" err="1">
                <a:latin typeface="Avenir Book" panose="02000503020000020003" pitchFamily="2" charset="0"/>
              </a:rPr>
              <a:t>Ajiboye</a:t>
            </a:r>
            <a:r>
              <a:rPr lang="en-US" sz="1300" b="1" dirty="0">
                <a:latin typeface="Avenir Book" panose="02000503020000020003" pitchFamily="2" charset="0"/>
              </a:rPr>
              <a:t>	</a:t>
            </a:r>
            <a:r>
              <a:rPr lang="en-US" sz="1300" dirty="0">
                <a:latin typeface="Avenir Book" panose="02000503020000020003" pitchFamily="2" charset="0"/>
              </a:rPr>
              <a:t>		</a:t>
            </a:r>
            <a:r>
              <a:rPr lang="en-US" sz="1300" dirty="0" err="1">
                <a:latin typeface="Avenir Book" panose="02000503020000020003" pitchFamily="2" charset="0"/>
              </a:rPr>
              <a:t>Aajimatics</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Osagie </a:t>
            </a:r>
            <a:r>
              <a:rPr lang="en-US" sz="1300" b="1" dirty="0" err="1">
                <a:latin typeface="Avenir Book" panose="02000503020000020003" pitchFamily="2" charset="0"/>
              </a:rPr>
              <a:t>Alonge</a:t>
            </a:r>
            <a:r>
              <a:rPr lang="en-US" sz="1300" dirty="0">
                <a:latin typeface="Avenir Book" panose="02000503020000020003" pitchFamily="2" charset="0"/>
              </a:rPr>
              <a:t>			Director Marketing, </a:t>
            </a:r>
            <a:r>
              <a:rPr lang="en-US" sz="1300" dirty="0" err="1">
                <a:latin typeface="Avenir Book" panose="02000503020000020003" pitchFamily="2" charset="0"/>
              </a:rPr>
              <a:t>OPay</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Dino Miele</a:t>
            </a:r>
            <a:r>
              <a:rPr lang="en-US" sz="1300" dirty="0">
                <a:latin typeface="Avenir Book" panose="02000503020000020003" pitchFamily="2" charset="0"/>
              </a:rPr>
              <a:t>				Spark Niagara		</a:t>
            </a:r>
          </a:p>
          <a:p>
            <a:pPr marL="342900" indent="-342900" algn="just">
              <a:lnSpc>
                <a:spcPct val="150000"/>
              </a:lnSpc>
              <a:buFont typeface="+mj-lt"/>
              <a:buAutoNum type="arabicPeriod"/>
            </a:pPr>
            <a:r>
              <a:rPr lang="en-US" sz="1300" b="1" dirty="0" err="1">
                <a:latin typeface="Avenir Book" panose="02000503020000020003" pitchFamily="2" charset="0"/>
              </a:rPr>
              <a:t>Opeyemi</a:t>
            </a:r>
            <a:r>
              <a:rPr lang="en-US" sz="1300" b="1" dirty="0">
                <a:latin typeface="Avenir Book" panose="02000503020000020003" pitchFamily="2" charset="0"/>
              </a:rPr>
              <a:t> </a:t>
            </a:r>
            <a:r>
              <a:rPr lang="en-US" sz="1300" b="1" dirty="0" err="1">
                <a:latin typeface="Avenir Book" panose="02000503020000020003" pitchFamily="2" charset="0"/>
              </a:rPr>
              <a:t>Awoyemi</a:t>
            </a:r>
            <a:r>
              <a:rPr lang="en-US" sz="1300" b="1" dirty="0">
                <a:latin typeface="Avenir Book" panose="02000503020000020003" pitchFamily="2" charset="0"/>
              </a:rPr>
              <a:t>	</a:t>
            </a:r>
            <a:r>
              <a:rPr lang="en-US" sz="1300" dirty="0">
                <a:latin typeface="Avenir Book" panose="02000503020000020003" pitchFamily="2" charset="0"/>
              </a:rPr>
              <a:t>		Former </a:t>
            </a:r>
            <a:r>
              <a:rPr lang="en-US" sz="1300" dirty="0" err="1">
                <a:latin typeface="Avenir Book" panose="02000503020000020003" pitchFamily="2" charset="0"/>
              </a:rPr>
              <a:t>Jobberman</a:t>
            </a:r>
            <a:r>
              <a:rPr lang="en-US" sz="1300" dirty="0">
                <a:latin typeface="Avenir Book" panose="02000503020000020003" pitchFamily="2" charset="0"/>
              </a:rPr>
              <a:t>, </a:t>
            </a:r>
            <a:r>
              <a:rPr lang="en-US" sz="1300" dirty="0" err="1">
                <a:latin typeface="Avenir Book" panose="02000503020000020003" pitchFamily="2" charset="0"/>
              </a:rPr>
              <a:t>Whogohost</a:t>
            </a:r>
            <a:r>
              <a:rPr lang="en-US" sz="1300" dirty="0">
                <a:latin typeface="Avenir Book" panose="02000503020000020003" pitchFamily="2" charset="0"/>
              </a:rPr>
              <a:t>, </a:t>
            </a:r>
            <a:r>
              <a:rPr lang="en-US" sz="1300" dirty="0" err="1">
                <a:latin typeface="Avenir Book" panose="02000503020000020003" pitchFamily="2" charset="0"/>
              </a:rPr>
              <a:t>Indeed.com</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Joel </a:t>
            </a:r>
            <a:r>
              <a:rPr lang="en-US" sz="1300" b="1" dirty="0" err="1">
                <a:latin typeface="Avenir Book" panose="02000503020000020003" pitchFamily="2" charset="0"/>
              </a:rPr>
              <a:t>Ogunsola</a:t>
            </a:r>
            <a:r>
              <a:rPr lang="en-US" sz="1300" b="1" dirty="0">
                <a:latin typeface="Avenir Book" panose="02000503020000020003" pitchFamily="2" charset="0"/>
              </a:rPr>
              <a:t>	</a:t>
            </a:r>
            <a:r>
              <a:rPr lang="en-US" sz="1300" dirty="0">
                <a:latin typeface="Avenir Book" panose="02000503020000020003" pitchFamily="2" charset="0"/>
              </a:rPr>
              <a:t>		Former Ondo SA Innovation, Partner </a:t>
            </a:r>
            <a:r>
              <a:rPr lang="en-US" sz="1300" dirty="0" err="1">
                <a:latin typeface="Avenir Book" panose="02000503020000020003" pitchFamily="2" charset="0"/>
              </a:rPr>
              <a:t>Prunedge</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Mohammed Brimah</a:t>
            </a:r>
            <a:r>
              <a:rPr lang="en-US" sz="1300" dirty="0">
                <a:latin typeface="Avenir Book" panose="02000503020000020003" pitchFamily="2" charset="0"/>
              </a:rPr>
              <a:t>			KWASIP</a:t>
            </a:r>
          </a:p>
          <a:p>
            <a:pPr marL="342900" indent="-342900" algn="just">
              <a:lnSpc>
                <a:spcPct val="150000"/>
              </a:lnSpc>
              <a:buFont typeface="+mj-lt"/>
              <a:buAutoNum type="arabicPeriod"/>
            </a:pPr>
            <a:r>
              <a:rPr lang="en-US" sz="1300" b="1" dirty="0" err="1">
                <a:latin typeface="Avenir Book" panose="02000503020000020003" pitchFamily="2" charset="0"/>
              </a:rPr>
              <a:t>Wadami</a:t>
            </a:r>
            <a:r>
              <a:rPr lang="en-US" sz="1300" b="1" dirty="0">
                <a:latin typeface="Avenir Book" panose="02000503020000020003" pitchFamily="2" charset="0"/>
              </a:rPr>
              <a:t> </a:t>
            </a:r>
            <a:r>
              <a:rPr lang="en-US" sz="1300" b="1" dirty="0" err="1">
                <a:latin typeface="Avenir Book" panose="02000503020000020003" pitchFamily="2" charset="0"/>
              </a:rPr>
              <a:t>Amolegbe</a:t>
            </a:r>
            <a:r>
              <a:rPr lang="en-US" sz="1300" b="1" dirty="0">
                <a:latin typeface="Avenir Book" panose="02000503020000020003" pitchFamily="2" charset="0"/>
              </a:rPr>
              <a:t> </a:t>
            </a:r>
            <a:r>
              <a:rPr lang="en-US" sz="1300" dirty="0">
                <a:latin typeface="Avenir Book" panose="02000503020000020003" pitchFamily="2" charset="0"/>
              </a:rPr>
              <a:t>			Conveyer Kwara Education Summit &amp; </a:t>
            </a:r>
            <a:r>
              <a:rPr lang="en-US" sz="1300" dirty="0" err="1">
                <a:latin typeface="Avenir Book" panose="02000503020000020003" pitchFamily="2" charset="0"/>
              </a:rPr>
              <a:t>Kwaralearn</a:t>
            </a:r>
            <a:endParaRPr lang="en-US" sz="1300" dirty="0">
              <a:latin typeface="Avenir Book" panose="02000503020000020003" pitchFamily="2" charset="0"/>
            </a:endParaRPr>
          </a:p>
          <a:p>
            <a:pPr marL="342900" indent="-342900" algn="just">
              <a:lnSpc>
                <a:spcPct val="150000"/>
              </a:lnSpc>
              <a:buFont typeface="+mj-lt"/>
              <a:buAutoNum type="arabicPeriod"/>
            </a:pPr>
            <a:r>
              <a:rPr lang="en-US" sz="1300" b="1" dirty="0">
                <a:latin typeface="Avenir Book" panose="02000503020000020003" pitchFamily="2" charset="0"/>
              </a:rPr>
              <a:t>Ife Adebayo	</a:t>
            </a:r>
            <a:r>
              <a:rPr lang="en-US" sz="1300" dirty="0">
                <a:latin typeface="Avenir Book" panose="02000503020000020003" pitchFamily="2" charset="0"/>
              </a:rPr>
              <a:t>			SA Innovation to the VP</a:t>
            </a:r>
          </a:p>
          <a:p>
            <a:pPr marL="342900" indent="-342900" algn="just">
              <a:lnSpc>
                <a:spcPct val="150000"/>
              </a:lnSpc>
              <a:buFont typeface="+mj-lt"/>
              <a:buAutoNum type="arabicPeriod"/>
            </a:pPr>
            <a:r>
              <a:rPr lang="en-US" sz="1300" b="1" dirty="0" err="1">
                <a:latin typeface="Avenir Book" panose="02000503020000020003" pitchFamily="2" charset="0"/>
              </a:rPr>
              <a:t>Funbi</a:t>
            </a:r>
            <a:r>
              <a:rPr lang="en-US" sz="1300" b="1" dirty="0">
                <a:latin typeface="Avenir Book" panose="02000503020000020003" pitchFamily="2" charset="0"/>
              </a:rPr>
              <a:t> </a:t>
            </a:r>
            <a:r>
              <a:rPr lang="en-US" sz="1300" b="1" dirty="0" err="1">
                <a:latin typeface="Avenir Book" panose="02000503020000020003" pitchFamily="2" charset="0"/>
              </a:rPr>
              <a:t>Falayi</a:t>
            </a:r>
            <a:r>
              <a:rPr lang="en-US" sz="1300" dirty="0">
                <a:latin typeface="Avenir Book" panose="02000503020000020003" pitchFamily="2" charset="0"/>
              </a:rPr>
              <a:t>				Amazon, Former </a:t>
            </a:r>
            <a:r>
              <a:rPr lang="en-US" sz="1300" dirty="0" err="1">
                <a:latin typeface="Avenir Book" panose="02000503020000020003" pitchFamily="2" charset="0"/>
              </a:rPr>
              <a:t>Leadspace</a:t>
            </a:r>
            <a:endParaRPr lang="en-US" sz="1300" dirty="0">
              <a:latin typeface="Avenir Book" panose="02000503020000020003" pitchFamily="2" charset="0"/>
            </a:endParaRPr>
          </a:p>
          <a:p>
            <a:pPr algn="just">
              <a:lnSpc>
                <a:spcPct val="150000"/>
              </a:lnSpc>
            </a:pPr>
            <a:endParaRPr lang="en-US" sz="1300" dirty="0">
              <a:latin typeface="Avenir Book" panose="02000503020000020003" pitchFamily="2" charset="0"/>
            </a:endParaRPr>
          </a:p>
          <a:p>
            <a:pPr algn="just">
              <a:lnSpc>
                <a:spcPct val="150000"/>
              </a:lnSpc>
            </a:pPr>
            <a:r>
              <a:rPr lang="en-US" sz="1300" dirty="0">
                <a:latin typeface="Avenir Book" panose="02000503020000020003" pitchFamily="2" charset="0"/>
              </a:rPr>
              <a:t>Mentors will be remunerated via a 5% equity pool created by the Ilorin Innovation Hub.</a:t>
            </a:r>
          </a:p>
          <a:p>
            <a:pPr marL="342900" indent="-342900" algn="just">
              <a:lnSpc>
                <a:spcPct val="150000"/>
              </a:lnSpc>
              <a:buFont typeface="+mj-lt"/>
              <a:buAutoNum type="arabicPeriod"/>
            </a:pPr>
            <a:endParaRPr lang="en-US" sz="1300" dirty="0">
              <a:latin typeface="Avenir Book" panose="02000503020000020003" pitchFamily="2" charset="0"/>
            </a:endParaRP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Mentors &amp; Advisers</a:t>
            </a:r>
          </a:p>
        </p:txBody>
      </p:sp>
    </p:spTree>
    <p:extLst>
      <p:ext uri="{BB962C8B-B14F-4D97-AF65-F5344CB8AC3E}">
        <p14:creationId xmlns:p14="http://schemas.microsoft.com/office/powerpoint/2010/main" val="1383700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96236"/>
            <a:ext cx="7892863" cy="2467022"/>
          </a:xfrm>
          <a:prstGeom prst="rect">
            <a:avLst/>
          </a:prstGeom>
          <a:noFill/>
        </p:spPr>
        <p:txBody>
          <a:bodyPr wrap="square" rtlCol="0">
            <a:spAutoFit/>
          </a:bodyPr>
          <a:lstStyle/>
          <a:p>
            <a:pPr algn="just">
              <a:lnSpc>
                <a:spcPct val="150000"/>
              </a:lnSpc>
            </a:pPr>
            <a:r>
              <a:rPr lang="en-US" sz="1300" dirty="0">
                <a:latin typeface="Avenir Book" panose="02000503020000020003" pitchFamily="2" charset="0"/>
              </a:rPr>
              <a:t>Each member startup in the program will be funded between N2million and N5million depending on their performance and opportunity.</a:t>
            </a:r>
          </a:p>
          <a:p>
            <a:pPr algn="just">
              <a:lnSpc>
                <a:spcPct val="150000"/>
              </a:lnSpc>
            </a:pPr>
            <a:endParaRPr lang="en-US" sz="1300" dirty="0">
              <a:latin typeface="Avenir Book" panose="02000503020000020003" pitchFamily="2" charset="0"/>
            </a:endParaRPr>
          </a:p>
          <a:p>
            <a:pPr algn="just">
              <a:lnSpc>
                <a:spcPct val="150000"/>
              </a:lnSpc>
            </a:pPr>
            <a:r>
              <a:rPr lang="en-US" sz="1300" dirty="0">
                <a:latin typeface="Avenir Book" panose="02000503020000020003" pitchFamily="2" charset="0"/>
              </a:rPr>
              <a:t>They will also be trained on how to position their startup for further funding and this will start at their Demo/Graduation day.</a:t>
            </a:r>
          </a:p>
          <a:p>
            <a:pPr algn="just">
              <a:lnSpc>
                <a:spcPct val="150000"/>
              </a:lnSpc>
            </a:pPr>
            <a:endParaRPr lang="en-US" sz="1300" dirty="0">
              <a:latin typeface="Avenir Book" panose="02000503020000020003" pitchFamily="2" charset="0"/>
            </a:endParaRPr>
          </a:p>
          <a:p>
            <a:pPr algn="just">
              <a:lnSpc>
                <a:spcPct val="150000"/>
              </a:lnSpc>
            </a:pPr>
            <a:r>
              <a:rPr lang="en-US" sz="1300" dirty="0">
                <a:latin typeface="Avenir Book" panose="02000503020000020003" pitchFamily="2" charset="0"/>
              </a:rPr>
              <a:t>The goal is for these startups to grow beyond the Ilorin/Kwara market and become very viable businesses that will return revenue for the Kwara State Government.</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5600925"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Funding</a:t>
            </a:r>
          </a:p>
        </p:txBody>
      </p:sp>
    </p:spTree>
    <p:extLst>
      <p:ext uri="{BB962C8B-B14F-4D97-AF65-F5344CB8AC3E}">
        <p14:creationId xmlns:p14="http://schemas.microsoft.com/office/powerpoint/2010/main" val="285044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48429</TotalTime>
  <Words>1272</Words>
  <Application>Microsoft Macintosh PowerPoint</Application>
  <PresentationFormat>On-screen Show (4:3)</PresentationFormat>
  <Paragraphs>124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Avenir Book</vt:lpstr>
      <vt:lpstr>Calibri</vt:lpstr>
      <vt:lpstr>Calibri Light</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145</cp:revision>
  <cp:lastPrinted>2021-03-22T11:53:57Z</cp:lastPrinted>
  <dcterms:created xsi:type="dcterms:W3CDTF">2020-11-24T00:12:57Z</dcterms:created>
  <dcterms:modified xsi:type="dcterms:W3CDTF">2021-05-23T13:51:41Z</dcterms:modified>
</cp:coreProperties>
</file>