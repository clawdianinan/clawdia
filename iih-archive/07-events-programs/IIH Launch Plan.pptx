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8"/>
  </p:notesMasterIdLst>
  <p:sldIdLst>
    <p:sldId id="256" r:id="rId2"/>
    <p:sldId id="257" r:id="rId3"/>
    <p:sldId id="258" r:id="rId4"/>
    <p:sldId id="279" r:id="rId5"/>
    <p:sldId id="268" r:id="rId6"/>
    <p:sldId id="269" r:id="rId7"/>
    <p:sldId id="270" r:id="rId8"/>
    <p:sldId id="271" r:id="rId9"/>
    <p:sldId id="282" r:id="rId10"/>
    <p:sldId id="281" r:id="rId11"/>
    <p:sldId id="283" r:id="rId12"/>
    <p:sldId id="284" r:id="rId13"/>
    <p:sldId id="273" r:id="rId14"/>
    <p:sldId id="278" r:id="rId15"/>
    <p:sldId id="274" r:id="rId16"/>
    <p:sldId id="275" r:id="rId17"/>
    <p:sldId id="276" r:id="rId18"/>
    <p:sldId id="272" r:id="rId19"/>
    <p:sldId id="264" r:id="rId20"/>
    <p:sldId id="259" r:id="rId21"/>
    <p:sldId id="261" r:id="rId22"/>
    <p:sldId id="262" r:id="rId23"/>
    <p:sldId id="265" r:id="rId24"/>
    <p:sldId id="263" r:id="rId25"/>
    <p:sldId id="260" r:id="rId26"/>
    <p:sldId id="280"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E166"/>
    <a:srgbClr val="2FF9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044"/>
    <p:restoredTop sz="95701"/>
  </p:normalViewPr>
  <p:slideViewPr>
    <p:cSldViewPr snapToGrid="0" snapToObjects="1">
      <p:cViewPr varScale="1">
        <p:scale>
          <a:sx n="106" d="100"/>
          <a:sy n="106" d="100"/>
        </p:scale>
        <p:origin x="1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6470E6-0769-6D4B-A488-0A52558AC980}" type="datetimeFigureOut">
              <a:rPr lang="en-US" smtClean="0"/>
              <a:t>9/23/22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C98AF7-7999-2F46-B598-849A85A1321C}" type="slidenum">
              <a:rPr lang="en-US" smtClean="0"/>
              <a:t>‹#›</a:t>
            </a:fld>
            <a:endParaRPr lang="en-US"/>
          </a:p>
        </p:txBody>
      </p:sp>
    </p:spTree>
    <p:extLst>
      <p:ext uri="{BB962C8B-B14F-4D97-AF65-F5344CB8AC3E}">
        <p14:creationId xmlns:p14="http://schemas.microsoft.com/office/powerpoint/2010/main" val="251943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ACDAB2-881F-3A4D-A3D6-DF5CE644C05E}"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C44DA0-E4AD-BB41-BD67-766BDE9130AB}"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B92D47-8883-7C49-9A8A-5D6748007F87}"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3700F1-0899-854A-95EC-ABC97EC5031C}" type="datetime1">
              <a:rPr lang="en-US" smtClean="0"/>
              <a:t>9/23/22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8EEFAB-FBEF-634E-878D-A311D430C2C6}" type="datetime1">
              <a:rPr lang="en-US" smtClean="0"/>
              <a:t>9/23/22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A1AC74-D0D3-C244-B8EB-A621FD5AA4DE}" type="datetime1">
              <a:rPr lang="en-US" smtClean="0"/>
              <a:t>9/23/22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5E65F-F9AB-4F45-B0A9-5C8D4861B023}" type="datetime1">
              <a:rPr lang="en-US" smtClean="0"/>
              <a:t>9/23/22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88B06E-F221-BF42-B481-5E233DF9299B}" type="datetime1">
              <a:rPr lang="en-US" smtClean="0"/>
              <a:t>9/23/22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27BD7E-AFEF-2A45-A317-8B1804D6AD3A}" type="datetime1">
              <a:rPr lang="en-US" smtClean="0"/>
              <a:t>9/23/22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BB154-11E4-D445-A165-941E1933C00B}"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20E8AF-6993-FF41-9FC2-111643FFD165}" type="datetime1">
              <a:rPr lang="en-US" smtClean="0"/>
              <a:t>9/23/22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AD7570-6EFC-CC46-8932-5C3580D9FB30}" type="datetime1">
              <a:rPr lang="en-US" smtClean="0"/>
              <a:t>9/23/22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jpg"/><Relationship Id="rId18" Type="http://schemas.openxmlformats.org/officeDocument/2006/relationships/image" Target="../media/image39.png"/><Relationship Id="rId3" Type="http://schemas.openxmlformats.org/officeDocument/2006/relationships/image" Target="../media/image24.png"/><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3.jpg"/><Relationship Id="rId17" Type="http://schemas.openxmlformats.org/officeDocument/2006/relationships/image" Target="../media/image38.jpe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7.jpg"/><Relationship Id="rId11" Type="http://schemas.openxmlformats.org/officeDocument/2006/relationships/image" Target="../media/image32.jpg"/><Relationship Id="rId5" Type="http://schemas.openxmlformats.org/officeDocument/2006/relationships/image" Target="../media/image26.png"/><Relationship Id="rId15" Type="http://schemas.openxmlformats.org/officeDocument/2006/relationships/image" Target="../media/image36.jpe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0.jpg"/><Relationship Id="rId1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1F9D572B-B3ED-904F-9CD5-AAFE070052F0}"/>
              </a:ext>
            </a:extLst>
          </p:cNvPr>
          <p:cNvSpPr txBox="1"/>
          <p:nvPr/>
        </p:nvSpPr>
        <p:spPr>
          <a:xfrm>
            <a:off x="731770" y="4672259"/>
            <a:ext cx="3455220" cy="400110"/>
          </a:xfrm>
          <a:prstGeom prst="rect">
            <a:avLst/>
          </a:prstGeom>
          <a:noFill/>
        </p:spPr>
        <p:txBody>
          <a:bodyPr wrap="square" rtlCol="0">
            <a:spAutoFit/>
          </a:bodyPr>
          <a:lstStyle/>
          <a:p>
            <a:r>
              <a:rPr lang="en-US" sz="2000" dirty="0">
                <a:latin typeface="Avenir Book" panose="02000503020000020003" pitchFamily="2" charset="0"/>
                <a:ea typeface="Roboto Light" panose="02000000000000000000" pitchFamily="2" charset="0"/>
              </a:rPr>
              <a:t>Strategic Plan</a:t>
            </a:r>
          </a:p>
        </p:txBody>
      </p:sp>
      <p:sp>
        <p:nvSpPr>
          <p:cNvPr id="13" name="TextBox 12">
            <a:extLst>
              <a:ext uri="{FF2B5EF4-FFF2-40B4-BE49-F238E27FC236}">
                <a16:creationId xmlns:a16="http://schemas.microsoft.com/office/drawing/2014/main" id="{0D1D6F3D-0AB0-5342-85F1-6C95F1F7360B}"/>
              </a:ext>
            </a:extLst>
          </p:cNvPr>
          <p:cNvSpPr txBox="1"/>
          <p:nvPr/>
        </p:nvSpPr>
        <p:spPr>
          <a:xfrm>
            <a:off x="731770" y="5090989"/>
            <a:ext cx="3455220" cy="307777"/>
          </a:xfrm>
          <a:prstGeom prst="rect">
            <a:avLst/>
          </a:prstGeom>
          <a:noFill/>
        </p:spPr>
        <p:txBody>
          <a:bodyPr wrap="square" rtlCol="0">
            <a:spAutoFit/>
          </a:bodyPr>
          <a:lstStyle/>
          <a:p>
            <a:r>
              <a:rPr lang="en-US" sz="1400" dirty="0">
                <a:latin typeface="Roboto Light" panose="02000000000000000000" pitchFamily="2" charset="0"/>
                <a:ea typeface="Roboto Light" panose="02000000000000000000" pitchFamily="2" charset="0"/>
              </a:rPr>
              <a:t>September 2022</a:t>
            </a:r>
          </a:p>
        </p:txBody>
      </p:sp>
      <p:pic>
        <p:nvPicPr>
          <p:cNvPr id="5" name="Picture 4">
            <a:extLst>
              <a:ext uri="{FF2B5EF4-FFF2-40B4-BE49-F238E27FC236}">
                <a16:creationId xmlns:a16="http://schemas.microsoft.com/office/drawing/2014/main" id="{736368D7-A6F2-B746-9BD5-7CA16E5DB80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840054" y="3172932"/>
            <a:ext cx="2556807" cy="1078672"/>
          </a:xfrm>
          <a:prstGeom prst="rect">
            <a:avLst/>
          </a:prstGeom>
        </p:spPr>
      </p:pic>
      <p:pic>
        <p:nvPicPr>
          <p:cNvPr id="11" name="Picture 10">
            <a:extLst>
              <a:ext uri="{FF2B5EF4-FFF2-40B4-BE49-F238E27FC236}">
                <a16:creationId xmlns:a16="http://schemas.microsoft.com/office/drawing/2014/main" id="{1E3DF3EC-8758-6248-BE9D-2006C67ABCE2}"/>
              </a:ext>
            </a:extLst>
          </p:cNvPr>
          <p:cNvPicPr>
            <a:picLocks noChangeAspect="1"/>
          </p:cNvPicPr>
          <p:nvPr/>
        </p:nvPicPr>
        <p:blipFill>
          <a:blip r:embed="rId3"/>
          <a:stretch>
            <a:fillRect/>
          </a:stretch>
        </p:blipFill>
        <p:spPr>
          <a:xfrm>
            <a:off x="3813421" y="593558"/>
            <a:ext cx="1937243" cy="3120162"/>
          </a:xfrm>
          <a:prstGeom prst="rect">
            <a:avLst/>
          </a:prstGeom>
        </p:spPr>
      </p:pic>
      <p:pic>
        <p:nvPicPr>
          <p:cNvPr id="15" name="Picture 14">
            <a:extLst>
              <a:ext uri="{FF2B5EF4-FFF2-40B4-BE49-F238E27FC236}">
                <a16:creationId xmlns:a16="http://schemas.microsoft.com/office/drawing/2014/main" id="{4DF8BB53-8588-1148-8A45-36D442E34E98}"/>
              </a:ext>
            </a:extLst>
          </p:cNvPr>
          <p:cNvPicPr>
            <a:picLocks noChangeAspect="1"/>
          </p:cNvPicPr>
          <p:nvPr/>
        </p:nvPicPr>
        <p:blipFill>
          <a:blip r:embed="rId4"/>
          <a:stretch>
            <a:fillRect/>
          </a:stretch>
        </p:blipFill>
        <p:spPr>
          <a:xfrm>
            <a:off x="5287369" y="4671792"/>
            <a:ext cx="1727200" cy="1676400"/>
          </a:xfrm>
          <a:prstGeom prst="rect">
            <a:avLst/>
          </a:prstGeom>
        </p:spPr>
      </p:pic>
      <p:pic>
        <p:nvPicPr>
          <p:cNvPr id="16" name="Picture 15">
            <a:extLst>
              <a:ext uri="{FF2B5EF4-FFF2-40B4-BE49-F238E27FC236}">
                <a16:creationId xmlns:a16="http://schemas.microsoft.com/office/drawing/2014/main" id="{32C02BD9-8CFD-B04D-AF92-C1EB8EA5F6BF}"/>
              </a:ext>
            </a:extLst>
          </p:cNvPr>
          <p:cNvPicPr>
            <a:picLocks noChangeAspect="1"/>
          </p:cNvPicPr>
          <p:nvPr/>
        </p:nvPicPr>
        <p:blipFill>
          <a:blip r:embed="rId5"/>
          <a:stretch>
            <a:fillRect/>
          </a:stretch>
        </p:blipFill>
        <p:spPr>
          <a:xfrm>
            <a:off x="840054" y="5806384"/>
            <a:ext cx="1727200" cy="167364"/>
          </a:xfrm>
          <a:prstGeom prst="rect">
            <a:avLst/>
          </a:prstGeom>
        </p:spPr>
      </p:pic>
      <p:pic>
        <p:nvPicPr>
          <p:cNvPr id="18" name="Picture 17" descr="Icon&#10;&#10;Description automatically generated">
            <a:extLst>
              <a:ext uri="{FF2B5EF4-FFF2-40B4-BE49-F238E27FC236}">
                <a16:creationId xmlns:a16="http://schemas.microsoft.com/office/drawing/2014/main" id="{3C275BA9-B14B-8B41-AD5E-3FDB3549D424}"/>
              </a:ext>
            </a:extLst>
          </p:cNvPr>
          <p:cNvPicPr>
            <a:picLocks noChangeAspect="1"/>
          </p:cNvPicPr>
          <p:nvPr/>
        </p:nvPicPr>
        <p:blipFill>
          <a:blip r:embed="rId6"/>
          <a:stretch>
            <a:fillRect/>
          </a:stretch>
        </p:blipFill>
        <p:spPr>
          <a:xfrm>
            <a:off x="7180396" y="2695074"/>
            <a:ext cx="1123549" cy="1271942"/>
          </a:xfrm>
          <a:prstGeom prst="rect">
            <a:avLst/>
          </a:prstGeom>
        </p:spPr>
      </p:pic>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976441"/>
            <a:ext cx="4425795" cy="2603533"/>
          </a:xfrm>
          <a:prstGeom prst="rect">
            <a:avLst/>
          </a:prstGeom>
          <a:noFill/>
        </p:spPr>
        <p:txBody>
          <a:bodyPr wrap="square" rtlCol="0">
            <a:spAutoFit/>
          </a:bodyPr>
          <a:lstStyle/>
          <a:p>
            <a:pPr lvl="8" algn="just">
              <a:lnSpc>
                <a:spcPct val="150000"/>
              </a:lnSpc>
            </a:pPr>
            <a:r>
              <a:rPr lang="en-US" sz="1200" dirty="0">
                <a:solidFill>
                  <a:schemeClr val="bg1">
                    <a:lumMod val="75000"/>
                  </a:schemeClr>
                </a:solidFill>
                <a:latin typeface="Courier" pitchFamily="2" charset="0"/>
              </a:rPr>
              <a:t>page</a:t>
            </a:r>
            <a:endParaRPr lang="en-US" sz="1400" dirty="0">
              <a:solidFill>
                <a:schemeClr val="bg1">
                  <a:lumMod val="75000"/>
                </a:schemeClr>
              </a:solidFill>
              <a:latin typeface="Courier" pitchFamily="2" charset="0"/>
            </a:endParaRPr>
          </a:p>
          <a:p>
            <a:pPr algn="just">
              <a:lnSpc>
                <a:spcPct val="150000"/>
              </a:lnSpc>
            </a:pPr>
            <a:r>
              <a:rPr lang="en-US" sz="1400" dirty="0">
                <a:latin typeface="Avenir Book" panose="02000503020000020003" pitchFamily="2" charset="0"/>
              </a:rPr>
              <a:t>Introduction &amp; Vision					3</a:t>
            </a:r>
          </a:p>
          <a:p>
            <a:pPr algn="just">
              <a:lnSpc>
                <a:spcPct val="150000"/>
              </a:lnSpc>
            </a:pPr>
            <a:r>
              <a:rPr lang="en-US" sz="1400" dirty="0">
                <a:latin typeface="Avenir Book" panose="02000503020000020003" pitchFamily="2" charset="0"/>
              </a:rPr>
              <a:t>Key Success Factors					4</a:t>
            </a:r>
          </a:p>
          <a:p>
            <a:pPr algn="just">
              <a:lnSpc>
                <a:spcPct val="150000"/>
              </a:lnSpc>
            </a:pPr>
            <a:r>
              <a:rPr lang="en-US" sz="1400" dirty="0">
                <a:latin typeface="Avenir Book" panose="02000503020000020003" pitchFamily="2" charset="0"/>
              </a:rPr>
              <a:t>Business Strategy</a:t>
            </a:r>
          </a:p>
          <a:p>
            <a:pPr algn="just">
              <a:lnSpc>
                <a:spcPct val="150000"/>
              </a:lnSpc>
            </a:pPr>
            <a:r>
              <a:rPr lang="en-US" sz="1400" dirty="0">
                <a:latin typeface="Avenir Book" panose="02000503020000020003" pitchFamily="2" charset="0"/>
              </a:rPr>
              <a:t>Proposed Structure &amp; Operations</a:t>
            </a:r>
          </a:p>
          <a:p>
            <a:pPr algn="just">
              <a:lnSpc>
                <a:spcPct val="150000"/>
              </a:lnSpc>
            </a:pPr>
            <a:r>
              <a:rPr lang="en-US" sz="1400" dirty="0">
                <a:latin typeface="Avenir Book" panose="02000503020000020003" pitchFamily="2" charset="0"/>
              </a:rPr>
              <a:t>Proposed Key Partnerships</a:t>
            </a:r>
          </a:p>
          <a:p>
            <a:pPr algn="just">
              <a:lnSpc>
                <a:spcPct val="150000"/>
              </a:lnSpc>
            </a:pPr>
            <a:r>
              <a:rPr lang="en-US" sz="1400" dirty="0">
                <a:latin typeface="Avenir Book" panose="02000503020000020003" pitchFamily="2" charset="0"/>
              </a:rPr>
              <a:t>Next Steps</a:t>
            </a:r>
          </a:p>
          <a:p>
            <a:pPr algn="just">
              <a:lnSpc>
                <a:spcPct val="150000"/>
              </a:lnSpc>
            </a:pPr>
            <a:r>
              <a:rPr lang="en-US" sz="1400" dirty="0">
                <a:latin typeface="Avenir Book" panose="02000503020000020003" pitchFamily="2" charset="0"/>
              </a:rPr>
              <a:t>Funding</a:t>
            </a:r>
          </a:p>
        </p:txBody>
      </p:sp>
      <p:sp>
        <p:nvSpPr>
          <p:cNvPr id="8" name="TextBox 7">
            <a:extLst>
              <a:ext uri="{FF2B5EF4-FFF2-40B4-BE49-F238E27FC236}">
                <a16:creationId xmlns:a16="http://schemas.microsoft.com/office/drawing/2014/main" id="{CA529B26-AC42-D34F-8578-B4669A7997A4}"/>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Contents</a:t>
            </a:r>
          </a:p>
        </p:txBody>
      </p:sp>
      <p:pic>
        <p:nvPicPr>
          <p:cNvPr id="5" name="Picture 4">
            <a:extLst>
              <a:ext uri="{FF2B5EF4-FFF2-40B4-BE49-F238E27FC236}">
                <a16:creationId xmlns:a16="http://schemas.microsoft.com/office/drawing/2014/main" id="{47990D88-2142-344C-8990-15E53A7BED3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4" name="Slide Number Placeholder 3">
            <a:extLst>
              <a:ext uri="{FF2B5EF4-FFF2-40B4-BE49-F238E27FC236}">
                <a16:creationId xmlns:a16="http://schemas.microsoft.com/office/drawing/2014/main" id="{0FB2148B-624C-354D-9DFC-13B6AA9B7566}"/>
              </a:ext>
            </a:extLst>
          </p:cNvPr>
          <p:cNvSpPr>
            <a:spLocks noGrp="1"/>
          </p:cNvSpPr>
          <p:nvPr>
            <p:ph type="sldNum" sz="quarter" idx="12"/>
          </p:nvPr>
        </p:nvSpPr>
        <p:spPr/>
        <p:txBody>
          <a:bodyPr/>
          <a:lstStyle/>
          <a:p>
            <a:fld id="{664C5C96-B43F-EF41-83BB-885FD2BDB03F}" type="slidenum">
              <a:rPr lang="en-US" smtClean="0">
                <a:latin typeface="Avenir Book" panose="02000503020000020003" pitchFamily="2" charset="0"/>
              </a:rPr>
              <a:t>2</a:t>
            </a:fld>
            <a:endParaRPr lang="en-US">
              <a:latin typeface="Avenir Book" panose="02000503020000020003" pitchFamily="2" charset="0"/>
            </a:endParaRPr>
          </a:p>
        </p:txBody>
      </p:sp>
      <p:pic>
        <p:nvPicPr>
          <p:cNvPr id="21" name="Picture 20">
            <a:extLst>
              <a:ext uri="{FF2B5EF4-FFF2-40B4-BE49-F238E27FC236}">
                <a16:creationId xmlns:a16="http://schemas.microsoft.com/office/drawing/2014/main" id="{0196017C-9D35-7544-993F-AB5C5C5C72A4}"/>
              </a:ext>
            </a:extLst>
          </p:cNvPr>
          <p:cNvPicPr>
            <a:picLocks noChangeAspect="1"/>
          </p:cNvPicPr>
          <p:nvPr/>
        </p:nvPicPr>
        <p:blipFill>
          <a:blip r:embed="rId3"/>
          <a:stretch>
            <a:fillRect/>
          </a:stretch>
        </p:blipFill>
        <p:spPr>
          <a:xfrm>
            <a:off x="3517900" y="5463196"/>
            <a:ext cx="2108200" cy="152400"/>
          </a:xfrm>
          <a:prstGeom prst="rect">
            <a:avLst/>
          </a:prstGeom>
        </p:spPr>
      </p:pic>
      <p:pic>
        <p:nvPicPr>
          <p:cNvPr id="24" name="Picture 23" descr="A picture containing outdoor, palm, resort, shore&#10;&#10;Description automatically generated">
            <a:extLst>
              <a:ext uri="{FF2B5EF4-FFF2-40B4-BE49-F238E27FC236}">
                <a16:creationId xmlns:a16="http://schemas.microsoft.com/office/drawing/2014/main" id="{0EE0573D-4557-0E40-ABBC-DE13E92835A6}"/>
              </a:ext>
            </a:extLst>
          </p:cNvPr>
          <p:cNvPicPr>
            <a:picLocks noChangeAspect="1"/>
          </p:cNvPicPr>
          <p:nvPr/>
        </p:nvPicPr>
        <p:blipFill>
          <a:blip r:embed="rId4"/>
          <a:stretch>
            <a:fillRect/>
          </a:stretch>
        </p:blipFill>
        <p:spPr>
          <a:xfrm>
            <a:off x="5110141" y="2293585"/>
            <a:ext cx="3733069" cy="2087988"/>
          </a:xfrm>
          <a:prstGeom prst="rect">
            <a:avLst/>
          </a:prstGeom>
        </p:spPr>
      </p:pic>
    </p:spTree>
    <p:extLst>
      <p:ext uri="{BB962C8B-B14F-4D97-AF65-F5344CB8AC3E}">
        <p14:creationId xmlns:p14="http://schemas.microsoft.com/office/powerpoint/2010/main" val="29552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5231"/>
            <a:ext cx="4734839" cy="5235023"/>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The vision of the Governor of Kwara State, His Excellency </a:t>
            </a:r>
            <a:r>
              <a:rPr lang="en-US" sz="1400" b="1" dirty="0">
                <a:latin typeface="Avenir Book" panose="02000503020000020003" pitchFamily="2" charset="0"/>
              </a:rPr>
              <a:t>Mallam </a:t>
            </a:r>
            <a:r>
              <a:rPr lang="en-US" sz="1400" b="1" dirty="0" err="1">
                <a:latin typeface="Avenir Book" panose="02000503020000020003" pitchFamily="2" charset="0"/>
              </a:rPr>
              <a:t>AbdulRahman</a:t>
            </a:r>
            <a:r>
              <a:rPr lang="en-US" sz="1400" b="1" dirty="0">
                <a:latin typeface="Avenir Book" panose="02000503020000020003" pitchFamily="2" charset="0"/>
              </a:rPr>
              <a:t> </a:t>
            </a:r>
            <a:r>
              <a:rPr lang="en-US" sz="1400" b="1" dirty="0" err="1">
                <a:latin typeface="Avenir Book" panose="02000503020000020003" pitchFamily="2" charset="0"/>
              </a:rPr>
              <a:t>AbdulRazaq</a:t>
            </a:r>
            <a:r>
              <a:rPr lang="en-US" sz="1400" b="1" dirty="0">
                <a:latin typeface="Avenir Book" panose="02000503020000020003" pitchFamily="2" charset="0"/>
              </a:rPr>
              <a:t> </a:t>
            </a:r>
            <a:r>
              <a:rPr lang="en-US" sz="1400" dirty="0">
                <a:latin typeface="Avenir Book" panose="02000503020000020003" pitchFamily="2" charset="0"/>
              </a:rPr>
              <a:t>is to transform Kwara into an economically viable and self-sustainable state via digital literacy, youth empowerment, innovation and technology.</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The Ilorin Innovation Hub (launching in 2023) is the one of several efforts to drive the adoption of technology across the state, which will in turn drive economic development.</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In order to ensure this project fully reaches it’s potential and truly transforms Kwara State into the next tech destination in Nigeria and Africa, we are laying out a multi-faceted strategy to plan, execute and measure the impact of the Innovation Hub.</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Introduction</a:t>
            </a:r>
          </a:p>
        </p:txBody>
      </p:sp>
      <p:pic>
        <p:nvPicPr>
          <p:cNvPr id="5" name="Picture 4">
            <a:extLst>
              <a:ext uri="{FF2B5EF4-FFF2-40B4-BE49-F238E27FC236}">
                <a16:creationId xmlns:a16="http://schemas.microsoft.com/office/drawing/2014/main" id="{FE78D2B7-DD3C-C649-BC42-A6D35C3E772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627A866D-A12E-EB47-936B-93FF4A68B07C}"/>
              </a:ext>
            </a:extLst>
          </p:cNvPr>
          <p:cNvSpPr>
            <a:spLocks noGrp="1"/>
          </p:cNvSpPr>
          <p:nvPr>
            <p:ph type="sldNum" sz="quarter" idx="12"/>
          </p:nvPr>
        </p:nvSpPr>
        <p:spPr/>
        <p:txBody>
          <a:bodyPr/>
          <a:lstStyle/>
          <a:p>
            <a:fld id="{664C5C96-B43F-EF41-83BB-885FD2BDB03F}" type="slidenum">
              <a:rPr lang="en-US" smtClean="0"/>
              <a:t>3</a:t>
            </a:fld>
            <a:endParaRPr lang="en-US"/>
          </a:p>
        </p:txBody>
      </p:sp>
      <p:pic>
        <p:nvPicPr>
          <p:cNvPr id="10" name="Picture 9" descr="A person wearing a hat&#10;&#10;Description automatically generated with medium confidence">
            <a:extLst>
              <a:ext uri="{FF2B5EF4-FFF2-40B4-BE49-F238E27FC236}">
                <a16:creationId xmlns:a16="http://schemas.microsoft.com/office/drawing/2014/main" id="{DAA0C136-AA62-7B49-8A26-AAAD5B037711}"/>
              </a:ext>
            </a:extLst>
          </p:cNvPr>
          <p:cNvPicPr>
            <a:picLocks noChangeAspect="1"/>
          </p:cNvPicPr>
          <p:nvPr/>
        </p:nvPicPr>
        <p:blipFill>
          <a:blip r:embed="rId3"/>
          <a:stretch>
            <a:fillRect/>
          </a:stretch>
        </p:blipFill>
        <p:spPr>
          <a:xfrm>
            <a:off x="5975350" y="1472742"/>
            <a:ext cx="2540000" cy="2540000"/>
          </a:xfrm>
          <a:prstGeom prst="rect">
            <a:avLst/>
          </a:prstGeom>
        </p:spPr>
      </p:pic>
    </p:spTree>
    <p:extLst>
      <p:ext uri="{BB962C8B-B14F-4D97-AF65-F5344CB8AC3E}">
        <p14:creationId xmlns:p14="http://schemas.microsoft.com/office/powerpoint/2010/main" val="3692627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575891"/>
            <a:ext cx="7919582" cy="4587346"/>
          </a:xfrm>
          <a:prstGeom prst="rect">
            <a:avLst/>
          </a:prstGeom>
          <a:noFill/>
        </p:spPr>
        <p:txBody>
          <a:bodyPr wrap="square" rtlCol="0">
            <a:spAutoFit/>
          </a:bodyPr>
          <a:lstStyle/>
          <a:p>
            <a:pPr marL="0" marR="0">
              <a:lnSpc>
                <a:spcPct val="150000"/>
              </a:lnSpc>
              <a:spcBef>
                <a:spcPts val="0"/>
              </a:spcBef>
              <a:spcAft>
                <a:spcPts val="0"/>
              </a:spcAft>
            </a:pPr>
            <a:r>
              <a:rPr lang="en-US" sz="1400" dirty="0">
                <a:latin typeface="Avenir Book" panose="02000503020000020003" pitchFamily="2" charset="0"/>
                <a:ea typeface="Calibri" panose="020F0502020204030204" pitchFamily="34" charset="0"/>
                <a:cs typeface="Times New Roman" panose="02020603050405020304" pitchFamily="18" charset="0"/>
              </a:rPr>
              <a:t>With the Ilorin Innovation Hub b</a:t>
            </a:r>
            <a:r>
              <a:rPr lang="en-US" sz="1400" dirty="0">
                <a:effectLst/>
                <a:latin typeface="Avenir Book" panose="02000503020000020003" pitchFamily="2" charset="0"/>
                <a:ea typeface="Calibri" panose="020F0502020204030204" pitchFamily="34" charset="0"/>
                <a:cs typeface="Times New Roman" panose="02020603050405020304" pitchFamily="18" charset="0"/>
              </a:rPr>
              <a:t>eing a new initiative by a state government in a sensitive industry like the technology industry, some strategic steps need to be taken to ensure the success and sustainability of the Ilorin Innovation Hub. After extensive consultation with industry leaders and experts, it has been discovered that some requirements need to be put in place for the Ilorin Innovation Hub to function effectively and these are included in a wholistic set of documents that cover the establishment, structure and mode of operation of Ilorin Innovation Hub, the Kwara State Startups, Innovation &amp; Information Technology Agency, the Kwara State Innovation &amp; Technology Fund and some other connected initiatives. </a:t>
            </a:r>
          </a:p>
          <a:p>
            <a:pPr marL="0" marR="0">
              <a:lnSpc>
                <a:spcPct val="150000"/>
              </a:lnSpc>
              <a:spcBef>
                <a:spcPts val="0"/>
              </a:spcBef>
              <a:spcAft>
                <a:spcPts val="0"/>
              </a:spcAft>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0" marR="0">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These requirements are to ensure the project remains attractive to donor agencies, private investors, corporate sponsors and most importantly to ensure it is sustainable enough to continue creating impact in Kwara State and beyond. More on this can be found in the attached Structure &amp; Operations document. We are also partnering with the Nigeria Startup Bill secretariat on getting their input for our law.</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5" name="Picture 4">
            <a:extLst>
              <a:ext uri="{FF2B5EF4-FFF2-40B4-BE49-F238E27FC236}">
                <a16:creationId xmlns:a16="http://schemas.microsoft.com/office/drawing/2014/main" id="{B92F5A68-B135-524C-9952-7B1B32E538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719FD380-00A5-344E-B4A2-E9F887ECB731}"/>
              </a:ext>
            </a:extLst>
          </p:cNvPr>
          <p:cNvSpPr>
            <a:spLocks noGrp="1"/>
          </p:cNvSpPr>
          <p:nvPr>
            <p:ph type="sldNum" sz="quarter" idx="12"/>
          </p:nvPr>
        </p:nvSpPr>
        <p:spPr/>
        <p:txBody>
          <a:bodyPr/>
          <a:lstStyle/>
          <a:p>
            <a:fld id="{664C5C96-B43F-EF41-83BB-885FD2BDB03F}" type="slidenum">
              <a:rPr lang="en-US" smtClean="0"/>
              <a:t>4</a:t>
            </a:fld>
            <a:endParaRPr lang="en-US"/>
          </a:p>
        </p:txBody>
      </p:sp>
    </p:spTree>
    <p:extLst>
      <p:ext uri="{BB962C8B-B14F-4D97-AF65-F5344CB8AC3E}">
        <p14:creationId xmlns:p14="http://schemas.microsoft.com/office/powerpoint/2010/main" val="4247602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sp>
        <p:nvSpPr>
          <p:cNvPr id="5" name="TextBox 4">
            <a:extLst>
              <a:ext uri="{FF2B5EF4-FFF2-40B4-BE49-F238E27FC236}">
                <a16:creationId xmlns:a16="http://schemas.microsoft.com/office/drawing/2014/main" id="{B6D898E5-1821-AA42-BFD4-402F6E0F8B53}"/>
              </a:ext>
            </a:extLst>
          </p:cNvPr>
          <p:cNvSpPr txBox="1"/>
          <p:nvPr/>
        </p:nvSpPr>
        <p:spPr>
          <a:xfrm>
            <a:off x="538618" y="1378587"/>
            <a:ext cx="7635226" cy="797591"/>
          </a:xfrm>
          <a:prstGeom prst="rect">
            <a:avLst/>
          </a:prstGeom>
          <a:noFill/>
        </p:spPr>
        <p:txBody>
          <a:bodyPr wrap="square" rtlCol="0">
            <a:spAutoFit/>
          </a:bodyPr>
          <a:lstStyle/>
          <a:p>
            <a:pPr marR="0" algn="just">
              <a:lnSpc>
                <a:spcPct val="150000"/>
              </a:lnSpc>
              <a:spcBef>
                <a:spcPts val="0"/>
              </a:spcBef>
              <a:spcAft>
                <a:spcPts val="0"/>
              </a:spcAft>
            </a:pPr>
            <a:r>
              <a:rPr lang="en-US" sz="1600" dirty="0">
                <a:effectLst/>
                <a:latin typeface="Avenir Book" panose="02000503020000020003" pitchFamily="2" charset="0"/>
                <a:ea typeface="Calibri" panose="020F0502020204030204" pitchFamily="34" charset="0"/>
                <a:cs typeface="Times New Roman" panose="02020603050405020304" pitchFamily="18" charset="0"/>
              </a:rPr>
              <a:t>The key success factors that have been determined to ensure the longevity and sustainability of the Ilori</a:t>
            </a:r>
            <a:r>
              <a:rPr lang="en-US" sz="1600" dirty="0">
                <a:latin typeface="Avenir Book" panose="02000503020000020003" pitchFamily="2" charset="0"/>
                <a:ea typeface="Calibri" panose="020F0502020204030204" pitchFamily="34" charset="0"/>
                <a:cs typeface="Times New Roman" panose="02020603050405020304" pitchFamily="18" charset="0"/>
              </a:rPr>
              <a:t>n Innovation Hub are: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518783B8-A003-524A-91A5-8983B9409E3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2" name="TextBox 11">
            <a:extLst>
              <a:ext uri="{FF2B5EF4-FFF2-40B4-BE49-F238E27FC236}">
                <a16:creationId xmlns:a16="http://schemas.microsoft.com/office/drawing/2014/main" id="{E4C6E629-E94E-7049-96DB-B3172A9F1EC3}"/>
              </a:ext>
            </a:extLst>
          </p:cNvPr>
          <p:cNvSpPr txBox="1"/>
          <p:nvPr/>
        </p:nvSpPr>
        <p:spPr>
          <a:xfrm>
            <a:off x="538618" y="6036602"/>
            <a:ext cx="7635226" cy="386196"/>
          </a:xfrm>
          <a:prstGeom prst="rect">
            <a:avLst/>
          </a:prstGeom>
          <a:noFill/>
        </p:spPr>
        <p:txBody>
          <a:bodyPr wrap="square" rtlCol="0">
            <a:spAutoFit/>
          </a:bodyPr>
          <a:lstStyle/>
          <a:p>
            <a:pPr marR="0" algn="just">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These are the pillars on which a successful government-backed innovation hub can thrive.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19" name="Group 18">
            <a:extLst>
              <a:ext uri="{FF2B5EF4-FFF2-40B4-BE49-F238E27FC236}">
                <a16:creationId xmlns:a16="http://schemas.microsoft.com/office/drawing/2014/main" id="{A3694457-268A-E34D-8E31-51474A7FECFD}"/>
              </a:ext>
            </a:extLst>
          </p:cNvPr>
          <p:cNvGrpSpPr/>
          <p:nvPr/>
        </p:nvGrpSpPr>
        <p:grpSpPr>
          <a:xfrm>
            <a:off x="133541" y="2588489"/>
            <a:ext cx="2033337" cy="1177735"/>
            <a:chOff x="355710" y="2763064"/>
            <a:chExt cx="2033337" cy="1177735"/>
          </a:xfrm>
        </p:grpSpPr>
        <p:pic>
          <p:nvPicPr>
            <p:cNvPr id="3" name="Picture 2" descr="Icon&#10;&#10;Description automatically generated">
              <a:extLst>
                <a:ext uri="{FF2B5EF4-FFF2-40B4-BE49-F238E27FC236}">
                  <a16:creationId xmlns:a16="http://schemas.microsoft.com/office/drawing/2014/main" id="{E39FC3ED-F208-7544-8C3D-792C8295A5D3}"/>
                </a:ext>
              </a:extLst>
            </p:cNvPr>
            <p:cNvPicPr>
              <a:picLocks noChangeAspect="1"/>
            </p:cNvPicPr>
            <p:nvPr/>
          </p:nvPicPr>
          <p:blipFill>
            <a:blip r:embed="rId3"/>
            <a:stretch>
              <a:fillRect/>
            </a:stretch>
          </p:blipFill>
          <p:spPr>
            <a:xfrm>
              <a:off x="970157" y="2763064"/>
              <a:ext cx="804445" cy="804445"/>
            </a:xfrm>
            <a:prstGeom prst="rect">
              <a:avLst/>
            </a:prstGeom>
          </p:spPr>
        </p:pic>
        <p:sp>
          <p:nvSpPr>
            <p:cNvPr id="4" name="TextBox 3">
              <a:extLst>
                <a:ext uri="{FF2B5EF4-FFF2-40B4-BE49-F238E27FC236}">
                  <a16:creationId xmlns:a16="http://schemas.microsoft.com/office/drawing/2014/main" id="{DAD68A77-3A1D-E041-BB32-3D84FBDBB49D}"/>
                </a:ext>
              </a:extLst>
            </p:cNvPr>
            <p:cNvSpPr txBox="1"/>
            <p:nvPr/>
          </p:nvSpPr>
          <p:spPr>
            <a:xfrm>
              <a:off x="355710" y="3633022"/>
              <a:ext cx="2033337" cy="307777"/>
            </a:xfrm>
            <a:prstGeom prst="rect">
              <a:avLst/>
            </a:prstGeom>
            <a:noFill/>
          </p:spPr>
          <p:txBody>
            <a:bodyPr wrap="square" rtlCol="0">
              <a:spAutoFit/>
            </a:bodyPr>
            <a:lstStyle/>
            <a:p>
              <a:pPr algn="ctr"/>
              <a:r>
                <a:rPr lang="en-US" sz="1400" b="1" dirty="0">
                  <a:latin typeface="Avenir Book" panose="02000503020000020003" pitchFamily="2" charset="0"/>
                </a:rPr>
                <a:t>Adequate Funding</a:t>
              </a:r>
            </a:p>
          </p:txBody>
        </p:sp>
      </p:grpSp>
      <p:grpSp>
        <p:nvGrpSpPr>
          <p:cNvPr id="20" name="Group 19">
            <a:extLst>
              <a:ext uri="{FF2B5EF4-FFF2-40B4-BE49-F238E27FC236}">
                <a16:creationId xmlns:a16="http://schemas.microsoft.com/office/drawing/2014/main" id="{90CC581A-5CCB-B446-B220-2225D887251C}"/>
              </a:ext>
            </a:extLst>
          </p:cNvPr>
          <p:cNvGrpSpPr/>
          <p:nvPr/>
        </p:nvGrpSpPr>
        <p:grpSpPr>
          <a:xfrm>
            <a:off x="2116291" y="2512243"/>
            <a:ext cx="2442412" cy="1599158"/>
            <a:chOff x="3032374" y="2694468"/>
            <a:chExt cx="2442412" cy="1599158"/>
          </a:xfrm>
        </p:grpSpPr>
        <p:pic>
          <p:nvPicPr>
            <p:cNvPr id="14" name="Picture 13" descr="A picture containing icon&#10;&#10;Description automatically generated">
              <a:extLst>
                <a:ext uri="{FF2B5EF4-FFF2-40B4-BE49-F238E27FC236}">
                  <a16:creationId xmlns:a16="http://schemas.microsoft.com/office/drawing/2014/main" id="{477F6E1F-3699-274D-A86C-F3D5BC441C5B}"/>
                </a:ext>
              </a:extLst>
            </p:cNvPr>
            <p:cNvPicPr>
              <a:picLocks noChangeAspect="1"/>
            </p:cNvPicPr>
            <p:nvPr/>
          </p:nvPicPr>
          <p:blipFill>
            <a:blip r:embed="rId4"/>
            <a:stretch>
              <a:fillRect/>
            </a:stretch>
          </p:blipFill>
          <p:spPr>
            <a:xfrm>
              <a:off x="3917114" y="2694468"/>
              <a:ext cx="672933" cy="672933"/>
            </a:xfrm>
            <a:prstGeom prst="rect">
              <a:avLst/>
            </a:prstGeom>
          </p:spPr>
        </p:pic>
        <p:sp>
          <p:nvSpPr>
            <p:cNvPr id="15" name="TextBox 14">
              <a:extLst>
                <a:ext uri="{FF2B5EF4-FFF2-40B4-BE49-F238E27FC236}">
                  <a16:creationId xmlns:a16="http://schemas.microsoft.com/office/drawing/2014/main" id="{41FEE594-7205-D549-8274-1C8A8D01A978}"/>
                </a:ext>
              </a:extLst>
            </p:cNvPr>
            <p:cNvSpPr txBox="1"/>
            <p:nvPr/>
          </p:nvSpPr>
          <p:spPr>
            <a:xfrm>
              <a:off x="3032374" y="3554962"/>
              <a:ext cx="2442412" cy="738664"/>
            </a:xfrm>
            <a:prstGeom prst="rect">
              <a:avLst/>
            </a:prstGeom>
            <a:noFill/>
          </p:spPr>
          <p:txBody>
            <a:bodyPr wrap="square" rtlCol="0">
              <a:spAutoFit/>
            </a:bodyPr>
            <a:lstStyle/>
            <a:p>
              <a:pPr algn="ctr"/>
              <a:r>
                <a:rPr lang="en-US" sz="1400" b="1" dirty="0">
                  <a:latin typeface="Avenir Book" panose="02000503020000020003" pitchFamily="2" charset="0"/>
                </a:rPr>
                <a:t>Autonomy &amp; Complete Detachment from Government Bureaucracy</a:t>
              </a:r>
            </a:p>
          </p:txBody>
        </p:sp>
      </p:grpSp>
      <p:grpSp>
        <p:nvGrpSpPr>
          <p:cNvPr id="39" name="Group 38">
            <a:extLst>
              <a:ext uri="{FF2B5EF4-FFF2-40B4-BE49-F238E27FC236}">
                <a16:creationId xmlns:a16="http://schemas.microsoft.com/office/drawing/2014/main" id="{D7A3CB1B-E3A6-8F40-A7CB-23B5036D0CD6}"/>
              </a:ext>
            </a:extLst>
          </p:cNvPr>
          <p:cNvGrpSpPr/>
          <p:nvPr/>
        </p:nvGrpSpPr>
        <p:grpSpPr>
          <a:xfrm>
            <a:off x="4322641" y="2527302"/>
            <a:ext cx="2442412" cy="1311764"/>
            <a:chOff x="4479054" y="2443080"/>
            <a:chExt cx="2442412" cy="1311764"/>
          </a:xfrm>
        </p:grpSpPr>
        <p:pic>
          <p:nvPicPr>
            <p:cNvPr id="17" name="Picture 16" descr="Icon&#10;&#10;Description automatically generated">
              <a:extLst>
                <a:ext uri="{FF2B5EF4-FFF2-40B4-BE49-F238E27FC236}">
                  <a16:creationId xmlns:a16="http://schemas.microsoft.com/office/drawing/2014/main" id="{FEB46371-37DA-A44D-A7BD-0108A6C92DE7}"/>
                </a:ext>
              </a:extLst>
            </p:cNvPr>
            <p:cNvPicPr>
              <a:picLocks noChangeAspect="1"/>
            </p:cNvPicPr>
            <p:nvPr/>
          </p:nvPicPr>
          <p:blipFill>
            <a:blip r:embed="rId5"/>
            <a:stretch>
              <a:fillRect/>
            </a:stretch>
          </p:blipFill>
          <p:spPr>
            <a:xfrm>
              <a:off x="5223263" y="2443080"/>
              <a:ext cx="953995" cy="953995"/>
            </a:xfrm>
            <a:prstGeom prst="rect">
              <a:avLst/>
            </a:prstGeom>
          </p:spPr>
        </p:pic>
        <p:sp>
          <p:nvSpPr>
            <p:cNvPr id="18" name="TextBox 17">
              <a:extLst>
                <a:ext uri="{FF2B5EF4-FFF2-40B4-BE49-F238E27FC236}">
                  <a16:creationId xmlns:a16="http://schemas.microsoft.com/office/drawing/2014/main" id="{D2B6F0AC-A43B-7F4D-87B7-1C026CC06D0E}"/>
                </a:ext>
              </a:extLst>
            </p:cNvPr>
            <p:cNvSpPr txBox="1"/>
            <p:nvPr/>
          </p:nvSpPr>
          <p:spPr>
            <a:xfrm>
              <a:off x="4479054" y="3447067"/>
              <a:ext cx="2442412" cy="307777"/>
            </a:xfrm>
            <a:prstGeom prst="rect">
              <a:avLst/>
            </a:prstGeom>
            <a:noFill/>
          </p:spPr>
          <p:txBody>
            <a:bodyPr wrap="square" rtlCol="0">
              <a:spAutoFit/>
            </a:bodyPr>
            <a:lstStyle/>
            <a:p>
              <a:pPr algn="ctr"/>
              <a:r>
                <a:rPr lang="en-US" sz="1400" b="1" dirty="0">
                  <a:latin typeface="Avenir Book" panose="02000503020000020003" pitchFamily="2" charset="0"/>
                </a:rPr>
                <a:t>Strong Partnerships</a:t>
              </a:r>
            </a:p>
          </p:txBody>
        </p:sp>
      </p:grpSp>
      <p:grpSp>
        <p:nvGrpSpPr>
          <p:cNvPr id="33" name="Group 32">
            <a:extLst>
              <a:ext uri="{FF2B5EF4-FFF2-40B4-BE49-F238E27FC236}">
                <a16:creationId xmlns:a16="http://schemas.microsoft.com/office/drawing/2014/main" id="{2D511D32-8B38-5945-93AC-D4B95E75441B}"/>
              </a:ext>
            </a:extLst>
          </p:cNvPr>
          <p:cNvGrpSpPr/>
          <p:nvPr/>
        </p:nvGrpSpPr>
        <p:grpSpPr>
          <a:xfrm>
            <a:off x="-70997" y="4397132"/>
            <a:ext cx="2442412" cy="1109317"/>
            <a:chOff x="350110" y="4423268"/>
            <a:chExt cx="2442412" cy="1109317"/>
          </a:xfrm>
        </p:grpSpPr>
        <p:pic>
          <p:nvPicPr>
            <p:cNvPr id="23" name="Picture 22" descr="Icon&#10;&#10;Description automatically generated">
              <a:extLst>
                <a:ext uri="{FF2B5EF4-FFF2-40B4-BE49-F238E27FC236}">
                  <a16:creationId xmlns:a16="http://schemas.microsoft.com/office/drawing/2014/main" id="{8479C101-A778-4C46-9DC0-BAD7BD4BDAF7}"/>
                </a:ext>
              </a:extLst>
            </p:cNvPr>
            <p:cNvPicPr>
              <a:picLocks noChangeAspect="1"/>
            </p:cNvPicPr>
            <p:nvPr/>
          </p:nvPicPr>
          <p:blipFill>
            <a:blip r:embed="rId6"/>
            <a:stretch>
              <a:fillRect/>
            </a:stretch>
          </p:blipFill>
          <p:spPr>
            <a:xfrm>
              <a:off x="1287240" y="4423268"/>
              <a:ext cx="686300" cy="686300"/>
            </a:xfrm>
            <a:prstGeom prst="rect">
              <a:avLst/>
            </a:prstGeom>
          </p:spPr>
        </p:pic>
        <p:sp>
          <p:nvSpPr>
            <p:cNvPr id="24" name="TextBox 23">
              <a:extLst>
                <a:ext uri="{FF2B5EF4-FFF2-40B4-BE49-F238E27FC236}">
                  <a16:creationId xmlns:a16="http://schemas.microsoft.com/office/drawing/2014/main" id="{2AA6A855-1F4F-7447-AD92-ABCD071E2556}"/>
                </a:ext>
              </a:extLst>
            </p:cNvPr>
            <p:cNvSpPr txBox="1"/>
            <p:nvPr/>
          </p:nvSpPr>
          <p:spPr>
            <a:xfrm>
              <a:off x="350110" y="5224808"/>
              <a:ext cx="2442412" cy="307777"/>
            </a:xfrm>
            <a:prstGeom prst="rect">
              <a:avLst/>
            </a:prstGeom>
            <a:noFill/>
          </p:spPr>
          <p:txBody>
            <a:bodyPr wrap="square" rtlCol="0">
              <a:spAutoFit/>
            </a:bodyPr>
            <a:lstStyle/>
            <a:p>
              <a:pPr algn="ctr"/>
              <a:r>
                <a:rPr lang="en-US" sz="1400" b="1" dirty="0">
                  <a:latin typeface="Avenir Book" panose="02000503020000020003" pitchFamily="2" charset="0"/>
                </a:rPr>
                <a:t>Active Community</a:t>
              </a:r>
            </a:p>
          </p:txBody>
        </p:sp>
      </p:grpSp>
      <p:grpSp>
        <p:nvGrpSpPr>
          <p:cNvPr id="32" name="Group 31">
            <a:extLst>
              <a:ext uri="{FF2B5EF4-FFF2-40B4-BE49-F238E27FC236}">
                <a16:creationId xmlns:a16="http://schemas.microsoft.com/office/drawing/2014/main" id="{AC6A45BF-7D75-2B4E-AE33-A88CF3E6C4C8}"/>
              </a:ext>
            </a:extLst>
          </p:cNvPr>
          <p:cNvGrpSpPr/>
          <p:nvPr/>
        </p:nvGrpSpPr>
        <p:grpSpPr>
          <a:xfrm>
            <a:off x="2094683" y="4397132"/>
            <a:ext cx="2442412" cy="1122456"/>
            <a:chOff x="3104777" y="4662798"/>
            <a:chExt cx="2442412" cy="1122456"/>
          </a:xfrm>
        </p:grpSpPr>
        <p:pic>
          <p:nvPicPr>
            <p:cNvPr id="26" name="Picture 25" descr="Icon&#10;&#10;Description automatically generated">
              <a:extLst>
                <a:ext uri="{FF2B5EF4-FFF2-40B4-BE49-F238E27FC236}">
                  <a16:creationId xmlns:a16="http://schemas.microsoft.com/office/drawing/2014/main" id="{705F2271-9877-9C4A-9875-8956765A2FA5}"/>
                </a:ext>
              </a:extLst>
            </p:cNvPr>
            <p:cNvPicPr>
              <a:picLocks noChangeAspect="1"/>
            </p:cNvPicPr>
            <p:nvPr/>
          </p:nvPicPr>
          <p:blipFill>
            <a:blip r:embed="rId7"/>
            <a:stretch>
              <a:fillRect/>
            </a:stretch>
          </p:blipFill>
          <p:spPr>
            <a:xfrm>
              <a:off x="4019765" y="4662798"/>
              <a:ext cx="686300" cy="686300"/>
            </a:xfrm>
            <a:prstGeom prst="rect">
              <a:avLst/>
            </a:prstGeom>
          </p:spPr>
        </p:pic>
        <p:sp>
          <p:nvSpPr>
            <p:cNvPr id="27" name="TextBox 26">
              <a:extLst>
                <a:ext uri="{FF2B5EF4-FFF2-40B4-BE49-F238E27FC236}">
                  <a16:creationId xmlns:a16="http://schemas.microsoft.com/office/drawing/2014/main" id="{D0409A38-1757-C940-ADFA-D672F2C7BF1A}"/>
                </a:ext>
              </a:extLst>
            </p:cNvPr>
            <p:cNvSpPr txBox="1"/>
            <p:nvPr/>
          </p:nvSpPr>
          <p:spPr>
            <a:xfrm>
              <a:off x="3104777" y="5477477"/>
              <a:ext cx="2442412" cy="307777"/>
            </a:xfrm>
            <a:prstGeom prst="rect">
              <a:avLst/>
            </a:prstGeom>
            <a:noFill/>
          </p:spPr>
          <p:txBody>
            <a:bodyPr wrap="square" rtlCol="0">
              <a:spAutoFit/>
            </a:bodyPr>
            <a:lstStyle/>
            <a:p>
              <a:pPr algn="ctr"/>
              <a:r>
                <a:rPr lang="en-US" sz="1400" b="1" dirty="0">
                  <a:latin typeface="Avenir Book" panose="02000503020000020003" pitchFamily="2" charset="0"/>
                </a:rPr>
                <a:t>Impactful Programs</a:t>
              </a:r>
            </a:p>
          </p:txBody>
        </p:sp>
      </p:grpSp>
      <p:grpSp>
        <p:nvGrpSpPr>
          <p:cNvPr id="44" name="Group 43">
            <a:extLst>
              <a:ext uri="{FF2B5EF4-FFF2-40B4-BE49-F238E27FC236}">
                <a16:creationId xmlns:a16="http://schemas.microsoft.com/office/drawing/2014/main" id="{0A03CD70-9EF0-904F-A36E-C21B1F0554D5}"/>
              </a:ext>
            </a:extLst>
          </p:cNvPr>
          <p:cNvGrpSpPr/>
          <p:nvPr/>
        </p:nvGrpSpPr>
        <p:grpSpPr>
          <a:xfrm>
            <a:off x="4322641" y="4324781"/>
            <a:ext cx="2442412" cy="1328918"/>
            <a:chOff x="4322641" y="4324781"/>
            <a:chExt cx="2442412" cy="1328918"/>
          </a:xfrm>
        </p:grpSpPr>
        <p:pic>
          <p:nvPicPr>
            <p:cNvPr id="29" name="Picture 28" descr="Icon&#10;&#10;Description automatically generated">
              <a:extLst>
                <a:ext uri="{FF2B5EF4-FFF2-40B4-BE49-F238E27FC236}">
                  <a16:creationId xmlns:a16="http://schemas.microsoft.com/office/drawing/2014/main" id="{BB65B9CF-D7F9-2849-8AC5-0D071BDE659A}"/>
                </a:ext>
              </a:extLst>
            </p:cNvPr>
            <p:cNvPicPr>
              <a:picLocks noChangeAspect="1"/>
            </p:cNvPicPr>
            <p:nvPr/>
          </p:nvPicPr>
          <p:blipFill>
            <a:blip r:embed="rId8"/>
            <a:stretch>
              <a:fillRect/>
            </a:stretch>
          </p:blipFill>
          <p:spPr>
            <a:xfrm>
              <a:off x="5215487" y="4324781"/>
              <a:ext cx="686301" cy="686301"/>
            </a:xfrm>
            <a:prstGeom prst="rect">
              <a:avLst/>
            </a:prstGeom>
          </p:spPr>
        </p:pic>
        <p:sp>
          <p:nvSpPr>
            <p:cNvPr id="30" name="TextBox 29">
              <a:extLst>
                <a:ext uri="{FF2B5EF4-FFF2-40B4-BE49-F238E27FC236}">
                  <a16:creationId xmlns:a16="http://schemas.microsoft.com/office/drawing/2014/main" id="{9AD4B900-2C31-D54F-8D94-08477289B0A2}"/>
                </a:ext>
              </a:extLst>
            </p:cNvPr>
            <p:cNvSpPr txBox="1"/>
            <p:nvPr/>
          </p:nvSpPr>
          <p:spPr>
            <a:xfrm>
              <a:off x="4322641" y="5130479"/>
              <a:ext cx="2442412" cy="523220"/>
            </a:xfrm>
            <a:prstGeom prst="rect">
              <a:avLst/>
            </a:prstGeom>
            <a:noFill/>
          </p:spPr>
          <p:txBody>
            <a:bodyPr wrap="square" rtlCol="0">
              <a:spAutoFit/>
            </a:bodyPr>
            <a:lstStyle/>
            <a:p>
              <a:pPr algn="ctr"/>
              <a:r>
                <a:rPr lang="en-US" sz="1400" b="1" dirty="0">
                  <a:latin typeface="Avenir Book" panose="02000503020000020003" pitchFamily="2" charset="0"/>
                </a:rPr>
                <a:t>Successful Startups &amp; Entrepreneurs</a:t>
              </a:r>
            </a:p>
          </p:txBody>
        </p:sp>
      </p:grpSp>
      <p:sp>
        <p:nvSpPr>
          <p:cNvPr id="35" name="Slide Number Placeholder 34">
            <a:extLst>
              <a:ext uri="{FF2B5EF4-FFF2-40B4-BE49-F238E27FC236}">
                <a16:creationId xmlns:a16="http://schemas.microsoft.com/office/drawing/2014/main" id="{7433995C-80E7-FF41-B539-4730F5973911}"/>
              </a:ext>
            </a:extLst>
          </p:cNvPr>
          <p:cNvSpPr>
            <a:spLocks noGrp="1"/>
          </p:cNvSpPr>
          <p:nvPr>
            <p:ph type="sldNum" sz="quarter" idx="12"/>
          </p:nvPr>
        </p:nvSpPr>
        <p:spPr/>
        <p:txBody>
          <a:bodyPr/>
          <a:lstStyle/>
          <a:p>
            <a:fld id="{664C5C96-B43F-EF41-83BB-885FD2BDB03F}" type="slidenum">
              <a:rPr lang="en-US" smtClean="0"/>
              <a:t>5</a:t>
            </a:fld>
            <a:endParaRPr lang="en-US"/>
          </a:p>
        </p:txBody>
      </p:sp>
      <p:grpSp>
        <p:nvGrpSpPr>
          <p:cNvPr id="40" name="Group 39">
            <a:extLst>
              <a:ext uri="{FF2B5EF4-FFF2-40B4-BE49-F238E27FC236}">
                <a16:creationId xmlns:a16="http://schemas.microsoft.com/office/drawing/2014/main" id="{0C86376F-20DA-EC4F-971F-64131941DF29}"/>
              </a:ext>
            </a:extLst>
          </p:cNvPr>
          <p:cNvGrpSpPr/>
          <p:nvPr/>
        </p:nvGrpSpPr>
        <p:grpSpPr>
          <a:xfrm>
            <a:off x="6607880" y="2627737"/>
            <a:ext cx="2442412" cy="1206780"/>
            <a:chOff x="6764293" y="2543515"/>
            <a:chExt cx="2442412" cy="1206780"/>
          </a:xfrm>
        </p:grpSpPr>
        <p:sp>
          <p:nvSpPr>
            <p:cNvPr id="38" name="TextBox 37">
              <a:extLst>
                <a:ext uri="{FF2B5EF4-FFF2-40B4-BE49-F238E27FC236}">
                  <a16:creationId xmlns:a16="http://schemas.microsoft.com/office/drawing/2014/main" id="{ED98A41D-C22C-0C4B-A388-F30DE8004A93}"/>
                </a:ext>
              </a:extLst>
            </p:cNvPr>
            <p:cNvSpPr txBox="1"/>
            <p:nvPr/>
          </p:nvSpPr>
          <p:spPr>
            <a:xfrm>
              <a:off x="6764293" y="3442518"/>
              <a:ext cx="2442412" cy="307777"/>
            </a:xfrm>
            <a:prstGeom prst="rect">
              <a:avLst/>
            </a:prstGeom>
            <a:noFill/>
          </p:spPr>
          <p:txBody>
            <a:bodyPr wrap="square" rtlCol="0">
              <a:spAutoFit/>
            </a:bodyPr>
            <a:lstStyle/>
            <a:p>
              <a:pPr algn="ctr"/>
              <a:r>
                <a:rPr lang="en-US" sz="1400" b="1" dirty="0">
                  <a:latin typeface="Avenir Book" panose="02000503020000020003" pitchFamily="2" charset="0"/>
                </a:rPr>
                <a:t>Strong Public Relations</a:t>
              </a:r>
            </a:p>
          </p:txBody>
        </p:sp>
        <p:pic>
          <p:nvPicPr>
            <p:cNvPr id="37" name="Picture 36" descr="Icon&#10;&#10;Description automatically generated">
              <a:extLst>
                <a:ext uri="{FF2B5EF4-FFF2-40B4-BE49-F238E27FC236}">
                  <a16:creationId xmlns:a16="http://schemas.microsoft.com/office/drawing/2014/main" id="{2572A078-EDD8-134C-9183-5F13FD722F57}"/>
                </a:ext>
              </a:extLst>
            </p:cNvPr>
            <p:cNvPicPr>
              <a:picLocks noChangeAspect="1"/>
            </p:cNvPicPr>
            <p:nvPr/>
          </p:nvPicPr>
          <p:blipFill>
            <a:blip r:embed="rId9"/>
            <a:stretch>
              <a:fillRect/>
            </a:stretch>
          </p:blipFill>
          <p:spPr>
            <a:xfrm>
              <a:off x="7570144" y="2543515"/>
              <a:ext cx="830710" cy="830710"/>
            </a:xfrm>
            <a:prstGeom prst="rect">
              <a:avLst/>
            </a:prstGeom>
          </p:spPr>
        </p:pic>
      </p:grpSp>
      <p:grpSp>
        <p:nvGrpSpPr>
          <p:cNvPr id="45" name="Group 44">
            <a:extLst>
              <a:ext uri="{FF2B5EF4-FFF2-40B4-BE49-F238E27FC236}">
                <a16:creationId xmlns:a16="http://schemas.microsoft.com/office/drawing/2014/main" id="{1BC4FE8D-548A-F14D-B6AF-EFBEB4B3D737}"/>
              </a:ext>
            </a:extLst>
          </p:cNvPr>
          <p:cNvGrpSpPr/>
          <p:nvPr/>
        </p:nvGrpSpPr>
        <p:grpSpPr>
          <a:xfrm>
            <a:off x="6725965" y="4342509"/>
            <a:ext cx="2442412" cy="1091813"/>
            <a:chOff x="6725965" y="4342509"/>
            <a:chExt cx="2442412" cy="1091813"/>
          </a:xfrm>
        </p:grpSpPr>
        <p:sp>
          <p:nvSpPr>
            <p:cNvPr id="43" name="TextBox 42">
              <a:extLst>
                <a:ext uri="{FF2B5EF4-FFF2-40B4-BE49-F238E27FC236}">
                  <a16:creationId xmlns:a16="http://schemas.microsoft.com/office/drawing/2014/main" id="{518DD356-94B6-C949-80DA-74E20716CA97}"/>
                </a:ext>
              </a:extLst>
            </p:cNvPr>
            <p:cNvSpPr txBox="1"/>
            <p:nvPr/>
          </p:nvSpPr>
          <p:spPr>
            <a:xfrm>
              <a:off x="6725965" y="5126545"/>
              <a:ext cx="2442412" cy="307777"/>
            </a:xfrm>
            <a:prstGeom prst="rect">
              <a:avLst/>
            </a:prstGeom>
            <a:noFill/>
          </p:spPr>
          <p:txBody>
            <a:bodyPr wrap="square" rtlCol="0">
              <a:spAutoFit/>
            </a:bodyPr>
            <a:lstStyle/>
            <a:p>
              <a:pPr algn="ctr"/>
              <a:r>
                <a:rPr lang="en-US" sz="1400" b="1" dirty="0">
                  <a:latin typeface="Avenir Book" panose="02000503020000020003" pitchFamily="2" charset="0"/>
                </a:rPr>
                <a:t>Lean Structure</a:t>
              </a:r>
            </a:p>
          </p:txBody>
        </p:sp>
        <p:pic>
          <p:nvPicPr>
            <p:cNvPr id="42" name="Picture 41" descr="A picture containing shape&#10;&#10;Description automatically generated">
              <a:extLst>
                <a:ext uri="{FF2B5EF4-FFF2-40B4-BE49-F238E27FC236}">
                  <a16:creationId xmlns:a16="http://schemas.microsoft.com/office/drawing/2014/main" id="{EDC5D55B-5E6E-DB45-8223-ED98B76EAD4B}"/>
                </a:ext>
              </a:extLst>
            </p:cNvPr>
            <p:cNvPicPr>
              <a:picLocks noChangeAspect="1"/>
            </p:cNvPicPr>
            <p:nvPr/>
          </p:nvPicPr>
          <p:blipFill>
            <a:blip r:embed="rId10"/>
            <a:stretch>
              <a:fillRect/>
            </a:stretch>
          </p:blipFill>
          <p:spPr>
            <a:xfrm>
              <a:off x="7604021" y="4342509"/>
              <a:ext cx="686301" cy="686301"/>
            </a:xfrm>
            <a:prstGeom prst="rect">
              <a:avLst/>
            </a:prstGeom>
          </p:spPr>
        </p:pic>
      </p:grpSp>
    </p:spTree>
    <p:extLst>
      <p:ext uri="{BB962C8B-B14F-4D97-AF65-F5344CB8AC3E}">
        <p14:creationId xmlns:p14="http://schemas.microsoft.com/office/powerpoint/2010/main" val="306536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7" y="1389826"/>
            <a:ext cx="6126877" cy="3019032"/>
          </a:xfrm>
          <a:prstGeom prst="rect">
            <a:avLst/>
          </a:prstGeom>
          <a:noFill/>
        </p:spPr>
        <p:txBody>
          <a:bodyPr wrap="square" rtlCol="0">
            <a:spAutoFit/>
          </a:bodyPr>
          <a:lstStyle/>
          <a:p>
            <a:pPr marR="0">
              <a:lnSpc>
                <a:spcPct val="150000"/>
              </a:lnSpc>
              <a:spcBef>
                <a:spcPts val="0"/>
              </a:spcBef>
              <a:spcAft>
                <a:spcPts val="0"/>
              </a:spcAft>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Adequate Funding</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marR="0">
              <a:lnSpc>
                <a:spcPct val="150000"/>
              </a:lnSpc>
              <a:spcBef>
                <a:spcPts val="0"/>
              </a:spcBef>
              <a:spcAft>
                <a:spcPts val="0"/>
              </a:spcAft>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marR="0">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 Hub will require sufficient funding to operate optimally. </a:t>
            </a:r>
            <a:r>
              <a:rPr lang="en-US" sz="1400" dirty="0">
                <a:latin typeface="Avenir Book" panose="02000503020000020003" pitchFamily="2" charset="0"/>
                <a:ea typeface="Calibri" panose="020F0502020204030204" pitchFamily="34" charset="0"/>
                <a:cs typeface="Times New Roman" panose="02020603050405020304" pitchFamily="18" charset="0"/>
              </a:rPr>
              <a:t>The Kwara State Government cannot afford to run a world-class hub with the current state of the Federal allocation &amp; Internally-generated revenue. This means we will take a private-sector-driven approach to running the Hub. We will create corporate value to attract sponsorship to fund our operations, marketing and generate additional revenue from providing consulting &amp; talent to clients worldwide. Some sources of this funding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sp>
        <p:nvSpPr>
          <p:cNvPr id="9" name="TextBox 8">
            <a:extLst>
              <a:ext uri="{FF2B5EF4-FFF2-40B4-BE49-F238E27FC236}">
                <a16:creationId xmlns:a16="http://schemas.microsoft.com/office/drawing/2014/main" id="{1C26C5AB-75FE-3747-A39B-6D586B0F24D0}"/>
              </a:ext>
            </a:extLst>
          </p:cNvPr>
          <p:cNvSpPr txBox="1"/>
          <p:nvPr/>
        </p:nvSpPr>
        <p:spPr>
          <a:xfrm>
            <a:off x="579830" y="4578617"/>
            <a:ext cx="8345930" cy="1061829"/>
          </a:xfrm>
          <a:prstGeom prst="rect">
            <a:avLst/>
          </a:prstGeom>
          <a:noFill/>
        </p:spPr>
        <p:txBody>
          <a:bodyPr wrap="square" numCol="2" rtlCol="0">
            <a:spAutoFit/>
          </a:bodyPr>
          <a:lstStyle/>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Space Co-branding Sponsorship (long term)</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Corporate Social Responsibility Donations</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Space Rental &amp; Concession (long term)</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IT Consulting &amp; Remote Talent Outsourcing</a:t>
            </a:r>
          </a:p>
          <a:p>
            <a:pPr marL="285750" marR="0" indent="-285750">
              <a:lnSpc>
                <a:spcPct val="150000"/>
              </a:lnSpc>
              <a:spcBef>
                <a:spcPts val="0"/>
              </a:spcBef>
              <a:spcAft>
                <a:spcPts val="0"/>
              </a:spcAft>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Donor Impact Programs</a:t>
            </a:r>
          </a:p>
        </p:txBody>
      </p:sp>
      <p:sp>
        <p:nvSpPr>
          <p:cNvPr id="10" name="TextBox 9">
            <a:extLst>
              <a:ext uri="{FF2B5EF4-FFF2-40B4-BE49-F238E27FC236}">
                <a16:creationId xmlns:a16="http://schemas.microsoft.com/office/drawing/2014/main" id="{0526EE00-3ED5-414B-B04C-DD63BE7AC67E}"/>
              </a:ext>
            </a:extLst>
          </p:cNvPr>
          <p:cNvSpPr txBox="1"/>
          <p:nvPr/>
        </p:nvSpPr>
        <p:spPr>
          <a:xfrm>
            <a:off x="538617" y="5775695"/>
            <a:ext cx="8015073" cy="710707"/>
          </a:xfrm>
          <a:prstGeom prst="rect">
            <a:avLst/>
          </a:prstGeom>
          <a:noFill/>
        </p:spPr>
        <p:txBody>
          <a:bodyPr wrap="square" rtlCol="0">
            <a:spAutoFit/>
          </a:bodyPr>
          <a:lstStyle/>
          <a:p>
            <a:pPr marR="0" algn="just">
              <a:lnSpc>
                <a:spcPct val="150000"/>
              </a:lnSpc>
              <a:spcBef>
                <a:spcPts val="0"/>
              </a:spcBef>
              <a:spcAft>
                <a:spcPts val="0"/>
              </a:spcAft>
            </a:pPr>
            <a:r>
              <a:rPr lang="en-US" sz="1400" dirty="0">
                <a:effectLst/>
                <a:latin typeface="Avenir Book" panose="02000503020000020003" pitchFamily="2" charset="0"/>
                <a:ea typeface="Calibri" panose="020F0502020204030204" pitchFamily="34" charset="0"/>
                <a:cs typeface="Times New Roman" panose="02020603050405020304" pitchFamily="18" charset="0"/>
              </a:rPr>
              <a:t>We will also be open to any subvention by the Kwara State Government but do not plan to depend on it for independence and autonomy.</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p:txBody>
      </p:sp>
      <p:pic>
        <p:nvPicPr>
          <p:cNvPr id="11" name="Picture 10">
            <a:extLst>
              <a:ext uri="{FF2B5EF4-FFF2-40B4-BE49-F238E27FC236}">
                <a16:creationId xmlns:a16="http://schemas.microsoft.com/office/drawing/2014/main" id="{6B611AFB-72C2-9B4E-9949-A56363D80F2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2" name="Picture 11" descr="Icon&#10;&#10;Description automatically generated">
            <a:extLst>
              <a:ext uri="{FF2B5EF4-FFF2-40B4-BE49-F238E27FC236}">
                <a16:creationId xmlns:a16="http://schemas.microsoft.com/office/drawing/2014/main" id="{D2FFCBCE-604B-6C43-B3F3-C3BD1960A242}"/>
              </a:ext>
            </a:extLst>
          </p:cNvPr>
          <p:cNvPicPr>
            <a:picLocks noChangeAspect="1"/>
          </p:cNvPicPr>
          <p:nvPr/>
        </p:nvPicPr>
        <p:blipFill>
          <a:blip r:embed="rId3"/>
          <a:stretch>
            <a:fillRect/>
          </a:stretch>
        </p:blipFill>
        <p:spPr>
          <a:xfrm>
            <a:off x="7098631" y="2231443"/>
            <a:ext cx="1827129" cy="1827129"/>
          </a:xfrm>
          <a:prstGeom prst="rect">
            <a:avLst/>
          </a:prstGeom>
        </p:spPr>
      </p:pic>
      <p:sp>
        <p:nvSpPr>
          <p:cNvPr id="3" name="Slide Number Placeholder 2">
            <a:extLst>
              <a:ext uri="{FF2B5EF4-FFF2-40B4-BE49-F238E27FC236}">
                <a16:creationId xmlns:a16="http://schemas.microsoft.com/office/drawing/2014/main" id="{B43D62FF-F5B2-924E-913F-EE26BFA557D0}"/>
              </a:ext>
            </a:extLst>
          </p:cNvPr>
          <p:cNvSpPr>
            <a:spLocks noGrp="1"/>
          </p:cNvSpPr>
          <p:nvPr>
            <p:ph type="sldNum" sz="quarter" idx="12"/>
          </p:nvPr>
        </p:nvSpPr>
        <p:spPr/>
        <p:txBody>
          <a:bodyPr/>
          <a:lstStyle/>
          <a:p>
            <a:fld id="{664C5C96-B43F-EF41-83BB-885FD2BDB03F}" type="slidenum">
              <a:rPr lang="en-US" smtClean="0"/>
              <a:t>6</a:t>
            </a:fld>
            <a:endParaRPr lang="en-US"/>
          </a:p>
        </p:txBody>
      </p:sp>
    </p:spTree>
    <p:extLst>
      <p:ext uri="{BB962C8B-B14F-4D97-AF65-F5344CB8AC3E}">
        <p14:creationId xmlns:p14="http://schemas.microsoft.com/office/powerpoint/2010/main" val="2298225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15819"/>
            <a:ext cx="5919332" cy="4727192"/>
          </a:xfrm>
          <a:prstGeom prst="rect">
            <a:avLst/>
          </a:prstGeom>
          <a:noFill/>
        </p:spPr>
        <p:txBody>
          <a:bodyPr wrap="square" rtlCol="0">
            <a:spAutoFit/>
          </a:bodyPr>
          <a:lstStyle/>
          <a:p>
            <a:pPr>
              <a:lnSpc>
                <a:spcPct val="150000"/>
              </a:lnSpc>
            </a:pPr>
            <a:r>
              <a:rPr lang="en-US" sz="1600" b="1" dirty="0">
                <a:latin typeface="Avenir Book" panose="02000503020000020003" pitchFamily="2" charset="0"/>
                <a:ea typeface="Calibri" panose="020F0502020204030204" pitchFamily="34" charset="0"/>
                <a:cs typeface="Times New Roman" panose="02020603050405020304" pitchFamily="18" charset="0"/>
              </a:rPr>
              <a:t>Autonomy &amp; Complete Detachment from Government Bureaucracy</a:t>
            </a:r>
          </a:p>
          <a:p>
            <a:pPr>
              <a:lnSpc>
                <a:spcPct val="150000"/>
              </a:lnSpc>
            </a:pPr>
            <a:endParaRPr lang="en-US" sz="16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Unfortunately, the current state of government establishments in Nigeria allows for bureaucracy and will prove difficult to </a:t>
            </a:r>
            <a:r>
              <a:rPr lang="en-US" sz="1400" dirty="0">
                <a:latin typeface="Avenir Book" panose="02000503020000020003" pitchFamily="2" charset="0"/>
                <a:ea typeface="Calibri" panose="020F0502020204030204" pitchFamily="34" charset="0"/>
                <a:cs typeface="Times New Roman" panose="02020603050405020304" pitchFamily="18" charset="0"/>
              </a:rPr>
              <a:t>operate a fast-paced tech-driven organization. Such an organization will need to be independent, autonomous and require the minimum number of levels of approval or processing for smooth operations. The organization will still stay under the supervision of the Governing Council and undergo proper audits regularly.</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The Hub will be a Private Limited Company 100% owned by the Kwara State Government, represented by the Kwara Startups, Innovation &amp; Information Technology Agency (KWASIITA).</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a:latin typeface="Montserrat" pitchFamily="2" charset="77"/>
                <a:ea typeface="Roboto Light" panose="02000000000000000000" pitchFamily="2" charset="0"/>
              </a:rPr>
              <a:t>Key Success Factors</a:t>
            </a:r>
            <a:endParaRPr lang="en-US" sz="2800" b="1" dirty="0">
              <a:latin typeface="Montserrat" pitchFamily="2" charset="77"/>
              <a:ea typeface="Roboto Light" panose="02000000000000000000" pitchFamily="2" charset="0"/>
            </a:endParaRPr>
          </a:p>
        </p:txBody>
      </p:sp>
      <p:pic>
        <p:nvPicPr>
          <p:cNvPr id="11" name="Picture 10">
            <a:extLst>
              <a:ext uri="{FF2B5EF4-FFF2-40B4-BE49-F238E27FC236}">
                <a16:creationId xmlns:a16="http://schemas.microsoft.com/office/drawing/2014/main" id="{AAE315E8-26C3-1942-83C0-252CE919697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4" name="Picture 13" descr="A picture containing icon&#10;&#10;Description automatically generated">
            <a:extLst>
              <a:ext uri="{FF2B5EF4-FFF2-40B4-BE49-F238E27FC236}">
                <a16:creationId xmlns:a16="http://schemas.microsoft.com/office/drawing/2014/main" id="{9BBEB00D-FB1F-124F-B7DF-2D59589CEF51}"/>
              </a:ext>
            </a:extLst>
          </p:cNvPr>
          <p:cNvPicPr>
            <a:picLocks noChangeAspect="1"/>
          </p:cNvPicPr>
          <p:nvPr/>
        </p:nvPicPr>
        <p:blipFill>
          <a:blip r:embed="rId3"/>
          <a:stretch>
            <a:fillRect/>
          </a:stretch>
        </p:blipFill>
        <p:spPr>
          <a:xfrm>
            <a:off x="6791882" y="1797086"/>
            <a:ext cx="1586498" cy="1586498"/>
          </a:xfrm>
          <a:prstGeom prst="rect">
            <a:avLst/>
          </a:prstGeom>
        </p:spPr>
      </p:pic>
      <p:sp>
        <p:nvSpPr>
          <p:cNvPr id="16" name="Slide Number Placeholder 15">
            <a:extLst>
              <a:ext uri="{FF2B5EF4-FFF2-40B4-BE49-F238E27FC236}">
                <a16:creationId xmlns:a16="http://schemas.microsoft.com/office/drawing/2014/main" id="{C40370DA-2141-6B49-B931-C878E28B84D3}"/>
              </a:ext>
            </a:extLst>
          </p:cNvPr>
          <p:cNvSpPr>
            <a:spLocks noGrp="1"/>
          </p:cNvSpPr>
          <p:nvPr>
            <p:ph type="sldNum" sz="quarter" idx="12"/>
          </p:nvPr>
        </p:nvSpPr>
        <p:spPr/>
        <p:txBody>
          <a:bodyPr/>
          <a:lstStyle/>
          <a:p>
            <a:fld id="{664C5C96-B43F-EF41-83BB-885FD2BDB03F}" type="slidenum">
              <a:rPr lang="en-US" smtClean="0"/>
              <a:t>7</a:t>
            </a:fld>
            <a:endParaRPr lang="en-US"/>
          </a:p>
        </p:txBody>
      </p:sp>
      <p:pic>
        <p:nvPicPr>
          <p:cNvPr id="17" name="Picture 16">
            <a:extLst>
              <a:ext uri="{FF2B5EF4-FFF2-40B4-BE49-F238E27FC236}">
                <a16:creationId xmlns:a16="http://schemas.microsoft.com/office/drawing/2014/main" id="{498F1CAD-1B0C-E34C-96A9-98A047C8A642}"/>
              </a:ext>
            </a:extLst>
          </p:cNvPr>
          <p:cNvPicPr>
            <a:picLocks noChangeAspect="1"/>
          </p:cNvPicPr>
          <p:nvPr/>
        </p:nvPicPr>
        <p:blipFill>
          <a:blip r:embed="rId4"/>
          <a:stretch>
            <a:fillRect/>
          </a:stretch>
        </p:blipFill>
        <p:spPr>
          <a:xfrm>
            <a:off x="6986467" y="4242969"/>
            <a:ext cx="1241930" cy="1205403"/>
          </a:xfrm>
          <a:prstGeom prst="rect">
            <a:avLst/>
          </a:prstGeom>
        </p:spPr>
      </p:pic>
    </p:spTree>
    <p:extLst>
      <p:ext uri="{BB962C8B-B14F-4D97-AF65-F5344CB8AC3E}">
        <p14:creationId xmlns:p14="http://schemas.microsoft.com/office/powerpoint/2010/main" val="3714169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7" y="1269975"/>
            <a:ext cx="6295320" cy="3665362"/>
          </a:xfrm>
          <a:prstGeom prst="rect">
            <a:avLst/>
          </a:prstGeom>
          <a:noFill/>
        </p:spPr>
        <p:txBody>
          <a:bodyPr wrap="square" rtlCol="0">
            <a:spAutoFit/>
          </a:bodyPr>
          <a:lstStyle/>
          <a:p>
            <a:pPr>
              <a:lnSpc>
                <a:spcPct val="150000"/>
              </a:lnSpc>
            </a:pPr>
            <a:r>
              <a:rPr lang="en-US" sz="1600" b="1" dirty="0">
                <a:latin typeface="Avenir Book" panose="02000503020000020003" pitchFamily="2" charset="0"/>
                <a:ea typeface="Calibri" panose="020F0502020204030204" pitchFamily="34" charset="0"/>
                <a:cs typeface="Times New Roman" panose="02020603050405020304" pitchFamily="18" charset="0"/>
              </a:rPr>
              <a:t>Strong Partnerships</a:t>
            </a:r>
          </a:p>
          <a:p>
            <a:pPr>
              <a:lnSpc>
                <a:spcPct val="150000"/>
              </a:lnSpc>
            </a:pPr>
            <a:endParaRPr lang="en-US" sz="1400"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A very critical key success factor is in the quality of partnerships the Hub can strike, especially those that will not cost the state money but will instead bring additional funds for operations.</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During the long construction period, the MD has been able to strike very strong relationships that will be pillars of partnerships for the Hub. One such relationship is with IHS Towers who have committed to supplying equipment for the Hub and are willing to enter into a bigger partnership with the Hub. Some other key partners we have secured in principle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sp>
        <p:nvSpPr>
          <p:cNvPr id="9" name="TextBox 8">
            <a:extLst>
              <a:ext uri="{FF2B5EF4-FFF2-40B4-BE49-F238E27FC236}">
                <a16:creationId xmlns:a16="http://schemas.microsoft.com/office/drawing/2014/main" id="{B11325C5-9E1D-6F43-B155-D774D03AFAEC}"/>
              </a:ext>
            </a:extLst>
          </p:cNvPr>
          <p:cNvSpPr txBox="1"/>
          <p:nvPr/>
        </p:nvSpPr>
        <p:spPr>
          <a:xfrm>
            <a:off x="538617" y="4949330"/>
            <a:ext cx="7907248" cy="1696618"/>
          </a:xfrm>
          <a:prstGeom prst="rect">
            <a:avLst/>
          </a:prstGeom>
          <a:noFill/>
        </p:spPr>
        <p:txBody>
          <a:bodyPr wrap="square" numCol="2" rtlCol="0">
            <a:spAutoFit/>
          </a:bodyPr>
          <a:lstStyle/>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IHS Towers</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Allianz </a:t>
            </a:r>
            <a:r>
              <a:rPr lang="en-US" sz="1400" dirty="0" err="1">
                <a:latin typeface="Avenir Book" panose="02000503020000020003" pitchFamily="2" charset="0"/>
                <a:ea typeface="Calibri" panose="020F0502020204030204" pitchFamily="34" charset="0"/>
                <a:cs typeface="Times New Roman" panose="02020603050405020304" pitchFamily="18" charset="0"/>
              </a:rPr>
              <a:t>Francais</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MTN</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Sterling Bank</a:t>
            </a:r>
          </a:p>
          <a:p>
            <a:pPr marL="285750" indent="-285750" algn="just">
              <a:lnSpc>
                <a:spcPct val="150000"/>
              </a:lnSpc>
              <a:buFont typeface="Wingdings" pitchFamily="2" charset="2"/>
              <a:buChar char="§"/>
            </a:pPr>
            <a:r>
              <a:rPr lang="en-US" sz="1400" dirty="0" err="1">
                <a:latin typeface="Avenir Book" panose="02000503020000020003" pitchFamily="2" charset="0"/>
                <a:ea typeface="Calibri" panose="020F0502020204030204" pitchFamily="34" charset="0"/>
                <a:cs typeface="Times New Roman" panose="02020603050405020304" pitchFamily="18" charset="0"/>
              </a:rPr>
              <a:t>Softcom</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gn="just">
              <a:lnSpc>
                <a:spcPct val="150000"/>
              </a:lnSpc>
              <a:buFont typeface="Wingdings" pitchFamily="2" charset="2"/>
              <a:buChar char="§"/>
            </a:pPr>
            <a:r>
              <a:rPr lang="en-US" sz="1400" dirty="0" err="1">
                <a:latin typeface="Avenir Book" panose="02000503020000020003" pitchFamily="2" charset="0"/>
                <a:ea typeface="Calibri" panose="020F0502020204030204" pitchFamily="34" charset="0"/>
                <a:cs typeface="Times New Roman" panose="02020603050405020304" pitchFamily="18" charset="0"/>
              </a:rPr>
              <a:t>Paystack</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King Makers (Bet King)</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CC Hub</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Niagara Falls Ryerson Innovation Hub</a:t>
            </a:r>
          </a:p>
          <a:p>
            <a:pPr marL="285750" indent="-285750" algn="just">
              <a:lnSpc>
                <a:spcPct val="150000"/>
              </a:lnSpc>
              <a:buFont typeface="Wingdings" pitchFamily="2" charset="2"/>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GIZ</a:t>
            </a:r>
          </a:p>
        </p:txBody>
      </p:sp>
      <p:pic>
        <p:nvPicPr>
          <p:cNvPr id="10" name="Picture 9">
            <a:extLst>
              <a:ext uri="{FF2B5EF4-FFF2-40B4-BE49-F238E27FC236}">
                <a16:creationId xmlns:a16="http://schemas.microsoft.com/office/drawing/2014/main" id="{BFA797E4-8285-DC48-8A6E-84E56DA4944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1" name="Picture 10" descr="Icon&#10;&#10;Description automatically generated">
            <a:extLst>
              <a:ext uri="{FF2B5EF4-FFF2-40B4-BE49-F238E27FC236}">
                <a16:creationId xmlns:a16="http://schemas.microsoft.com/office/drawing/2014/main" id="{199EB1E1-53DE-334A-8308-6EB194D7275A}"/>
              </a:ext>
            </a:extLst>
          </p:cNvPr>
          <p:cNvPicPr>
            <a:picLocks noChangeAspect="1"/>
          </p:cNvPicPr>
          <p:nvPr/>
        </p:nvPicPr>
        <p:blipFill>
          <a:blip r:embed="rId3"/>
          <a:stretch>
            <a:fillRect/>
          </a:stretch>
        </p:blipFill>
        <p:spPr>
          <a:xfrm>
            <a:off x="6984651" y="1608242"/>
            <a:ext cx="1820758" cy="1820758"/>
          </a:xfrm>
          <a:prstGeom prst="rect">
            <a:avLst/>
          </a:prstGeom>
        </p:spPr>
      </p:pic>
      <p:sp>
        <p:nvSpPr>
          <p:cNvPr id="3" name="Slide Number Placeholder 2">
            <a:extLst>
              <a:ext uri="{FF2B5EF4-FFF2-40B4-BE49-F238E27FC236}">
                <a16:creationId xmlns:a16="http://schemas.microsoft.com/office/drawing/2014/main" id="{ED45AD4B-921E-A542-A9D1-5848EF5B6B49}"/>
              </a:ext>
            </a:extLst>
          </p:cNvPr>
          <p:cNvSpPr>
            <a:spLocks noGrp="1"/>
          </p:cNvSpPr>
          <p:nvPr>
            <p:ph type="sldNum" sz="quarter" idx="12"/>
          </p:nvPr>
        </p:nvSpPr>
        <p:spPr/>
        <p:txBody>
          <a:bodyPr/>
          <a:lstStyle/>
          <a:p>
            <a:fld id="{664C5C96-B43F-EF41-83BB-885FD2BDB03F}" type="slidenum">
              <a:rPr lang="en-US" smtClean="0"/>
              <a:t>8</a:t>
            </a:fld>
            <a:endParaRPr lang="en-US"/>
          </a:p>
        </p:txBody>
      </p:sp>
    </p:spTree>
    <p:extLst>
      <p:ext uri="{BB962C8B-B14F-4D97-AF65-F5344CB8AC3E}">
        <p14:creationId xmlns:p14="http://schemas.microsoft.com/office/powerpoint/2010/main" val="4050768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82006"/>
            <a:ext cx="5465140" cy="5281189"/>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Active Community</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To keep the local ecosystem </a:t>
            </a:r>
            <a:r>
              <a:rPr lang="en-US" sz="1400" dirty="0">
                <a:latin typeface="Avenir Book" panose="02000503020000020003" pitchFamily="2" charset="0"/>
                <a:ea typeface="Calibri" panose="020F0502020204030204" pitchFamily="34" charset="0"/>
                <a:cs typeface="Times New Roman" panose="02020603050405020304" pitchFamily="18" charset="0"/>
              </a:rPr>
              <a:t>vibrant  and growing there will need to be regular events and activities to engage the young people in the society. These events will expose young people to opportunities in tech and allow them to meet other aspiring young techies who they can learn from and collaborate with.</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This is the bone of the strength of the local ecosystem in Ilorin, and we will be conducting events on the tertiary institution campuses we have in Kwara State. These events include seminars, mentoring sessions, hackathons and demo days.</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We have launched the </a:t>
            </a:r>
            <a:r>
              <a:rPr lang="en-US" sz="1400" b="1" dirty="0" err="1">
                <a:latin typeface="Avenir Book" panose="02000503020000020003" pitchFamily="2" charset="0"/>
                <a:ea typeface="Calibri" panose="020F0502020204030204" pitchFamily="34" charset="0"/>
                <a:cs typeface="Times New Roman" panose="02020603050405020304" pitchFamily="18" charset="0"/>
              </a:rPr>
              <a:t>ilorin.tech</a:t>
            </a:r>
            <a:r>
              <a:rPr lang="en-US" sz="1400" b="1" dirty="0">
                <a:latin typeface="Avenir Book" panose="02000503020000020003" pitchFamily="2" charset="0"/>
                <a:ea typeface="Calibri" panose="020F0502020204030204" pitchFamily="34" charset="0"/>
                <a:cs typeface="Times New Roman" panose="02020603050405020304" pitchFamily="18" charset="0"/>
              </a:rPr>
              <a:t> </a:t>
            </a:r>
            <a:r>
              <a:rPr lang="en-US" sz="1400" dirty="0">
                <a:latin typeface="Avenir Book" panose="02000503020000020003" pitchFamily="2" charset="0"/>
                <a:ea typeface="Calibri" panose="020F0502020204030204" pitchFamily="34" charset="0"/>
                <a:cs typeface="Times New Roman" panose="02020603050405020304" pitchFamily="18" charset="0"/>
              </a:rPr>
              <a:t>platform which is an online community with discussions, courses and updates with over 2000 members till date, before the launch of the Hub.</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pic>
        <p:nvPicPr>
          <p:cNvPr id="11" name="Picture 10" descr="Icon&#10;&#10;Description automatically generated">
            <a:extLst>
              <a:ext uri="{FF2B5EF4-FFF2-40B4-BE49-F238E27FC236}">
                <a16:creationId xmlns:a16="http://schemas.microsoft.com/office/drawing/2014/main" id="{206143C8-66C0-2D47-AA9C-7D19A3BD36F9}"/>
              </a:ext>
            </a:extLst>
          </p:cNvPr>
          <p:cNvPicPr>
            <a:picLocks noChangeAspect="1"/>
          </p:cNvPicPr>
          <p:nvPr/>
        </p:nvPicPr>
        <p:blipFill>
          <a:blip r:embed="rId3"/>
          <a:stretch>
            <a:fillRect/>
          </a:stretch>
        </p:blipFill>
        <p:spPr>
          <a:xfrm>
            <a:off x="6554550" y="1781188"/>
            <a:ext cx="1924538" cy="1924538"/>
          </a:xfrm>
          <a:prstGeom prst="rect">
            <a:avLst/>
          </a:prstGeom>
        </p:spPr>
      </p:pic>
      <p:sp>
        <p:nvSpPr>
          <p:cNvPr id="3" name="Slide Number Placeholder 2">
            <a:extLst>
              <a:ext uri="{FF2B5EF4-FFF2-40B4-BE49-F238E27FC236}">
                <a16:creationId xmlns:a16="http://schemas.microsoft.com/office/drawing/2014/main" id="{7F10404E-0947-2F40-BD30-40532C14F18F}"/>
              </a:ext>
            </a:extLst>
          </p:cNvPr>
          <p:cNvSpPr>
            <a:spLocks noGrp="1"/>
          </p:cNvSpPr>
          <p:nvPr>
            <p:ph type="sldNum" sz="quarter" idx="12"/>
          </p:nvPr>
        </p:nvSpPr>
        <p:spPr/>
        <p:txBody>
          <a:bodyPr/>
          <a:lstStyle/>
          <a:p>
            <a:fld id="{664C5C96-B43F-EF41-83BB-885FD2BDB03F}" type="slidenum">
              <a:rPr lang="en-US" smtClean="0"/>
              <a:t>9</a:t>
            </a:fld>
            <a:endParaRPr lang="en-US"/>
          </a:p>
        </p:txBody>
      </p:sp>
      <p:pic>
        <p:nvPicPr>
          <p:cNvPr id="7" name="Picture 6">
            <a:extLst>
              <a:ext uri="{FF2B5EF4-FFF2-40B4-BE49-F238E27FC236}">
                <a16:creationId xmlns:a16="http://schemas.microsoft.com/office/drawing/2014/main" id="{AC2C0734-F773-3242-8EDA-3071C0AD2BF1}"/>
              </a:ext>
            </a:extLst>
          </p:cNvPr>
          <p:cNvPicPr>
            <a:picLocks noChangeAspect="1"/>
          </p:cNvPicPr>
          <p:nvPr/>
        </p:nvPicPr>
        <p:blipFill>
          <a:blip r:embed="rId4"/>
          <a:stretch>
            <a:fillRect/>
          </a:stretch>
        </p:blipFill>
        <p:spPr>
          <a:xfrm>
            <a:off x="6607098" y="4975199"/>
            <a:ext cx="1819442" cy="604112"/>
          </a:xfrm>
          <a:prstGeom prst="rect">
            <a:avLst/>
          </a:prstGeom>
        </p:spPr>
      </p:pic>
    </p:spTree>
    <p:extLst>
      <p:ext uri="{BB962C8B-B14F-4D97-AF65-F5344CB8AC3E}">
        <p14:creationId xmlns:p14="http://schemas.microsoft.com/office/powerpoint/2010/main" val="16217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5874214" cy="3665362"/>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Impactful Programs</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One of the main goals of IIH is to bring global startup and tech skills programs to the Hub  and expose our local talent to the global community and opportunities for remote foreign jobs and startup entrepreneurship. </a:t>
            </a: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The resulting impact is a talented and financially stable young population who will cater to their families, upgrade their standard of living and create a more prosperous economy in Kwara. The programs we run will have measurable impact on Kwara State and beyond.</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10</a:t>
            </a:fld>
            <a:endParaRPr lang="en-US"/>
          </a:p>
        </p:txBody>
      </p:sp>
      <p:pic>
        <p:nvPicPr>
          <p:cNvPr id="9" name="Picture 8" descr="Icon&#10;&#10;Description automatically generated">
            <a:extLst>
              <a:ext uri="{FF2B5EF4-FFF2-40B4-BE49-F238E27FC236}">
                <a16:creationId xmlns:a16="http://schemas.microsoft.com/office/drawing/2014/main" id="{4F623BA6-48E5-9043-A07E-634E2745F497}"/>
              </a:ext>
            </a:extLst>
          </p:cNvPr>
          <p:cNvPicPr>
            <a:picLocks noChangeAspect="1"/>
          </p:cNvPicPr>
          <p:nvPr/>
        </p:nvPicPr>
        <p:blipFill>
          <a:blip r:embed="rId3"/>
          <a:stretch>
            <a:fillRect/>
          </a:stretch>
        </p:blipFill>
        <p:spPr>
          <a:xfrm>
            <a:off x="6831371" y="1654989"/>
            <a:ext cx="1774011" cy="1774011"/>
          </a:xfrm>
          <a:prstGeom prst="rect">
            <a:avLst/>
          </a:prstGeom>
        </p:spPr>
      </p:pic>
      <p:pic>
        <p:nvPicPr>
          <p:cNvPr id="12" name="Picture 11">
            <a:extLst>
              <a:ext uri="{FF2B5EF4-FFF2-40B4-BE49-F238E27FC236}">
                <a16:creationId xmlns:a16="http://schemas.microsoft.com/office/drawing/2014/main" id="{C1044489-1C64-6845-B681-AD16455B6263}"/>
              </a:ext>
            </a:extLst>
          </p:cNvPr>
          <p:cNvPicPr>
            <a:picLocks noChangeAspect="1"/>
          </p:cNvPicPr>
          <p:nvPr/>
        </p:nvPicPr>
        <p:blipFill>
          <a:blip r:embed="rId4"/>
          <a:stretch>
            <a:fillRect/>
          </a:stretch>
        </p:blipFill>
        <p:spPr>
          <a:xfrm>
            <a:off x="7098631" y="4708428"/>
            <a:ext cx="1104900" cy="1346200"/>
          </a:xfrm>
          <a:prstGeom prst="rect">
            <a:avLst/>
          </a:prstGeom>
        </p:spPr>
      </p:pic>
    </p:spTree>
    <p:extLst>
      <p:ext uri="{BB962C8B-B14F-4D97-AF65-F5344CB8AC3E}">
        <p14:creationId xmlns:p14="http://schemas.microsoft.com/office/powerpoint/2010/main" val="76861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5874214" cy="3342197"/>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Strong Public Relations</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IIH will need some very good public relations (especially internationally) to attract the type of partnerships and programs that we want for the standard we are trying to set. We see coverage from CNN, BBC </a:t>
            </a:r>
            <a:r>
              <a:rPr lang="en-US" sz="1400" dirty="0">
                <a:latin typeface="Avenir Book" panose="02000503020000020003" pitchFamily="2" charset="0"/>
                <a:ea typeface="Calibri" panose="020F0502020204030204" pitchFamily="34" charset="0"/>
                <a:cs typeface="Times New Roman" panose="02020603050405020304" pitchFamily="18" charset="0"/>
              </a:rPr>
              <a:t>within the first year.</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Presence on national media like Channels, TVC, Arise and at major conferences will be necessary to keep the tech industry in the loop and keep us positioned for investors and other opportunities.</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11</a:t>
            </a:fld>
            <a:endParaRPr lang="en-US"/>
          </a:p>
        </p:txBody>
      </p:sp>
      <p:pic>
        <p:nvPicPr>
          <p:cNvPr id="7" name="Picture 6" descr="Icon&#10;&#10;Description automatically generated">
            <a:extLst>
              <a:ext uri="{FF2B5EF4-FFF2-40B4-BE49-F238E27FC236}">
                <a16:creationId xmlns:a16="http://schemas.microsoft.com/office/drawing/2014/main" id="{22C9FC72-F0E1-CD46-B1E6-04D9A993699B}"/>
              </a:ext>
            </a:extLst>
          </p:cNvPr>
          <p:cNvPicPr>
            <a:picLocks noChangeAspect="1"/>
          </p:cNvPicPr>
          <p:nvPr/>
        </p:nvPicPr>
        <p:blipFill>
          <a:blip r:embed="rId3"/>
          <a:stretch>
            <a:fillRect/>
          </a:stretch>
        </p:blipFill>
        <p:spPr>
          <a:xfrm>
            <a:off x="6894101" y="1638959"/>
            <a:ext cx="1797328" cy="1797328"/>
          </a:xfrm>
          <a:prstGeom prst="rect">
            <a:avLst/>
          </a:prstGeom>
        </p:spPr>
      </p:pic>
      <p:pic>
        <p:nvPicPr>
          <p:cNvPr id="11" name="Picture 10">
            <a:extLst>
              <a:ext uri="{FF2B5EF4-FFF2-40B4-BE49-F238E27FC236}">
                <a16:creationId xmlns:a16="http://schemas.microsoft.com/office/drawing/2014/main" id="{E3E4EC15-1172-A846-B9DC-57773515C5F8}"/>
              </a:ext>
            </a:extLst>
          </p:cNvPr>
          <p:cNvPicPr>
            <a:picLocks noChangeAspect="1"/>
          </p:cNvPicPr>
          <p:nvPr/>
        </p:nvPicPr>
        <p:blipFill>
          <a:blip r:embed="rId4"/>
          <a:stretch>
            <a:fillRect/>
          </a:stretch>
        </p:blipFill>
        <p:spPr>
          <a:xfrm>
            <a:off x="4254720" y="5179841"/>
            <a:ext cx="846669" cy="810641"/>
          </a:xfrm>
          <a:prstGeom prst="rect">
            <a:avLst/>
          </a:prstGeom>
        </p:spPr>
      </p:pic>
    </p:spTree>
    <p:extLst>
      <p:ext uri="{BB962C8B-B14F-4D97-AF65-F5344CB8AC3E}">
        <p14:creationId xmlns:p14="http://schemas.microsoft.com/office/powerpoint/2010/main" val="1174149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66231"/>
            <a:ext cx="5826087" cy="3988528"/>
          </a:xfrm>
          <a:prstGeom prst="rect">
            <a:avLst/>
          </a:prstGeom>
          <a:noFill/>
        </p:spPr>
        <p:txBody>
          <a:bodyPr wrap="square" rtlCol="0">
            <a:spAutoFit/>
          </a:bodyPr>
          <a:lstStyle/>
          <a:p>
            <a:pPr>
              <a:lnSpc>
                <a:spcPct val="150000"/>
              </a:lnSpc>
            </a:pPr>
            <a:r>
              <a:rPr lang="en-US" sz="1600" b="1" dirty="0">
                <a:effectLst/>
                <a:latin typeface="Avenir Book" panose="02000503020000020003" pitchFamily="2" charset="0"/>
                <a:ea typeface="Calibri" panose="020F0502020204030204" pitchFamily="34" charset="0"/>
                <a:cs typeface="Times New Roman" panose="02020603050405020304" pitchFamily="18" charset="0"/>
              </a:rPr>
              <a:t>Lean Structure</a:t>
            </a:r>
            <a:endParaRPr lang="en-US" sz="1600" b="1"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endParaRPr lang="en-US" sz="1400" b="1" dirty="0">
              <a:effectLst/>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effectLst/>
                <a:latin typeface="Avenir Book" panose="02000503020000020003" pitchFamily="2" charset="0"/>
                <a:ea typeface="Calibri" panose="020F0502020204030204" pitchFamily="34" charset="0"/>
                <a:cs typeface="Times New Roman" panose="02020603050405020304" pitchFamily="18" charset="0"/>
              </a:rPr>
              <a:t>The Ilorin Innovation Hub can only succeed if it keeps its staff and operational overhead at the barest minimum. IIH will be a huge target to many people in the state for employmen</a:t>
            </a:r>
            <a:r>
              <a:rPr lang="en-US" sz="1400" dirty="0">
                <a:latin typeface="Avenir Book" panose="02000503020000020003" pitchFamily="2" charset="0"/>
                <a:ea typeface="Calibri" panose="020F0502020204030204" pitchFamily="34" charset="0"/>
                <a:cs typeface="Times New Roman" panose="02020603050405020304" pitchFamily="18" charset="0"/>
              </a:rPr>
              <a:t>t for their kids, but the Hub only requires a few staff to function.</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For the political/public pressure, we will create programs that will not give full-time employment but commission-based jobs that will help young job seekers start making money immediately. </a:t>
            </a:r>
          </a:p>
          <a:p>
            <a:pPr>
              <a:lnSpc>
                <a:spcPct val="150000"/>
              </a:lnSpc>
            </a:pPr>
            <a:endParaRPr lang="en-US" sz="1400" dirty="0">
              <a:latin typeface="Avenir Book" panose="02000503020000020003" pitchFamily="2" charset="0"/>
              <a:ea typeface="Calibri" panose="020F0502020204030204" pitchFamily="34" charset="0"/>
              <a:cs typeface="Times New Roman" panose="02020603050405020304" pitchFamily="18" charset="0"/>
            </a:endParaRPr>
          </a:p>
          <a:p>
            <a:pPr>
              <a:lnSpc>
                <a:spcPct val="150000"/>
              </a:lnSpc>
            </a:pPr>
            <a:r>
              <a:rPr lang="en-US" sz="1400" dirty="0">
                <a:latin typeface="Avenir Book" panose="02000503020000020003" pitchFamily="2" charset="0"/>
                <a:ea typeface="Calibri" panose="020F0502020204030204" pitchFamily="34" charset="0"/>
                <a:cs typeface="Times New Roman" panose="02020603050405020304" pitchFamily="18" charset="0"/>
              </a:rPr>
              <a:t>Some examples of such roles we will create within the community are</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Key Success Factors</a:t>
            </a:r>
          </a:p>
        </p:txBody>
      </p:sp>
      <p:pic>
        <p:nvPicPr>
          <p:cNvPr id="10" name="Picture 9">
            <a:extLst>
              <a:ext uri="{FF2B5EF4-FFF2-40B4-BE49-F238E27FC236}">
                <a16:creationId xmlns:a16="http://schemas.microsoft.com/office/drawing/2014/main" id="{483214FC-82D8-FF43-8597-17683A117F0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EE96E2D-57AE-564B-8588-5585D5BC967F}"/>
              </a:ext>
            </a:extLst>
          </p:cNvPr>
          <p:cNvSpPr>
            <a:spLocks noGrp="1"/>
          </p:cNvSpPr>
          <p:nvPr>
            <p:ph type="sldNum" sz="quarter" idx="12"/>
          </p:nvPr>
        </p:nvSpPr>
        <p:spPr/>
        <p:txBody>
          <a:bodyPr/>
          <a:lstStyle/>
          <a:p>
            <a:fld id="{664C5C96-B43F-EF41-83BB-885FD2BDB03F}" type="slidenum">
              <a:rPr lang="en-US" smtClean="0"/>
              <a:t>12</a:t>
            </a:fld>
            <a:endParaRPr lang="en-US"/>
          </a:p>
        </p:txBody>
      </p:sp>
      <p:sp>
        <p:nvSpPr>
          <p:cNvPr id="9" name="TextBox 8">
            <a:extLst>
              <a:ext uri="{FF2B5EF4-FFF2-40B4-BE49-F238E27FC236}">
                <a16:creationId xmlns:a16="http://schemas.microsoft.com/office/drawing/2014/main" id="{26DB1CD7-B599-9F4E-8B3A-D05B2DB11C10}"/>
              </a:ext>
            </a:extLst>
          </p:cNvPr>
          <p:cNvSpPr txBox="1"/>
          <p:nvPr/>
        </p:nvSpPr>
        <p:spPr>
          <a:xfrm>
            <a:off x="538618" y="5533073"/>
            <a:ext cx="6860803" cy="1005840"/>
          </a:xfrm>
          <a:prstGeom prst="rect">
            <a:avLst/>
          </a:prstGeom>
          <a:noFill/>
        </p:spPr>
        <p:txBody>
          <a:bodyPr wrap="square" numCol="2" rtlCol="0">
            <a:spAutoFit/>
          </a:bodyPr>
          <a:lstStyle/>
          <a:p>
            <a:pPr marL="285750" indent="-285750">
              <a:lnSpc>
                <a:spcPct val="150000"/>
              </a:lnSpc>
              <a:buFont typeface="Arial" panose="020B0604020202020204" pitchFamily="34" charset="0"/>
              <a:buChar char="•"/>
            </a:pPr>
            <a:r>
              <a:rPr lang="en-US" sz="1400" dirty="0">
                <a:effectLst/>
                <a:latin typeface="Avenir Book" panose="02000503020000020003" pitchFamily="2" charset="0"/>
                <a:ea typeface="Calibri" panose="020F0502020204030204" pitchFamily="34" charset="0"/>
                <a:cs typeface="Times New Roman" panose="02020603050405020304" pitchFamily="18" charset="0"/>
              </a:rPr>
              <a:t>Fintech/POS Agents</a:t>
            </a:r>
          </a:p>
          <a:p>
            <a:pPr marL="285750" indent="-285750">
              <a:lnSpc>
                <a:spcPct val="150000"/>
              </a:lnSpc>
              <a:buFont typeface="Arial" panose="020B0604020202020204" pitchFamily="34" charset="0"/>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E-Commerce Delivery Agents</a:t>
            </a:r>
          </a:p>
          <a:p>
            <a:pPr marL="285750" indent="-285750">
              <a:lnSpc>
                <a:spcPct val="150000"/>
              </a:lnSpc>
              <a:buFont typeface="Arial" panose="020B0604020202020204" pitchFamily="34" charset="0"/>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Data Capture Agents</a:t>
            </a:r>
          </a:p>
          <a:p>
            <a:pPr marL="285750" indent="-285750">
              <a:lnSpc>
                <a:spcPct val="150000"/>
              </a:lnSpc>
              <a:buFont typeface="Arial" panose="020B0604020202020204" pitchFamily="34" charset="0"/>
              <a:buChar char="•"/>
            </a:pPr>
            <a:r>
              <a:rPr lang="en-US" sz="1400" dirty="0">
                <a:latin typeface="Avenir Book" panose="02000503020000020003" pitchFamily="2" charset="0"/>
                <a:ea typeface="Calibri" panose="020F0502020204030204" pitchFamily="34" charset="0"/>
                <a:cs typeface="Times New Roman" panose="02020603050405020304" pitchFamily="18" charset="0"/>
              </a:rPr>
              <a:t>Tech Support Agents</a:t>
            </a:r>
          </a:p>
        </p:txBody>
      </p:sp>
      <p:pic>
        <p:nvPicPr>
          <p:cNvPr id="11" name="Picture 10" descr="A picture containing shape&#10;&#10;Description automatically generated">
            <a:extLst>
              <a:ext uri="{FF2B5EF4-FFF2-40B4-BE49-F238E27FC236}">
                <a16:creationId xmlns:a16="http://schemas.microsoft.com/office/drawing/2014/main" id="{197052C6-B246-6640-98B7-6C2539DE3012}"/>
              </a:ext>
            </a:extLst>
          </p:cNvPr>
          <p:cNvPicPr>
            <a:picLocks noChangeAspect="1"/>
          </p:cNvPicPr>
          <p:nvPr/>
        </p:nvPicPr>
        <p:blipFill>
          <a:blip r:embed="rId3"/>
          <a:stretch>
            <a:fillRect/>
          </a:stretch>
        </p:blipFill>
        <p:spPr>
          <a:xfrm>
            <a:off x="6713120" y="1918469"/>
            <a:ext cx="2154154" cy="2154154"/>
          </a:xfrm>
          <a:prstGeom prst="rect">
            <a:avLst/>
          </a:prstGeom>
        </p:spPr>
      </p:pic>
    </p:spTree>
    <p:extLst>
      <p:ext uri="{BB962C8B-B14F-4D97-AF65-F5344CB8AC3E}">
        <p14:creationId xmlns:p14="http://schemas.microsoft.com/office/powerpoint/2010/main" val="3956743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0106" y="1398732"/>
            <a:ext cx="7434799" cy="4123052"/>
          </a:xfrm>
          <a:prstGeom prst="rect">
            <a:avLst/>
          </a:prstGeom>
          <a:noFill/>
        </p:spPr>
        <p:txBody>
          <a:bodyPr wrap="square" rtlCol="0">
            <a:spAutoFit/>
          </a:bodyPr>
          <a:lstStyle/>
          <a:p>
            <a:pPr algn="just">
              <a:lnSpc>
                <a:spcPct val="150000"/>
              </a:lnSpc>
            </a:pPr>
            <a:r>
              <a:rPr lang="en-US" sz="1600" dirty="0">
                <a:latin typeface="Avenir Book" panose="02000503020000020003" pitchFamily="2" charset="0"/>
              </a:rPr>
              <a:t>The following factors will be put into consideration while proposing a structure:</a:t>
            </a:r>
          </a:p>
          <a:p>
            <a:pPr algn="just">
              <a:lnSpc>
                <a:spcPct val="150000"/>
              </a:lnSpc>
            </a:pPr>
            <a:endParaRPr lang="en-US" sz="1600" dirty="0">
              <a:latin typeface="Avenir Book" panose="02000503020000020003" pitchFamily="2" charset="0"/>
            </a:endParaRPr>
          </a:p>
          <a:p>
            <a:pPr marL="342900" indent="-342900" algn="just">
              <a:lnSpc>
                <a:spcPct val="150000"/>
              </a:lnSpc>
              <a:buFont typeface="+mj-lt"/>
              <a:buAutoNum type="arabicPeriod"/>
            </a:pPr>
            <a:r>
              <a:rPr lang="en-US" sz="1600" dirty="0">
                <a:latin typeface="Avenir Book" panose="02000503020000020003" pitchFamily="2" charset="0"/>
              </a:rPr>
              <a:t>Structure to remain 100% owned by the Kwara State Government</a:t>
            </a:r>
          </a:p>
          <a:p>
            <a:pPr marL="342900" indent="-342900" algn="just">
              <a:lnSpc>
                <a:spcPct val="150000"/>
              </a:lnSpc>
              <a:buFont typeface="+mj-lt"/>
              <a:buAutoNum type="arabicPeriod"/>
            </a:pPr>
            <a:r>
              <a:rPr lang="en-US" sz="1600" dirty="0">
                <a:latin typeface="Avenir Book" panose="02000503020000020003" pitchFamily="2" charset="0"/>
              </a:rPr>
              <a:t>Flexible structure to engage in startup investments. Power to invest, purchase, acquire </a:t>
            </a:r>
            <a:r>
              <a:rPr lang="en-US" sz="1600" dirty="0" err="1">
                <a:latin typeface="Avenir Book" panose="02000503020000020003" pitchFamily="2" charset="0"/>
              </a:rPr>
              <a:t>etc</a:t>
            </a:r>
            <a:endParaRPr lang="en-US" sz="1600" dirty="0">
              <a:latin typeface="Avenir Book" panose="02000503020000020003" pitchFamily="2" charset="0"/>
            </a:endParaRPr>
          </a:p>
          <a:p>
            <a:pPr marL="342900" indent="-342900" algn="just">
              <a:lnSpc>
                <a:spcPct val="150000"/>
              </a:lnSpc>
              <a:buFont typeface="+mj-lt"/>
              <a:buAutoNum type="arabicPeriod"/>
            </a:pPr>
            <a:r>
              <a:rPr lang="en-US" sz="1600" dirty="0">
                <a:latin typeface="Avenir Book" panose="02000503020000020003" pitchFamily="2" charset="0"/>
              </a:rPr>
              <a:t>A government-owned Innovation Fund with statutory contributions backed by law</a:t>
            </a:r>
          </a:p>
          <a:p>
            <a:pPr marL="342900" indent="-342900" algn="just">
              <a:lnSpc>
                <a:spcPct val="150000"/>
              </a:lnSpc>
              <a:buFont typeface="+mj-lt"/>
              <a:buAutoNum type="arabicPeriod"/>
            </a:pPr>
            <a:r>
              <a:rPr lang="en-US" sz="1600" dirty="0">
                <a:latin typeface="Avenir Book" panose="02000503020000020003" pitchFamily="2" charset="0"/>
              </a:rPr>
              <a:t>Attractiveness to private sector investor investors</a:t>
            </a:r>
          </a:p>
          <a:p>
            <a:pPr marL="342900" indent="-342900" algn="just">
              <a:lnSpc>
                <a:spcPct val="150000"/>
              </a:lnSpc>
              <a:buFont typeface="+mj-lt"/>
              <a:buAutoNum type="arabicPeriod"/>
            </a:pPr>
            <a:r>
              <a:rPr lang="en-US" sz="1600" dirty="0">
                <a:latin typeface="Avenir Book" panose="02000503020000020003" pitchFamily="2" charset="0"/>
              </a:rPr>
              <a:t>Credibility to foreign donors and NGOs</a:t>
            </a:r>
          </a:p>
          <a:p>
            <a:pPr marL="342900" indent="-342900" algn="just">
              <a:lnSpc>
                <a:spcPct val="150000"/>
              </a:lnSpc>
              <a:buFont typeface="+mj-lt"/>
              <a:buAutoNum type="arabicPeriod"/>
            </a:pPr>
            <a:r>
              <a:rPr lang="en-US" sz="1600" dirty="0">
                <a:latin typeface="Avenir Book" panose="02000503020000020003" pitchFamily="2" charset="0"/>
              </a:rPr>
              <a:t>Credibility to sponsors and partners</a:t>
            </a:r>
          </a:p>
          <a:p>
            <a:pPr marL="342900" indent="-342900" algn="just">
              <a:lnSpc>
                <a:spcPct val="150000"/>
              </a:lnSpc>
              <a:buFont typeface="+mj-lt"/>
              <a:buAutoNum type="arabicPeriod"/>
            </a:pPr>
            <a:r>
              <a:rPr lang="en-US" sz="1600" dirty="0">
                <a:latin typeface="Avenir Book" panose="02000503020000020003" pitchFamily="2" charset="0"/>
              </a:rPr>
              <a:t>Protection from Bureaucracy</a:t>
            </a:r>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pic>
        <p:nvPicPr>
          <p:cNvPr id="5" name="Picture 4">
            <a:extLst>
              <a:ext uri="{FF2B5EF4-FFF2-40B4-BE49-F238E27FC236}">
                <a16:creationId xmlns:a16="http://schemas.microsoft.com/office/drawing/2014/main" id="{D7CB69C3-D192-4E44-8BA3-7702528748C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B3C0CF05-2FA7-1C4D-95DE-63D33F804AD5}"/>
              </a:ext>
            </a:extLst>
          </p:cNvPr>
          <p:cNvSpPr>
            <a:spLocks noGrp="1"/>
          </p:cNvSpPr>
          <p:nvPr>
            <p:ph type="sldNum" sz="quarter" idx="12"/>
          </p:nvPr>
        </p:nvSpPr>
        <p:spPr/>
        <p:txBody>
          <a:bodyPr/>
          <a:lstStyle/>
          <a:p>
            <a:fld id="{664C5C96-B43F-EF41-83BB-885FD2BDB03F}" type="slidenum">
              <a:rPr lang="en-US" smtClean="0"/>
              <a:t>13</a:t>
            </a:fld>
            <a:endParaRPr lang="en-US"/>
          </a:p>
        </p:txBody>
      </p:sp>
      <p:pic>
        <p:nvPicPr>
          <p:cNvPr id="4" name="Picture 3">
            <a:extLst>
              <a:ext uri="{FF2B5EF4-FFF2-40B4-BE49-F238E27FC236}">
                <a16:creationId xmlns:a16="http://schemas.microsoft.com/office/drawing/2014/main" id="{200A03C8-584A-2C45-BBCE-6DC480A43C0B}"/>
              </a:ext>
            </a:extLst>
          </p:cNvPr>
          <p:cNvPicPr>
            <a:picLocks noChangeAspect="1"/>
          </p:cNvPicPr>
          <p:nvPr/>
        </p:nvPicPr>
        <p:blipFill>
          <a:blip r:embed="rId3"/>
          <a:stretch>
            <a:fillRect/>
          </a:stretch>
        </p:blipFill>
        <p:spPr>
          <a:xfrm>
            <a:off x="6421103" y="3944962"/>
            <a:ext cx="1810495" cy="2541440"/>
          </a:xfrm>
          <a:prstGeom prst="rect">
            <a:avLst/>
          </a:prstGeom>
        </p:spPr>
      </p:pic>
    </p:spTree>
    <p:extLst>
      <p:ext uri="{BB962C8B-B14F-4D97-AF65-F5344CB8AC3E}">
        <p14:creationId xmlns:p14="http://schemas.microsoft.com/office/powerpoint/2010/main" val="1065641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graphicFrame>
        <p:nvGraphicFramePr>
          <p:cNvPr id="2" name="Table 2">
            <a:extLst>
              <a:ext uri="{FF2B5EF4-FFF2-40B4-BE49-F238E27FC236}">
                <a16:creationId xmlns:a16="http://schemas.microsoft.com/office/drawing/2014/main" id="{F82470E4-8E70-FB4F-86A9-A762C57CAA05}"/>
              </a:ext>
            </a:extLst>
          </p:cNvPr>
          <p:cNvGraphicFramePr>
            <a:graphicFrameLocks noGrp="1"/>
          </p:cNvGraphicFramePr>
          <p:nvPr>
            <p:extLst>
              <p:ext uri="{D42A27DB-BD31-4B8C-83A1-F6EECF244321}">
                <p14:modId xmlns:p14="http://schemas.microsoft.com/office/powerpoint/2010/main" val="1066536244"/>
              </p:ext>
            </p:extLst>
          </p:nvPr>
        </p:nvGraphicFramePr>
        <p:xfrm>
          <a:off x="340289" y="1512747"/>
          <a:ext cx="8599173" cy="4445508"/>
        </p:xfrm>
        <a:graphic>
          <a:graphicData uri="http://schemas.openxmlformats.org/drawingml/2006/table">
            <a:tbl>
              <a:tblPr firstRow="1" bandRow="1">
                <a:tableStyleId>{2A488322-F2BA-4B5B-9748-0D474271808F}</a:tableStyleId>
              </a:tblPr>
              <a:tblGrid>
                <a:gridCol w="513953">
                  <a:extLst>
                    <a:ext uri="{9D8B030D-6E8A-4147-A177-3AD203B41FA5}">
                      <a16:colId xmlns:a16="http://schemas.microsoft.com/office/drawing/2014/main" val="150575587"/>
                    </a:ext>
                  </a:extLst>
                </a:gridCol>
                <a:gridCol w="4318034">
                  <a:extLst>
                    <a:ext uri="{9D8B030D-6E8A-4147-A177-3AD203B41FA5}">
                      <a16:colId xmlns:a16="http://schemas.microsoft.com/office/drawing/2014/main" val="835526485"/>
                    </a:ext>
                  </a:extLst>
                </a:gridCol>
                <a:gridCol w="3767186">
                  <a:extLst>
                    <a:ext uri="{9D8B030D-6E8A-4147-A177-3AD203B41FA5}">
                      <a16:colId xmlns:a16="http://schemas.microsoft.com/office/drawing/2014/main" val="3732958154"/>
                    </a:ext>
                  </a:extLst>
                </a:gridCol>
              </a:tblGrid>
              <a:tr h="370840">
                <a:tc>
                  <a:txBody>
                    <a:bodyPr/>
                    <a:lstStyle/>
                    <a:p>
                      <a:r>
                        <a:rPr lang="en-US" sz="1400" dirty="0">
                          <a:latin typeface="Avenir Book" panose="02000503020000020003" pitchFamily="2" charset="0"/>
                        </a:rPr>
                        <a:t>SN</a:t>
                      </a:r>
                    </a:p>
                  </a:txBody>
                  <a:tcPr>
                    <a:solidFill>
                      <a:srgbClr val="58E166"/>
                    </a:solidFill>
                  </a:tcPr>
                </a:tc>
                <a:tc>
                  <a:txBody>
                    <a:bodyPr/>
                    <a:lstStyle/>
                    <a:p>
                      <a:r>
                        <a:rPr lang="en-US" sz="1400" dirty="0">
                          <a:latin typeface="Avenir Book" panose="02000503020000020003" pitchFamily="2" charset="0"/>
                        </a:rPr>
                        <a:t>Factor</a:t>
                      </a:r>
                    </a:p>
                  </a:txBody>
                  <a:tcPr>
                    <a:solidFill>
                      <a:srgbClr val="58E166"/>
                    </a:solidFill>
                  </a:tcPr>
                </a:tc>
                <a:tc>
                  <a:txBody>
                    <a:bodyPr/>
                    <a:lstStyle/>
                    <a:p>
                      <a:r>
                        <a:rPr lang="en-US" sz="1400" dirty="0">
                          <a:latin typeface="Avenir Book" panose="02000503020000020003" pitchFamily="2" charset="0"/>
                        </a:rPr>
                        <a:t>Recommendation</a:t>
                      </a:r>
                    </a:p>
                  </a:txBody>
                  <a:tcPr>
                    <a:solidFill>
                      <a:srgbClr val="58E166"/>
                    </a:solidFill>
                  </a:tcPr>
                </a:tc>
                <a:extLst>
                  <a:ext uri="{0D108BD9-81ED-4DB2-BD59-A6C34878D82A}">
                    <a16:rowId xmlns:a16="http://schemas.microsoft.com/office/drawing/2014/main" val="4174308387"/>
                  </a:ext>
                </a:extLst>
              </a:tr>
              <a:tr h="370840">
                <a:tc>
                  <a:txBody>
                    <a:bodyPr/>
                    <a:lstStyle/>
                    <a:p>
                      <a:r>
                        <a:rPr lang="en-US" sz="1400" dirty="0">
                          <a:latin typeface="Avenir Book" panose="02000503020000020003" pitchFamily="2" charset="0"/>
                        </a:rPr>
                        <a:t>1</a:t>
                      </a:r>
                    </a:p>
                  </a:txBody>
                  <a:tcPr/>
                </a:tc>
                <a:tc>
                  <a:txBody>
                    <a:bodyPr/>
                    <a:lstStyle/>
                    <a:p>
                      <a:pPr marL="0" indent="0" algn="just">
                        <a:lnSpc>
                          <a:spcPct val="150000"/>
                        </a:lnSpc>
                        <a:buFont typeface="+mj-lt"/>
                        <a:buNone/>
                      </a:pPr>
                      <a:r>
                        <a:rPr lang="en-US" sz="1400" dirty="0">
                          <a:latin typeface="Avenir Book" panose="02000503020000020003" pitchFamily="2" charset="0"/>
                        </a:rPr>
                        <a:t>Structure to remain 100% owned by the Kwara State Government</a:t>
                      </a:r>
                    </a:p>
                  </a:txBody>
                  <a:tcPr/>
                </a:tc>
                <a:tc>
                  <a:txBody>
                    <a:bodyPr/>
                    <a:lstStyle/>
                    <a:p>
                      <a:r>
                        <a:rPr lang="en-US" sz="1400" dirty="0">
                          <a:latin typeface="Avenir Book" panose="02000503020000020003" pitchFamily="2" charset="0"/>
                        </a:rPr>
                        <a:t>Private Ltd Coy owned 100% by KWSG represented by KWAIITA </a:t>
                      </a:r>
                    </a:p>
                  </a:txBody>
                  <a:tcPr/>
                </a:tc>
                <a:extLst>
                  <a:ext uri="{0D108BD9-81ED-4DB2-BD59-A6C34878D82A}">
                    <a16:rowId xmlns:a16="http://schemas.microsoft.com/office/drawing/2014/main" val="4213964797"/>
                  </a:ext>
                </a:extLst>
              </a:tr>
              <a:tr h="370840">
                <a:tc>
                  <a:txBody>
                    <a:bodyPr/>
                    <a:lstStyle/>
                    <a:p>
                      <a:r>
                        <a:rPr lang="en-US" sz="1400" dirty="0">
                          <a:latin typeface="Avenir Book" panose="02000503020000020003" pitchFamily="2" charset="0"/>
                        </a:rPr>
                        <a:t>2</a:t>
                      </a:r>
                    </a:p>
                  </a:txBody>
                  <a:tcPr/>
                </a:tc>
                <a:tc>
                  <a:txBody>
                    <a:bodyPr/>
                    <a:lstStyle/>
                    <a:p>
                      <a:pPr marL="0" marR="0" lvl="0" indent="0" algn="just" defTabSz="914400" rtl="0" eaLnBrk="1" fontAlgn="auto" latinLnBrk="0" hangingPunct="1">
                        <a:lnSpc>
                          <a:spcPct val="150000"/>
                        </a:lnSpc>
                        <a:spcBef>
                          <a:spcPts val="0"/>
                        </a:spcBef>
                        <a:spcAft>
                          <a:spcPts val="0"/>
                        </a:spcAft>
                        <a:buClrTx/>
                        <a:buSzTx/>
                        <a:buFont typeface="+mj-lt"/>
                        <a:buNone/>
                        <a:tabLst/>
                        <a:defRPr/>
                      </a:pPr>
                      <a:r>
                        <a:rPr lang="en-US" sz="1400" dirty="0">
                          <a:latin typeface="Avenir Book" panose="02000503020000020003" pitchFamily="2" charset="0"/>
                        </a:rPr>
                        <a:t>Flexible structure to engage in startup investments. Power to invest, purchase, acquire </a:t>
                      </a:r>
                      <a:r>
                        <a:rPr lang="en-US" sz="1400" dirty="0" err="1">
                          <a:latin typeface="Avenir Book" panose="02000503020000020003" pitchFamily="2" charset="0"/>
                        </a:rPr>
                        <a:t>etc</a:t>
                      </a:r>
                      <a:endParaRPr lang="en-US" sz="1400" dirty="0">
                        <a:latin typeface="Avenir Book" panose="02000503020000020003" pitchFamily="2" charset="0"/>
                      </a:endParaRPr>
                    </a:p>
                  </a:txBody>
                  <a:tcPr/>
                </a:tc>
                <a:tc>
                  <a:txBody>
                    <a:bodyPr/>
                    <a:lstStyle/>
                    <a:p>
                      <a:r>
                        <a:rPr lang="en-US" sz="1400" dirty="0">
                          <a:latin typeface="Avenir Book" panose="02000503020000020003" pitchFamily="2" charset="0"/>
                        </a:rPr>
                        <a:t>Private Ltd Coy owned 100% by KWSG represented by KWAIITA </a:t>
                      </a:r>
                    </a:p>
                  </a:txBody>
                  <a:tcPr/>
                </a:tc>
                <a:extLst>
                  <a:ext uri="{0D108BD9-81ED-4DB2-BD59-A6C34878D82A}">
                    <a16:rowId xmlns:a16="http://schemas.microsoft.com/office/drawing/2014/main" val="3705034008"/>
                  </a:ext>
                </a:extLst>
              </a:tr>
              <a:tr h="370840">
                <a:tc>
                  <a:txBody>
                    <a:bodyPr/>
                    <a:lstStyle/>
                    <a:p>
                      <a:r>
                        <a:rPr lang="en-US" sz="1400" dirty="0">
                          <a:latin typeface="Avenir Book" panose="02000503020000020003" pitchFamily="2"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A government-owned Innovation Fund with statutory contributions backed by law</a:t>
                      </a:r>
                    </a:p>
                  </a:txBody>
                  <a:tcPr/>
                </a:tc>
                <a:tc>
                  <a:txBody>
                    <a:bodyPr/>
                    <a:lstStyle/>
                    <a:p>
                      <a:r>
                        <a:rPr lang="en-US" sz="1400" dirty="0">
                          <a:latin typeface="Avenir Book" panose="02000503020000020003" pitchFamily="2" charset="0"/>
                        </a:rPr>
                        <a:t>Establishment of fund in KWAIITA Law</a:t>
                      </a:r>
                    </a:p>
                  </a:txBody>
                  <a:tcPr/>
                </a:tc>
                <a:extLst>
                  <a:ext uri="{0D108BD9-81ED-4DB2-BD59-A6C34878D82A}">
                    <a16:rowId xmlns:a16="http://schemas.microsoft.com/office/drawing/2014/main" val="2546286262"/>
                  </a:ext>
                </a:extLst>
              </a:tr>
              <a:tr h="370840">
                <a:tc>
                  <a:txBody>
                    <a:bodyPr/>
                    <a:lstStyle/>
                    <a:p>
                      <a:r>
                        <a:rPr lang="en-US" sz="1400" dirty="0">
                          <a:latin typeface="Avenir Book" panose="02000503020000020003" pitchFamily="2" charset="0"/>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Attractiveness to private sector investor investors</a:t>
                      </a:r>
                    </a:p>
                  </a:txBody>
                  <a:tcPr/>
                </a:tc>
                <a:tc>
                  <a:txBody>
                    <a:bodyPr/>
                    <a:lstStyle/>
                    <a:p>
                      <a:r>
                        <a:rPr lang="en-US" sz="1400" dirty="0">
                          <a:latin typeface="Avenir Book" panose="02000503020000020003" pitchFamily="2" charset="0"/>
                        </a:rPr>
                        <a:t>Reputable Governing Council </a:t>
                      </a:r>
                    </a:p>
                  </a:txBody>
                  <a:tcPr/>
                </a:tc>
                <a:extLst>
                  <a:ext uri="{0D108BD9-81ED-4DB2-BD59-A6C34878D82A}">
                    <a16:rowId xmlns:a16="http://schemas.microsoft.com/office/drawing/2014/main" val="3882695133"/>
                  </a:ext>
                </a:extLst>
              </a:tr>
              <a:tr h="370840">
                <a:tc>
                  <a:txBody>
                    <a:bodyPr/>
                    <a:lstStyle/>
                    <a:p>
                      <a:r>
                        <a:rPr lang="en-US" sz="1400" dirty="0">
                          <a:latin typeface="Avenir Book" panose="02000503020000020003" pitchFamily="2"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Credibility to foreign donors and NGOs</a:t>
                      </a:r>
                    </a:p>
                  </a:txBody>
                  <a:tcPr/>
                </a:tc>
                <a:tc>
                  <a:txBody>
                    <a:bodyPr/>
                    <a:lstStyle/>
                    <a:p>
                      <a:r>
                        <a:rPr lang="en-US" sz="1400" dirty="0">
                          <a:latin typeface="Avenir Book" panose="02000503020000020003" pitchFamily="2" charset="0"/>
                        </a:rPr>
                        <a:t>Board of Trustees as Governing Council</a:t>
                      </a:r>
                    </a:p>
                  </a:txBody>
                  <a:tcPr/>
                </a:tc>
                <a:extLst>
                  <a:ext uri="{0D108BD9-81ED-4DB2-BD59-A6C34878D82A}">
                    <a16:rowId xmlns:a16="http://schemas.microsoft.com/office/drawing/2014/main" val="3544624810"/>
                  </a:ext>
                </a:extLst>
              </a:tr>
              <a:tr h="370840">
                <a:tc>
                  <a:txBody>
                    <a:bodyPr/>
                    <a:lstStyle/>
                    <a:p>
                      <a:r>
                        <a:rPr lang="en-US" sz="1400" dirty="0">
                          <a:latin typeface="Avenir Book" panose="02000503020000020003" pitchFamily="2"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venir Book" panose="02000503020000020003" pitchFamily="2" charset="0"/>
                        </a:rPr>
                        <a:t>Credibility to sponsors and partners</a:t>
                      </a:r>
                    </a:p>
                  </a:txBody>
                  <a:tcPr/>
                </a:tc>
                <a:tc>
                  <a:txBody>
                    <a:bodyPr/>
                    <a:lstStyle/>
                    <a:p>
                      <a:r>
                        <a:rPr lang="en-US" sz="1400" dirty="0">
                          <a:latin typeface="Avenir Book" panose="02000503020000020003" pitchFamily="2" charset="0"/>
                        </a:rPr>
                        <a:t>Reputable Governing Council</a:t>
                      </a:r>
                    </a:p>
                  </a:txBody>
                  <a:tcPr/>
                </a:tc>
                <a:extLst>
                  <a:ext uri="{0D108BD9-81ED-4DB2-BD59-A6C34878D82A}">
                    <a16:rowId xmlns:a16="http://schemas.microsoft.com/office/drawing/2014/main" val="1814839284"/>
                  </a:ext>
                </a:extLst>
              </a:tr>
              <a:tr h="370840">
                <a:tc>
                  <a:txBody>
                    <a:bodyPr/>
                    <a:lstStyle/>
                    <a:p>
                      <a:r>
                        <a:rPr lang="en-US" sz="1400" dirty="0">
                          <a:latin typeface="Avenir Book" panose="02000503020000020003" pitchFamily="2" charset="0"/>
                        </a:rPr>
                        <a:t>7</a:t>
                      </a:r>
                    </a:p>
                  </a:txBody>
                  <a:tcPr/>
                </a:tc>
                <a:tc>
                  <a:txBody>
                    <a:bodyPr/>
                    <a:lstStyle/>
                    <a:p>
                      <a:r>
                        <a:rPr lang="en-US" sz="1400" dirty="0">
                          <a:latin typeface="Avenir Book" panose="02000503020000020003" pitchFamily="2" charset="0"/>
                        </a:rPr>
                        <a:t>Protection from Bureaucracy</a:t>
                      </a:r>
                    </a:p>
                  </a:txBody>
                  <a:tcPr/>
                </a:tc>
                <a:tc>
                  <a:txBody>
                    <a:bodyPr/>
                    <a:lstStyle/>
                    <a:p>
                      <a:r>
                        <a:rPr lang="en-US" sz="1400" dirty="0">
                          <a:latin typeface="Avenir Book" panose="02000503020000020003" pitchFamily="2" charset="0"/>
                        </a:rPr>
                        <a:t>Establishment of KWAIITA, directly under Office of Governor</a:t>
                      </a:r>
                    </a:p>
                  </a:txBody>
                  <a:tcPr/>
                </a:tc>
                <a:extLst>
                  <a:ext uri="{0D108BD9-81ED-4DB2-BD59-A6C34878D82A}">
                    <a16:rowId xmlns:a16="http://schemas.microsoft.com/office/drawing/2014/main" val="3684986338"/>
                  </a:ext>
                </a:extLst>
              </a:tr>
              <a:tr h="370840">
                <a:tc>
                  <a:txBody>
                    <a:bodyPr/>
                    <a:lstStyle/>
                    <a:p>
                      <a:r>
                        <a:rPr lang="en-US" sz="1400" dirty="0">
                          <a:latin typeface="Avenir Book" panose="02000503020000020003" pitchFamily="2" charset="0"/>
                        </a:rPr>
                        <a:t>8</a:t>
                      </a:r>
                    </a:p>
                  </a:txBody>
                  <a:tcPr/>
                </a:tc>
                <a:tc>
                  <a:txBody>
                    <a:bodyPr/>
                    <a:lstStyle/>
                    <a:p>
                      <a:r>
                        <a:rPr lang="en-US" sz="1400" dirty="0">
                          <a:latin typeface="Avenir Book" panose="02000503020000020003" pitchFamily="2" charset="0"/>
                        </a:rPr>
                        <a:t>Adequate Funding</a:t>
                      </a:r>
                    </a:p>
                  </a:txBody>
                  <a:tcPr/>
                </a:tc>
                <a:tc>
                  <a:txBody>
                    <a:bodyPr/>
                    <a:lstStyle/>
                    <a:p>
                      <a:r>
                        <a:rPr lang="en-US" sz="1400" dirty="0">
                          <a:latin typeface="Avenir Book" panose="02000503020000020003" pitchFamily="2" charset="0"/>
                        </a:rPr>
                        <a:t>Setting Up of Governing Council &amp; engaging sponsors</a:t>
                      </a:r>
                    </a:p>
                  </a:txBody>
                  <a:tcPr/>
                </a:tc>
                <a:extLst>
                  <a:ext uri="{0D108BD9-81ED-4DB2-BD59-A6C34878D82A}">
                    <a16:rowId xmlns:a16="http://schemas.microsoft.com/office/drawing/2014/main" val="3085709876"/>
                  </a:ext>
                </a:extLst>
              </a:tr>
            </a:tbl>
          </a:graphicData>
        </a:graphic>
      </p:graphicFrame>
      <p:pic>
        <p:nvPicPr>
          <p:cNvPr id="9" name="Picture 8">
            <a:extLst>
              <a:ext uri="{FF2B5EF4-FFF2-40B4-BE49-F238E27FC236}">
                <a16:creationId xmlns:a16="http://schemas.microsoft.com/office/drawing/2014/main" id="{6D72BC2F-3551-3B4C-AF9B-791A9F10DCA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4" name="Slide Number Placeholder 3">
            <a:extLst>
              <a:ext uri="{FF2B5EF4-FFF2-40B4-BE49-F238E27FC236}">
                <a16:creationId xmlns:a16="http://schemas.microsoft.com/office/drawing/2014/main" id="{5A61A171-A89B-9B44-9272-EAF16E3BBD03}"/>
              </a:ext>
            </a:extLst>
          </p:cNvPr>
          <p:cNvSpPr>
            <a:spLocks noGrp="1"/>
          </p:cNvSpPr>
          <p:nvPr>
            <p:ph type="sldNum" sz="quarter" idx="12"/>
          </p:nvPr>
        </p:nvSpPr>
        <p:spPr/>
        <p:txBody>
          <a:bodyPr/>
          <a:lstStyle/>
          <a:p>
            <a:fld id="{664C5C96-B43F-EF41-83BB-885FD2BDB03F}" type="slidenum">
              <a:rPr lang="en-US" smtClean="0"/>
              <a:t>14</a:t>
            </a:fld>
            <a:endParaRPr lang="en-US"/>
          </a:p>
        </p:txBody>
      </p:sp>
    </p:spTree>
    <p:extLst>
      <p:ext uri="{BB962C8B-B14F-4D97-AF65-F5344CB8AC3E}">
        <p14:creationId xmlns:p14="http://schemas.microsoft.com/office/powerpoint/2010/main" val="1114407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
        <p:nvSpPr>
          <p:cNvPr id="2" name="Rectangle 1">
            <a:extLst>
              <a:ext uri="{FF2B5EF4-FFF2-40B4-BE49-F238E27FC236}">
                <a16:creationId xmlns:a16="http://schemas.microsoft.com/office/drawing/2014/main" id="{94E7D443-CC6D-3C43-A605-BEF861D12ECE}"/>
              </a:ext>
            </a:extLst>
          </p:cNvPr>
          <p:cNvSpPr/>
          <p:nvPr/>
        </p:nvSpPr>
        <p:spPr>
          <a:xfrm>
            <a:off x="631215" y="2442411"/>
            <a:ext cx="2257063" cy="161954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latin typeface="Avenir Book" panose="02000503020000020003" pitchFamily="2" charset="0"/>
              </a:rPr>
              <a:t>Kwara Startups Innovation &amp; Information Technology Agency</a:t>
            </a:r>
            <a:br>
              <a:rPr lang="en-US" sz="1400" dirty="0">
                <a:solidFill>
                  <a:sysClr val="windowText" lastClr="000000"/>
                </a:solidFill>
                <a:latin typeface="Avenir Book" panose="02000503020000020003" pitchFamily="2" charset="0"/>
              </a:rPr>
            </a:br>
            <a:r>
              <a:rPr lang="en-US" sz="1400" dirty="0">
                <a:solidFill>
                  <a:sysClr val="windowText" lastClr="000000"/>
                </a:solidFill>
                <a:latin typeface="Avenir Book" panose="02000503020000020003" pitchFamily="2" charset="0"/>
              </a:rPr>
              <a:t>(</a:t>
            </a:r>
            <a:r>
              <a:rPr lang="en-US" sz="1400" dirty="0" err="1">
                <a:solidFill>
                  <a:sysClr val="windowText" lastClr="000000"/>
                </a:solidFill>
                <a:latin typeface="Avenir Book" panose="02000503020000020003" pitchFamily="2" charset="0"/>
              </a:rPr>
              <a:t>kwaSIITA</a:t>
            </a:r>
            <a:r>
              <a:rPr lang="en-US" sz="1400" dirty="0">
                <a:solidFill>
                  <a:sysClr val="windowText" lastClr="000000"/>
                </a:solidFill>
                <a:latin typeface="Avenir Book" panose="02000503020000020003" pitchFamily="2" charset="0"/>
              </a:rPr>
              <a:t>)</a:t>
            </a:r>
          </a:p>
        </p:txBody>
      </p:sp>
      <p:sp>
        <p:nvSpPr>
          <p:cNvPr id="3" name="Rounded Rectangle 2">
            <a:extLst>
              <a:ext uri="{FF2B5EF4-FFF2-40B4-BE49-F238E27FC236}">
                <a16:creationId xmlns:a16="http://schemas.microsoft.com/office/drawing/2014/main" id="{A9998C52-A1BE-6F4A-A0BB-9FA7F9872CC8}"/>
              </a:ext>
            </a:extLst>
          </p:cNvPr>
          <p:cNvSpPr/>
          <p:nvPr/>
        </p:nvSpPr>
        <p:spPr>
          <a:xfrm>
            <a:off x="3443468" y="2442411"/>
            <a:ext cx="2257063" cy="1619549"/>
          </a:xfrm>
          <a:prstGeom prst="round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ysClr val="windowText" lastClr="000000"/>
              </a:solidFill>
              <a:latin typeface="Avenir Book" panose="02000503020000020003" pitchFamily="2" charset="0"/>
            </a:endParaRPr>
          </a:p>
        </p:txBody>
      </p:sp>
      <p:sp>
        <p:nvSpPr>
          <p:cNvPr id="5" name="TextBox 4">
            <a:extLst>
              <a:ext uri="{FF2B5EF4-FFF2-40B4-BE49-F238E27FC236}">
                <a16:creationId xmlns:a16="http://schemas.microsoft.com/office/drawing/2014/main" id="{1C32BEB4-7A4D-A94F-955C-9D384B6E561F}"/>
              </a:ext>
            </a:extLst>
          </p:cNvPr>
          <p:cNvSpPr txBox="1"/>
          <p:nvPr/>
        </p:nvSpPr>
        <p:spPr>
          <a:xfrm>
            <a:off x="631215" y="4324063"/>
            <a:ext cx="2257063" cy="1938992"/>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Avenir Book" panose="02000503020000020003" pitchFamily="2" charset="0"/>
              </a:rPr>
              <a:t>Government Agency backed by law</a:t>
            </a:r>
          </a:p>
          <a:p>
            <a:pPr marL="285750" indent="-285750">
              <a:buFont typeface="Arial" panose="020B0604020202020204" pitchFamily="34" charset="0"/>
              <a:buChar char="•"/>
            </a:pPr>
            <a:r>
              <a:rPr lang="en-US" sz="1200" dirty="0">
                <a:latin typeface="Avenir Book" panose="02000503020000020003" pitchFamily="2" charset="0"/>
              </a:rPr>
              <a:t>Directly under Office of the Governor</a:t>
            </a:r>
          </a:p>
          <a:p>
            <a:pPr marL="285750" indent="-285750">
              <a:buFont typeface="Arial" panose="020B0604020202020204" pitchFamily="34" charset="0"/>
              <a:buChar char="•"/>
            </a:pPr>
            <a:r>
              <a:rPr lang="en-US" sz="1200" dirty="0">
                <a:latin typeface="Avenir Book" panose="02000503020000020003" pitchFamily="2" charset="0"/>
              </a:rPr>
              <a:t>Has Board</a:t>
            </a:r>
          </a:p>
          <a:p>
            <a:pPr marL="285750" indent="-285750">
              <a:buFont typeface="Arial" panose="020B0604020202020204" pitchFamily="34" charset="0"/>
              <a:buChar char="•"/>
            </a:pPr>
            <a:r>
              <a:rPr lang="en-US" sz="1200" dirty="0">
                <a:latin typeface="Avenir Book" panose="02000503020000020003" pitchFamily="2" charset="0"/>
              </a:rPr>
              <a:t>Yearly Budget</a:t>
            </a:r>
          </a:p>
          <a:p>
            <a:pPr marL="285750" indent="-285750">
              <a:buFont typeface="Arial" panose="020B0604020202020204" pitchFamily="34" charset="0"/>
              <a:buChar char="•"/>
            </a:pPr>
            <a:r>
              <a:rPr lang="en-US" sz="1200" dirty="0">
                <a:latin typeface="Avenir Book" panose="02000503020000020003" pitchFamily="2" charset="0"/>
              </a:rPr>
              <a:t>Director General</a:t>
            </a:r>
          </a:p>
          <a:p>
            <a:pPr marL="285750" indent="-285750">
              <a:buFont typeface="Arial" panose="020B0604020202020204" pitchFamily="34" charset="0"/>
              <a:buChar char="•"/>
            </a:pPr>
            <a:r>
              <a:rPr lang="en-US" sz="1200" dirty="0">
                <a:latin typeface="Avenir Book" panose="02000503020000020003" pitchFamily="2" charset="0"/>
              </a:rPr>
              <a:t>Not fully functional yet but operates mostly along with IIH</a:t>
            </a:r>
          </a:p>
        </p:txBody>
      </p:sp>
      <p:sp>
        <p:nvSpPr>
          <p:cNvPr id="24" name="TextBox 23">
            <a:extLst>
              <a:ext uri="{FF2B5EF4-FFF2-40B4-BE49-F238E27FC236}">
                <a16:creationId xmlns:a16="http://schemas.microsoft.com/office/drawing/2014/main" id="{23BF166B-3E41-7441-841D-42A17FE08414}"/>
              </a:ext>
            </a:extLst>
          </p:cNvPr>
          <p:cNvSpPr txBox="1"/>
          <p:nvPr/>
        </p:nvSpPr>
        <p:spPr>
          <a:xfrm>
            <a:off x="3341620" y="4324063"/>
            <a:ext cx="2257063" cy="1200329"/>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Avenir Book" panose="02000503020000020003" pitchFamily="2" charset="0"/>
              </a:rPr>
              <a:t>Private Limited Company</a:t>
            </a:r>
          </a:p>
          <a:p>
            <a:pPr marL="285750" indent="-285750">
              <a:buFont typeface="Arial" panose="020B0604020202020204" pitchFamily="34" charset="0"/>
              <a:buChar char="•"/>
            </a:pPr>
            <a:r>
              <a:rPr lang="en-US" sz="1200" dirty="0">
                <a:latin typeface="Avenir Book" panose="02000503020000020003" pitchFamily="2" charset="0"/>
              </a:rPr>
              <a:t>Owned by KWSG 100%</a:t>
            </a:r>
          </a:p>
          <a:p>
            <a:pPr marL="285750" indent="-285750">
              <a:buFont typeface="Arial" panose="020B0604020202020204" pitchFamily="34" charset="0"/>
              <a:buChar char="•"/>
            </a:pPr>
            <a:r>
              <a:rPr lang="en-US" sz="1200" dirty="0">
                <a:latin typeface="Avenir Book" panose="02000503020000020003" pitchFamily="2" charset="0"/>
              </a:rPr>
              <a:t>Has Governing Council</a:t>
            </a:r>
          </a:p>
          <a:p>
            <a:pPr marL="285750" indent="-285750">
              <a:buFont typeface="Arial" panose="020B0604020202020204" pitchFamily="34" charset="0"/>
              <a:buChar char="•"/>
            </a:pPr>
            <a:r>
              <a:rPr lang="en-US" sz="1200" dirty="0">
                <a:latin typeface="Avenir Book" panose="02000503020000020003" pitchFamily="2" charset="0"/>
              </a:rPr>
              <a:t>Enters into agreements, investments and SPVs on behalf of KWSG</a:t>
            </a:r>
          </a:p>
        </p:txBody>
      </p:sp>
      <p:sp>
        <p:nvSpPr>
          <p:cNvPr id="27" name="TextBox 26">
            <a:extLst>
              <a:ext uri="{FF2B5EF4-FFF2-40B4-BE49-F238E27FC236}">
                <a16:creationId xmlns:a16="http://schemas.microsoft.com/office/drawing/2014/main" id="{4A79D1AA-53F2-814C-9B3E-E365A2735574}"/>
              </a:ext>
            </a:extLst>
          </p:cNvPr>
          <p:cNvSpPr txBox="1"/>
          <p:nvPr/>
        </p:nvSpPr>
        <p:spPr>
          <a:xfrm>
            <a:off x="6052025" y="4324063"/>
            <a:ext cx="2257063" cy="1200329"/>
          </a:xfrm>
          <a:prstGeom prst="rect">
            <a:avLst/>
          </a:prstGeom>
          <a:noFill/>
        </p:spPr>
        <p:txBody>
          <a:bodyPr wrap="square" rtlCol="0">
            <a:spAutoFit/>
          </a:bodyPr>
          <a:lstStyle/>
          <a:p>
            <a:pPr marL="285750" indent="-285750">
              <a:buFont typeface="Arial" panose="020B0604020202020204" pitchFamily="34" charset="0"/>
              <a:buChar char="•"/>
            </a:pPr>
            <a:r>
              <a:rPr lang="en-US" sz="1200" dirty="0">
                <a:latin typeface="Avenir Book" panose="02000503020000020003" pitchFamily="2" charset="0"/>
              </a:rPr>
              <a:t>Fund backed by law</a:t>
            </a:r>
          </a:p>
          <a:p>
            <a:pPr marL="285750" indent="-285750">
              <a:buFont typeface="Arial" panose="020B0604020202020204" pitchFamily="34" charset="0"/>
              <a:buChar char="•"/>
            </a:pPr>
            <a:r>
              <a:rPr lang="en-US" sz="1200" dirty="0">
                <a:latin typeface="Avenir Book" panose="02000503020000020003" pitchFamily="2" charset="0"/>
              </a:rPr>
              <a:t>Managed by KWASIITA or appointed Fund Manager</a:t>
            </a:r>
          </a:p>
          <a:p>
            <a:pPr marL="285750" indent="-285750">
              <a:buFont typeface="Arial" panose="020B0604020202020204" pitchFamily="34" charset="0"/>
              <a:buChar char="•"/>
            </a:pPr>
            <a:r>
              <a:rPr lang="en-US" sz="1200" dirty="0">
                <a:latin typeface="Avenir Book" panose="02000503020000020003" pitchFamily="2" charset="0"/>
              </a:rPr>
              <a:t>Funds IIH + KWASIITA Operations </a:t>
            </a:r>
          </a:p>
          <a:p>
            <a:pPr marL="285750" indent="-285750">
              <a:buFont typeface="Arial" panose="020B0604020202020204" pitchFamily="34" charset="0"/>
              <a:buChar char="•"/>
            </a:pPr>
            <a:endParaRPr lang="en-US" sz="1200" dirty="0">
              <a:latin typeface="Avenir Book" panose="02000503020000020003" pitchFamily="2" charset="0"/>
            </a:endParaRPr>
          </a:p>
        </p:txBody>
      </p:sp>
      <p:pic>
        <p:nvPicPr>
          <p:cNvPr id="29" name="Picture 28">
            <a:extLst>
              <a:ext uri="{FF2B5EF4-FFF2-40B4-BE49-F238E27FC236}">
                <a16:creationId xmlns:a16="http://schemas.microsoft.com/office/drawing/2014/main" id="{C2BFDF46-DA94-434A-B309-E17E58651A39}"/>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1" name="Slide Number Placeholder 10">
            <a:extLst>
              <a:ext uri="{FF2B5EF4-FFF2-40B4-BE49-F238E27FC236}">
                <a16:creationId xmlns:a16="http://schemas.microsoft.com/office/drawing/2014/main" id="{CFDCB8C3-3CA4-5249-B41D-49FBC3B0CE7D}"/>
              </a:ext>
            </a:extLst>
          </p:cNvPr>
          <p:cNvSpPr>
            <a:spLocks noGrp="1"/>
          </p:cNvSpPr>
          <p:nvPr>
            <p:ph type="sldNum" sz="quarter" idx="12"/>
          </p:nvPr>
        </p:nvSpPr>
        <p:spPr/>
        <p:txBody>
          <a:bodyPr/>
          <a:lstStyle/>
          <a:p>
            <a:fld id="{664C5C96-B43F-EF41-83BB-885FD2BDB03F}" type="slidenum">
              <a:rPr lang="en-US" smtClean="0"/>
              <a:t>15</a:t>
            </a:fld>
            <a:endParaRPr lang="en-US"/>
          </a:p>
        </p:txBody>
      </p:sp>
      <p:sp>
        <p:nvSpPr>
          <p:cNvPr id="31" name="Rectangle 30">
            <a:extLst>
              <a:ext uri="{FF2B5EF4-FFF2-40B4-BE49-F238E27FC236}">
                <a16:creationId xmlns:a16="http://schemas.microsoft.com/office/drawing/2014/main" id="{3DB4200C-3A55-BE43-9B65-2A9B2ED21720}"/>
              </a:ext>
            </a:extLst>
          </p:cNvPr>
          <p:cNvSpPr/>
          <p:nvPr/>
        </p:nvSpPr>
        <p:spPr>
          <a:xfrm>
            <a:off x="6255722" y="2457875"/>
            <a:ext cx="2257063" cy="1619549"/>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ysClr val="windowText" lastClr="000000"/>
                </a:solidFill>
                <a:latin typeface="Avenir Book" panose="02000503020000020003" pitchFamily="2" charset="0"/>
              </a:rPr>
              <a:t>Kwara State Innovation &amp; Technology Fund</a:t>
            </a:r>
          </a:p>
        </p:txBody>
      </p:sp>
      <p:pic>
        <p:nvPicPr>
          <p:cNvPr id="32" name="Picture 31">
            <a:extLst>
              <a:ext uri="{FF2B5EF4-FFF2-40B4-BE49-F238E27FC236}">
                <a16:creationId xmlns:a16="http://schemas.microsoft.com/office/drawing/2014/main" id="{FDA726EB-DC2D-344D-A1EA-A6E00DB3A08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3775601" y="2916198"/>
            <a:ext cx="1592798" cy="671974"/>
          </a:xfrm>
          <a:prstGeom prst="rect">
            <a:avLst/>
          </a:prstGeom>
        </p:spPr>
      </p:pic>
      <p:cxnSp>
        <p:nvCxnSpPr>
          <p:cNvPr id="37" name="Straight Arrow Connector 36">
            <a:extLst>
              <a:ext uri="{FF2B5EF4-FFF2-40B4-BE49-F238E27FC236}">
                <a16:creationId xmlns:a16="http://schemas.microsoft.com/office/drawing/2014/main" id="{FC04EDA9-ACBA-E541-BC2B-2774EA9D6F94}"/>
              </a:ext>
            </a:extLst>
          </p:cNvPr>
          <p:cNvCxnSpPr>
            <a:endCxn id="2" idx="0"/>
          </p:cNvCxnSpPr>
          <p:nvPr/>
        </p:nvCxnSpPr>
        <p:spPr>
          <a:xfrm>
            <a:off x="1759746" y="1772616"/>
            <a:ext cx="1" cy="669795"/>
          </a:xfrm>
          <a:prstGeom prst="straightConnector1">
            <a:avLst/>
          </a:prstGeom>
          <a:ln w="28575">
            <a:solidFill>
              <a:srgbClr val="58E16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D0B0014-4CDC-A542-91B3-4A2E820CAC9E}"/>
              </a:ext>
            </a:extLst>
          </p:cNvPr>
          <p:cNvSpPr txBox="1"/>
          <p:nvPr/>
        </p:nvSpPr>
        <p:spPr>
          <a:xfrm>
            <a:off x="926432" y="1985211"/>
            <a:ext cx="1768642" cy="276999"/>
          </a:xfrm>
          <a:prstGeom prst="rect">
            <a:avLst/>
          </a:prstGeom>
          <a:solidFill>
            <a:schemeClr val="bg1"/>
          </a:solidFill>
        </p:spPr>
        <p:txBody>
          <a:bodyPr wrap="square" rtlCol="0">
            <a:spAutoFit/>
          </a:bodyPr>
          <a:lstStyle/>
          <a:p>
            <a:pPr algn="ctr"/>
            <a:r>
              <a:rPr lang="en-US" sz="1200" dirty="0">
                <a:latin typeface="Avenir Medium" panose="02000503020000020003" pitchFamily="2" charset="0"/>
              </a:rPr>
              <a:t>Establishment</a:t>
            </a:r>
          </a:p>
        </p:txBody>
      </p:sp>
      <p:cxnSp>
        <p:nvCxnSpPr>
          <p:cNvPr id="38" name="Straight Arrow Connector 37">
            <a:extLst>
              <a:ext uri="{FF2B5EF4-FFF2-40B4-BE49-F238E27FC236}">
                <a16:creationId xmlns:a16="http://schemas.microsoft.com/office/drawing/2014/main" id="{AEC50F40-7FF9-1641-9834-BFB041462033}"/>
              </a:ext>
            </a:extLst>
          </p:cNvPr>
          <p:cNvCxnSpPr/>
          <p:nvPr/>
        </p:nvCxnSpPr>
        <p:spPr>
          <a:xfrm>
            <a:off x="4571998" y="1780454"/>
            <a:ext cx="1" cy="669795"/>
          </a:xfrm>
          <a:prstGeom prst="straightConnector1">
            <a:avLst/>
          </a:prstGeom>
          <a:ln w="28575">
            <a:solidFill>
              <a:srgbClr val="58E166"/>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3A9A506-0F20-D644-81C9-94A9640DE932}"/>
              </a:ext>
            </a:extLst>
          </p:cNvPr>
          <p:cNvSpPr txBox="1"/>
          <p:nvPr/>
        </p:nvSpPr>
        <p:spPr>
          <a:xfrm>
            <a:off x="3687678" y="1985210"/>
            <a:ext cx="1768642" cy="276999"/>
          </a:xfrm>
          <a:prstGeom prst="rect">
            <a:avLst/>
          </a:prstGeom>
          <a:solidFill>
            <a:schemeClr val="bg1"/>
          </a:solidFill>
        </p:spPr>
        <p:txBody>
          <a:bodyPr wrap="square" rtlCol="0">
            <a:spAutoFit/>
          </a:bodyPr>
          <a:lstStyle/>
          <a:p>
            <a:pPr algn="ctr"/>
            <a:r>
              <a:rPr lang="en-US" sz="1200" dirty="0">
                <a:latin typeface="Avenir Medium" panose="02000503020000020003" pitchFamily="2" charset="0"/>
              </a:rPr>
              <a:t>Enablement</a:t>
            </a:r>
          </a:p>
        </p:txBody>
      </p:sp>
      <p:cxnSp>
        <p:nvCxnSpPr>
          <p:cNvPr id="40" name="Straight Arrow Connector 39">
            <a:extLst>
              <a:ext uri="{FF2B5EF4-FFF2-40B4-BE49-F238E27FC236}">
                <a16:creationId xmlns:a16="http://schemas.microsoft.com/office/drawing/2014/main" id="{AEF25EC2-6708-9B43-B67D-B59F20B4194D}"/>
              </a:ext>
            </a:extLst>
          </p:cNvPr>
          <p:cNvCxnSpPr/>
          <p:nvPr/>
        </p:nvCxnSpPr>
        <p:spPr>
          <a:xfrm>
            <a:off x="7333244" y="1788810"/>
            <a:ext cx="1" cy="669795"/>
          </a:xfrm>
          <a:prstGeom prst="straightConnector1">
            <a:avLst/>
          </a:prstGeom>
          <a:ln w="28575">
            <a:solidFill>
              <a:srgbClr val="58E166"/>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01F68301-B344-A84B-A5DD-98F7FA090FA1}"/>
              </a:ext>
            </a:extLst>
          </p:cNvPr>
          <p:cNvSpPr txBox="1"/>
          <p:nvPr/>
        </p:nvSpPr>
        <p:spPr>
          <a:xfrm>
            <a:off x="6448924" y="1985209"/>
            <a:ext cx="1768642" cy="276999"/>
          </a:xfrm>
          <a:prstGeom prst="rect">
            <a:avLst/>
          </a:prstGeom>
          <a:solidFill>
            <a:schemeClr val="bg1"/>
          </a:solidFill>
        </p:spPr>
        <p:txBody>
          <a:bodyPr wrap="square" rtlCol="0">
            <a:spAutoFit/>
          </a:bodyPr>
          <a:lstStyle/>
          <a:p>
            <a:pPr algn="ctr"/>
            <a:r>
              <a:rPr lang="en-US" sz="1200" dirty="0">
                <a:latin typeface="Avenir Medium" panose="02000503020000020003" pitchFamily="2" charset="0"/>
              </a:rPr>
              <a:t>Establishment</a:t>
            </a:r>
          </a:p>
        </p:txBody>
      </p:sp>
      <p:sp>
        <p:nvSpPr>
          <p:cNvPr id="6" name="TextBox 5">
            <a:extLst>
              <a:ext uri="{FF2B5EF4-FFF2-40B4-BE49-F238E27FC236}">
                <a16:creationId xmlns:a16="http://schemas.microsoft.com/office/drawing/2014/main" id="{FDDD964D-F314-6D4A-9130-90D3C6D77971}"/>
              </a:ext>
            </a:extLst>
          </p:cNvPr>
          <p:cNvSpPr txBox="1"/>
          <p:nvPr/>
        </p:nvSpPr>
        <p:spPr>
          <a:xfrm>
            <a:off x="631215" y="1329019"/>
            <a:ext cx="7881570" cy="457200"/>
          </a:xfrm>
          <a:prstGeom prst="rect">
            <a:avLst/>
          </a:prstGeom>
          <a:noFill/>
          <a:ln w="28575">
            <a:solidFill>
              <a:schemeClr val="tx1"/>
            </a:solidFill>
          </a:ln>
        </p:spPr>
        <p:txBody>
          <a:bodyPr wrap="square" rtlCol="0" anchor="ctr" anchorCtr="0">
            <a:spAutoFit/>
          </a:bodyPr>
          <a:lstStyle/>
          <a:p>
            <a:pPr algn="ctr"/>
            <a:r>
              <a:rPr lang="en-US" sz="1600" dirty="0">
                <a:latin typeface="Avenir Medium" panose="02000503020000020003" pitchFamily="2" charset="0"/>
              </a:rPr>
              <a:t>Kwara State Startups, Innovation &amp; Information Technology Law</a:t>
            </a:r>
          </a:p>
        </p:txBody>
      </p:sp>
    </p:spTree>
    <p:extLst>
      <p:ext uri="{BB962C8B-B14F-4D97-AF65-F5344CB8AC3E}">
        <p14:creationId xmlns:p14="http://schemas.microsoft.com/office/powerpoint/2010/main" val="3698881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2FD0B8-0DC6-1743-8B69-8E7B75617526}"/>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
        <p:nvSpPr>
          <p:cNvPr id="2" name="Rectangle 1">
            <a:extLst>
              <a:ext uri="{FF2B5EF4-FFF2-40B4-BE49-F238E27FC236}">
                <a16:creationId xmlns:a16="http://schemas.microsoft.com/office/drawing/2014/main" id="{94E7D443-CC6D-3C43-A605-BEF861D12ECE}"/>
              </a:ext>
            </a:extLst>
          </p:cNvPr>
          <p:cNvSpPr/>
          <p:nvPr/>
        </p:nvSpPr>
        <p:spPr>
          <a:xfrm>
            <a:off x="631215" y="1495111"/>
            <a:ext cx="8223418" cy="403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ysClr val="windowText" lastClr="000000"/>
                </a:solidFill>
                <a:latin typeface="Avenir Book" panose="02000503020000020003" pitchFamily="2" charset="0"/>
              </a:rPr>
              <a:t>Kwara Startups Innovation &amp; Information Technology Agency</a:t>
            </a:r>
          </a:p>
        </p:txBody>
      </p:sp>
      <p:sp>
        <p:nvSpPr>
          <p:cNvPr id="5" name="TextBox 4">
            <a:extLst>
              <a:ext uri="{FF2B5EF4-FFF2-40B4-BE49-F238E27FC236}">
                <a16:creationId xmlns:a16="http://schemas.microsoft.com/office/drawing/2014/main" id="{1C32BEB4-7A4D-A94F-955C-9D384B6E561F}"/>
              </a:ext>
            </a:extLst>
          </p:cNvPr>
          <p:cNvSpPr txBox="1"/>
          <p:nvPr/>
        </p:nvSpPr>
        <p:spPr>
          <a:xfrm>
            <a:off x="631215" y="2071868"/>
            <a:ext cx="7424765" cy="4123052"/>
          </a:xfrm>
          <a:prstGeom prst="rect">
            <a:avLst/>
          </a:prstGeom>
          <a:noFill/>
        </p:spPr>
        <p:txBody>
          <a:bodyPr wrap="square" rtlCol="0">
            <a:spAutoFit/>
          </a:bodyPr>
          <a:lstStyle/>
          <a:p>
            <a:pPr>
              <a:lnSpc>
                <a:spcPct val="150000"/>
              </a:lnSpc>
            </a:pPr>
            <a:r>
              <a:rPr lang="en-US" sz="1600" dirty="0">
                <a:latin typeface="Avenir Book" panose="02000503020000020003" pitchFamily="2" charset="0"/>
              </a:rPr>
              <a:t>This agency will serve the following purposes</a:t>
            </a:r>
            <a:br>
              <a:rPr lang="en-US" sz="1600" dirty="0">
                <a:latin typeface="Avenir Book" panose="02000503020000020003" pitchFamily="2" charset="0"/>
              </a:rPr>
            </a:br>
            <a:endParaRPr lang="en-US" sz="1600" dirty="0">
              <a:latin typeface="Avenir Book" panose="02000503020000020003" pitchFamily="2" charset="0"/>
            </a:endParaRP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be the umbrella agency for the Ilorin Innovation Hub and any other future Innovation Hubs.</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be the IT agency of the State handling central servers, email and coordinate e-Government efforts</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regulate activities of telecommunications companies and internet service providers (including masts and right of way)</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regulate all consultant IT systems in the state.</a:t>
            </a:r>
          </a:p>
          <a:p>
            <a:pPr marL="285750" indent="-285750">
              <a:lnSpc>
                <a:spcPct val="150000"/>
              </a:lnSpc>
              <a:buFont typeface="Arial" panose="020B0604020202020204" pitchFamily="34" charset="0"/>
              <a:buChar char="•"/>
            </a:pPr>
            <a:r>
              <a:rPr lang="en-US" sz="1600" dirty="0">
                <a:latin typeface="Avenir Book" panose="02000503020000020003" pitchFamily="2" charset="0"/>
              </a:rPr>
              <a:t>It will be lean, have just a few staff and share most of the infrastructure of the Hub (office space </a:t>
            </a:r>
            <a:r>
              <a:rPr lang="en-US" sz="1600" dirty="0" err="1">
                <a:latin typeface="Avenir Book" panose="02000503020000020003" pitchFamily="2" charset="0"/>
              </a:rPr>
              <a:t>etc</a:t>
            </a:r>
            <a:r>
              <a:rPr lang="en-US" sz="1600" dirty="0">
                <a:latin typeface="Avenir Book" panose="02000503020000020003" pitchFamily="2" charset="0"/>
              </a:rPr>
              <a:t>)</a:t>
            </a:r>
          </a:p>
        </p:txBody>
      </p:sp>
      <p:pic>
        <p:nvPicPr>
          <p:cNvPr id="10" name="Picture 9">
            <a:extLst>
              <a:ext uri="{FF2B5EF4-FFF2-40B4-BE49-F238E27FC236}">
                <a16:creationId xmlns:a16="http://schemas.microsoft.com/office/drawing/2014/main" id="{61E1FBA2-CA14-C24A-8DD6-F76BD2AF190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6" name="Slide Number Placeholder 5">
            <a:extLst>
              <a:ext uri="{FF2B5EF4-FFF2-40B4-BE49-F238E27FC236}">
                <a16:creationId xmlns:a16="http://schemas.microsoft.com/office/drawing/2014/main" id="{19143DD8-4014-4E49-95B8-170E1FF83F66}"/>
              </a:ext>
            </a:extLst>
          </p:cNvPr>
          <p:cNvSpPr>
            <a:spLocks noGrp="1"/>
          </p:cNvSpPr>
          <p:nvPr>
            <p:ph type="sldNum" sz="quarter" idx="12"/>
          </p:nvPr>
        </p:nvSpPr>
        <p:spPr/>
        <p:txBody>
          <a:bodyPr/>
          <a:lstStyle/>
          <a:p>
            <a:fld id="{664C5C96-B43F-EF41-83BB-885FD2BDB03F}" type="slidenum">
              <a:rPr lang="en-US" smtClean="0"/>
              <a:t>16</a:t>
            </a:fld>
            <a:endParaRPr lang="en-US"/>
          </a:p>
        </p:txBody>
      </p:sp>
    </p:spTree>
    <p:extLst>
      <p:ext uri="{BB962C8B-B14F-4D97-AF65-F5344CB8AC3E}">
        <p14:creationId xmlns:p14="http://schemas.microsoft.com/office/powerpoint/2010/main" val="831338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7D443-CC6D-3C43-A605-BEF861D12ECE}"/>
              </a:ext>
            </a:extLst>
          </p:cNvPr>
          <p:cNvSpPr/>
          <p:nvPr/>
        </p:nvSpPr>
        <p:spPr>
          <a:xfrm>
            <a:off x="631215" y="1495111"/>
            <a:ext cx="8223418" cy="403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dirty="0">
                <a:solidFill>
                  <a:sysClr val="windowText" lastClr="000000"/>
                </a:solidFill>
                <a:latin typeface="Avenir Book" panose="02000503020000020003" pitchFamily="2" charset="0"/>
              </a:rPr>
              <a:t>Kwara State Innovation &amp; Technology Fund</a:t>
            </a:r>
          </a:p>
        </p:txBody>
      </p:sp>
      <p:sp>
        <p:nvSpPr>
          <p:cNvPr id="5" name="TextBox 4">
            <a:extLst>
              <a:ext uri="{FF2B5EF4-FFF2-40B4-BE49-F238E27FC236}">
                <a16:creationId xmlns:a16="http://schemas.microsoft.com/office/drawing/2014/main" id="{1C32BEB4-7A4D-A94F-955C-9D384B6E561F}"/>
              </a:ext>
            </a:extLst>
          </p:cNvPr>
          <p:cNvSpPr txBox="1"/>
          <p:nvPr/>
        </p:nvSpPr>
        <p:spPr>
          <a:xfrm>
            <a:off x="631215" y="2340518"/>
            <a:ext cx="7424765" cy="2276392"/>
          </a:xfrm>
          <a:prstGeom prst="rect">
            <a:avLst/>
          </a:prstGeom>
          <a:noFill/>
        </p:spPr>
        <p:txBody>
          <a:bodyPr wrap="square" rtlCol="0">
            <a:spAutoFit/>
          </a:bodyPr>
          <a:lstStyle/>
          <a:p>
            <a:pPr>
              <a:lnSpc>
                <a:spcPct val="150000"/>
              </a:lnSpc>
            </a:pPr>
            <a:r>
              <a:rPr lang="en-US" sz="1600" dirty="0">
                <a:latin typeface="Avenir Book" panose="02000503020000020003" pitchFamily="2" charset="0"/>
              </a:rPr>
              <a:t>This fund will be setup to serve the following purposes</a:t>
            </a:r>
            <a:br>
              <a:rPr lang="en-US" sz="1600" dirty="0">
                <a:latin typeface="Avenir Book" panose="02000503020000020003" pitchFamily="2" charset="0"/>
              </a:rPr>
            </a:br>
            <a:endParaRPr lang="en-US" sz="1600" dirty="0">
              <a:latin typeface="Avenir Book" panose="02000503020000020003" pitchFamily="2" charset="0"/>
            </a:endParaRPr>
          </a:p>
          <a:p>
            <a:pPr marL="285750" indent="-285750">
              <a:lnSpc>
                <a:spcPct val="150000"/>
              </a:lnSpc>
              <a:buFont typeface="Arial" panose="020B0604020202020204" pitchFamily="34" charset="0"/>
              <a:buChar char="•"/>
            </a:pPr>
            <a:r>
              <a:rPr lang="en-US" sz="1600" dirty="0">
                <a:latin typeface="Avenir Book" panose="02000503020000020003" pitchFamily="2" charset="0"/>
              </a:rPr>
              <a:t>Collect statutory contributions as determined by law</a:t>
            </a:r>
          </a:p>
          <a:p>
            <a:pPr marL="285750" indent="-285750">
              <a:lnSpc>
                <a:spcPct val="150000"/>
              </a:lnSpc>
              <a:buFont typeface="Arial" panose="020B0604020202020204" pitchFamily="34" charset="0"/>
              <a:buChar char="•"/>
            </a:pPr>
            <a:r>
              <a:rPr lang="en-US" sz="1600" dirty="0">
                <a:latin typeface="Avenir Book" panose="02000503020000020003" pitchFamily="2" charset="0"/>
              </a:rPr>
              <a:t>Collect CSR contributions </a:t>
            </a:r>
          </a:p>
          <a:p>
            <a:pPr marL="285750" indent="-285750">
              <a:lnSpc>
                <a:spcPct val="150000"/>
              </a:lnSpc>
              <a:buFont typeface="Arial" panose="020B0604020202020204" pitchFamily="34" charset="0"/>
              <a:buChar char="•"/>
            </a:pPr>
            <a:r>
              <a:rPr lang="en-US" sz="1600" dirty="0">
                <a:latin typeface="Avenir Book" panose="02000503020000020003" pitchFamily="2" charset="0"/>
              </a:rPr>
              <a:t>Serve as source of funding for IIH &amp; KWASIITA </a:t>
            </a:r>
          </a:p>
          <a:p>
            <a:pPr marL="285750" indent="-285750">
              <a:lnSpc>
                <a:spcPct val="150000"/>
              </a:lnSpc>
              <a:buFont typeface="Arial" panose="020B0604020202020204" pitchFamily="34" charset="0"/>
              <a:buChar char="•"/>
            </a:pPr>
            <a:endParaRPr lang="en-US" sz="1600" dirty="0">
              <a:latin typeface="Avenir Book" panose="02000503020000020003" pitchFamily="2" charset="0"/>
            </a:endParaRPr>
          </a:p>
        </p:txBody>
      </p:sp>
      <p:pic>
        <p:nvPicPr>
          <p:cNvPr id="9" name="Picture 8">
            <a:extLst>
              <a:ext uri="{FF2B5EF4-FFF2-40B4-BE49-F238E27FC236}">
                <a16:creationId xmlns:a16="http://schemas.microsoft.com/office/drawing/2014/main" id="{2B1FD5F5-0AA4-164F-8BA9-27B4BB74F01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10" name="Slide Number Placeholder 9">
            <a:extLst>
              <a:ext uri="{FF2B5EF4-FFF2-40B4-BE49-F238E27FC236}">
                <a16:creationId xmlns:a16="http://schemas.microsoft.com/office/drawing/2014/main" id="{5FE5B1E0-59CA-2F48-BA32-A64A9B770BE4}"/>
              </a:ext>
            </a:extLst>
          </p:cNvPr>
          <p:cNvSpPr>
            <a:spLocks noGrp="1"/>
          </p:cNvSpPr>
          <p:nvPr>
            <p:ph type="sldNum" sz="quarter" idx="12"/>
          </p:nvPr>
        </p:nvSpPr>
        <p:spPr/>
        <p:txBody>
          <a:bodyPr/>
          <a:lstStyle/>
          <a:p>
            <a:fld id="{664C5C96-B43F-EF41-83BB-885FD2BDB03F}" type="slidenum">
              <a:rPr lang="en-US" smtClean="0"/>
              <a:t>17</a:t>
            </a:fld>
            <a:endParaRPr lang="en-US"/>
          </a:p>
        </p:txBody>
      </p:sp>
      <p:sp>
        <p:nvSpPr>
          <p:cNvPr id="11" name="TextBox 10">
            <a:extLst>
              <a:ext uri="{FF2B5EF4-FFF2-40B4-BE49-F238E27FC236}">
                <a16:creationId xmlns:a16="http://schemas.microsoft.com/office/drawing/2014/main" id="{53563902-786F-8B4C-B839-B69803BFD200}"/>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42001758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7D443-CC6D-3C43-A605-BEF861D12ECE}"/>
              </a:ext>
            </a:extLst>
          </p:cNvPr>
          <p:cNvSpPr/>
          <p:nvPr/>
        </p:nvSpPr>
        <p:spPr>
          <a:xfrm>
            <a:off x="679209" y="3099275"/>
            <a:ext cx="2257063" cy="97227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Kwara Startups, Innovation &amp; Information Technology Agency</a:t>
            </a:r>
          </a:p>
        </p:txBody>
      </p:sp>
      <p:sp>
        <p:nvSpPr>
          <p:cNvPr id="3" name="Rounded Rectangle 2">
            <a:extLst>
              <a:ext uri="{FF2B5EF4-FFF2-40B4-BE49-F238E27FC236}">
                <a16:creationId xmlns:a16="http://schemas.microsoft.com/office/drawing/2014/main" id="{A9998C52-A1BE-6F4A-A0BB-9FA7F9872CC8}"/>
              </a:ext>
            </a:extLst>
          </p:cNvPr>
          <p:cNvSpPr/>
          <p:nvPr/>
        </p:nvSpPr>
        <p:spPr>
          <a:xfrm>
            <a:off x="3461223" y="3105061"/>
            <a:ext cx="2257063" cy="960699"/>
          </a:xfrm>
          <a:prstGeom prst="roundRect">
            <a:avLst>
              <a:gd name="adj" fmla="val 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Kwara State Innovation &amp; Technology Fund</a:t>
            </a:r>
          </a:p>
        </p:txBody>
      </p:sp>
      <p:sp>
        <p:nvSpPr>
          <p:cNvPr id="15" name="Rectangle 14">
            <a:extLst>
              <a:ext uri="{FF2B5EF4-FFF2-40B4-BE49-F238E27FC236}">
                <a16:creationId xmlns:a16="http://schemas.microsoft.com/office/drawing/2014/main" id="{B43CCDA3-B490-674B-BDB1-55DF4E671ECB}"/>
              </a:ext>
            </a:extLst>
          </p:cNvPr>
          <p:cNvSpPr/>
          <p:nvPr/>
        </p:nvSpPr>
        <p:spPr>
          <a:xfrm>
            <a:off x="3679789" y="1531797"/>
            <a:ext cx="1784422" cy="874998"/>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Board</a:t>
            </a:r>
          </a:p>
        </p:txBody>
      </p:sp>
      <p:sp>
        <p:nvSpPr>
          <p:cNvPr id="17" name="Rounded Rectangle 16">
            <a:extLst>
              <a:ext uri="{FF2B5EF4-FFF2-40B4-BE49-F238E27FC236}">
                <a16:creationId xmlns:a16="http://schemas.microsoft.com/office/drawing/2014/main" id="{AA6230EC-316F-BA4E-87D8-1795235581CF}"/>
              </a:ext>
            </a:extLst>
          </p:cNvPr>
          <p:cNvSpPr/>
          <p:nvPr/>
        </p:nvSpPr>
        <p:spPr>
          <a:xfrm>
            <a:off x="6594437" y="1531797"/>
            <a:ext cx="1784422" cy="874998"/>
          </a:xfrm>
          <a:prstGeom prst="round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latin typeface="Avenir Book" panose="02000503020000020003" pitchFamily="2" charset="0"/>
              </a:rPr>
              <a:t>Governing Council</a:t>
            </a:r>
          </a:p>
        </p:txBody>
      </p:sp>
      <p:sp>
        <p:nvSpPr>
          <p:cNvPr id="22" name="Rounded Rectangle 21">
            <a:extLst>
              <a:ext uri="{FF2B5EF4-FFF2-40B4-BE49-F238E27FC236}">
                <a16:creationId xmlns:a16="http://schemas.microsoft.com/office/drawing/2014/main" id="{1F00B32A-E647-D94D-9F14-54C23B194280}"/>
              </a:ext>
            </a:extLst>
          </p:cNvPr>
          <p:cNvSpPr/>
          <p:nvPr/>
        </p:nvSpPr>
        <p:spPr>
          <a:xfrm>
            <a:off x="6358118" y="3099275"/>
            <a:ext cx="2257063" cy="96069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ysClr val="windowText" lastClr="000000"/>
              </a:solidFill>
              <a:latin typeface="Avenir Book" panose="02000503020000020003" pitchFamily="2" charset="0"/>
            </a:endParaRPr>
          </a:p>
        </p:txBody>
      </p:sp>
      <p:pic>
        <p:nvPicPr>
          <p:cNvPr id="52" name="Picture 51">
            <a:extLst>
              <a:ext uri="{FF2B5EF4-FFF2-40B4-BE49-F238E27FC236}">
                <a16:creationId xmlns:a16="http://schemas.microsoft.com/office/drawing/2014/main" id="{442A362B-9416-3344-B3E6-EE5D12B0D8A4}"/>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54" name="Slide Number Placeholder 53">
            <a:extLst>
              <a:ext uri="{FF2B5EF4-FFF2-40B4-BE49-F238E27FC236}">
                <a16:creationId xmlns:a16="http://schemas.microsoft.com/office/drawing/2014/main" id="{68C03D5D-73D6-0E44-90C4-EC4EBD93E002}"/>
              </a:ext>
            </a:extLst>
          </p:cNvPr>
          <p:cNvSpPr>
            <a:spLocks noGrp="1"/>
          </p:cNvSpPr>
          <p:nvPr>
            <p:ph type="sldNum" sz="quarter" idx="12"/>
          </p:nvPr>
        </p:nvSpPr>
        <p:spPr>
          <a:xfrm>
            <a:off x="6457950" y="6127744"/>
            <a:ext cx="2057400" cy="365125"/>
          </a:xfrm>
        </p:spPr>
        <p:txBody>
          <a:bodyPr/>
          <a:lstStyle/>
          <a:p>
            <a:fld id="{664C5C96-B43F-EF41-83BB-885FD2BDB03F}" type="slidenum">
              <a:rPr lang="en-US" smtClean="0"/>
              <a:t>18</a:t>
            </a:fld>
            <a:endParaRPr lang="en-US" dirty="0"/>
          </a:p>
        </p:txBody>
      </p:sp>
      <p:pic>
        <p:nvPicPr>
          <p:cNvPr id="57" name="Picture 56">
            <a:extLst>
              <a:ext uri="{FF2B5EF4-FFF2-40B4-BE49-F238E27FC236}">
                <a16:creationId xmlns:a16="http://schemas.microsoft.com/office/drawing/2014/main" id="{21FECB5F-6E77-AB4A-9E0E-BD17C0AE2E0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6868681" y="3335135"/>
            <a:ext cx="1235935" cy="521420"/>
          </a:xfrm>
          <a:prstGeom prst="rect">
            <a:avLst/>
          </a:prstGeom>
        </p:spPr>
      </p:pic>
      <p:pic>
        <p:nvPicPr>
          <p:cNvPr id="95" name="Picture 94" descr="A picture containing text&#10;&#10;Description automatically generated">
            <a:extLst>
              <a:ext uri="{FF2B5EF4-FFF2-40B4-BE49-F238E27FC236}">
                <a16:creationId xmlns:a16="http://schemas.microsoft.com/office/drawing/2014/main" id="{4AA3AAFA-0387-7645-9677-6A94988EB879}"/>
              </a:ext>
            </a:extLst>
          </p:cNvPr>
          <p:cNvPicPr>
            <a:picLocks noChangeAspect="1"/>
          </p:cNvPicPr>
          <p:nvPr/>
        </p:nvPicPr>
        <p:blipFill>
          <a:blip r:embed="rId3"/>
          <a:stretch>
            <a:fillRect/>
          </a:stretch>
        </p:blipFill>
        <p:spPr>
          <a:xfrm>
            <a:off x="1186671" y="1368429"/>
            <a:ext cx="1242137" cy="1231955"/>
          </a:xfrm>
          <a:prstGeom prst="rect">
            <a:avLst/>
          </a:prstGeom>
        </p:spPr>
      </p:pic>
      <p:sp>
        <p:nvSpPr>
          <p:cNvPr id="106" name="TextBox 105">
            <a:extLst>
              <a:ext uri="{FF2B5EF4-FFF2-40B4-BE49-F238E27FC236}">
                <a16:creationId xmlns:a16="http://schemas.microsoft.com/office/drawing/2014/main" id="{E1F0DE56-0218-1D48-8B37-444C625C75AD}"/>
              </a:ext>
            </a:extLst>
          </p:cNvPr>
          <p:cNvSpPr txBox="1"/>
          <p:nvPr/>
        </p:nvSpPr>
        <p:spPr>
          <a:xfrm>
            <a:off x="2858314" y="5894807"/>
            <a:ext cx="1787654" cy="830997"/>
          </a:xfrm>
          <a:prstGeom prst="rect">
            <a:avLst/>
          </a:prstGeom>
          <a:noFill/>
        </p:spPr>
        <p:txBody>
          <a:bodyPr wrap="square" rtlCol="0">
            <a:spAutoFit/>
          </a:bodyPr>
          <a:lstStyle/>
          <a:p>
            <a:r>
              <a:rPr lang="en-US" sz="1200" dirty="0">
                <a:latin typeface="Avenir Book" panose="02000503020000020003" pitchFamily="2" charset="0"/>
              </a:rPr>
              <a:t>IGR from:</a:t>
            </a:r>
          </a:p>
          <a:p>
            <a:endParaRPr lang="en-US" sz="1200" dirty="0">
              <a:latin typeface="Avenir Book" panose="02000503020000020003" pitchFamily="2" charset="0"/>
            </a:endParaRPr>
          </a:p>
          <a:p>
            <a:pPr marL="171450" indent="-171450">
              <a:buFont typeface="Wingdings" pitchFamily="2" charset="2"/>
              <a:buChar char="§"/>
            </a:pPr>
            <a:r>
              <a:rPr lang="en-US" sz="1200" dirty="0">
                <a:latin typeface="Avenir Book" panose="02000503020000020003" pitchFamily="2" charset="0"/>
              </a:rPr>
              <a:t>Space Rental</a:t>
            </a:r>
          </a:p>
          <a:p>
            <a:pPr marL="171450" indent="-171450">
              <a:buFont typeface="Wingdings" pitchFamily="2" charset="2"/>
              <a:buChar char="§"/>
            </a:pPr>
            <a:r>
              <a:rPr lang="en-US" sz="1200" dirty="0">
                <a:latin typeface="Avenir Book" panose="02000503020000020003" pitchFamily="2" charset="0"/>
              </a:rPr>
              <a:t>Startup Investments</a:t>
            </a:r>
          </a:p>
        </p:txBody>
      </p:sp>
      <p:sp>
        <p:nvSpPr>
          <p:cNvPr id="113" name="TextBox 112">
            <a:extLst>
              <a:ext uri="{FF2B5EF4-FFF2-40B4-BE49-F238E27FC236}">
                <a16:creationId xmlns:a16="http://schemas.microsoft.com/office/drawing/2014/main" id="{7C273A66-CF20-2C48-9C9F-C8937B8D7C19}"/>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
        <p:nvSpPr>
          <p:cNvPr id="115" name="Oval 114">
            <a:extLst>
              <a:ext uri="{FF2B5EF4-FFF2-40B4-BE49-F238E27FC236}">
                <a16:creationId xmlns:a16="http://schemas.microsoft.com/office/drawing/2014/main" id="{ED35997B-E826-184A-AE38-EC67780F537E}"/>
              </a:ext>
            </a:extLst>
          </p:cNvPr>
          <p:cNvSpPr/>
          <p:nvPr/>
        </p:nvSpPr>
        <p:spPr>
          <a:xfrm>
            <a:off x="4044389" y="4830517"/>
            <a:ext cx="1090729" cy="1090729"/>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venir Book" panose="02000503020000020003" pitchFamily="2" charset="0"/>
              </a:rPr>
              <a:t>IGR</a:t>
            </a:r>
          </a:p>
        </p:txBody>
      </p:sp>
    </p:spTree>
    <p:extLst>
      <p:ext uri="{BB962C8B-B14F-4D97-AF65-F5344CB8AC3E}">
        <p14:creationId xmlns:p14="http://schemas.microsoft.com/office/powerpoint/2010/main" val="4023685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251379"/>
            <a:ext cx="8152811" cy="523502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in-house staff of the Kwara State Innovation &amp; Information Technology Agency while some will be handled by an </a:t>
            </a:r>
            <a:r>
              <a:rPr lang="en-US" sz="1400" b="1" dirty="0">
                <a:latin typeface="Avenir Book" panose="02000503020000020003" pitchFamily="2" charset="0"/>
              </a:rPr>
              <a:t>Innovation Management Consultant</a:t>
            </a:r>
            <a:r>
              <a:rPr lang="en-US" sz="1400" dirty="0">
                <a:latin typeface="Avenir Book" panose="02000503020000020003" pitchFamily="2" charset="0"/>
              </a:rPr>
              <a:t>. This is as a result of the specialized functions to be performed that require a level of experience in the field of innovation management. </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distribution of roles between in-house staff and consultant staff is: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In-House Staff Roles</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 &amp; Facility Management</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Consultant Staff Roles</a:t>
            </a:r>
          </a:p>
          <a:p>
            <a:pPr marL="342900" indent="-342900">
              <a:lnSpc>
                <a:spcPct val="150000"/>
              </a:lnSpc>
              <a:buFont typeface="+mj-lt"/>
              <a:buAutoNum type="arabicPeriod"/>
            </a:pPr>
            <a:r>
              <a:rPr lang="en-US" sz="1400" dirty="0">
                <a:latin typeface="Avenir Book" panose="02000503020000020003" pitchFamily="2" charset="0"/>
              </a:rPr>
              <a:t>Startup Programs </a:t>
            </a:r>
          </a:p>
          <a:p>
            <a:pPr marL="342900" indent="-342900">
              <a:lnSpc>
                <a:spcPct val="150000"/>
              </a:lnSpc>
              <a:buFont typeface="+mj-lt"/>
              <a:buAutoNum type="arabicPeriod"/>
            </a:pPr>
            <a:r>
              <a:rPr lang="en-US" sz="1400" dirty="0">
                <a:latin typeface="Avenir Book" panose="02000503020000020003" pitchFamily="2" charset="0"/>
              </a:rPr>
              <a:t>Skills Programs</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Marketing &amp; Communications</a:t>
            </a:r>
          </a:p>
        </p:txBody>
      </p:sp>
      <p:pic>
        <p:nvPicPr>
          <p:cNvPr id="5" name="Picture 4">
            <a:extLst>
              <a:ext uri="{FF2B5EF4-FFF2-40B4-BE49-F238E27FC236}">
                <a16:creationId xmlns:a16="http://schemas.microsoft.com/office/drawing/2014/main" id="{72160947-21D1-4146-8F90-EFCC5A35F81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418F31D7-6AF0-5B44-94EB-CD086AA0F371}"/>
              </a:ext>
            </a:extLst>
          </p:cNvPr>
          <p:cNvSpPr>
            <a:spLocks noGrp="1"/>
          </p:cNvSpPr>
          <p:nvPr>
            <p:ph type="sldNum" sz="quarter" idx="12"/>
          </p:nvPr>
        </p:nvSpPr>
        <p:spPr/>
        <p:txBody>
          <a:bodyPr/>
          <a:lstStyle/>
          <a:p>
            <a:fld id="{664C5C96-B43F-EF41-83BB-885FD2BDB03F}" type="slidenum">
              <a:rPr lang="en-US" smtClean="0"/>
              <a:t>19</a:t>
            </a:fld>
            <a:endParaRPr lang="en-US"/>
          </a:p>
        </p:txBody>
      </p:sp>
      <p:sp>
        <p:nvSpPr>
          <p:cNvPr id="9" name="TextBox 8">
            <a:extLst>
              <a:ext uri="{FF2B5EF4-FFF2-40B4-BE49-F238E27FC236}">
                <a16:creationId xmlns:a16="http://schemas.microsoft.com/office/drawing/2014/main" id="{3B0BC7A5-AE65-0C4B-AABB-9E74650740E8}"/>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105143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Council</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Marketing &amp; Comms</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561342"/>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Competitions &amp; Hackathons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6" y="3995803"/>
            <a:ext cx="1419612"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Social Media</a:t>
            </a:r>
          </a:p>
          <a:p>
            <a:pPr marL="171450" indent="-171450">
              <a:lnSpc>
                <a:spcPct val="150000"/>
              </a:lnSpc>
              <a:buFont typeface="Wingdings" pitchFamily="2" charset="2"/>
              <a:buChar char="§"/>
            </a:pPr>
            <a:r>
              <a:rPr lang="en-US" sz="1200" dirty="0">
                <a:latin typeface="Avenir Book" panose="02000503020000020003" pitchFamily="2" charset="0"/>
              </a:rPr>
              <a:t>PR, Advertising &amp; Awareness</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3"/>
            <a:ext cx="3584448" cy="3989309"/>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E0CE5DF-E916-064F-8761-7CDC90A3F475}"/>
              </a:ext>
            </a:extLst>
          </p:cNvPr>
          <p:cNvSpPr txBox="1"/>
          <p:nvPr/>
        </p:nvSpPr>
        <p:spPr>
          <a:xfrm>
            <a:off x="360332" y="2200544"/>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
        <p:nvSpPr>
          <p:cNvPr id="7" name="Rectangle 6">
            <a:extLst>
              <a:ext uri="{FF2B5EF4-FFF2-40B4-BE49-F238E27FC236}">
                <a16:creationId xmlns:a16="http://schemas.microsoft.com/office/drawing/2014/main" id="{FBE01560-F50C-9049-888C-D94443287755}"/>
              </a:ext>
            </a:extLst>
          </p:cNvPr>
          <p:cNvSpPr/>
          <p:nvPr/>
        </p:nvSpPr>
        <p:spPr>
          <a:xfrm>
            <a:off x="5586607" y="4029980"/>
            <a:ext cx="1631057" cy="865172"/>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5BA34B5-7328-754E-9ECB-700E72843562}"/>
              </a:ext>
            </a:extLst>
          </p:cNvPr>
          <p:cNvSpPr txBox="1"/>
          <p:nvPr/>
        </p:nvSpPr>
        <p:spPr>
          <a:xfrm>
            <a:off x="7421665" y="3995803"/>
            <a:ext cx="1419612"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Accounts &amp; Finance</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Facility Management</a:t>
            </a:r>
          </a:p>
        </p:txBody>
      </p:sp>
      <p:pic>
        <p:nvPicPr>
          <p:cNvPr id="28" name="Picture 27">
            <a:extLst>
              <a:ext uri="{FF2B5EF4-FFF2-40B4-BE49-F238E27FC236}">
                <a16:creationId xmlns:a16="http://schemas.microsoft.com/office/drawing/2014/main" id="{CD9D120E-7457-5348-B8FC-0B1C25D1698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9" name="Slide Number Placeholder 8">
            <a:extLst>
              <a:ext uri="{FF2B5EF4-FFF2-40B4-BE49-F238E27FC236}">
                <a16:creationId xmlns:a16="http://schemas.microsoft.com/office/drawing/2014/main" id="{0A81F5AE-E894-9F49-BC4D-87615BE5FCA6}"/>
              </a:ext>
            </a:extLst>
          </p:cNvPr>
          <p:cNvSpPr>
            <a:spLocks noGrp="1"/>
          </p:cNvSpPr>
          <p:nvPr>
            <p:ph type="sldNum" sz="quarter" idx="12"/>
          </p:nvPr>
        </p:nvSpPr>
        <p:spPr/>
        <p:txBody>
          <a:bodyPr/>
          <a:lstStyle/>
          <a:p>
            <a:fld id="{664C5C96-B43F-EF41-83BB-885FD2BDB03F}" type="slidenum">
              <a:rPr lang="en-US" smtClean="0"/>
              <a:t>20</a:t>
            </a:fld>
            <a:endParaRPr lang="en-US"/>
          </a:p>
        </p:txBody>
      </p:sp>
      <p:sp>
        <p:nvSpPr>
          <p:cNvPr id="35" name="TextBox 34">
            <a:extLst>
              <a:ext uri="{FF2B5EF4-FFF2-40B4-BE49-F238E27FC236}">
                <a16:creationId xmlns:a16="http://schemas.microsoft.com/office/drawing/2014/main" id="{11D1FDD1-1D9D-924C-BAF6-605CAE3822A0}"/>
              </a:ext>
            </a:extLst>
          </p:cNvPr>
          <p:cNvSpPr txBox="1"/>
          <p:nvPr/>
        </p:nvSpPr>
        <p:spPr>
          <a:xfrm>
            <a:off x="538619" y="371598"/>
            <a:ext cx="6560012"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10298150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3071D0-2F8D-E14C-B7CC-B3853FCDCB0D}"/>
              </a:ext>
            </a:extLst>
          </p:cNvPr>
          <p:cNvSpPr/>
          <p:nvPr/>
        </p:nvSpPr>
        <p:spPr>
          <a:xfrm>
            <a:off x="3284421"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365858"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Research</a:t>
            </a:r>
          </a:p>
        </p:txBody>
      </p:sp>
      <p:sp>
        <p:nvSpPr>
          <p:cNvPr id="12" name="Rectangle 11">
            <a:extLst>
              <a:ext uri="{FF2B5EF4-FFF2-40B4-BE49-F238E27FC236}">
                <a16:creationId xmlns:a16="http://schemas.microsoft.com/office/drawing/2014/main" id="{A1F634FF-A9DB-AA4F-9916-01A46D454301}"/>
              </a:ext>
            </a:extLst>
          </p:cNvPr>
          <p:cNvSpPr/>
          <p:nvPr/>
        </p:nvSpPr>
        <p:spPr>
          <a:xfrm>
            <a:off x="1892991" y="2533977"/>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786503"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374164"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a:t>
            </a:r>
          </a:p>
        </p:txBody>
      </p:sp>
      <p:sp>
        <p:nvSpPr>
          <p:cNvPr id="15" name="Rectangle 14">
            <a:extLst>
              <a:ext uri="{FF2B5EF4-FFF2-40B4-BE49-F238E27FC236}">
                <a16:creationId xmlns:a16="http://schemas.microsoft.com/office/drawing/2014/main" id="{6B465138-B9AE-7449-A431-ACAEB43604BE}"/>
              </a:ext>
            </a:extLst>
          </p:cNvPr>
          <p:cNvSpPr/>
          <p:nvPr/>
        </p:nvSpPr>
        <p:spPr>
          <a:xfrm>
            <a:off x="5642444"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Marketing &amp; Comms</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28280" y="3205699"/>
            <a:ext cx="1471808" cy="1176348"/>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Manager</a:t>
            </a:r>
          </a:p>
          <a:p>
            <a:pPr marL="171450" indent="-171450">
              <a:lnSpc>
                <a:spcPct val="150000"/>
              </a:lnSpc>
              <a:buFont typeface="Wingdings" pitchFamily="2" charset="2"/>
              <a:buChar char="§"/>
            </a:pPr>
            <a:r>
              <a:rPr lang="en-US" sz="1200" dirty="0">
                <a:latin typeface="Avenir Book" panose="02000503020000020003" pitchFamily="2" charset="0"/>
              </a:rPr>
              <a:t>Research Officers</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37666" y="3205699"/>
            <a:ext cx="1802698"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Program Manager (s)</a:t>
            </a:r>
          </a:p>
          <a:p>
            <a:pPr marL="171450" indent="-171450">
              <a:lnSpc>
                <a:spcPct val="150000"/>
              </a:lnSpc>
              <a:buFont typeface="Wingdings" pitchFamily="2" charset="2"/>
              <a:buChar char="§"/>
            </a:pPr>
            <a:r>
              <a:rPr lang="en-US" sz="1200" dirty="0">
                <a:latin typeface="Avenir Book" panose="02000503020000020003" pitchFamily="2" charset="0"/>
              </a:rPr>
              <a:t>Training Coordinator</a:t>
            </a:r>
          </a:p>
          <a:p>
            <a:pPr marL="171450" indent="-171450">
              <a:lnSpc>
                <a:spcPct val="150000"/>
              </a:lnSpc>
              <a:buFont typeface="Wingdings" pitchFamily="2" charset="2"/>
              <a:buChar char="§"/>
            </a:pPr>
            <a:r>
              <a:rPr lang="en-US" sz="1200" dirty="0">
                <a:latin typeface="Avenir Book" panose="02000503020000020003" pitchFamily="2" charset="0"/>
              </a:rPr>
              <a:t>Full Stack Developer (Web)</a:t>
            </a:r>
          </a:p>
          <a:p>
            <a:pPr marL="171450" indent="-171450">
              <a:lnSpc>
                <a:spcPct val="150000"/>
              </a:lnSpc>
              <a:buFont typeface="Wingdings" pitchFamily="2" charset="2"/>
              <a:buChar char="§"/>
            </a:pPr>
            <a:r>
              <a:rPr lang="en-US" sz="1200" dirty="0">
                <a:latin typeface="Avenir Book" panose="02000503020000020003" pitchFamily="2" charset="0"/>
              </a:rPr>
              <a:t>Full Stack Developer (Mobile)</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786503" y="3205699"/>
            <a:ext cx="1709803"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Community Manager</a:t>
            </a:r>
          </a:p>
          <a:p>
            <a:pPr marL="171450" indent="-171450">
              <a:lnSpc>
                <a:spcPct val="150000"/>
              </a:lnSpc>
              <a:buFont typeface="Wingdings" pitchFamily="2" charset="2"/>
              <a:buChar char="§"/>
            </a:pPr>
            <a:r>
              <a:rPr lang="en-US" sz="1200" dirty="0">
                <a:latin typeface="Avenir Book" panose="02000503020000020003" pitchFamily="2" charset="0"/>
              </a:rPr>
              <a:t>1 Events Coordinator</a:t>
            </a:r>
          </a:p>
          <a:p>
            <a:pPr marL="171450" indent="-171450">
              <a:lnSpc>
                <a:spcPct val="150000"/>
              </a:lnSpc>
              <a:buFont typeface="Wingdings" pitchFamily="2" charset="2"/>
              <a:buChar char="§"/>
            </a:pPr>
            <a:r>
              <a:rPr lang="en-US" sz="1200" dirty="0">
                <a:latin typeface="Avenir Book" panose="02000503020000020003" pitchFamily="2" charset="0"/>
              </a:rPr>
              <a:t>3 Front Desk Staff</a:t>
            </a:r>
          </a:p>
          <a:p>
            <a:pPr marL="171450" indent="-171450">
              <a:lnSpc>
                <a:spcPct val="150000"/>
              </a:lnSpc>
              <a:buFont typeface="Wingdings" pitchFamily="2" charset="2"/>
              <a:buChar char="§"/>
            </a:pPr>
            <a:r>
              <a:rPr lang="en-US" sz="1200" dirty="0">
                <a:latin typeface="Avenir Book" panose="02000503020000020003" pitchFamily="2" charset="0"/>
              </a:rPr>
              <a:t>2 Drivers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42444" y="3205699"/>
            <a:ext cx="1602281" cy="2561342"/>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Director of Marketing &amp; Comms</a:t>
            </a:r>
          </a:p>
          <a:p>
            <a:pPr marL="171450" indent="-171450">
              <a:lnSpc>
                <a:spcPct val="150000"/>
              </a:lnSpc>
              <a:buFont typeface="Wingdings" pitchFamily="2" charset="2"/>
              <a:buChar char="§"/>
            </a:pPr>
            <a:r>
              <a:rPr lang="en-US" sz="1200" dirty="0">
                <a:latin typeface="Avenir Book" panose="02000503020000020003" pitchFamily="2" charset="0"/>
              </a:rPr>
              <a:t>Head of Marketing &amp; PR</a:t>
            </a:r>
          </a:p>
          <a:p>
            <a:pPr marL="171450" indent="-171450">
              <a:lnSpc>
                <a:spcPct val="150000"/>
              </a:lnSpc>
              <a:buFont typeface="Wingdings" pitchFamily="2" charset="2"/>
              <a:buChar char="§"/>
            </a:pPr>
            <a:r>
              <a:rPr lang="en-US" sz="1200" dirty="0">
                <a:latin typeface="Avenir Book" panose="02000503020000020003" pitchFamily="2" charset="0"/>
              </a:rPr>
              <a:t>1 Graphic Designer</a:t>
            </a:r>
          </a:p>
          <a:p>
            <a:pPr marL="171450" indent="-171450">
              <a:lnSpc>
                <a:spcPct val="150000"/>
              </a:lnSpc>
              <a:buFont typeface="Wingdings" pitchFamily="2" charset="2"/>
              <a:buChar char="§"/>
            </a:pPr>
            <a:r>
              <a:rPr lang="en-US" sz="1200" dirty="0">
                <a:latin typeface="Avenir Book" panose="02000503020000020003" pitchFamily="2" charset="0"/>
              </a:rPr>
              <a:t>1 Social Media Manager</a:t>
            </a: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11764"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954581" y="2140986"/>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685260"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95458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1176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3033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069365"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118B9072-20B3-154C-869A-25080FE1626B}"/>
              </a:ext>
            </a:extLst>
          </p:cNvPr>
          <p:cNvSpPr txBox="1"/>
          <p:nvPr/>
        </p:nvSpPr>
        <p:spPr>
          <a:xfrm>
            <a:off x="3786503" y="5329634"/>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7</a:t>
            </a:r>
          </a:p>
        </p:txBody>
      </p:sp>
      <p:sp>
        <p:nvSpPr>
          <p:cNvPr id="35" name="TextBox 34">
            <a:extLst>
              <a:ext uri="{FF2B5EF4-FFF2-40B4-BE49-F238E27FC236}">
                <a16:creationId xmlns:a16="http://schemas.microsoft.com/office/drawing/2014/main" id="{3E828D09-DCBE-4742-8B3C-2241038B9BEE}"/>
              </a:ext>
            </a:extLst>
          </p:cNvPr>
          <p:cNvSpPr txBox="1"/>
          <p:nvPr/>
        </p:nvSpPr>
        <p:spPr>
          <a:xfrm>
            <a:off x="5642444" y="643048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7</a:t>
            </a:r>
          </a:p>
        </p:txBody>
      </p:sp>
      <p:sp>
        <p:nvSpPr>
          <p:cNvPr id="36" name="TextBox 35">
            <a:extLst>
              <a:ext uri="{FF2B5EF4-FFF2-40B4-BE49-F238E27FC236}">
                <a16:creationId xmlns:a16="http://schemas.microsoft.com/office/drawing/2014/main" id="{22D56A78-919B-8E42-96A9-15544742C5ED}"/>
              </a:ext>
            </a:extLst>
          </p:cNvPr>
          <p:cNvSpPr txBox="1"/>
          <p:nvPr/>
        </p:nvSpPr>
        <p:spPr>
          <a:xfrm>
            <a:off x="7321968" y="6430489"/>
            <a:ext cx="1471808" cy="345351"/>
          </a:xfrm>
          <a:prstGeom prst="rect">
            <a:avLst/>
          </a:prstGeom>
          <a:noFill/>
        </p:spPr>
        <p:txBody>
          <a:bodyPr wrap="square" rtlCol="0">
            <a:spAutoFit/>
          </a:bodyPr>
          <a:lstStyle/>
          <a:p>
            <a:pPr algn="ctr">
              <a:lnSpc>
                <a:spcPct val="150000"/>
              </a:lnSpc>
            </a:pPr>
            <a:r>
              <a:rPr lang="en-US" sz="1200" dirty="0">
                <a:latin typeface="Avenir Book" panose="02000503020000020003" pitchFamily="2" charset="0"/>
              </a:rPr>
              <a:t>4</a:t>
            </a:r>
          </a:p>
        </p:txBody>
      </p:sp>
      <p:sp>
        <p:nvSpPr>
          <p:cNvPr id="39" name="TextBox 38">
            <a:extLst>
              <a:ext uri="{FF2B5EF4-FFF2-40B4-BE49-F238E27FC236}">
                <a16:creationId xmlns:a16="http://schemas.microsoft.com/office/drawing/2014/main" id="{D60690A6-75D3-C04F-AB5C-BDEAB437539C}"/>
              </a:ext>
            </a:extLst>
          </p:cNvPr>
          <p:cNvSpPr txBox="1"/>
          <p:nvPr/>
        </p:nvSpPr>
        <p:spPr>
          <a:xfrm>
            <a:off x="128066" y="5860414"/>
            <a:ext cx="2905633"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Total Staff			</a:t>
            </a:r>
          </a:p>
        </p:txBody>
      </p:sp>
      <p:sp>
        <p:nvSpPr>
          <p:cNvPr id="37" name="Rectangle 36">
            <a:extLst>
              <a:ext uri="{FF2B5EF4-FFF2-40B4-BE49-F238E27FC236}">
                <a16:creationId xmlns:a16="http://schemas.microsoft.com/office/drawing/2014/main" id="{0E9A87D5-52B0-0449-AF36-9D164908F777}"/>
              </a:ext>
            </a:extLst>
          </p:cNvPr>
          <p:cNvSpPr/>
          <p:nvPr/>
        </p:nvSpPr>
        <p:spPr>
          <a:xfrm>
            <a:off x="5539106" y="4070871"/>
            <a:ext cx="1631057" cy="1793351"/>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FD70D14-D2EC-D047-88F6-B9F78946B95B}"/>
              </a:ext>
            </a:extLst>
          </p:cNvPr>
          <p:cNvSpPr/>
          <p:nvPr/>
        </p:nvSpPr>
        <p:spPr>
          <a:xfrm>
            <a:off x="122004" y="1959360"/>
            <a:ext cx="3584448" cy="361935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423271" y="1398732"/>
            <a:ext cx="2828790" cy="523220"/>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INNOVATION MANAGEMENT CONSULTANT</a:t>
            </a:r>
          </a:p>
        </p:txBody>
      </p:sp>
      <p:sp>
        <p:nvSpPr>
          <p:cNvPr id="41" name="TextBox 40">
            <a:extLst>
              <a:ext uri="{FF2B5EF4-FFF2-40B4-BE49-F238E27FC236}">
                <a16:creationId xmlns:a16="http://schemas.microsoft.com/office/drawing/2014/main" id="{32A3C674-AB65-9F40-B8C8-5F79C0459072}"/>
              </a:ext>
            </a:extLst>
          </p:cNvPr>
          <p:cNvSpPr txBox="1"/>
          <p:nvPr/>
        </p:nvSpPr>
        <p:spPr>
          <a:xfrm>
            <a:off x="7374164" y="3194748"/>
            <a:ext cx="1602281" cy="283834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Facility Manager</a:t>
            </a:r>
          </a:p>
          <a:p>
            <a:pPr marL="171450" indent="-171450">
              <a:lnSpc>
                <a:spcPct val="150000"/>
              </a:lnSpc>
              <a:buFont typeface="Wingdings" pitchFamily="2" charset="2"/>
              <a:buChar char="§"/>
            </a:pPr>
            <a:r>
              <a:rPr lang="en-US" sz="1200" dirty="0">
                <a:latin typeface="Avenir Book" panose="02000503020000020003" pitchFamily="2" charset="0"/>
              </a:rPr>
              <a:t>HR Manager</a:t>
            </a:r>
          </a:p>
          <a:p>
            <a:pPr marL="171450" indent="-171450">
              <a:lnSpc>
                <a:spcPct val="150000"/>
              </a:lnSpc>
              <a:buFont typeface="Wingdings" pitchFamily="2" charset="2"/>
              <a:buChar char="§"/>
            </a:pPr>
            <a:r>
              <a:rPr lang="en-US" sz="1200" dirty="0">
                <a:latin typeface="Avenir Book" panose="02000503020000020003" pitchFamily="2" charset="0"/>
              </a:rPr>
              <a:t>Accounts Manager</a:t>
            </a:r>
          </a:p>
          <a:p>
            <a:pPr marL="171450" indent="-171450">
              <a:lnSpc>
                <a:spcPct val="150000"/>
              </a:lnSpc>
              <a:buFont typeface="Wingdings" pitchFamily="2" charset="2"/>
              <a:buChar char="§"/>
            </a:pPr>
            <a:r>
              <a:rPr lang="en-US" sz="1200" dirty="0">
                <a:latin typeface="Avenir Book" panose="02000503020000020003" pitchFamily="2" charset="0"/>
              </a:rPr>
              <a:t>1 Accounts Officer</a:t>
            </a:r>
          </a:p>
          <a:p>
            <a:pPr marL="171450" indent="-171450">
              <a:lnSpc>
                <a:spcPct val="150000"/>
              </a:lnSpc>
              <a:buFont typeface="Wingdings" pitchFamily="2" charset="2"/>
              <a:buChar char="§"/>
            </a:pPr>
            <a:r>
              <a:rPr lang="en-US" sz="1200" dirty="0">
                <a:latin typeface="Avenir Book" panose="02000503020000020003" pitchFamily="2" charset="0"/>
              </a:rPr>
              <a:t>1 HR Officer</a:t>
            </a:r>
          </a:p>
          <a:p>
            <a:pPr marL="171450" indent="-171450">
              <a:lnSpc>
                <a:spcPct val="150000"/>
              </a:lnSpc>
              <a:buFont typeface="Wingdings" pitchFamily="2" charset="2"/>
              <a:buChar char="§"/>
            </a:pPr>
            <a:r>
              <a:rPr lang="en-US" sz="1200" dirty="0">
                <a:latin typeface="Avenir Book" panose="02000503020000020003" pitchFamily="2" charset="0"/>
              </a:rPr>
              <a:t>2 Drivers</a:t>
            </a:r>
          </a:p>
          <a:p>
            <a:pPr marL="171450" indent="-171450">
              <a:lnSpc>
                <a:spcPct val="150000"/>
              </a:lnSpc>
              <a:buFont typeface="Wingdings" pitchFamily="2" charset="2"/>
              <a:buChar char="§"/>
            </a:pPr>
            <a:r>
              <a:rPr lang="en-US" sz="1200" dirty="0">
                <a:latin typeface="Avenir Book" panose="02000503020000020003" pitchFamily="2" charset="0"/>
              </a:rPr>
              <a:t>3 Maintenance Officers</a:t>
            </a:r>
          </a:p>
        </p:txBody>
      </p:sp>
      <p:pic>
        <p:nvPicPr>
          <p:cNvPr id="42" name="Picture 41">
            <a:extLst>
              <a:ext uri="{FF2B5EF4-FFF2-40B4-BE49-F238E27FC236}">
                <a16:creationId xmlns:a16="http://schemas.microsoft.com/office/drawing/2014/main" id="{4A0B7455-08A9-824F-975C-D8A5579E450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6" name="Slide Number Placeholder 5">
            <a:extLst>
              <a:ext uri="{FF2B5EF4-FFF2-40B4-BE49-F238E27FC236}">
                <a16:creationId xmlns:a16="http://schemas.microsoft.com/office/drawing/2014/main" id="{DCAC818C-B2E7-AE47-9F9B-63BCFE601E80}"/>
              </a:ext>
            </a:extLst>
          </p:cNvPr>
          <p:cNvSpPr>
            <a:spLocks noGrp="1"/>
          </p:cNvSpPr>
          <p:nvPr>
            <p:ph type="sldNum" sz="quarter" idx="12"/>
          </p:nvPr>
        </p:nvSpPr>
        <p:spPr/>
        <p:txBody>
          <a:bodyPr/>
          <a:lstStyle/>
          <a:p>
            <a:fld id="{664C5C96-B43F-EF41-83BB-885FD2BDB03F}" type="slidenum">
              <a:rPr lang="en-US" smtClean="0"/>
              <a:t>21</a:t>
            </a:fld>
            <a:endParaRPr lang="en-US"/>
          </a:p>
        </p:txBody>
      </p:sp>
      <p:sp>
        <p:nvSpPr>
          <p:cNvPr id="43" name="TextBox 42">
            <a:extLst>
              <a:ext uri="{FF2B5EF4-FFF2-40B4-BE49-F238E27FC236}">
                <a16:creationId xmlns:a16="http://schemas.microsoft.com/office/drawing/2014/main" id="{BBEED838-A4A2-0B43-8EC0-7F7C90797D49}"/>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3117461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E742C464-EBE5-684D-B208-148FA32CD1A2}"/>
              </a:ext>
            </a:extLst>
          </p:cNvPr>
          <p:cNvSpPr txBox="1"/>
          <p:nvPr/>
        </p:nvSpPr>
        <p:spPr>
          <a:xfrm>
            <a:off x="670054" y="1721772"/>
            <a:ext cx="2697614" cy="1357038"/>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Community Manager</a:t>
            </a:r>
          </a:p>
          <a:p>
            <a:pPr marL="171450" indent="-171450">
              <a:lnSpc>
                <a:spcPct val="150000"/>
              </a:lnSpc>
              <a:buFont typeface="Wingdings" pitchFamily="2" charset="2"/>
              <a:buChar char="§"/>
            </a:pPr>
            <a:r>
              <a:rPr lang="en-US" sz="1400" dirty="0">
                <a:latin typeface="Avenir Book" panose="02000503020000020003" pitchFamily="2" charset="0"/>
              </a:rPr>
              <a:t>1 Events Coordinator</a:t>
            </a:r>
          </a:p>
          <a:p>
            <a:pPr marL="171450" indent="-171450">
              <a:lnSpc>
                <a:spcPct val="150000"/>
              </a:lnSpc>
              <a:buFont typeface="Wingdings" pitchFamily="2" charset="2"/>
              <a:buChar char="§"/>
            </a:pPr>
            <a:r>
              <a:rPr lang="en-US" sz="1400" dirty="0">
                <a:latin typeface="Avenir Book" panose="02000503020000020003" pitchFamily="2" charset="0"/>
              </a:rPr>
              <a:t>3 Front Desk Staff</a:t>
            </a:r>
          </a:p>
          <a:p>
            <a:pPr marL="285750" indent="-285750" algn="just">
              <a:lnSpc>
                <a:spcPct val="150000"/>
              </a:lnSpc>
              <a:buFont typeface="Wingdings" pitchFamily="2" charset="2"/>
              <a:buChar char="§"/>
            </a:pPr>
            <a:endParaRPr lang="en-US" sz="1400" dirty="0">
              <a:latin typeface="Avenir Book" panose="02000503020000020003" pitchFamily="2" charset="0"/>
            </a:endParaRPr>
          </a:p>
        </p:txBody>
      </p:sp>
      <p:sp>
        <p:nvSpPr>
          <p:cNvPr id="10" name="Rectangle 9">
            <a:extLst>
              <a:ext uri="{FF2B5EF4-FFF2-40B4-BE49-F238E27FC236}">
                <a16:creationId xmlns:a16="http://schemas.microsoft.com/office/drawing/2014/main" id="{FBB9636D-09ED-6049-90E3-D803D9E2F619}"/>
              </a:ext>
            </a:extLst>
          </p:cNvPr>
          <p:cNvSpPr/>
          <p:nvPr/>
        </p:nvSpPr>
        <p:spPr>
          <a:xfrm>
            <a:off x="670054" y="1249573"/>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Coworking &amp; Community (5)</a:t>
            </a:r>
          </a:p>
        </p:txBody>
      </p:sp>
      <p:sp>
        <p:nvSpPr>
          <p:cNvPr id="11" name="TextBox 10">
            <a:extLst>
              <a:ext uri="{FF2B5EF4-FFF2-40B4-BE49-F238E27FC236}">
                <a16:creationId xmlns:a16="http://schemas.microsoft.com/office/drawing/2014/main" id="{8BDC5166-101A-AB46-8543-8D788B7BB2E2}"/>
              </a:ext>
            </a:extLst>
          </p:cNvPr>
          <p:cNvSpPr txBox="1"/>
          <p:nvPr/>
        </p:nvSpPr>
        <p:spPr>
          <a:xfrm>
            <a:off x="3367668" y="1721772"/>
            <a:ext cx="2697614" cy="1680204"/>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Director of Marketing &amp; Communications</a:t>
            </a:r>
          </a:p>
          <a:p>
            <a:pPr marL="171450" indent="-171450">
              <a:lnSpc>
                <a:spcPct val="150000"/>
              </a:lnSpc>
              <a:buFont typeface="Wingdings" pitchFamily="2" charset="2"/>
              <a:buChar char="§"/>
            </a:pPr>
            <a:r>
              <a:rPr lang="en-US" sz="1400" dirty="0">
                <a:latin typeface="Avenir Book" panose="02000503020000020003" pitchFamily="2" charset="0"/>
              </a:rPr>
              <a:t>PR Officer</a:t>
            </a:r>
          </a:p>
          <a:p>
            <a:pPr marL="171450" indent="-171450">
              <a:lnSpc>
                <a:spcPct val="150000"/>
              </a:lnSpc>
              <a:buFont typeface="Wingdings" pitchFamily="2" charset="2"/>
              <a:buChar char="§"/>
            </a:pPr>
            <a:r>
              <a:rPr lang="en-US" sz="1400" dirty="0">
                <a:latin typeface="Avenir Book" panose="02000503020000020003" pitchFamily="2" charset="0"/>
              </a:rPr>
              <a:t>Social Media Officer</a:t>
            </a:r>
          </a:p>
          <a:p>
            <a:pPr marL="171450" indent="-171450">
              <a:lnSpc>
                <a:spcPct val="150000"/>
              </a:lnSpc>
              <a:buFont typeface="Wingdings" pitchFamily="2" charset="2"/>
              <a:buChar char="§"/>
            </a:pPr>
            <a:r>
              <a:rPr lang="en-US" sz="1400" dirty="0">
                <a:latin typeface="Avenir Book" panose="02000503020000020003" pitchFamily="2" charset="0"/>
              </a:rPr>
              <a:t>Graphic Designer</a:t>
            </a:r>
          </a:p>
        </p:txBody>
      </p:sp>
      <p:sp>
        <p:nvSpPr>
          <p:cNvPr id="12" name="Rectangle 11">
            <a:extLst>
              <a:ext uri="{FF2B5EF4-FFF2-40B4-BE49-F238E27FC236}">
                <a16:creationId xmlns:a16="http://schemas.microsoft.com/office/drawing/2014/main" id="{29E9EC1A-A72A-114A-B2C9-0753268F1F62}"/>
              </a:ext>
            </a:extLst>
          </p:cNvPr>
          <p:cNvSpPr/>
          <p:nvPr/>
        </p:nvSpPr>
        <p:spPr>
          <a:xfrm>
            <a:off x="3367668" y="1249573"/>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Marketing &amp; Communications (4)</a:t>
            </a:r>
          </a:p>
        </p:txBody>
      </p:sp>
      <p:sp>
        <p:nvSpPr>
          <p:cNvPr id="13" name="Rectangle 12">
            <a:extLst>
              <a:ext uri="{FF2B5EF4-FFF2-40B4-BE49-F238E27FC236}">
                <a16:creationId xmlns:a16="http://schemas.microsoft.com/office/drawing/2014/main" id="{B076C7DA-6769-0B4A-BFE0-E4B8C593CD90}"/>
              </a:ext>
            </a:extLst>
          </p:cNvPr>
          <p:cNvSpPr/>
          <p:nvPr/>
        </p:nvSpPr>
        <p:spPr>
          <a:xfrm>
            <a:off x="6310609" y="1249573"/>
            <a:ext cx="2452288"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Administration (11)</a:t>
            </a:r>
          </a:p>
        </p:txBody>
      </p:sp>
      <p:sp>
        <p:nvSpPr>
          <p:cNvPr id="14" name="TextBox 13">
            <a:extLst>
              <a:ext uri="{FF2B5EF4-FFF2-40B4-BE49-F238E27FC236}">
                <a16:creationId xmlns:a16="http://schemas.microsoft.com/office/drawing/2014/main" id="{A6FFE4EE-2C88-EF4E-B2B6-C8190045E587}"/>
              </a:ext>
            </a:extLst>
          </p:cNvPr>
          <p:cNvSpPr txBox="1"/>
          <p:nvPr/>
        </p:nvSpPr>
        <p:spPr>
          <a:xfrm>
            <a:off x="6310608" y="1721771"/>
            <a:ext cx="2697614" cy="2649700"/>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Director of Administration</a:t>
            </a:r>
          </a:p>
          <a:p>
            <a:pPr marL="171450" indent="-171450">
              <a:lnSpc>
                <a:spcPct val="150000"/>
              </a:lnSpc>
              <a:buFont typeface="Wingdings" pitchFamily="2" charset="2"/>
              <a:buChar char="§"/>
            </a:pPr>
            <a:r>
              <a:rPr lang="en-US" sz="1400" dirty="0">
                <a:latin typeface="Avenir Book" panose="02000503020000020003" pitchFamily="2" charset="0"/>
              </a:rPr>
              <a:t>Accounts Manager</a:t>
            </a:r>
          </a:p>
          <a:p>
            <a:pPr marL="171450" indent="-171450">
              <a:lnSpc>
                <a:spcPct val="150000"/>
              </a:lnSpc>
              <a:buFont typeface="Wingdings" pitchFamily="2" charset="2"/>
              <a:buChar char="§"/>
            </a:pPr>
            <a:r>
              <a:rPr lang="en-US" sz="1400" dirty="0">
                <a:latin typeface="Avenir Book" panose="02000503020000020003" pitchFamily="2" charset="0"/>
              </a:rPr>
              <a:t>HR Manager</a:t>
            </a:r>
          </a:p>
          <a:p>
            <a:pPr marL="171450" indent="-171450">
              <a:lnSpc>
                <a:spcPct val="150000"/>
              </a:lnSpc>
              <a:buFont typeface="Wingdings" pitchFamily="2" charset="2"/>
              <a:buChar char="§"/>
            </a:pPr>
            <a:r>
              <a:rPr lang="en-US" sz="1400" dirty="0">
                <a:latin typeface="Avenir Book" panose="02000503020000020003" pitchFamily="2" charset="0"/>
              </a:rPr>
              <a:t>Facility Manager</a:t>
            </a:r>
          </a:p>
          <a:p>
            <a:pPr marL="171450" indent="-171450">
              <a:lnSpc>
                <a:spcPct val="150000"/>
              </a:lnSpc>
              <a:buFont typeface="Wingdings" pitchFamily="2" charset="2"/>
              <a:buChar char="§"/>
            </a:pPr>
            <a:r>
              <a:rPr lang="en-US" sz="1400" dirty="0">
                <a:latin typeface="Avenir Book" panose="02000503020000020003" pitchFamily="2" charset="0"/>
              </a:rPr>
              <a:t>1 Accounts Officer</a:t>
            </a:r>
          </a:p>
          <a:p>
            <a:pPr marL="171450" indent="-171450">
              <a:lnSpc>
                <a:spcPct val="150000"/>
              </a:lnSpc>
              <a:buFont typeface="Wingdings" pitchFamily="2" charset="2"/>
              <a:buChar char="§"/>
            </a:pPr>
            <a:r>
              <a:rPr lang="en-US" sz="1400" dirty="0">
                <a:latin typeface="Avenir Book" panose="02000503020000020003" pitchFamily="2" charset="0"/>
              </a:rPr>
              <a:t>1 HR Officer</a:t>
            </a:r>
          </a:p>
          <a:p>
            <a:pPr marL="171450" indent="-171450">
              <a:lnSpc>
                <a:spcPct val="150000"/>
              </a:lnSpc>
              <a:buFont typeface="Wingdings" pitchFamily="2" charset="2"/>
              <a:buChar char="§"/>
            </a:pPr>
            <a:r>
              <a:rPr lang="en-US" sz="1400" dirty="0">
                <a:latin typeface="Avenir Book" panose="02000503020000020003" pitchFamily="2" charset="0"/>
              </a:rPr>
              <a:t>2 Drivers</a:t>
            </a:r>
          </a:p>
          <a:p>
            <a:pPr marL="171450" indent="-171450">
              <a:lnSpc>
                <a:spcPct val="150000"/>
              </a:lnSpc>
              <a:buFont typeface="Wingdings" pitchFamily="2" charset="2"/>
              <a:buChar char="§"/>
            </a:pPr>
            <a:r>
              <a:rPr lang="en-US" sz="1400" dirty="0">
                <a:latin typeface="Avenir Book" panose="02000503020000020003" pitchFamily="2" charset="0"/>
              </a:rPr>
              <a:t>3 Maintenance Officers</a:t>
            </a:r>
          </a:p>
        </p:txBody>
      </p:sp>
      <p:sp>
        <p:nvSpPr>
          <p:cNvPr id="15" name="TextBox 14">
            <a:extLst>
              <a:ext uri="{FF2B5EF4-FFF2-40B4-BE49-F238E27FC236}">
                <a16:creationId xmlns:a16="http://schemas.microsoft.com/office/drawing/2014/main" id="{AF2CCAE0-706B-A140-80EC-DC828448CFF9}"/>
              </a:ext>
            </a:extLst>
          </p:cNvPr>
          <p:cNvSpPr txBox="1"/>
          <p:nvPr/>
        </p:nvSpPr>
        <p:spPr>
          <a:xfrm>
            <a:off x="670054" y="5167301"/>
            <a:ext cx="2697614" cy="1357038"/>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Program Managers</a:t>
            </a:r>
          </a:p>
          <a:p>
            <a:pPr marL="171450" indent="-171450">
              <a:lnSpc>
                <a:spcPct val="150000"/>
              </a:lnSpc>
              <a:buFont typeface="Wingdings" pitchFamily="2" charset="2"/>
              <a:buChar char="§"/>
            </a:pPr>
            <a:r>
              <a:rPr lang="en-US" sz="1400" dirty="0">
                <a:latin typeface="Avenir Book" panose="02000503020000020003" pitchFamily="2" charset="0"/>
              </a:rPr>
              <a:t>Software Engineers</a:t>
            </a:r>
          </a:p>
          <a:p>
            <a:pPr marL="171450" indent="-171450">
              <a:lnSpc>
                <a:spcPct val="150000"/>
              </a:lnSpc>
              <a:buFont typeface="Wingdings" pitchFamily="2" charset="2"/>
              <a:buChar char="§"/>
            </a:pPr>
            <a:r>
              <a:rPr lang="en-US" sz="1400" dirty="0">
                <a:latin typeface="Avenir Book" panose="02000503020000020003" pitchFamily="2" charset="0"/>
              </a:rPr>
              <a:t>Product Designers</a:t>
            </a:r>
          </a:p>
          <a:p>
            <a:pPr marL="171450" indent="-171450">
              <a:lnSpc>
                <a:spcPct val="150000"/>
              </a:lnSpc>
              <a:buFont typeface="Wingdings" pitchFamily="2" charset="2"/>
              <a:buChar char="§"/>
            </a:pPr>
            <a:r>
              <a:rPr lang="en-US" sz="1400" dirty="0">
                <a:latin typeface="Avenir Book" panose="02000503020000020003" pitchFamily="2" charset="0"/>
              </a:rPr>
              <a:t>Project Managers</a:t>
            </a:r>
          </a:p>
        </p:txBody>
      </p:sp>
      <p:sp>
        <p:nvSpPr>
          <p:cNvPr id="16" name="Rectangle 15">
            <a:extLst>
              <a:ext uri="{FF2B5EF4-FFF2-40B4-BE49-F238E27FC236}">
                <a16:creationId xmlns:a16="http://schemas.microsoft.com/office/drawing/2014/main" id="{116F1884-A03B-4F4B-8509-F8C5DEB6D337}"/>
              </a:ext>
            </a:extLst>
          </p:cNvPr>
          <p:cNvSpPr/>
          <p:nvPr/>
        </p:nvSpPr>
        <p:spPr>
          <a:xfrm>
            <a:off x="670054" y="4695102"/>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Startups &amp; Entrepreneurship</a:t>
            </a:r>
          </a:p>
        </p:txBody>
      </p:sp>
      <p:sp>
        <p:nvSpPr>
          <p:cNvPr id="17" name="TextBox 16">
            <a:extLst>
              <a:ext uri="{FF2B5EF4-FFF2-40B4-BE49-F238E27FC236}">
                <a16:creationId xmlns:a16="http://schemas.microsoft.com/office/drawing/2014/main" id="{B5FC2287-B824-FB49-ABAE-D43C60FF1132}"/>
              </a:ext>
            </a:extLst>
          </p:cNvPr>
          <p:cNvSpPr txBox="1"/>
          <p:nvPr/>
        </p:nvSpPr>
        <p:spPr>
          <a:xfrm>
            <a:off x="3367668" y="5167301"/>
            <a:ext cx="2697614" cy="710707"/>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Training Coordinator</a:t>
            </a:r>
          </a:p>
          <a:p>
            <a:pPr marL="171450" indent="-171450">
              <a:lnSpc>
                <a:spcPct val="150000"/>
              </a:lnSpc>
              <a:buFont typeface="Wingdings" pitchFamily="2" charset="2"/>
              <a:buChar char="§"/>
            </a:pPr>
            <a:r>
              <a:rPr lang="en-US" sz="1400" dirty="0">
                <a:latin typeface="Avenir Book" panose="02000503020000020003" pitchFamily="2" charset="0"/>
              </a:rPr>
              <a:t>Training Facilitators</a:t>
            </a:r>
          </a:p>
        </p:txBody>
      </p:sp>
      <p:sp>
        <p:nvSpPr>
          <p:cNvPr id="18" name="Rectangle 17">
            <a:extLst>
              <a:ext uri="{FF2B5EF4-FFF2-40B4-BE49-F238E27FC236}">
                <a16:creationId xmlns:a16="http://schemas.microsoft.com/office/drawing/2014/main" id="{1F519AA2-7E9D-7442-A18F-94244B1C82F9}"/>
              </a:ext>
            </a:extLst>
          </p:cNvPr>
          <p:cNvSpPr/>
          <p:nvPr/>
        </p:nvSpPr>
        <p:spPr>
          <a:xfrm>
            <a:off x="3367668" y="4695102"/>
            <a:ext cx="3063225"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Training &amp; Research</a:t>
            </a:r>
          </a:p>
        </p:txBody>
      </p:sp>
      <p:sp>
        <p:nvSpPr>
          <p:cNvPr id="19" name="Rectangle 18">
            <a:extLst>
              <a:ext uri="{FF2B5EF4-FFF2-40B4-BE49-F238E27FC236}">
                <a16:creationId xmlns:a16="http://schemas.microsoft.com/office/drawing/2014/main" id="{1308BB35-EEA4-6D46-A6C8-9650D182F4DA}"/>
              </a:ext>
            </a:extLst>
          </p:cNvPr>
          <p:cNvSpPr/>
          <p:nvPr/>
        </p:nvSpPr>
        <p:spPr>
          <a:xfrm>
            <a:off x="6310609" y="4695102"/>
            <a:ext cx="2610368" cy="498446"/>
          </a:xfrm>
          <a:prstGeom prst="rect">
            <a:avLst/>
          </a:prstGeom>
          <a:ln w="12700">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b="1" dirty="0">
                <a:latin typeface="Avenir Book" panose="02000503020000020003" pitchFamily="2" charset="0"/>
              </a:rPr>
              <a:t>Auxiliary Staff</a:t>
            </a:r>
          </a:p>
        </p:txBody>
      </p:sp>
      <p:sp>
        <p:nvSpPr>
          <p:cNvPr id="20" name="TextBox 19">
            <a:extLst>
              <a:ext uri="{FF2B5EF4-FFF2-40B4-BE49-F238E27FC236}">
                <a16:creationId xmlns:a16="http://schemas.microsoft.com/office/drawing/2014/main" id="{8DA5740A-264F-5A4A-BF03-BB1008504058}"/>
              </a:ext>
            </a:extLst>
          </p:cNvPr>
          <p:cNvSpPr txBox="1"/>
          <p:nvPr/>
        </p:nvSpPr>
        <p:spPr>
          <a:xfrm>
            <a:off x="6310608" y="5167300"/>
            <a:ext cx="2697614" cy="1033873"/>
          </a:xfrm>
          <a:prstGeom prst="rect">
            <a:avLst/>
          </a:prstGeom>
          <a:noFill/>
        </p:spPr>
        <p:txBody>
          <a:bodyPr wrap="square" rtlCol="0">
            <a:spAutoFit/>
          </a:bodyPr>
          <a:lstStyle/>
          <a:p>
            <a:pPr marL="171450" indent="-171450">
              <a:lnSpc>
                <a:spcPct val="150000"/>
              </a:lnSpc>
              <a:buFont typeface="Wingdings" pitchFamily="2" charset="2"/>
              <a:buChar char="§"/>
            </a:pPr>
            <a:r>
              <a:rPr lang="en-US" sz="1400" dirty="0">
                <a:latin typeface="Avenir Book" panose="02000503020000020003" pitchFamily="2" charset="0"/>
              </a:rPr>
              <a:t>5 Cleaners</a:t>
            </a:r>
          </a:p>
          <a:p>
            <a:pPr marL="171450" indent="-171450">
              <a:lnSpc>
                <a:spcPct val="150000"/>
              </a:lnSpc>
              <a:buFont typeface="Wingdings" pitchFamily="2" charset="2"/>
              <a:buChar char="§"/>
            </a:pPr>
            <a:r>
              <a:rPr lang="en-US" sz="1400" dirty="0">
                <a:latin typeface="Avenir Book" panose="02000503020000020003" pitchFamily="2" charset="0"/>
              </a:rPr>
              <a:t>4 Security Guards</a:t>
            </a:r>
          </a:p>
          <a:p>
            <a:pPr marL="171450" indent="-171450">
              <a:lnSpc>
                <a:spcPct val="150000"/>
              </a:lnSpc>
              <a:buFont typeface="Wingdings" pitchFamily="2" charset="2"/>
              <a:buChar char="§"/>
            </a:pPr>
            <a:endParaRPr lang="en-US" sz="1400" dirty="0">
              <a:latin typeface="Avenir Book" panose="02000503020000020003" pitchFamily="2" charset="0"/>
            </a:endParaRPr>
          </a:p>
        </p:txBody>
      </p:sp>
      <p:sp>
        <p:nvSpPr>
          <p:cNvPr id="21" name="TextBox 20">
            <a:extLst>
              <a:ext uri="{FF2B5EF4-FFF2-40B4-BE49-F238E27FC236}">
                <a16:creationId xmlns:a16="http://schemas.microsoft.com/office/drawing/2014/main" id="{66D9BD00-2F37-E444-8200-EA1338F3BAB8}"/>
              </a:ext>
            </a:extLst>
          </p:cNvPr>
          <p:cNvSpPr txBox="1"/>
          <p:nvPr/>
        </p:nvSpPr>
        <p:spPr>
          <a:xfrm rot="16200000">
            <a:off x="-792620" y="2667347"/>
            <a:ext cx="1972785" cy="387542"/>
          </a:xfrm>
          <a:prstGeom prst="rect">
            <a:avLst/>
          </a:prstGeom>
          <a:noFill/>
        </p:spPr>
        <p:txBody>
          <a:bodyPr wrap="square" rtlCol="0">
            <a:spAutoFit/>
          </a:bodyPr>
          <a:lstStyle/>
          <a:p>
            <a:pPr algn="ctr">
              <a:lnSpc>
                <a:spcPct val="150000"/>
              </a:lnSpc>
            </a:pPr>
            <a:r>
              <a:rPr lang="en-US" sz="1400" b="1" dirty="0">
                <a:latin typeface="Avenir Black" panose="02000503020000020003" pitchFamily="2" charset="0"/>
              </a:rPr>
              <a:t>IN-HOUSE (20)</a:t>
            </a:r>
          </a:p>
        </p:txBody>
      </p:sp>
      <p:sp>
        <p:nvSpPr>
          <p:cNvPr id="22" name="TextBox 21">
            <a:extLst>
              <a:ext uri="{FF2B5EF4-FFF2-40B4-BE49-F238E27FC236}">
                <a16:creationId xmlns:a16="http://schemas.microsoft.com/office/drawing/2014/main" id="{BDFF99DF-28E7-5748-9D66-C6FCEBE56F7F}"/>
              </a:ext>
            </a:extLst>
          </p:cNvPr>
          <p:cNvSpPr txBox="1"/>
          <p:nvPr/>
        </p:nvSpPr>
        <p:spPr>
          <a:xfrm rot="16200000">
            <a:off x="-792622" y="5487723"/>
            <a:ext cx="1972785" cy="387542"/>
          </a:xfrm>
          <a:prstGeom prst="rect">
            <a:avLst/>
          </a:prstGeom>
          <a:noFill/>
        </p:spPr>
        <p:txBody>
          <a:bodyPr wrap="square" rtlCol="0">
            <a:spAutoFit/>
          </a:bodyPr>
          <a:lstStyle/>
          <a:p>
            <a:pPr algn="ctr">
              <a:lnSpc>
                <a:spcPct val="150000"/>
              </a:lnSpc>
            </a:pPr>
            <a:r>
              <a:rPr lang="en-US" sz="1400" b="1" dirty="0">
                <a:solidFill>
                  <a:srgbClr val="2FF931"/>
                </a:solidFill>
                <a:latin typeface="Avenir Black" panose="02000503020000020003" pitchFamily="2" charset="0"/>
              </a:rPr>
              <a:t>CONSULTANT</a:t>
            </a:r>
          </a:p>
        </p:txBody>
      </p:sp>
      <p:cxnSp>
        <p:nvCxnSpPr>
          <p:cNvPr id="3" name="Straight Connector 2">
            <a:extLst>
              <a:ext uri="{FF2B5EF4-FFF2-40B4-BE49-F238E27FC236}">
                <a16:creationId xmlns:a16="http://schemas.microsoft.com/office/drawing/2014/main" id="{D6309789-5936-0449-AC20-7DC4D7804524}"/>
              </a:ext>
            </a:extLst>
          </p:cNvPr>
          <p:cNvCxnSpPr/>
          <p:nvPr/>
        </p:nvCxnSpPr>
        <p:spPr>
          <a:xfrm>
            <a:off x="193770" y="4527395"/>
            <a:ext cx="87272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B6684BAC-213F-524C-8E7A-3D5F46917A5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7" name="Slide Number Placeholder 6">
            <a:extLst>
              <a:ext uri="{FF2B5EF4-FFF2-40B4-BE49-F238E27FC236}">
                <a16:creationId xmlns:a16="http://schemas.microsoft.com/office/drawing/2014/main" id="{81834C89-5DC8-2545-9C56-9270B0E317D1}"/>
              </a:ext>
            </a:extLst>
          </p:cNvPr>
          <p:cNvSpPr>
            <a:spLocks noGrp="1"/>
          </p:cNvSpPr>
          <p:nvPr>
            <p:ph type="sldNum" sz="quarter" idx="12"/>
          </p:nvPr>
        </p:nvSpPr>
        <p:spPr/>
        <p:txBody>
          <a:bodyPr/>
          <a:lstStyle/>
          <a:p>
            <a:fld id="{664C5C96-B43F-EF41-83BB-885FD2BDB03F}" type="slidenum">
              <a:rPr lang="en-US" smtClean="0"/>
              <a:t>22</a:t>
            </a:fld>
            <a:endParaRPr lang="en-US"/>
          </a:p>
        </p:txBody>
      </p:sp>
      <p:sp>
        <p:nvSpPr>
          <p:cNvPr id="28" name="TextBox 27">
            <a:extLst>
              <a:ext uri="{FF2B5EF4-FFF2-40B4-BE49-F238E27FC236}">
                <a16:creationId xmlns:a16="http://schemas.microsoft.com/office/drawing/2014/main" id="{EC99EEA8-7D08-4441-8194-48FC6C974264}"/>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2232834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Startups &amp; Entrepreneurship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476481"/>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people in the Hub, both members and internal staff (Human Resources).</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043430"/>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332210"/>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people in the Hub, both members and internal staff (Human Resources).</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4899159"/>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Training &amp; Research Department</a:t>
            </a:r>
          </a:p>
        </p:txBody>
      </p:sp>
      <p:pic>
        <p:nvPicPr>
          <p:cNvPr id="10" name="Picture 9">
            <a:extLst>
              <a:ext uri="{FF2B5EF4-FFF2-40B4-BE49-F238E27FC236}">
                <a16:creationId xmlns:a16="http://schemas.microsoft.com/office/drawing/2014/main" id="{728157C6-E220-704C-A308-46D2DAE9B46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722A593E-DBB6-8646-900D-58DFF2195DB1}"/>
              </a:ext>
            </a:extLst>
          </p:cNvPr>
          <p:cNvSpPr>
            <a:spLocks noGrp="1"/>
          </p:cNvSpPr>
          <p:nvPr>
            <p:ph type="sldNum" sz="quarter" idx="12"/>
          </p:nvPr>
        </p:nvSpPr>
        <p:spPr/>
        <p:txBody>
          <a:bodyPr/>
          <a:lstStyle/>
          <a:p>
            <a:fld id="{664C5C96-B43F-EF41-83BB-885FD2BDB03F}" type="slidenum">
              <a:rPr lang="en-US" smtClean="0"/>
              <a:t>23</a:t>
            </a:fld>
            <a:endParaRPr lang="en-US"/>
          </a:p>
        </p:txBody>
      </p:sp>
      <p:sp>
        <p:nvSpPr>
          <p:cNvPr id="13" name="TextBox 12">
            <a:extLst>
              <a:ext uri="{FF2B5EF4-FFF2-40B4-BE49-F238E27FC236}">
                <a16:creationId xmlns:a16="http://schemas.microsoft.com/office/drawing/2014/main" id="{D199E37D-493F-134D-9962-3B2A6D649068}"/>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2285456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awareness campaigns for the Innovation Hub will reside. This department will handle local and international public relations as well as ensuring constant release of news and interviews to the public.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Marketing &amp; Communications Department</a:t>
            </a:r>
          </a:p>
        </p:txBody>
      </p:sp>
      <p:pic>
        <p:nvPicPr>
          <p:cNvPr id="8" name="Picture 7">
            <a:extLst>
              <a:ext uri="{FF2B5EF4-FFF2-40B4-BE49-F238E27FC236}">
                <a16:creationId xmlns:a16="http://schemas.microsoft.com/office/drawing/2014/main" id="{9ECD69F0-4006-7C4D-BE13-FC96DE059F5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3" name="Slide Number Placeholder 2">
            <a:extLst>
              <a:ext uri="{FF2B5EF4-FFF2-40B4-BE49-F238E27FC236}">
                <a16:creationId xmlns:a16="http://schemas.microsoft.com/office/drawing/2014/main" id="{A9F0FA9F-4169-7B41-82F2-5DD755072274}"/>
              </a:ext>
            </a:extLst>
          </p:cNvPr>
          <p:cNvSpPr>
            <a:spLocks noGrp="1"/>
          </p:cNvSpPr>
          <p:nvPr>
            <p:ph type="sldNum" sz="quarter" idx="12"/>
          </p:nvPr>
        </p:nvSpPr>
        <p:spPr/>
        <p:txBody>
          <a:bodyPr/>
          <a:lstStyle/>
          <a:p>
            <a:fld id="{664C5C96-B43F-EF41-83BB-885FD2BDB03F}" type="slidenum">
              <a:rPr lang="en-US" smtClean="0"/>
              <a:t>24</a:t>
            </a:fld>
            <a:endParaRPr lang="en-US"/>
          </a:p>
        </p:txBody>
      </p:sp>
      <p:sp>
        <p:nvSpPr>
          <p:cNvPr id="11" name="TextBox 10">
            <a:extLst>
              <a:ext uri="{FF2B5EF4-FFF2-40B4-BE49-F238E27FC236}">
                <a16:creationId xmlns:a16="http://schemas.microsoft.com/office/drawing/2014/main" id="{329D579B-2DEA-C04F-9450-C111329AB887}"/>
              </a:ext>
            </a:extLst>
          </p:cNvPr>
          <p:cNvSpPr txBox="1"/>
          <p:nvPr/>
        </p:nvSpPr>
        <p:spPr>
          <a:xfrm>
            <a:off x="538618" y="371598"/>
            <a:ext cx="6787733"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Structure &amp; Operations</a:t>
            </a:r>
          </a:p>
        </p:txBody>
      </p:sp>
    </p:spTree>
    <p:extLst>
      <p:ext uri="{BB962C8B-B14F-4D97-AF65-F5344CB8AC3E}">
        <p14:creationId xmlns:p14="http://schemas.microsoft.com/office/powerpoint/2010/main" val="2836153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302670"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cxnSp>
        <p:nvCxnSpPr>
          <p:cNvPr id="7" name="Straight Connector 6">
            <a:extLst>
              <a:ext uri="{FF2B5EF4-FFF2-40B4-BE49-F238E27FC236}">
                <a16:creationId xmlns:a16="http://schemas.microsoft.com/office/drawing/2014/main" id="{9E099893-858C-6643-8907-8786523E399B}"/>
              </a:ext>
            </a:extLst>
          </p:cNvPr>
          <p:cNvCxnSpPr>
            <a:cxnSpLocks/>
          </p:cNvCxnSpPr>
          <p:nvPr/>
        </p:nvCxnSpPr>
        <p:spPr>
          <a:xfrm>
            <a:off x="4496842" y="1341912"/>
            <a:ext cx="0" cy="5218595"/>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E138411E-8396-3F43-979C-CFEEA751EE73}"/>
              </a:ext>
            </a:extLst>
          </p:cNvPr>
          <p:cNvCxnSpPr>
            <a:cxnSpLocks/>
          </p:cNvCxnSpPr>
          <p:nvPr/>
        </p:nvCxnSpPr>
        <p:spPr>
          <a:xfrm>
            <a:off x="6841297" y="1330036"/>
            <a:ext cx="0" cy="523047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4DC6F780-AE70-5049-A006-42E6E69023D0}"/>
              </a:ext>
            </a:extLst>
          </p:cNvPr>
          <p:cNvSpPr txBox="1"/>
          <p:nvPr/>
        </p:nvSpPr>
        <p:spPr>
          <a:xfrm>
            <a:off x="407029" y="1329988"/>
            <a:ext cx="3647417" cy="345351"/>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Education &amp; Research Partners</a:t>
            </a:r>
          </a:p>
        </p:txBody>
      </p:sp>
      <p:sp>
        <p:nvSpPr>
          <p:cNvPr id="11" name="TextBox 10">
            <a:extLst>
              <a:ext uri="{FF2B5EF4-FFF2-40B4-BE49-F238E27FC236}">
                <a16:creationId xmlns:a16="http://schemas.microsoft.com/office/drawing/2014/main" id="{F0F3D868-9F8C-E840-B60C-B26ACF9A84A1}"/>
              </a:ext>
            </a:extLst>
          </p:cNvPr>
          <p:cNvSpPr txBox="1"/>
          <p:nvPr/>
        </p:nvSpPr>
        <p:spPr>
          <a:xfrm>
            <a:off x="4876145" y="1262234"/>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Funding &amp; Strategic Partners</a:t>
            </a:r>
          </a:p>
        </p:txBody>
      </p:sp>
      <p:pic>
        <p:nvPicPr>
          <p:cNvPr id="6" name="Picture 5">
            <a:extLst>
              <a:ext uri="{FF2B5EF4-FFF2-40B4-BE49-F238E27FC236}">
                <a16:creationId xmlns:a16="http://schemas.microsoft.com/office/drawing/2014/main" id="{ACCF66C2-9492-A845-801C-A35C6C1FE923}"/>
              </a:ext>
            </a:extLst>
          </p:cNvPr>
          <p:cNvPicPr>
            <a:picLocks noChangeAspect="1"/>
          </p:cNvPicPr>
          <p:nvPr/>
        </p:nvPicPr>
        <p:blipFill>
          <a:blip r:embed="rId2"/>
          <a:stretch>
            <a:fillRect/>
          </a:stretch>
        </p:blipFill>
        <p:spPr>
          <a:xfrm>
            <a:off x="325125" y="2081006"/>
            <a:ext cx="1708058" cy="555119"/>
          </a:xfrm>
          <a:prstGeom prst="rect">
            <a:avLst/>
          </a:prstGeom>
        </p:spPr>
      </p:pic>
      <p:pic>
        <p:nvPicPr>
          <p:cNvPr id="13" name="Picture 12">
            <a:extLst>
              <a:ext uri="{FF2B5EF4-FFF2-40B4-BE49-F238E27FC236}">
                <a16:creationId xmlns:a16="http://schemas.microsoft.com/office/drawing/2014/main" id="{B9DB6F68-2162-2643-AB0C-E7F5A9348D0F}"/>
              </a:ext>
            </a:extLst>
          </p:cNvPr>
          <p:cNvPicPr>
            <a:picLocks noChangeAspect="1"/>
          </p:cNvPicPr>
          <p:nvPr/>
        </p:nvPicPr>
        <p:blipFill>
          <a:blip r:embed="rId3"/>
          <a:stretch>
            <a:fillRect/>
          </a:stretch>
        </p:blipFill>
        <p:spPr>
          <a:xfrm>
            <a:off x="2763961" y="3156685"/>
            <a:ext cx="1071463" cy="648518"/>
          </a:xfrm>
          <a:prstGeom prst="rect">
            <a:avLst/>
          </a:prstGeom>
        </p:spPr>
      </p:pic>
      <p:pic>
        <p:nvPicPr>
          <p:cNvPr id="15" name="Picture 14">
            <a:extLst>
              <a:ext uri="{FF2B5EF4-FFF2-40B4-BE49-F238E27FC236}">
                <a16:creationId xmlns:a16="http://schemas.microsoft.com/office/drawing/2014/main" id="{CCE3AFB4-4C07-6C4A-8B65-52EA41D6837C}"/>
              </a:ext>
            </a:extLst>
          </p:cNvPr>
          <p:cNvPicPr>
            <a:picLocks noChangeAspect="1"/>
          </p:cNvPicPr>
          <p:nvPr/>
        </p:nvPicPr>
        <p:blipFill>
          <a:blip r:embed="rId4"/>
          <a:stretch>
            <a:fillRect/>
          </a:stretch>
        </p:blipFill>
        <p:spPr>
          <a:xfrm>
            <a:off x="2582016" y="2114928"/>
            <a:ext cx="1485198" cy="821810"/>
          </a:xfrm>
          <a:prstGeom prst="rect">
            <a:avLst/>
          </a:prstGeom>
        </p:spPr>
      </p:pic>
      <p:sp>
        <p:nvSpPr>
          <p:cNvPr id="31" name="TextBox 30">
            <a:extLst>
              <a:ext uri="{FF2B5EF4-FFF2-40B4-BE49-F238E27FC236}">
                <a16:creationId xmlns:a16="http://schemas.microsoft.com/office/drawing/2014/main" id="{9A4B2850-56D5-F84D-A934-05FF51101C87}"/>
              </a:ext>
            </a:extLst>
          </p:cNvPr>
          <p:cNvSpPr txBox="1"/>
          <p:nvPr/>
        </p:nvSpPr>
        <p:spPr>
          <a:xfrm>
            <a:off x="7243086" y="1266415"/>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Technology &amp; Media Partners</a:t>
            </a:r>
          </a:p>
        </p:txBody>
      </p:sp>
      <p:sp>
        <p:nvSpPr>
          <p:cNvPr id="32" name="TextBox 31">
            <a:extLst>
              <a:ext uri="{FF2B5EF4-FFF2-40B4-BE49-F238E27FC236}">
                <a16:creationId xmlns:a16="http://schemas.microsoft.com/office/drawing/2014/main" id="{AB8C1265-60A0-0B4B-AF0A-E91C58B50ED9}"/>
              </a:ext>
            </a:extLst>
          </p:cNvPr>
          <p:cNvSpPr txBox="1"/>
          <p:nvPr/>
        </p:nvSpPr>
        <p:spPr>
          <a:xfrm>
            <a:off x="7205790" y="5133647"/>
            <a:ext cx="1471808" cy="622350"/>
          </a:xfrm>
          <a:prstGeom prst="rect">
            <a:avLst/>
          </a:prstGeom>
          <a:noFill/>
        </p:spPr>
        <p:txBody>
          <a:bodyPr wrap="square" rtlCol="0">
            <a:spAutoFit/>
          </a:bodyPr>
          <a:lstStyle/>
          <a:p>
            <a:pPr algn="ctr">
              <a:lnSpc>
                <a:spcPct val="150000"/>
              </a:lnSpc>
            </a:pPr>
            <a:r>
              <a:rPr lang="en-US" sz="1200" b="1" dirty="0">
                <a:latin typeface="Avenir Book" panose="02000503020000020003" pitchFamily="2" charset="0"/>
              </a:rPr>
              <a:t>Hub Network Partners</a:t>
            </a:r>
          </a:p>
        </p:txBody>
      </p:sp>
      <p:pic>
        <p:nvPicPr>
          <p:cNvPr id="34" name="Picture 33">
            <a:extLst>
              <a:ext uri="{FF2B5EF4-FFF2-40B4-BE49-F238E27FC236}">
                <a16:creationId xmlns:a16="http://schemas.microsoft.com/office/drawing/2014/main" id="{7D338149-6DC4-AC40-8C31-931A4377CC5C}"/>
              </a:ext>
            </a:extLst>
          </p:cNvPr>
          <p:cNvPicPr>
            <a:picLocks noChangeAspect="1"/>
          </p:cNvPicPr>
          <p:nvPr/>
        </p:nvPicPr>
        <p:blipFill>
          <a:blip r:embed="rId5"/>
          <a:stretch>
            <a:fillRect/>
          </a:stretch>
        </p:blipFill>
        <p:spPr>
          <a:xfrm>
            <a:off x="4925938" y="2708166"/>
            <a:ext cx="1574387" cy="909996"/>
          </a:xfrm>
          <a:prstGeom prst="rect">
            <a:avLst/>
          </a:prstGeom>
        </p:spPr>
      </p:pic>
      <p:pic>
        <p:nvPicPr>
          <p:cNvPr id="38" name="Picture 37">
            <a:extLst>
              <a:ext uri="{FF2B5EF4-FFF2-40B4-BE49-F238E27FC236}">
                <a16:creationId xmlns:a16="http://schemas.microsoft.com/office/drawing/2014/main" id="{649E7392-818A-6F44-8D72-8803E4B00B1E}"/>
              </a:ext>
            </a:extLst>
          </p:cNvPr>
          <p:cNvPicPr>
            <a:picLocks noChangeAspect="1"/>
          </p:cNvPicPr>
          <p:nvPr/>
        </p:nvPicPr>
        <p:blipFill>
          <a:blip r:embed="rId6"/>
          <a:stretch>
            <a:fillRect/>
          </a:stretch>
        </p:blipFill>
        <p:spPr>
          <a:xfrm>
            <a:off x="202075" y="3015885"/>
            <a:ext cx="775582" cy="856372"/>
          </a:xfrm>
          <a:prstGeom prst="rect">
            <a:avLst/>
          </a:prstGeom>
        </p:spPr>
      </p:pic>
      <p:pic>
        <p:nvPicPr>
          <p:cNvPr id="40" name="Picture 39">
            <a:extLst>
              <a:ext uri="{FF2B5EF4-FFF2-40B4-BE49-F238E27FC236}">
                <a16:creationId xmlns:a16="http://schemas.microsoft.com/office/drawing/2014/main" id="{B249AA69-5295-7A4C-A47F-F4F989D741BC}"/>
              </a:ext>
            </a:extLst>
          </p:cNvPr>
          <p:cNvPicPr>
            <a:picLocks noChangeAspect="1"/>
          </p:cNvPicPr>
          <p:nvPr/>
        </p:nvPicPr>
        <p:blipFill>
          <a:blip r:embed="rId7"/>
          <a:stretch>
            <a:fillRect/>
          </a:stretch>
        </p:blipFill>
        <p:spPr>
          <a:xfrm>
            <a:off x="4897412" y="3536796"/>
            <a:ext cx="1406441" cy="622350"/>
          </a:xfrm>
          <a:prstGeom prst="rect">
            <a:avLst/>
          </a:prstGeom>
        </p:spPr>
      </p:pic>
      <p:pic>
        <p:nvPicPr>
          <p:cNvPr id="42" name="Picture 41">
            <a:extLst>
              <a:ext uri="{FF2B5EF4-FFF2-40B4-BE49-F238E27FC236}">
                <a16:creationId xmlns:a16="http://schemas.microsoft.com/office/drawing/2014/main" id="{CE4FEE4C-48B7-A040-9457-D3BF97401AB3}"/>
              </a:ext>
            </a:extLst>
          </p:cNvPr>
          <p:cNvPicPr>
            <a:picLocks noChangeAspect="1"/>
          </p:cNvPicPr>
          <p:nvPr/>
        </p:nvPicPr>
        <p:blipFill>
          <a:blip r:embed="rId8"/>
          <a:stretch>
            <a:fillRect/>
          </a:stretch>
        </p:blipFill>
        <p:spPr>
          <a:xfrm>
            <a:off x="7039260" y="5864441"/>
            <a:ext cx="1905000" cy="596900"/>
          </a:xfrm>
          <a:prstGeom prst="rect">
            <a:avLst/>
          </a:prstGeom>
        </p:spPr>
      </p:pic>
      <p:pic>
        <p:nvPicPr>
          <p:cNvPr id="44" name="Picture 43">
            <a:extLst>
              <a:ext uri="{FF2B5EF4-FFF2-40B4-BE49-F238E27FC236}">
                <a16:creationId xmlns:a16="http://schemas.microsoft.com/office/drawing/2014/main" id="{6475D707-6C1B-0149-8ECF-F935B9043ECB}"/>
              </a:ext>
            </a:extLst>
          </p:cNvPr>
          <p:cNvPicPr>
            <a:picLocks noChangeAspect="1"/>
          </p:cNvPicPr>
          <p:nvPr/>
        </p:nvPicPr>
        <p:blipFill rotWithShape="1">
          <a:blip r:embed="rId9"/>
          <a:srcRect t="21344" b="20537"/>
          <a:stretch/>
        </p:blipFill>
        <p:spPr>
          <a:xfrm>
            <a:off x="7243086" y="2182931"/>
            <a:ext cx="1378857" cy="450775"/>
          </a:xfrm>
          <a:prstGeom prst="rect">
            <a:avLst/>
          </a:prstGeom>
        </p:spPr>
      </p:pic>
      <p:pic>
        <p:nvPicPr>
          <p:cNvPr id="46" name="Picture 45">
            <a:extLst>
              <a:ext uri="{FF2B5EF4-FFF2-40B4-BE49-F238E27FC236}">
                <a16:creationId xmlns:a16="http://schemas.microsoft.com/office/drawing/2014/main" id="{7619BC22-7C33-6544-BC68-03EFC1D89EBD}"/>
              </a:ext>
            </a:extLst>
          </p:cNvPr>
          <p:cNvPicPr>
            <a:picLocks noChangeAspect="1"/>
          </p:cNvPicPr>
          <p:nvPr/>
        </p:nvPicPr>
        <p:blipFill>
          <a:blip r:embed="rId10"/>
          <a:stretch>
            <a:fillRect/>
          </a:stretch>
        </p:blipFill>
        <p:spPr>
          <a:xfrm>
            <a:off x="365037" y="4188494"/>
            <a:ext cx="1428755" cy="559963"/>
          </a:xfrm>
          <a:prstGeom prst="rect">
            <a:avLst/>
          </a:prstGeom>
        </p:spPr>
      </p:pic>
      <p:pic>
        <p:nvPicPr>
          <p:cNvPr id="48" name="Picture 47">
            <a:extLst>
              <a:ext uri="{FF2B5EF4-FFF2-40B4-BE49-F238E27FC236}">
                <a16:creationId xmlns:a16="http://schemas.microsoft.com/office/drawing/2014/main" id="{18F3B7D7-7815-4E48-9F69-26E3B9783C5E}"/>
              </a:ext>
            </a:extLst>
          </p:cNvPr>
          <p:cNvPicPr>
            <a:picLocks noChangeAspect="1"/>
          </p:cNvPicPr>
          <p:nvPr/>
        </p:nvPicPr>
        <p:blipFill rotWithShape="1">
          <a:blip r:embed="rId11"/>
          <a:srcRect t="16183" b="17453"/>
          <a:stretch/>
        </p:blipFill>
        <p:spPr>
          <a:xfrm>
            <a:off x="7179992" y="2805719"/>
            <a:ext cx="1597995" cy="596900"/>
          </a:xfrm>
          <a:prstGeom prst="rect">
            <a:avLst/>
          </a:prstGeom>
        </p:spPr>
      </p:pic>
      <p:pic>
        <p:nvPicPr>
          <p:cNvPr id="50" name="Picture 49">
            <a:extLst>
              <a:ext uri="{FF2B5EF4-FFF2-40B4-BE49-F238E27FC236}">
                <a16:creationId xmlns:a16="http://schemas.microsoft.com/office/drawing/2014/main" id="{CB7AAB49-6E26-2E46-9A0E-E799176C8370}"/>
              </a:ext>
            </a:extLst>
          </p:cNvPr>
          <p:cNvPicPr>
            <a:picLocks noChangeAspect="1"/>
          </p:cNvPicPr>
          <p:nvPr/>
        </p:nvPicPr>
        <p:blipFill rotWithShape="1">
          <a:blip r:embed="rId12"/>
          <a:srcRect l="21473" r="22973"/>
          <a:stretch/>
        </p:blipFill>
        <p:spPr>
          <a:xfrm>
            <a:off x="1387357" y="3004178"/>
            <a:ext cx="899928" cy="821810"/>
          </a:xfrm>
          <a:prstGeom prst="rect">
            <a:avLst/>
          </a:prstGeom>
        </p:spPr>
      </p:pic>
      <p:pic>
        <p:nvPicPr>
          <p:cNvPr id="54" name="Picture 53">
            <a:extLst>
              <a:ext uri="{FF2B5EF4-FFF2-40B4-BE49-F238E27FC236}">
                <a16:creationId xmlns:a16="http://schemas.microsoft.com/office/drawing/2014/main" id="{B1797302-9B3A-D444-BF26-FC4D0B7E00BD}"/>
              </a:ext>
            </a:extLst>
          </p:cNvPr>
          <p:cNvPicPr>
            <a:picLocks noChangeAspect="1"/>
          </p:cNvPicPr>
          <p:nvPr/>
        </p:nvPicPr>
        <p:blipFill rotWithShape="1">
          <a:blip r:embed="rId13"/>
          <a:srcRect l="5775" t="29806" r="5328" b="32294"/>
          <a:stretch/>
        </p:blipFill>
        <p:spPr>
          <a:xfrm>
            <a:off x="4756163" y="4320951"/>
            <a:ext cx="1882970" cy="802772"/>
          </a:xfrm>
          <a:prstGeom prst="rect">
            <a:avLst/>
          </a:prstGeom>
        </p:spPr>
      </p:pic>
      <p:pic>
        <p:nvPicPr>
          <p:cNvPr id="56" name="Picture 55">
            <a:extLst>
              <a:ext uri="{FF2B5EF4-FFF2-40B4-BE49-F238E27FC236}">
                <a16:creationId xmlns:a16="http://schemas.microsoft.com/office/drawing/2014/main" id="{5E3B39CD-8204-2B46-82F8-6B41AEFEC9E8}"/>
              </a:ext>
            </a:extLst>
          </p:cNvPr>
          <p:cNvPicPr>
            <a:picLocks noChangeAspect="1"/>
          </p:cNvPicPr>
          <p:nvPr/>
        </p:nvPicPr>
        <p:blipFill rotWithShape="1">
          <a:blip r:embed="rId14"/>
          <a:srcRect t="25718" b="25864"/>
          <a:stretch/>
        </p:blipFill>
        <p:spPr>
          <a:xfrm>
            <a:off x="4990187" y="5169937"/>
            <a:ext cx="1468047" cy="710799"/>
          </a:xfrm>
          <a:prstGeom prst="rect">
            <a:avLst/>
          </a:prstGeom>
        </p:spPr>
      </p:pic>
      <p:pic>
        <p:nvPicPr>
          <p:cNvPr id="60" name="Picture 59">
            <a:extLst>
              <a:ext uri="{FF2B5EF4-FFF2-40B4-BE49-F238E27FC236}">
                <a16:creationId xmlns:a16="http://schemas.microsoft.com/office/drawing/2014/main" id="{9F02DD72-2A40-1E42-AF1B-8AAD7E9EA7F3}"/>
              </a:ext>
            </a:extLst>
          </p:cNvPr>
          <p:cNvPicPr>
            <a:picLocks noChangeAspect="1"/>
          </p:cNvPicPr>
          <p:nvPr/>
        </p:nvPicPr>
        <p:blipFill rotWithShape="1">
          <a:blip r:embed="rId15"/>
          <a:srcRect l="13823" t="7643" r="15787"/>
          <a:stretch/>
        </p:blipFill>
        <p:spPr>
          <a:xfrm>
            <a:off x="459752" y="5070165"/>
            <a:ext cx="1035809" cy="970752"/>
          </a:xfrm>
          <a:prstGeom prst="rect">
            <a:avLst/>
          </a:prstGeom>
        </p:spPr>
      </p:pic>
      <p:pic>
        <p:nvPicPr>
          <p:cNvPr id="62" name="Picture 61">
            <a:extLst>
              <a:ext uri="{FF2B5EF4-FFF2-40B4-BE49-F238E27FC236}">
                <a16:creationId xmlns:a16="http://schemas.microsoft.com/office/drawing/2014/main" id="{AAC62D9B-123D-7144-8BA5-0D5092B49A4E}"/>
              </a:ext>
            </a:extLst>
          </p:cNvPr>
          <p:cNvPicPr>
            <a:picLocks noChangeAspect="1"/>
          </p:cNvPicPr>
          <p:nvPr/>
        </p:nvPicPr>
        <p:blipFill>
          <a:blip r:embed="rId16"/>
          <a:stretch>
            <a:fillRect/>
          </a:stretch>
        </p:blipFill>
        <p:spPr>
          <a:xfrm>
            <a:off x="2655413" y="4114831"/>
            <a:ext cx="1219200" cy="914400"/>
          </a:xfrm>
          <a:prstGeom prst="rect">
            <a:avLst/>
          </a:prstGeom>
        </p:spPr>
      </p:pic>
      <p:pic>
        <p:nvPicPr>
          <p:cNvPr id="3" name="Picture 2" descr="A picture containing logo&#10;&#10;Description automatically generated">
            <a:extLst>
              <a:ext uri="{FF2B5EF4-FFF2-40B4-BE49-F238E27FC236}">
                <a16:creationId xmlns:a16="http://schemas.microsoft.com/office/drawing/2014/main" id="{7BBC22BC-6D92-0D43-87DA-131A2C8720A7}"/>
              </a:ext>
            </a:extLst>
          </p:cNvPr>
          <p:cNvPicPr>
            <a:picLocks noChangeAspect="1"/>
          </p:cNvPicPr>
          <p:nvPr/>
        </p:nvPicPr>
        <p:blipFill rotWithShape="1">
          <a:blip r:embed="rId17"/>
          <a:srcRect l="8689" t="28153" r="6072" b="25097"/>
          <a:stretch/>
        </p:blipFill>
        <p:spPr>
          <a:xfrm>
            <a:off x="4694237" y="5941547"/>
            <a:ext cx="1993291" cy="591025"/>
          </a:xfrm>
          <a:prstGeom prst="rect">
            <a:avLst/>
          </a:prstGeom>
        </p:spPr>
      </p:pic>
      <p:pic>
        <p:nvPicPr>
          <p:cNvPr id="16" name="Picture 15" descr="Logo&#10;&#10;Description automatically generated">
            <a:extLst>
              <a:ext uri="{FF2B5EF4-FFF2-40B4-BE49-F238E27FC236}">
                <a16:creationId xmlns:a16="http://schemas.microsoft.com/office/drawing/2014/main" id="{4591D0CB-8DB0-974D-BEFE-A7665C7338CF}"/>
              </a:ext>
            </a:extLst>
          </p:cNvPr>
          <p:cNvPicPr>
            <a:picLocks noChangeAspect="1"/>
          </p:cNvPicPr>
          <p:nvPr/>
        </p:nvPicPr>
        <p:blipFill>
          <a:blip r:embed="rId18"/>
          <a:stretch>
            <a:fillRect/>
          </a:stretch>
        </p:blipFill>
        <p:spPr>
          <a:xfrm>
            <a:off x="7316941" y="4298815"/>
            <a:ext cx="1252128" cy="588500"/>
          </a:xfrm>
          <a:prstGeom prst="rect">
            <a:avLst/>
          </a:prstGeom>
        </p:spPr>
      </p:pic>
      <p:pic>
        <p:nvPicPr>
          <p:cNvPr id="30" name="Picture 29" descr="A picture containing text, clipart&#10;&#10;Description automatically generated">
            <a:extLst>
              <a:ext uri="{FF2B5EF4-FFF2-40B4-BE49-F238E27FC236}">
                <a16:creationId xmlns:a16="http://schemas.microsoft.com/office/drawing/2014/main" id="{CADCEABD-BD4E-C84E-A994-40696147A4C3}"/>
              </a:ext>
            </a:extLst>
          </p:cNvPr>
          <p:cNvPicPr>
            <a:picLocks noChangeAspect="1"/>
          </p:cNvPicPr>
          <p:nvPr/>
        </p:nvPicPr>
        <p:blipFill>
          <a:blip r:embed="rId19"/>
          <a:stretch>
            <a:fillRect/>
          </a:stretch>
        </p:blipFill>
        <p:spPr>
          <a:xfrm>
            <a:off x="4972485" y="2046389"/>
            <a:ext cx="1393169" cy="778253"/>
          </a:xfrm>
          <a:prstGeom prst="rect">
            <a:avLst/>
          </a:prstGeom>
        </p:spPr>
      </p:pic>
      <p:pic>
        <p:nvPicPr>
          <p:cNvPr id="33" name="Picture 32">
            <a:extLst>
              <a:ext uri="{FF2B5EF4-FFF2-40B4-BE49-F238E27FC236}">
                <a16:creationId xmlns:a16="http://schemas.microsoft.com/office/drawing/2014/main" id="{93D12104-66BC-204A-A373-DC9EA13651ED}"/>
              </a:ext>
            </a:extLst>
          </p:cNvPr>
          <p:cNvPicPr/>
          <p:nvPr/>
        </p:nvPicPr>
        <p:blipFill>
          <a:blip r:embed="rId20"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9" name="Slide Number Placeholder 8">
            <a:extLst>
              <a:ext uri="{FF2B5EF4-FFF2-40B4-BE49-F238E27FC236}">
                <a16:creationId xmlns:a16="http://schemas.microsoft.com/office/drawing/2014/main" id="{71465148-2816-B242-91A1-B6C75232B4B8}"/>
              </a:ext>
            </a:extLst>
          </p:cNvPr>
          <p:cNvSpPr>
            <a:spLocks noGrp="1"/>
          </p:cNvSpPr>
          <p:nvPr>
            <p:ph type="sldNum" sz="quarter" idx="12"/>
          </p:nvPr>
        </p:nvSpPr>
        <p:spPr/>
        <p:txBody>
          <a:bodyPr/>
          <a:lstStyle/>
          <a:p>
            <a:fld id="{664C5C96-B43F-EF41-83BB-885FD2BDB03F}" type="slidenum">
              <a:rPr lang="en-US" smtClean="0"/>
              <a:t>25</a:t>
            </a:fld>
            <a:endParaRPr lang="en-US"/>
          </a:p>
        </p:txBody>
      </p:sp>
      <p:pic>
        <p:nvPicPr>
          <p:cNvPr id="17" name="Picture 16" descr="A picture containing text, sign, image, dark&#10;&#10;Description automatically generated">
            <a:extLst>
              <a:ext uri="{FF2B5EF4-FFF2-40B4-BE49-F238E27FC236}">
                <a16:creationId xmlns:a16="http://schemas.microsoft.com/office/drawing/2014/main" id="{FC1417F4-2A4A-4E48-B31E-756F04F06BE3}"/>
              </a:ext>
            </a:extLst>
          </p:cNvPr>
          <p:cNvPicPr>
            <a:picLocks noChangeAspect="1"/>
          </p:cNvPicPr>
          <p:nvPr/>
        </p:nvPicPr>
        <p:blipFill>
          <a:blip r:embed="rId21"/>
          <a:stretch>
            <a:fillRect/>
          </a:stretch>
        </p:blipFill>
        <p:spPr>
          <a:xfrm>
            <a:off x="7179992" y="3618162"/>
            <a:ext cx="1750202" cy="352775"/>
          </a:xfrm>
          <a:prstGeom prst="rect">
            <a:avLst/>
          </a:prstGeom>
        </p:spPr>
      </p:pic>
    </p:spTree>
    <p:extLst>
      <p:ext uri="{BB962C8B-B14F-4D97-AF65-F5344CB8AC3E}">
        <p14:creationId xmlns:p14="http://schemas.microsoft.com/office/powerpoint/2010/main" val="4221374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538618" y="371598"/>
            <a:ext cx="5717798" cy="523220"/>
          </a:xfrm>
          <a:prstGeom prst="rect">
            <a:avLst/>
          </a:prstGeom>
          <a:noFill/>
        </p:spPr>
        <p:txBody>
          <a:bodyPr wrap="square" rtlCol="0">
            <a:spAutoFit/>
          </a:bodyPr>
          <a:lstStyle/>
          <a:p>
            <a:r>
              <a:rPr lang="en-US" sz="2800" b="1" dirty="0">
                <a:latin typeface="Montserrat" pitchFamily="2" charset="77"/>
                <a:ea typeface="Roboto Light" panose="02000000000000000000" pitchFamily="2" charset="0"/>
              </a:rPr>
              <a:t>Proposed Key Partnerships</a:t>
            </a:r>
          </a:p>
        </p:txBody>
      </p:sp>
      <p:pic>
        <p:nvPicPr>
          <p:cNvPr id="33" name="Picture 32">
            <a:extLst>
              <a:ext uri="{FF2B5EF4-FFF2-40B4-BE49-F238E27FC236}">
                <a16:creationId xmlns:a16="http://schemas.microsoft.com/office/drawing/2014/main" id="{93D12104-66BC-204A-A373-DC9EA13651E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098631" y="371598"/>
            <a:ext cx="1592798" cy="671974"/>
          </a:xfrm>
          <a:prstGeom prst="rect">
            <a:avLst/>
          </a:prstGeom>
        </p:spPr>
      </p:pic>
      <p:sp>
        <p:nvSpPr>
          <p:cNvPr id="28" name="TextBox 27">
            <a:extLst>
              <a:ext uri="{FF2B5EF4-FFF2-40B4-BE49-F238E27FC236}">
                <a16:creationId xmlns:a16="http://schemas.microsoft.com/office/drawing/2014/main" id="{F783725B-1C67-7B46-99E9-6AB256E2A28D}"/>
              </a:ext>
            </a:extLst>
          </p:cNvPr>
          <p:cNvSpPr txBox="1"/>
          <p:nvPr/>
        </p:nvSpPr>
        <p:spPr>
          <a:xfrm>
            <a:off x="538617" y="1928064"/>
            <a:ext cx="4394329" cy="4588692"/>
          </a:xfrm>
          <a:prstGeom prst="rect">
            <a:avLst/>
          </a:prstGeom>
          <a:noFill/>
        </p:spPr>
        <p:txBody>
          <a:bodyPr wrap="square" rtlCol="0">
            <a:spAutoFit/>
          </a:bodyPr>
          <a:lstStyle/>
          <a:p>
            <a:pPr>
              <a:lnSpc>
                <a:spcPct val="150000"/>
              </a:lnSpc>
            </a:pPr>
            <a:r>
              <a:rPr lang="en-US" sz="1400" dirty="0">
                <a:latin typeface="Avenir Book" panose="02000503020000020003" pitchFamily="2" charset="0"/>
              </a:rPr>
              <a:t>IHS Towers has already committed itself to donating equipment and fit-out for the Ilorin Innovation Hub. This has been led by Kwara indigene Kazeem </a:t>
            </a:r>
            <a:r>
              <a:rPr lang="en-US" sz="1400" dirty="0" err="1">
                <a:latin typeface="Avenir Book" panose="02000503020000020003" pitchFamily="2" charset="0"/>
              </a:rPr>
              <a:t>Oladepo</a:t>
            </a:r>
            <a:r>
              <a:rPr lang="en-US" sz="1400" dirty="0">
                <a:latin typeface="Avenir Book" panose="02000503020000020003" pitchFamily="2" charset="0"/>
              </a:rPr>
              <a:t> who is a VP at IHS.</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HIS is willing to do more than just donate equipment but be a Co-Branding sponsor where they will fund programs and operations to the tune of millions of dollars for 5-10 years. We plan to capitalize on this relationship and use this partnership as a platform to place IIH on the global stage.</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We also plan to use this key partnership to attract bigger investors and partners.</a:t>
            </a:r>
          </a:p>
        </p:txBody>
      </p:sp>
      <p:sp>
        <p:nvSpPr>
          <p:cNvPr id="29" name="TextBox 28">
            <a:extLst>
              <a:ext uri="{FF2B5EF4-FFF2-40B4-BE49-F238E27FC236}">
                <a16:creationId xmlns:a16="http://schemas.microsoft.com/office/drawing/2014/main" id="{C6C4E1BD-6800-C34A-BCD4-64B6AB92505A}"/>
              </a:ext>
            </a:extLst>
          </p:cNvPr>
          <p:cNvSpPr txBox="1"/>
          <p:nvPr/>
        </p:nvSpPr>
        <p:spPr>
          <a:xfrm>
            <a:off x="538617" y="1315741"/>
            <a:ext cx="3624308" cy="471924"/>
          </a:xfrm>
          <a:prstGeom prst="rect">
            <a:avLst/>
          </a:prstGeom>
          <a:noFill/>
        </p:spPr>
        <p:txBody>
          <a:bodyPr wrap="square" rtlCol="0">
            <a:spAutoFit/>
          </a:bodyPr>
          <a:lstStyle/>
          <a:p>
            <a:pPr algn="just">
              <a:lnSpc>
                <a:spcPct val="150000"/>
              </a:lnSpc>
            </a:pPr>
            <a:r>
              <a:rPr lang="en-US" b="1" dirty="0">
                <a:latin typeface="Avenir Book" panose="02000503020000020003" pitchFamily="2" charset="0"/>
              </a:rPr>
              <a:t>Keen Interest By HIS Towers</a:t>
            </a:r>
          </a:p>
        </p:txBody>
      </p:sp>
      <p:pic>
        <p:nvPicPr>
          <p:cNvPr id="35" name="Picture 34" descr="A picture containing text, clipart&#10;&#10;Description automatically generated">
            <a:extLst>
              <a:ext uri="{FF2B5EF4-FFF2-40B4-BE49-F238E27FC236}">
                <a16:creationId xmlns:a16="http://schemas.microsoft.com/office/drawing/2014/main" id="{581C3655-DF2E-EA40-B64C-77F2F2D508BC}"/>
              </a:ext>
            </a:extLst>
          </p:cNvPr>
          <p:cNvPicPr>
            <a:picLocks noChangeAspect="1"/>
          </p:cNvPicPr>
          <p:nvPr/>
        </p:nvPicPr>
        <p:blipFill>
          <a:blip r:embed="rId3"/>
          <a:stretch>
            <a:fillRect/>
          </a:stretch>
        </p:blipFill>
        <p:spPr>
          <a:xfrm>
            <a:off x="5833337" y="1787665"/>
            <a:ext cx="2530588" cy="1413639"/>
          </a:xfrm>
          <a:prstGeom prst="rect">
            <a:avLst/>
          </a:prstGeom>
        </p:spPr>
      </p:pic>
      <p:sp>
        <p:nvSpPr>
          <p:cNvPr id="36" name="TextBox 35">
            <a:extLst>
              <a:ext uri="{FF2B5EF4-FFF2-40B4-BE49-F238E27FC236}">
                <a16:creationId xmlns:a16="http://schemas.microsoft.com/office/drawing/2014/main" id="{2BCC93A3-ACB4-DD45-B8C3-E0DA1575FBEB}"/>
              </a:ext>
            </a:extLst>
          </p:cNvPr>
          <p:cNvSpPr txBox="1"/>
          <p:nvPr/>
        </p:nvSpPr>
        <p:spPr>
          <a:xfrm>
            <a:off x="5561241" y="3459402"/>
            <a:ext cx="3044142" cy="2838341"/>
          </a:xfrm>
          <a:prstGeom prst="rect">
            <a:avLst/>
          </a:prstGeom>
          <a:noFill/>
        </p:spPr>
        <p:txBody>
          <a:bodyPr wrap="square" rtlCol="0">
            <a:spAutoFit/>
          </a:bodyPr>
          <a:lstStyle/>
          <a:p>
            <a:pPr algn="ctr">
              <a:lnSpc>
                <a:spcPct val="150000"/>
              </a:lnSpc>
            </a:pPr>
            <a:r>
              <a:rPr lang="en-US" sz="1200" b="1" i="0" dirty="0">
                <a:effectLst/>
                <a:latin typeface="Avenir Book" panose="02000503020000020003" pitchFamily="2" charset="0"/>
              </a:rPr>
              <a:t>IHS Towers</a:t>
            </a:r>
            <a:r>
              <a:rPr lang="en-US" sz="1200" b="0" i="0" dirty="0">
                <a:effectLst/>
                <a:latin typeface="Avenir Book" panose="02000503020000020003" pitchFamily="2" charset="0"/>
              </a:rPr>
              <a:t> is one of the largest </a:t>
            </a:r>
            <a:r>
              <a:rPr lang="en-US" sz="1200" b="0" i="0" u="none" strike="noStrike" dirty="0">
                <a:effectLst/>
                <a:latin typeface="Avenir Book" panose="02000503020000020003" pitchFamily="2" charset="0"/>
              </a:rPr>
              <a:t>telecommunications</a:t>
            </a:r>
            <a:r>
              <a:rPr lang="en-US" sz="1200" b="0" i="0" dirty="0">
                <a:effectLst/>
                <a:latin typeface="Avenir Book" panose="02000503020000020003" pitchFamily="2" charset="0"/>
              </a:rPr>
              <a:t> infrastructure providers in </a:t>
            </a:r>
            <a:r>
              <a:rPr lang="en-US" sz="1200" b="0" i="0" u="none" strike="noStrike" dirty="0">
                <a:effectLst/>
                <a:latin typeface="Avenir Book" panose="02000503020000020003" pitchFamily="2" charset="0"/>
              </a:rPr>
              <a:t>Africa</a:t>
            </a:r>
            <a:r>
              <a:rPr lang="en-US" sz="1200" b="0" i="0" dirty="0">
                <a:effectLst/>
                <a:latin typeface="Avenir Book" panose="02000503020000020003" pitchFamily="2" charset="0"/>
              </a:rPr>
              <a:t>, </a:t>
            </a:r>
            <a:r>
              <a:rPr lang="en-US" sz="1200" b="0" i="0" u="none" strike="noStrike" dirty="0">
                <a:effectLst/>
                <a:latin typeface="Avenir Book" panose="02000503020000020003" pitchFamily="2" charset="0"/>
              </a:rPr>
              <a:t>Latin America</a:t>
            </a:r>
            <a:r>
              <a:rPr lang="en-US" sz="1200" b="0" i="0" dirty="0">
                <a:effectLst/>
                <a:latin typeface="Avenir Book" panose="02000503020000020003" pitchFamily="2" charset="0"/>
              </a:rPr>
              <a:t> and the </a:t>
            </a:r>
            <a:r>
              <a:rPr lang="en-US" sz="1200" b="0" i="0" u="none" strike="noStrike" dirty="0">
                <a:effectLst/>
                <a:latin typeface="Avenir Book" panose="02000503020000020003" pitchFamily="2" charset="0"/>
              </a:rPr>
              <a:t>Middle East</a:t>
            </a:r>
            <a:r>
              <a:rPr lang="en-US" sz="1200" b="0" i="0" dirty="0">
                <a:effectLst/>
                <a:latin typeface="Avenir Book" panose="02000503020000020003" pitchFamily="2" charset="0"/>
              </a:rPr>
              <a:t> by tower count and the fourth largest independent multinational tower company globally.</a:t>
            </a:r>
          </a:p>
          <a:p>
            <a:pPr algn="ctr">
              <a:lnSpc>
                <a:spcPct val="150000"/>
              </a:lnSpc>
            </a:pPr>
            <a:endParaRPr lang="en-US" sz="1200" dirty="0">
              <a:latin typeface="Avenir Book" panose="02000503020000020003" pitchFamily="2" charset="0"/>
            </a:endParaRPr>
          </a:p>
          <a:p>
            <a:pPr algn="ctr">
              <a:lnSpc>
                <a:spcPct val="150000"/>
              </a:lnSpc>
            </a:pPr>
            <a:r>
              <a:rPr lang="en-US" sz="1200" dirty="0">
                <a:latin typeface="Avenir Book" panose="02000503020000020003" pitchFamily="2" charset="0"/>
              </a:rPr>
              <a:t>IHS listed on the NYSE in October 2021 in what was noted as the largest US listing of a company with an African heritage.</a:t>
            </a:r>
          </a:p>
        </p:txBody>
      </p:sp>
      <p:cxnSp>
        <p:nvCxnSpPr>
          <p:cNvPr id="4" name="Straight Connector 3">
            <a:extLst>
              <a:ext uri="{FF2B5EF4-FFF2-40B4-BE49-F238E27FC236}">
                <a16:creationId xmlns:a16="http://schemas.microsoft.com/office/drawing/2014/main" id="{D8CA91A0-D722-AC4E-8E1A-F39E43E0348D}"/>
              </a:ext>
            </a:extLst>
          </p:cNvPr>
          <p:cNvCxnSpPr/>
          <p:nvPr/>
        </p:nvCxnSpPr>
        <p:spPr>
          <a:xfrm>
            <a:off x="5269832" y="1590489"/>
            <a:ext cx="0" cy="4834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a:extLst>
              <a:ext uri="{FF2B5EF4-FFF2-40B4-BE49-F238E27FC236}">
                <a16:creationId xmlns:a16="http://schemas.microsoft.com/office/drawing/2014/main" id="{89C062FA-83AA-7445-947E-FBFE5375DD5C}"/>
              </a:ext>
            </a:extLst>
          </p:cNvPr>
          <p:cNvSpPr>
            <a:spLocks noGrp="1"/>
          </p:cNvSpPr>
          <p:nvPr>
            <p:ph type="sldNum" sz="quarter" idx="12"/>
          </p:nvPr>
        </p:nvSpPr>
        <p:spPr/>
        <p:txBody>
          <a:bodyPr/>
          <a:lstStyle/>
          <a:p>
            <a:fld id="{664C5C96-B43F-EF41-83BB-885FD2BDB03F}" type="slidenum">
              <a:rPr lang="en-US" smtClean="0"/>
              <a:t>26</a:t>
            </a:fld>
            <a:endParaRPr lang="en-US"/>
          </a:p>
        </p:txBody>
      </p:sp>
    </p:spTree>
    <p:extLst>
      <p:ext uri="{BB962C8B-B14F-4D97-AF65-F5344CB8AC3E}">
        <p14:creationId xmlns:p14="http://schemas.microsoft.com/office/powerpoint/2010/main" val="23529072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44737</TotalTime>
  <Words>2433</Words>
  <Application>Microsoft Macintosh PowerPoint</Application>
  <PresentationFormat>On-screen Show (4:3)</PresentationFormat>
  <Paragraphs>332</Paragraphs>
  <Slides>26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Arial</vt:lpstr>
      <vt:lpstr>Avenir Black</vt:lpstr>
      <vt:lpstr>Avenir Book</vt:lpstr>
      <vt:lpstr>Avenir Medium</vt:lpstr>
      <vt:lpstr>Calibri</vt:lpstr>
      <vt:lpstr>Calibri Light</vt:lpstr>
      <vt:lpstr>Courier</vt:lpstr>
      <vt:lpstr>Montserrat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326</cp:revision>
  <dcterms:created xsi:type="dcterms:W3CDTF">2020-11-24T00:12:57Z</dcterms:created>
  <dcterms:modified xsi:type="dcterms:W3CDTF">2022-09-24T18:40:35Z</dcterms:modified>
</cp:coreProperties>
</file>