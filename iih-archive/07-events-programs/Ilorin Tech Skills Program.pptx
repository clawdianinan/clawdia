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1" r:id="rId5"/>
    <p:sldId id="284" r:id="rId6"/>
    <p:sldId id="270" r:id="rId7"/>
    <p:sldId id="277" r:id="rId8"/>
    <p:sldId id="278" r:id="rId9"/>
    <p:sldId id="276" r:id="rId10"/>
    <p:sldId id="279" r:id="rId11"/>
    <p:sldId id="280" r:id="rId12"/>
    <p:sldId id="281" r:id="rId13"/>
    <p:sldId id="282" r:id="rId14"/>
    <p:sldId id="283" r:id="rId15"/>
    <p:sldId id="285" r:id="rId16"/>
    <p:sldId id="28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tosin Bello" initials="OB" lastIdx="1" clrIdx="0">
    <p:extLst>
      <p:ext uri="{19B8F6BF-5375-455C-9EA6-DF929625EA0E}">
        <p15:presenceInfo xmlns:p15="http://schemas.microsoft.com/office/powerpoint/2012/main" userId="61294f0160ccdd8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8E166"/>
    <a:srgbClr val="2FF9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528"/>
    <p:restoredTop sz="94291" autoAdjust="0"/>
  </p:normalViewPr>
  <p:slideViewPr>
    <p:cSldViewPr snapToGrid="0" snapToObjects="1">
      <p:cViewPr varScale="1">
        <p:scale>
          <a:sx n="124" d="100"/>
          <a:sy n="124" d="100"/>
        </p:scale>
        <p:origin x="10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a:p>
            <a:endParaRPr lang="en-US"/>
          </a:p>
        </p:txBody>
      </p:sp>
      <p:sp>
        <p:nvSpPr>
          <p:cNvPr id="3" name="Date Placeholder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a:p>
          <a:p>
            <a:r>
              <a:rPr lang="en-US"/>
              <a:t>*</a:t>
            </a:r>
          </a:p>
        </p:txBody>
      </p:sp>
      <p:sp>
        <p:nvSpPr>
          <p:cNvPr id="4" name="Slide Image Placeholder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a:p>
          <a:p>
            <a:endParaRPr lang="en-US"/>
          </a:p>
        </p:txBody>
      </p:sp>
      <p:sp>
        <p:nvSpPr>
          <p:cNvPr id="5" name="Notes Placeholder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endParaRP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a:p>
            <a:endParaRPr lang="en-US"/>
          </a:p>
        </p:txBody>
      </p:sp>
      <p:sp>
        <p:nvSpPr>
          <p:cNvPr id="7" name="Slide Number Placeholder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endParaRPr/>
          </a:p>
          <a:p>
            <a:r>
              <a:rPr lang="en-US"/>
              <a:t>#</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7F271026-B1D8-402A-A3C1-C8EA1C91789D}"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noEditPoints="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US" dirty="0"/>
          </a:p>
        </p:txBody>
      </p:sp>
      <p:sp>
        <p:nvSpPr>
          <p:cNvPr id="4" name="Date Placeholder 3"/>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Content Placeholder 2"/>
          <p:cNvSpPr>
            <a:spLocks noGrp="1" noEditPoints="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noEditPoints="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Content Placeholder 2"/>
          <p:cNvSpPr>
            <a:spLocks noGrp="1" noEditPoints="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noEditPoints="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noEditPoints="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noEditPoints="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noEditPoints="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noEditPoints="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8" name="Footer Placeholder 7"/>
          <p:cNvSpPr>
            <a:spLocks noGrp="1" noEditPoints="1"/>
          </p:cNvSpPr>
          <p:nvPr>
            <p:ph type="ftr" sz="quarter" idx="11"/>
          </p:nvPr>
        </p:nvSpPr>
        <p:spPr/>
        <p:txBody>
          <a:bodyPr/>
          <a:lstStyle/>
          <a:p>
            <a:endParaRPr lang="en-US"/>
          </a:p>
        </p:txBody>
      </p:sp>
      <p:sp>
        <p:nvSpPr>
          <p:cNvPr id="9" name="Slide Number Placeholder 8"/>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Date Placeholder 2"/>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4" name="Footer Placeholder 3"/>
          <p:cNvSpPr>
            <a:spLocks noGrp="1" noEditPoints="1"/>
          </p:cNvSpPr>
          <p:nvPr>
            <p:ph type="ftr" sz="quarter" idx="11"/>
          </p:nvPr>
        </p:nvSpPr>
        <p:spPr/>
        <p:txBody>
          <a:bodyPr/>
          <a:lstStyle/>
          <a:p>
            <a:endParaRPr lang="en-US"/>
          </a:p>
        </p:txBody>
      </p:sp>
      <p:sp>
        <p:nvSpPr>
          <p:cNvPr id="5" name="Slide Number Placeholder 4"/>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3" name="Footer Placeholder 2"/>
          <p:cNvSpPr>
            <a:spLocks noGrp="1" noEditPoints="1"/>
          </p:cNvSpPr>
          <p:nvPr>
            <p:ph type="ftr" sz="quarter" idx="11"/>
          </p:nvPr>
        </p:nvSpPr>
        <p:spPr/>
        <p:txBody>
          <a:bodyPr/>
          <a:lstStyle/>
          <a:p>
            <a:endParaRPr lang="en-US"/>
          </a:p>
        </p:txBody>
      </p:sp>
      <p:sp>
        <p:nvSpPr>
          <p:cNvPr id="4" name="Slide Number Placeholder 3"/>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noEditPoints="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noEditPoints="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noEditPoints="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t>Click icon to add picture</a:t>
            </a:r>
            <a:endParaRPr lang="en-US" dirty="0"/>
          </a:p>
        </p:txBody>
      </p:sp>
      <p:sp>
        <p:nvSpPr>
          <p:cNvPr id="4" name="Text Placeholder 3"/>
          <p:cNvSpPr>
            <a:spLocks noGrp="1" noEditPoints="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Vertical Text Placeholder 2"/>
          <p:cNvSpPr>
            <a:spLocks noGrp="1" noEditPoints="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noEditPoints="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10"/>
          </p:nvPr>
        </p:nvSpPr>
        <p:spPr/>
        <p:txBody>
          <a:bodyPr/>
          <a:lstStyle/>
          <a:p>
            <a:fld id="{E2206702-883C-1C49-A3D9-95FC99D4F10F}" type="datetimeFigureOut">
              <a:rPr lang="en-US" smtClean="0"/>
              <a:t>8/19/21</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664C5C96-B43F-EF41-83BB-885FD2BDB03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noEditPoints="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8/19/21</a:t>
            </a:fld>
            <a:endParaRPr lang="en-US"/>
          </a:p>
        </p:txBody>
      </p:sp>
      <p:sp>
        <p:nvSpPr>
          <p:cNvPr id="5" name="Footer Placeholder 4"/>
          <p:cNvSpPr>
            <a:spLocks noGrp="1" noEditPoints="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noEditPoints="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a:stretch>
            <a:fillRect/>
          </a:stretch>
        </p:blipFill>
        <p:spPr>
          <a:xfrm>
            <a:off x="543490" y="3429000"/>
            <a:ext cx="3744361" cy="1791483"/>
          </a:xfrm>
          <a:prstGeom prst="rect">
            <a:avLst/>
          </a:prstGeom>
        </p:spPr>
      </p:pic>
      <p:sp>
        <p:nvSpPr>
          <p:cNvPr id="12" name="TextBox 11"/>
          <p:cNvSpPr txBox="1"/>
          <p:nvPr/>
        </p:nvSpPr>
        <p:spPr>
          <a:xfrm>
            <a:off x="876822" y="5220483"/>
            <a:ext cx="4847573" cy="369332"/>
          </a:xfrm>
          <a:prstGeom prst="rect">
            <a:avLst/>
          </a:prstGeom>
          <a:noFill/>
        </p:spPr>
        <p:txBody>
          <a:bodyPr wrap="square" rtlCol="0">
            <a:spAutoFit/>
          </a:bodyPr>
          <a:lstStyle/>
          <a:p>
            <a:r>
              <a:rPr lang="en-US" b="1" dirty="0">
                <a:solidFill>
                  <a:schemeClr val="bg1"/>
                </a:solidFill>
                <a:latin typeface="Roboto Light" panose="02000000000000000000" pitchFamily="2" charset="0"/>
                <a:ea typeface="Roboto Light" panose="02000000000000000000" pitchFamily="2" charset="0"/>
              </a:rPr>
              <a:t>ILORIN TECH SKILLS PROGRAM</a:t>
            </a:r>
          </a:p>
        </p:txBody>
      </p:sp>
      <p:sp>
        <p:nvSpPr>
          <p:cNvPr id="13" name="TextBox 12"/>
          <p:cNvSpPr txBox="1"/>
          <p:nvPr/>
        </p:nvSpPr>
        <p:spPr>
          <a:xfrm>
            <a:off x="876822" y="5639213"/>
            <a:ext cx="4847573" cy="307777"/>
          </a:xfrm>
          <a:prstGeom prst="rect">
            <a:avLst/>
          </a:prstGeom>
          <a:noFill/>
        </p:spPr>
        <p:txBody>
          <a:bodyPr wrap="square" rtlCol="0">
            <a:spAutoFit/>
          </a:bodyPr>
          <a:lstStyle/>
          <a:p>
            <a:r>
              <a:rPr lang="en-US" sz="1400" i="1" dirty="0">
                <a:solidFill>
                  <a:schemeClr val="bg1"/>
                </a:solidFill>
                <a:latin typeface="Roboto Light" panose="02000000000000000000" pitchFamily="2" charset="0"/>
                <a:ea typeface="Roboto Light" panose="02000000000000000000" pitchFamily="2" charset="0"/>
              </a:rPr>
              <a:t>JUNE 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8618" y="1878904"/>
            <a:ext cx="7785985" cy="213391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Avenir Book" panose="02000503020000020003" pitchFamily="2" charset="0"/>
              </a:rPr>
              <a:t>Introduction</a:t>
            </a:r>
          </a:p>
          <a:p>
            <a:pPr marL="285750" indent="-285750" algn="just">
              <a:lnSpc>
                <a:spcPct val="150000"/>
              </a:lnSpc>
              <a:buFont typeface="Arial" panose="020B0604020202020204" pitchFamily="34" charset="0"/>
              <a:buChar char="•"/>
            </a:pPr>
            <a:r>
              <a:rPr lang="en-US" dirty="0">
                <a:latin typeface="Avenir Book" panose="02000503020000020003" pitchFamily="2" charset="0"/>
              </a:rPr>
              <a:t>Specializations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Specialization Content</a:t>
            </a:r>
          </a:p>
          <a:p>
            <a:pPr marL="285750" indent="-285750" algn="just">
              <a:lnSpc>
                <a:spcPct val="150000"/>
              </a:lnSpc>
              <a:buFont typeface="Arial" panose="020B0604020202020204" pitchFamily="34" charset="0"/>
              <a:buChar char="•"/>
            </a:pPr>
            <a:r>
              <a:rPr lang="en-US" dirty="0">
                <a:latin typeface="Avenir Book" panose="02000503020000020003" pitchFamily="2" charset="0"/>
              </a:rPr>
              <a:t>Mentors &amp; Instructors</a:t>
            </a:r>
          </a:p>
          <a:p>
            <a:pPr marL="285750" indent="-285750" algn="just">
              <a:lnSpc>
                <a:spcPct val="150000"/>
              </a:lnSpc>
              <a:buFont typeface="Arial" panose="020B0604020202020204" pitchFamily="34" charset="0"/>
              <a:buChar char="•"/>
            </a:pPr>
            <a:endParaRPr lang="en-US" dirty="0">
              <a:latin typeface="Avenir Book" panose="02000503020000020003" pitchFamily="2" charset="0"/>
            </a:endParaRP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38618" y="248310"/>
            <a:ext cx="4847573" cy="523220"/>
          </a:xfrm>
          <a:prstGeom prst="rect">
            <a:avLst/>
          </a:prstGeom>
          <a:noFill/>
        </p:spPr>
        <p:txBody>
          <a:bodyPr wrap="square" rtlCol="0">
            <a:spAutoFit/>
          </a:bodyPr>
          <a:lstStyle/>
          <a:p>
            <a:r>
              <a:rPr lang="en-US" sz="2800" b="1" dirty="0">
                <a:solidFill>
                  <a:schemeClr val="bg1"/>
                </a:solidFill>
                <a:latin typeface="Roboto Light" panose="02000000000000000000" pitchFamily="2" charset="0"/>
                <a:ea typeface="Roboto Light" panose="02000000000000000000" pitchFamily="2"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8618" y="1398732"/>
            <a:ext cx="8314437" cy="3667351"/>
          </a:xfrm>
          <a:prstGeom prst="rect">
            <a:avLst/>
          </a:prstGeom>
          <a:noFill/>
        </p:spPr>
        <p:txBody>
          <a:bodyPr wrap="square" rtlCol="0">
            <a:spAutoFit/>
          </a:bodyPr>
          <a:lstStyle/>
          <a:p>
            <a:pPr algn="just">
              <a:lnSpc>
                <a:spcPct val="150000"/>
              </a:lnSpc>
            </a:pPr>
            <a:r>
              <a:rPr lang="en-US" sz="1300" dirty="0">
                <a:latin typeface="Avenir Book" panose="02000503020000020003"/>
              </a:rPr>
              <a:t>The Ilorin Tech Skills Program is a virtual learning academy where individuals can access a variety of high market demand ICT courses to learn and acquire skills sets that are internationally recognized, job ready and of high value. </a:t>
            </a:r>
          </a:p>
          <a:p>
            <a:pPr algn="just">
              <a:lnSpc>
                <a:spcPct val="150000"/>
              </a:lnSpc>
            </a:pPr>
            <a:endParaRPr lang="en-US" sz="1300" dirty="0">
              <a:latin typeface="Avenir Book" panose="02000503020000020003"/>
            </a:endParaRPr>
          </a:p>
          <a:p>
            <a:pPr algn="just">
              <a:lnSpc>
                <a:spcPct val="150000"/>
              </a:lnSpc>
            </a:pPr>
            <a:r>
              <a:rPr lang="en-US" sz="1300" dirty="0">
                <a:latin typeface="Avenir Book" panose="02000503020000020003"/>
              </a:rPr>
              <a:t>The major goals of the program is to</a:t>
            </a:r>
          </a:p>
          <a:p>
            <a:pPr marL="285750" indent="-285750" algn="just">
              <a:lnSpc>
                <a:spcPct val="150000"/>
              </a:lnSpc>
              <a:buFont typeface="Arial" panose="020B0604020202020204" pitchFamily="34" charset="0"/>
              <a:buChar char="•"/>
            </a:pPr>
            <a:r>
              <a:rPr lang="en-US" sz="1300" dirty="0">
                <a:latin typeface="Avenir Book" panose="02000503020000020003"/>
              </a:rPr>
              <a:t>Improve employability and capacity of youths in Kwara State.</a:t>
            </a:r>
          </a:p>
          <a:p>
            <a:pPr marL="285750" indent="-285750" algn="just">
              <a:lnSpc>
                <a:spcPct val="150000"/>
              </a:lnSpc>
              <a:buFont typeface="Arial" panose="020B0604020202020204" pitchFamily="34" charset="0"/>
              <a:buChar char="•"/>
            </a:pPr>
            <a:r>
              <a:rPr lang="en-US" sz="1300" dirty="0">
                <a:latin typeface="Avenir Book" panose="02000503020000020003"/>
              </a:rPr>
              <a:t>Encourage youths to be innovative and creative in exploring new ventures.</a:t>
            </a:r>
          </a:p>
          <a:p>
            <a:pPr marL="285750" indent="-285750" algn="just">
              <a:lnSpc>
                <a:spcPct val="150000"/>
              </a:lnSpc>
              <a:buFont typeface="Arial" panose="020B0604020202020204" pitchFamily="34" charset="0"/>
              <a:buChar char="•"/>
            </a:pPr>
            <a:r>
              <a:rPr lang="en-US" sz="1300" dirty="0">
                <a:latin typeface="Avenir Book" panose="02000503020000020003"/>
              </a:rPr>
              <a:t>Prepare youths in Kwara for the global workforce via technology.</a:t>
            </a:r>
          </a:p>
          <a:p>
            <a:pPr algn="just">
              <a:lnSpc>
                <a:spcPct val="150000"/>
              </a:lnSpc>
            </a:pPr>
            <a:r>
              <a:rPr lang="en-US" sz="1300" dirty="0">
                <a:latin typeface="Avenir Book" panose="02000503020000020003"/>
              </a:rPr>
              <a:t> </a:t>
            </a:r>
          </a:p>
          <a:p>
            <a:pPr algn="just">
              <a:lnSpc>
                <a:spcPct val="150000"/>
              </a:lnSpc>
            </a:pPr>
            <a:r>
              <a:rPr lang="en-US" sz="1300" b="1" dirty="0">
                <a:latin typeface="Avenir Book" panose="02000503020000020003"/>
              </a:rPr>
              <a:t>The program starts in August 2021.</a:t>
            </a:r>
          </a:p>
          <a:p>
            <a:pPr algn="just">
              <a:lnSpc>
                <a:spcPct val="150000"/>
              </a:lnSpc>
            </a:pPr>
            <a:r>
              <a:rPr lang="en-US" sz="1300" dirty="0">
                <a:latin typeface="Avenir Book" panose="02000503020000020003"/>
              </a:rPr>
              <a:t>The trainees will go through interactive training courses with projects, virtual seminars and obtain a certification at the end of each track. </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02038" y="251958"/>
            <a:ext cx="4847573" cy="523220"/>
          </a:xfrm>
          <a:prstGeom prst="rect">
            <a:avLst/>
          </a:prstGeom>
          <a:noFill/>
        </p:spPr>
        <p:txBody>
          <a:bodyPr wrap="square" rtlCol="0">
            <a:spAutoFit/>
          </a:bodyPr>
          <a:lstStyle/>
          <a:p>
            <a:r>
              <a:rPr lang="en-US" sz="2800" b="1" dirty="0">
                <a:solidFill>
                  <a:schemeClr val="bg1"/>
                </a:solidFill>
                <a:latin typeface="Roboto Light" panose="02000000000000000000" pitchFamily="2" charset="0"/>
                <a:ea typeface="Roboto Light" panose="02000000000000000000" pitchFamily="2" charset="0"/>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8618" y="1296236"/>
            <a:ext cx="6971791" cy="5130700"/>
          </a:xfrm>
          <a:prstGeom prst="rect">
            <a:avLst/>
          </a:prstGeom>
          <a:noFill/>
        </p:spPr>
        <p:txBody>
          <a:bodyPr wrap="square" rtlCol="0">
            <a:spAutoFit/>
          </a:bodyPr>
          <a:lstStyle/>
          <a:p>
            <a:pPr marL="342900" indent="-342900" algn="just">
              <a:lnSpc>
                <a:spcPct val="150000"/>
              </a:lnSpc>
              <a:buFont typeface="+mj-lt"/>
              <a:buAutoNum type="arabicPeriod"/>
            </a:pPr>
            <a:r>
              <a:rPr lang="en-US" sz="2000" dirty="0">
                <a:latin typeface="Avenir Book" panose="02000503020000020003" pitchFamily="2" charset="0"/>
              </a:rPr>
              <a:t>Responsive Web Design</a:t>
            </a:r>
          </a:p>
          <a:p>
            <a:pPr marL="342900" indent="-342900" algn="just">
              <a:lnSpc>
                <a:spcPct val="150000"/>
              </a:lnSpc>
              <a:buFont typeface="+mj-lt"/>
              <a:buAutoNum type="arabicPeriod"/>
            </a:pPr>
            <a:r>
              <a:rPr lang="en-US" sz="2000" dirty="0" err="1">
                <a:latin typeface="Avenir Book" panose="02000503020000020003" pitchFamily="2" charset="0"/>
              </a:rPr>
              <a:t>Javascript</a:t>
            </a:r>
            <a:r>
              <a:rPr lang="en-US" sz="2000" dirty="0">
                <a:latin typeface="Avenir Book" panose="02000503020000020003" pitchFamily="2" charset="0"/>
              </a:rPr>
              <a:t> I: Algorithms and Data Structures</a:t>
            </a:r>
          </a:p>
          <a:p>
            <a:pPr marL="342900" indent="-342900" algn="just">
              <a:lnSpc>
                <a:spcPct val="150000"/>
              </a:lnSpc>
              <a:buFont typeface="+mj-lt"/>
              <a:buAutoNum type="arabicPeriod"/>
            </a:pPr>
            <a:r>
              <a:rPr lang="en-US" sz="2000" dirty="0">
                <a:latin typeface="Avenir Book" panose="02000503020000020003" pitchFamily="2" charset="0"/>
              </a:rPr>
              <a:t>Front End Development</a:t>
            </a:r>
          </a:p>
          <a:p>
            <a:pPr marL="342900" indent="-342900" algn="just">
              <a:lnSpc>
                <a:spcPct val="150000"/>
              </a:lnSpc>
              <a:buFont typeface="+mj-lt"/>
              <a:buAutoNum type="arabicPeriod"/>
            </a:pPr>
            <a:r>
              <a:rPr lang="en-US" sz="2000" dirty="0">
                <a:latin typeface="Avenir Book" panose="02000503020000020003" pitchFamily="2" charset="0"/>
              </a:rPr>
              <a:t>Data Visualization</a:t>
            </a:r>
          </a:p>
          <a:p>
            <a:pPr marL="342900" indent="-342900" algn="just">
              <a:lnSpc>
                <a:spcPct val="150000"/>
              </a:lnSpc>
              <a:buFont typeface="+mj-lt"/>
              <a:buAutoNum type="arabicPeriod"/>
            </a:pPr>
            <a:r>
              <a:rPr lang="en-US" sz="2000" dirty="0" err="1">
                <a:latin typeface="Avenir Book" panose="02000503020000020003" pitchFamily="2" charset="0"/>
              </a:rPr>
              <a:t>Javascript</a:t>
            </a:r>
            <a:r>
              <a:rPr lang="en-US" sz="2000" dirty="0">
                <a:latin typeface="Avenir Book" panose="02000503020000020003" pitchFamily="2" charset="0"/>
              </a:rPr>
              <a:t> II: APIs &amp; Microservices</a:t>
            </a:r>
          </a:p>
          <a:p>
            <a:pPr marL="342900" indent="-342900" algn="just">
              <a:lnSpc>
                <a:spcPct val="150000"/>
              </a:lnSpc>
              <a:buFont typeface="+mj-lt"/>
              <a:buAutoNum type="arabicPeriod"/>
            </a:pPr>
            <a:r>
              <a:rPr lang="en-US" sz="2000" dirty="0">
                <a:latin typeface="Avenir Book" panose="02000503020000020003" pitchFamily="2" charset="0"/>
              </a:rPr>
              <a:t>Quality Assurance</a:t>
            </a:r>
          </a:p>
          <a:p>
            <a:pPr marL="342900" indent="-342900" algn="just">
              <a:lnSpc>
                <a:spcPct val="150000"/>
              </a:lnSpc>
              <a:buFont typeface="+mj-lt"/>
              <a:buAutoNum type="arabicPeriod"/>
            </a:pPr>
            <a:r>
              <a:rPr lang="en-US" sz="2000" dirty="0">
                <a:latin typeface="Avenir Book" panose="02000503020000020003" pitchFamily="2" charset="0"/>
              </a:rPr>
              <a:t>Python I: Scientific Computing</a:t>
            </a:r>
          </a:p>
          <a:p>
            <a:pPr marL="342900" indent="-342900" algn="just">
              <a:lnSpc>
                <a:spcPct val="150000"/>
              </a:lnSpc>
              <a:buFont typeface="+mj-lt"/>
              <a:buAutoNum type="arabicPeriod"/>
            </a:pPr>
            <a:r>
              <a:rPr lang="en-US" sz="2000" dirty="0">
                <a:latin typeface="Avenir Book" panose="02000503020000020003" pitchFamily="2" charset="0"/>
              </a:rPr>
              <a:t>Python II: Data Analysis</a:t>
            </a:r>
          </a:p>
          <a:p>
            <a:pPr marL="342900" indent="-342900" algn="just">
              <a:lnSpc>
                <a:spcPct val="150000"/>
              </a:lnSpc>
              <a:buFont typeface="+mj-lt"/>
              <a:buAutoNum type="arabicPeriod"/>
            </a:pPr>
            <a:r>
              <a:rPr lang="en-US" sz="2000" dirty="0">
                <a:latin typeface="Avenir Book" panose="02000503020000020003" pitchFamily="2" charset="0"/>
              </a:rPr>
              <a:t>Python III: Machine Learning</a:t>
            </a:r>
          </a:p>
          <a:p>
            <a:pPr marL="342900" indent="-342900" algn="just">
              <a:lnSpc>
                <a:spcPct val="150000"/>
              </a:lnSpc>
              <a:buFont typeface="+mj-lt"/>
              <a:buAutoNum type="arabicPeriod"/>
            </a:pPr>
            <a:r>
              <a:rPr lang="en-US" sz="2000" dirty="0">
                <a:latin typeface="Avenir Book" panose="02000503020000020003" pitchFamily="2" charset="0"/>
              </a:rPr>
              <a:t>Information Security</a:t>
            </a:r>
          </a:p>
          <a:p>
            <a:pPr marL="342900" indent="-342900" algn="just">
              <a:lnSpc>
                <a:spcPct val="150000"/>
              </a:lnSpc>
              <a:buFont typeface="+mj-lt"/>
              <a:buAutoNum type="arabicPeriod"/>
            </a:pPr>
            <a:r>
              <a:rPr lang="en-US" sz="2000" dirty="0">
                <a:latin typeface="Avenir Book" panose="02000503020000020003" pitchFamily="2" charset="0"/>
              </a:rPr>
              <a:t>Renewable Energy</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38618" y="371598"/>
            <a:ext cx="5600925" cy="523220"/>
          </a:xfrm>
          <a:prstGeom prst="rect">
            <a:avLst/>
          </a:prstGeom>
          <a:noFill/>
        </p:spPr>
        <p:txBody>
          <a:bodyPr wrap="square" rtlCol="0">
            <a:spAutoFit/>
          </a:bodyPr>
          <a:lstStyle/>
          <a:p>
            <a:r>
              <a:rPr lang="en-US" sz="2800" b="1" dirty="0">
                <a:solidFill>
                  <a:schemeClr val="bg1"/>
                </a:solidFill>
                <a:latin typeface="Roboto Light" panose="02000000000000000000" pitchFamily="2" charset="0"/>
                <a:ea typeface="Roboto Light" panose="02000000000000000000" pitchFamily="2" charset="0"/>
              </a:rPr>
              <a:t>Specializations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538618" y="371598"/>
            <a:ext cx="5600925" cy="523220"/>
          </a:xfrm>
          <a:prstGeom prst="rect">
            <a:avLst/>
          </a:prstGeom>
          <a:noFill/>
        </p:spPr>
        <p:txBody>
          <a:bodyPr wrap="square" rtlCol="0">
            <a:spAutoFit/>
          </a:bodyPr>
          <a:lstStyle/>
          <a:p>
            <a:r>
              <a:rPr lang="en-US" sz="2800" b="1" dirty="0">
                <a:solidFill>
                  <a:schemeClr val="bg1"/>
                </a:solidFill>
                <a:latin typeface="Roboto Light" panose="02000000000000000000" pitchFamily="2" charset="0"/>
                <a:ea typeface="Roboto Light" panose="02000000000000000000" pitchFamily="2" charset="0"/>
              </a:rPr>
              <a:t>Specialization &amp; Job </a:t>
            </a:r>
            <a:r>
              <a:rPr lang="en-US" sz="2800" b="1" dirty="0" err="1">
                <a:solidFill>
                  <a:schemeClr val="bg1"/>
                </a:solidFill>
                <a:latin typeface="Roboto Light" panose="02000000000000000000" pitchFamily="2" charset="0"/>
                <a:ea typeface="Roboto Light" panose="02000000000000000000" pitchFamily="2" charset="0"/>
              </a:rPr>
              <a:t>Oportunities</a:t>
            </a:r>
            <a:endParaRPr lang="en-US" sz="2800" b="1" dirty="0">
              <a:solidFill>
                <a:schemeClr val="bg1"/>
              </a:solidFill>
              <a:latin typeface="Roboto Light" panose="02000000000000000000" pitchFamily="2" charset="0"/>
              <a:ea typeface="Roboto Light" panose="02000000000000000000" pitchFamily="2" charset="0"/>
            </a:endParaRPr>
          </a:p>
        </p:txBody>
      </p:sp>
      <p:graphicFrame>
        <p:nvGraphicFramePr>
          <p:cNvPr id="2" name="Table 2">
            <a:extLst>
              <a:ext uri="{FF2B5EF4-FFF2-40B4-BE49-F238E27FC236}">
                <a16:creationId xmlns:a16="http://schemas.microsoft.com/office/drawing/2014/main" id="{FC94DFEF-88B8-6A46-98FF-E059E60C7176}"/>
              </a:ext>
            </a:extLst>
          </p:cNvPr>
          <p:cNvGraphicFramePr>
            <a:graphicFrameLocks noGrp="1"/>
          </p:cNvGraphicFramePr>
          <p:nvPr>
            <p:extLst>
              <p:ext uri="{D42A27DB-BD31-4B8C-83A1-F6EECF244321}">
                <p14:modId xmlns:p14="http://schemas.microsoft.com/office/powerpoint/2010/main" val="2849682743"/>
              </p:ext>
            </p:extLst>
          </p:nvPr>
        </p:nvGraphicFramePr>
        <p:xfrm>
          <a:off x="477748" y="1398732"/>
          <a:ext cx="8188503" cy="4968240"/>
        </p:xfrm>
        <a:graphic>
          <a:graphicData uri="http://schemas.openxmlformats.org/drawingml/2006/table">
            <a:tbl>
              <a:tblPr firstRow="1" bandRow="1">
                <a:tableStyleId>{93296810-A885-4BE3-A3E7-6D5BEEA58F35}</a:tableStyleId>
              </a:tblPr>
              <a:tblGrid>
                <a:gridCol w="731444">
                  <a:extLst>
                    <a:ext uri="{9D8B030D-6E8A-4147-A177-3AD203B41FA5}">
                      <a16:colId xmlns:a16="http://schemas.microsoft.com/office/drawing/2014/main" val="3648930222"/>
                    </a:ext>
                  </a:extLst>
                </a:gridCol>
                <a:gridCol w="3519216">
                  <a:extLst>
                    <a:ext uri="{9D8B030D-6E8A-4147-A177-3AD203B41FA5}">
                      <a16:colId xmlns:a16="http://schemas.microsoft.com/office/drawing/2014/main" val="1299507831"/>
                    </a:ext>
                  </a:extLst>
                </a:gridCol>
                <a:gridCol w="3937843">
                  <a:extLst>
                    <a:ext uri="{9D8B030D-6E8A-4147-A177-3AD203B41FA5}">
                      <a16:colId xmlns:a16="http://schemas.microsoft.com/office/drawing/2014/main" val="789630489"/>
                    </a:ext>
                  </a:extLst>
                </a:gridCol>
              </a:tblGrid>
              <a:tr h="370840">
                <a:tc>
                  <a:txBody>
                    <a:bodyPr/>
                    <a:lstStyle/>
                    <a:p>
                      <a:r>
                        <a:rPr lang="en-US" sz="1200" b="1" dirty="0">
                          <a:latin typeface="Avenir Book" panose="02000503020000020003" pitchFamily="2" charset="0"/>
                        </a:rPr>
                        <a:t>SN</a:t>
                      </a:r>
                    </a:p>
                  </a:txBody>
                  <a:tcPr>
                    <a:solidFill>
                      <a:schemeClr val="tx1"/>
                    </a:solidFill>
                  </a:tcPr>
                </a:tc>
                <a:tc>
                  <a:txBody>
                    <a:bodyPr/>
                    <a:lstStyle/>
                    <a:p>
                      <a:r>
                        <a:rPr lang="en-US" sz="1200" b="1" dirty="0">
                          <a:latin typeface="Avenir Book" panose="02000503020000020003" pitchFamily="2" charset="0"/>
                        </a:rPr>
                        <a:t>Certification</a:t>
                      </a:r>
                    </a:p>
                  </a:txBody>
                  <a:tcPr>
                    <a:solidFill>
                      <a:schemeClr val="tx1"/>
                    </a:solidFill>
                  </a:tcPr>
                </a:tc>
                <a:tc>
                  <a:txBody>
                    <a:bodyPr/>
                    <a:lstStyle/>
                    <a:p>
                      <a:r>
                        <a:rPr lang="en-US" sz="1200" b="1" dirty="0">
                          <a:latin typeface="Avenir Book" panose="02000503020000020003" pitchFamily="2" charset="0"/>
                        </a:rPr>
                        <a:t>Potential Job Opportunities</a:t>
                      </a:r>
                    </a:p>
                  </a:txBody>
                  <a:tcPr>
                    <a:solidFill>
                      <a:schemeClr val="tx1"/>
                    </a:solidFill>
                  </a:tcPr>
                </a:tc>
                <a:extLst>
                  <a:ext uri="{0D108BD9-81ED-4DB2-BD59-A6C34878D82A}">
                    <a16:rowId xmlns:a16="http://schemas.microsoft.com/office/drawing/2014/main" val="2284978876"/>
                  </a:ext>
                </a:extLst>
              </a:tr>
              <a:tr h="370840">
                <a:tc>
                  <a:txBody>
                    <a:bodyPr/>
                    <a:lstStyle/>
                    <a:p>
                      <a:r>
                        <a:rPr lang="en-US" sz="1200" dirty="0">
                          <a:latin typeface="Avenir Book" panose="02000503020000020003" pitchFamily="2"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Responsive Web Design</a:t>
                      </a:r>
                    </a:p>
                  </a:txBody>
                  <a:tcPr/>
                </a:tc>
                <a:tc>
                  <a:txBody>
                    <a:bodyPr/>
                    <a:lstStyle/>
                    <a:p>
                      <a:r>
                        <a:rPr lang="en-US" sz="1200" dirty="0">
                          <a:latin typeface="Avenir Book" panose="02000503020000020003" pitchFamily="2" charset="0"/>
                        </a:rPr>
                        <a:t>Web Designer</a:t>
                      </a:r>
                    </a:p>
                    <a:p>
                      <a:endParaRPr lang="en-US" sz="1200" dirty="0">
                        <a:latin typeface="Avenir Book" panose="02000503020000020003" pitchFamily="2" charset="0"/>
                      </a:endParaRPr>
                    </a:p>
                  </a:txBody>
                  <a:tcPr/>
                </a:tc>
                <a:extLst>
                  <a:ext uri="{0D108BD9-81ED-4DB2-BD59-A6C34878D82A}">
                    <a16:rowId xmlns:a16="http://schemas.microsoft.com/office/drawing/2014/main" val="1496280612"/>
                  </a:ext>
                </a:extLst>
              </a:tr>
              <a:tr h="370840">
                <a:tc>
                  <a:txBody>
                    <a:bodyPr/>
                    <a:lstStyle/>
                    <a:p>
                      <a:r>
                        <a:rPr lang="en-US" sz="1200" dirty="0">
                          <a:latin typeface="Avenir Book" panose="02000503020000020003" pitchFamily="2"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Avenir Book" panose="02000503020000020003" pitchFamily="2" charset="0"/>
                        </a:rPr>
                        <a:t>Javascript</a:t>
                      </a:r>
                      <a:r>
                        <a:rPr lang="en-US" sz="1200" dirty="0">
                          <a:latin typeface="Avenir Book" panose="02000503020000020003" pitchFamily="2" charset="0"/>
                        </a:rPr>
                        <a:t> I: Algorithms and Data Structures</a:t>
                      </a:r>
                    </a:p>
                  </a:txBody>
                  <a:tcPr/>
                </a:tc>
                <a:tc>
                  <a:txBody>
                    <a:bodyPr/>
                    <a:lstStyle/>
                    <a:p>
                      <a:r>
                        <a:rPr lang="en-US" sz="1200" dirty="0">
                          <a:latin typeface="Avenir Book" panose="02000503020000020003" pitchFamily="2" charset="0"/>
                        </a:rPr>
                        <a:t>Web Developer, Mobile Developer, Software Engineer</a:t>
                      </a:r>
                    </a:p>
                  </a:txBody>
                  <a:tcPr/>
                </a:tc>
                <a:extLst>
                  <a:ext uri="{0D108BD9-81ED-4DB2-BD59-A6C34878D82A}">
                    <a16:rowId xmlns:a16="http://schemas.microsoft.com/office/drawing/2014/main" val="2533408724"/>
                  </a:ext>
                </a:extLst>
              </a:tr>
              <a:tr h="370840">
                <a:tc>
                  <a:txBody>
                    <a:bodyPr/>
                    <a:lstStyle/>
                    <a:p>
                      <a:r>
                        <a:rPr lang="en-US" sz="1200" dirty="0">
                          <a:latin typeface="Avenir Book" panose="02000503020000020003"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Front End Development</a:t>
                      </a:r>
                    </a:p>
                  </a:txBody>
                  <a:tcPr/>
                </a:tc>
                <a:tc>
                  <a:txBody>
                    <a:bodyPr/>
                    <a:lstStyle/>
                    <a:p>
                      <a:r>
                        <a:rPr lang="en-US" sz="1200" dirty="0">
                          <a:latin typeface="Avenir Book" panose="02000503020000020003" pitchFamily="2" charset="0"/>
                        </a:rPr>
                        <a:t>Front End Developer, UI/UX Engineer, Product Designer, Web Designer</a:t>
                      </a:r>
                    </a:p>
                  </a:txBody>
                  <a:tcPr/>
                </a:tc>
                <a:extLst>
                  <a:ext uri="{0D108BD9-81ED-4DB2-BD59-A6C34878D82A}">
                    <a16:rowId xmlns:a16="http://schemas.microsoft.com/office/drawing/2014/main" val="2212309105"/>
                  </a:ext>
                </a:extLst>
              </a:tr>
              <a:tr h="370840">
                <a:tc>
                  <a:txBody>
                    <a:bodyPr/>
                    <a:lstStyle/>
                    <a:p>
                      <a:r>
                        <a:rPr lang="en-US" sz="1200" dirty="0">
                          <a:latin typeface="Avenir Book" panose="02000503020000020003" pitchFamily="2" charset="0"/>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Data Visualization</a:t>
                      </a:r>
                    </a:p>
                  </a:txBody>
                  <a:tcPr/>
                </a:tc>
                <a:tc>
                  <a:txBody>
                    <a:bodyPr/>
                    <a:lstStyle/>
                    <a:p>
                      <a:r>
                        <a:rPr lang="en-US" sz="1200" dirty="0">
                          <a:latin typeface="Avenir Book" panose="02000503020000020003" pitchFamily="2" charset="0"/>
                        </a:rPr>
                        <a:t>Data Architect, Data Analyst, Data Engineer, Data Scientist</a:t>
                      </a:r>
                    </a:p>
                  </a:txBody>
                  <a:tcPr/>
                </a:tc>
                <a:extLst>
                  <a:ext uri="{0D108BD9-81ED-4DB2-BD59-A6C34878D82A}">
                    <a16:rowId xmlns:a16="http://schemas.microsoft.com/office/drawing/2014/main" val="2354838890"/>
                  </a:ext>
                </a:extLst>
              </a:tr>
              <a:tr h="370840">
                <a:tc>
                  <a:txBody>
                    <a:bodyPr/>
                    <a:lstStyle/>
                    <a:p>
                      <a:r>
                        <a:rPr lang="en-US" sz="1200" dirty="0">
                          <a:latin typeface="Avenir Book" panose="02000503020000020003" pitchFamily="2"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Avenir Book" panose="02000503020000020003" pitchFamily="2" charset="0"/>
                        </a:rPr>
                        <a:t>Javascript</a:t>
                      </a:r>
                      <a:r>
                        <a:rPr lang="en-US" sz="1200" dirty="0">
                          <a:latin typeface="Avenir Book" panose="02000503020000020003" pitchFamily="2" charset="0"/>
                        </a:rPr>
                        <a:t> II: APIs &amp; Microservices</a:t>
                      </a:r>
                    </a:p>
                  </a:txBody>
                  <a:tcPr/>
                </a:tc>
                <a:tc>
                  <a:txBody>
                    <a:bodyPr/>
                    <a:lstStyle/>
                    <a:p>
                      <a:r>
                        <a:rPr lang="en-US" sz="1200" dirty="0">
                          <a:latin typeface="Avenir Book" panose="02000503020000020003" pitchFamily="2" charset="0"/>
                        </a:rPr>
                        <a:t>Senior Web Developer, Senior Mobile Developer, Senior Software Engineer</a:t>
                      </a:r>
                    </a:p>
                  </a:txBody>
                  <a:tcPr/>
                </a:tc>
                <a:extLst>
                  <a:ext uri="{0D108BD9-81ED-4DB2-BD59-A6C34878D82A}">
                    <a16:rowId xmlns:a16="http://schemas.microsoft.com/office/drawing/2014/main" val="1487777778"/>
                  </a:ext>
                </a:extLst>
              </a:tr>
              <a:tr h="370840">
                <a:tc>
                  <a:txBody>
                    <a:bodyPr/>
                    <a:lstStyle/>
                    <a:p>
                      <a:r>
                        <a:rPr lang="en-US" sz="1200" dirty="0">
                          <a:latin typeface="Avenir Book" panose="02000503020000020003" pitchFamily="2"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Quality Assurance</a:t>
                      </a:r>
                    </a:p>
                  </a:txBody>
                  <a:tcPr/>
                </a:tc>
                <a:tc>
                  <a:txBody>
                    <a:bodyPr/>
                    <a:lstStyle/>
                    <a:p>
                      <a:r>
                        <a:rPr lang="en-US" sz="1200" dirty="0">
                          <a:latin typeface="Avenir Book" panose="02000503020000020003" pitchFamily="2" charset="0"/>
                        </a:rPr>
                        <a:t>Quality Assurance Specialist</a:t>
                      </a:r>
                    </a:p>
                  </a:txBody>
                  <a:tcPr/>
                </a:tc>
                <a:extLst>
                  <a:ext uri="{0D108BD9-81ED-4DB2-BD59-A6C34878D82A}">
                    <a16:rowId xmlns:a16="http://schemas.microsoft.com/office/drawing/2014/main" val="511243816"/>
                  </a:ext>
                </a:extLst>
              </a:tr>
              <a:tr h="370840">
                <a:tc>
                  <a:txBody>
                    <a:bodyPr/>
                    <a:lstStyle/>
                    <a:p>
                      <a:r>
                        <a:rPr lang="en-US" sz="1200" dirty="0">
                          <a:latin typeface="Avenir Book" panose="02000503020000020003" pitchFamily="2"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Python I: Scientific Computing</a:t>
                      </a:r>
                    </a:p>
                  </a:txBody>
                  <a:tcPr/>
                </a:tc>
                <a:tc>
                  <a:txBody>
                    <a:bodyPr/>
                    <a:lstStyle/>
                    <a:p>
                      <a:r>
                        <a:rPr lang="en-US" sz="1200" dirty="0">
                          <a:latin typeface="Avenir Book" panose="02000503020000020003" pitchFamily="2" charset="0"/>
                        </a:rPr>
                        <a:t>Data Analyst, Data Engineer, Data Scientist</a:t>
                      </a:r>
                    </a:p>
                  </a:txBody>
                  <a:tcPr/>
                </a:tc>
                <a:extLst>
                  <a:ext uri="{0D108BD9-81ED-4DB2-BD59-A6C34878D82A}">
                    <a16:rowId xmlns:a16="http://schemas.microsoft.com/office/drawing/2014/main" val="3528345441"/>
                  </a:ext>
                </a:extLst>
              </a:tr>
              <a:tr h="370840">
                <a:tc>
                  <a:txBody>
                    <a:bodyPr/>
                    <a:lstStyle/>
                    <a:p>
                      <a:r>
                        <a:rPr lang="en-US" sz="1200" dirty="0">
                          <a:latin typeface="Avenir Book" panose="02000503020000020003" pitchFamily="2" charset="0"/>
                        </a:rPr>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Python II: Data Analysis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Data Analyst, Data Engineer, Data Scientist</a:t>
                      </a:r>
                    </a:p>
                  </a:txBody>
                  <a:tcPr/>
                </a:tc>
                <a:extLst>
                  <a:ext uri="{0D108BD9-81ED-4DB2-BD59-A6C34878D82A}">
                    <a16:rowId xmlns:a16="http://schemas.microsoft.com/office/drawing/2014/main" val="95491399"/>
                  </a:ext>
                </a:extLst>
              </a:tr>
              <a:tr h="370840">
                <a:tc>
                  <a:txBody>
                    <a:bodyPr/>
                    <a:lstStyle/>
                    <a:p>
                      <a:r>
                        <a:rPr lang="en-US" sz="1200" dirty="0">
                          <a:latin typeface="Avenir Book" panose="02000503020000020003" pitchFamily="2" charset="0"/>
                        </a:rPr>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Python III: Machine Learning</a:t>
                      </a:r>
                    </a:p>
                  </a:txBody>
                  <a:tcPr/>
                </a:tc>
                <a:tc>
                  <a:txBody>
                    <a:bodyPr/>
                    <a:lstStyle/>
                    <a:p>
                      <a:r>
                        <a:rPr lang="en-US" sz="1200" dirty="0">
                          <a:latin typeface="Avenir Book" panose="02000503020000020003" pitchFamily="2" charset="0"/>
                        </a:rPr>
                        <a:t>Data Scientist, Machine Learning Engineer</a:t>
                      </a:r>
                    </a:p>
                  </a:txBody>
                  <a:tcPr/>
                </a:tc>
                <a:extLst>
                  <a:ext uri="{0D108BD9-81ED-4DB2-BD59-A6C34878D82A}">
                    <a16:rowId xmlns:a16="http://schemas.microsoft.com/office/drawing/2014/main" val="2538350212"/>
                  </a:ext>
                </a:extLst>
              </a:tr>
              <a:tr h="370840">
                <a:tc>
                  <a:txBody>
                    <a:bodyPr/>
                    <a:lstStyle/>
                    <a:p>
                      <a:r>
                        <a:rPr lang="en-US" sz="1200" dirty="0">
                          <a:latin typeface="Avenir Book" panose="02000503020000020003" pitchFamily="2" charset="0"/>
                        </a:rPr>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Information Security</a:t>
                      </a:r>
                    </a:p>
                  </a:txBody>
                  <a:tcPr/>
                </a:tc>
                <a:tc>
                  <a:txBody>
                    <a:bodyPr/>
                    <a:lstStyle/>
                    <a:p>
                      <a:r>
                        <a:rPr lang="en-US" sz="1200" dirty="0">
                          <a:latin typeface="Avenir Book" panose="02000503020000020003" pitchFamily="2" charset="0"/>
                        </a:rPr>
                        <a:t>IT Security Consultant, Security Engineer, Security Administrator</a:t>
                      </a:r>
                    </a:p>
                  </a:txBody>
                  <a:tcPr/>
                </a:tc>
                <a:extLst>
                  <a:ext uri="{0D108BD9-81ED-4DB2-BD59-A6C34878D82A}">
                    <a16:rowId xmlns:a16="http://schemas.microsoft.com/office/drawing/2014/main" val="3194725505"/>
                  </a:ext>
                </a:extLst>
              </a:tr>
              <a:tr h="370840">
                <a:tc>
                  <a:txBody>
                    <a:bodyPr/>
                    <a:lstStyle/>
                    <a:p>
                      <a:r>
                        <a:rPr lang="en-US" sz="1200" dirty="0">
                          <a:latin typeface="Avenir Book" panose="02000503020000020003" pitchFamily="2" charset="0"/>
                        </a:rPr>
                        <a:t>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Renewable Energy</a:t>
                      </a:r>
                    </a:p>
                  </a:txBody>
                  <a:tcPr/>
                </a:tc>
                <a:tc>
                  <a:txBody>
                    <a:bodyPr/>
                    <a:lstStyle/>
                    <a:p>
                      <a:r>
                        <a:rPr lang="en-US" sz="1200" dirty="0">
                          <a:latin typeface="Avenir Book" panose="02000503020000020003" pitchFamily="2" charset="0"/>
                        </a:rPr>
                        <a:t>Solar Engineer, Renewable Energy Engineer, Solar Energy Trainer</a:t>
                      </a:r>
                    </a:p>
                  </a:txBody>
                  <a:tcPr/>
                </a:tc>
                <a:extLst>
                  <a:ext uri="{0D108BD9-81ED-4DB2-BD59-A6C34878D82A}">
                    <a16:rowId xmlns:a16="http://schemas.microsoft.com/office/drawing/2014/main" val="3544624072"/>
                  </a:ext>
                </a:extLst>
              </a:tr>
            </a:tbl>
          </a:graphicData>
        </a:graphic>
      </p:graphicFrame>
    </p:spTree>
    <p:extLst>
      <p:ext uri="{BB962C8B-B14F-4D97-AF65-F5344CB8AC3E}">
        <p14:creationId xmlns:p14="http://schemas.microsoft.com/office/powerpoint/2010/main" val="404569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284343"/>
          </a:xfrm>
          <a:prstGeom prst="rect">
            <a:avLst/>
          </a:prstGeom>
          <a:noFill/>
        </p:spPr>
        <p:txBody>
          <a:bodyPr wrap="square" rtlCol="0">
            <a:spAutoFit/>
          </a:bodyPr>
          <a:lstStyle/>
          <a:p>
            <a:pPr lvl="0">
              <a:lnSpc>
                <a:spcPct val="150000"/>
              </a:lnSpc>
            </a:pPr>
            <a:r>
              <a:rPr lang="en-US" sz="1200" dirty="0">
                <a:latin typeface="Avenir Book" panose="02000503020000020003"/>
              </a:rPr>
              <a:t>In the Responsive Web Design Certification, participants will learn the languages that developers use to build webpages: HTML (Hypertext Markup Language) for content, and CSS (Cascading Style Sheets) for design.</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First, participants will build a cat photo app to learn the basics of HTML and CSS. Later, they will learn modern techniques like CSS variables by building a penguin, and best practices for accessibility by building a web form.</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Finally, participants will learn how to make webpages that respond to different screen sizes by building a Twitter card with Flexbox, and a complex blog layout with CSS Grid.</a:t>
            </a:r>
            <a:endParaRPr lang="en-US" sz="1200" b="1" dirty="0">
              <a:latin typeface="Avenir Book" panose="02000503020000020003"/>
            </a:endParaRP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Responsive Web Design</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3863025"/>
            <a:ext cx="3756993" cy="2284343"/>
          </a:xfrm>
          <a:prstGeom prst="rect">
            <a:avLst/>
          </a:prstGeom>
          <a:noFill/>
        </p:spPr>
        <p:txBody>
          <a:bodyPr wrap="square" rtlCol="0">
            <a:spAutoFit/>
          </a:bodyPr>
          <a:lstStyle/>
          <a:p>
            <a:pPr lvl="0">
              <a:lnSpc>
                <a:spcPct val="150000"/>
              </a:lnSpc>
            </a:pPr>
            <a:r>
              <a:rPr lang="en-US" sz="1200" b="1" dirty="0">
                <a:latin typeface="Avenir Book" panose="02000503020000020003"/>
              </a:rPr>
              <a:t>Courses </a:t>
            </a:r>
          </a:p>
          <a:p>
            <a:pPr marL="228600" lvl="0" indent="-228600">
              <a:lnSpc>
                <a:spcPct val="150000"/>
              </a:lnSpc>
              <a:buFont typeface="+mj-lt"/>
              <a:buAutoNum type="arabicPeriod"/>
            </a:pPr>
            <a:r>
              <a:rPr lang="en-US" sz="1200" dirty="0">
                <a:latin typeface="Avenir Book" panose="02000503020000020003"/>
              </a:rPr>
              <a:t>Basic HTML &amp; HTML5</a:t>
            </a:r>
          </a:p>
          <a:p>
            <a:pPr marL="228600" lvl="0" indent="-228600">
              <a:lnSpc>
                <a:spcPct val="150000"/>
              </a:lnSpc>
              <a:buFont typeface="+mj-lt"/>
              <a:buAutoNum type="arabicPeriod"/>
            </a:pPr>
            <a:r>
              <a:rPr lang="en-US" sz="1200" dirty="0">
                <a:latin typeface="Avenir Book" panose="02000503020000020003"/>
              </a:rPr>
              <a:t>Basic CSS</a:t>
            </a:r>
          </a:p>
          <a:p>
            <a:pPr marL="228600" lvl="0" indent="-228600">
              <a:lnSpc>
                <a:spcPct val="150000"/>
              </a:lnSpc>
              <a:buFont typeface="+mj-lt"/>
              <a:buAutoNum type="arabicPeriod"/>
            </a:pPr>
            <a:r>
              <a:rPr lang="en-US" sz="1200" dirty="0">
                <a:latin typeface="Avenir Book" panose="02000503020000020003"/>
              </a:rPr>
              <a:t>Applied Visual Design</a:t>
            </a:r>
          </a:p>
          <a:p>
            <a:pPr marL="228600" lvl="0" indent="-228600">
              <a:lnSpc>
                <a:spcPct val="150000"/>
              </a:lnSpc>
              <a:buFont typeface="+mj-lt"/>
              <a:buAutoNum type="arabicPeriod"/>
            </a:pPr>
            <a:r>
              <a:rPr lang="en-US" sz="1200" dirty="0">
                <a:latin typeface="Avenir Book" panose="02000503020000020003"/>
              </a:rPr>
              <a:t>Responsive Web Design Principles</a:t>
            </a:r>
          </a:p>
          <a:p>
            <a:pPr marL="228600" lvl="0" indent="-228600">
              <a:lnSpc>
                <a:spcPct val="150000"/>
              </a:lnSpc>
              <a:buFont typeface="+mj-lt"/>
              <a:buAutoNum type="arabicPeriod"/>
            </a:pPr>
            <a:r>
              <a:rPr lang="en-US" sz="1200" dirty="0">
                <a:latin typeface="Avenir Book" panose="02000503020000020003"/>
              </a:rPr>
              <a:t>CSS Flexbox</a:t>
            </a:r>
          </a:p>
          <a:p>
            <a:pPr marL="228600" lvl="0" indent="-228600">
              <a:lnSpc>
                <a:spcPct val="150000"/>
              </a:lnSpc>
              <a:buFont typeface="+mj-lt"/>
              <a:buAutoNum type="arabicPeriod"/>
            </a:pPr>
            <a:r>
              <a:rPr lang="en-US" sz="1200" dirty="0">
                <a:latin typeface="Avenir Book" panose="02000503020000020003"/>
              </a:rPr>
              <a:t>CSS Grid</a:t>
            </a:r>
            <a:br>
              <a:rPr lang="en-US" sz="1200" b="1" dirty="0">
                <a:latin typeface="Avenir Book" panose="02000503020000020003"/>
              </a:rPr>
            </a:br>
            <a:endParaRPr lang="en-US" sz="1200" b="1"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3863025"/>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Build a Tribute Page</a:t>
            </a:r>
          </a:p>
          <a:p>
            <a:pPr marL="228600" lvl="0" indent="-228600">
              <a:lnSpc>
                <a:spcPct val="150000"/>
              </a:lnSpc>
              <a:buFont typeface="+mj-lt"/>
              <a:buAutoNum type="arabicPeriod"/>
            </a:pPr>
            <a:r>
              <a:rPr lang="en-US" sz="1200" dirty="0">
                <a:latin typeface="Avenir Book" panose="02000503020000020003"/>
              </a:rPr>
              <a:t>Build a Survey Form</a:t>
            </a:r>
          </a:p>
          <a:p>
            <a:pPr marL="228600" lvl="0" indent="-228600">
              <a:lnSpc>
                <a:spcPct val="150000"/>
              </a:lnSpc>
              <a:buFont typeface="+mj-lt"/>
              <a:buAutoNum type="arabicPeriod"/>
            </a:pPr>
            <a:r>
              <a:rPr lang="en-US" sz="1200" dirty="0">
                <a:latin typeface="Avenir Book" panose="02000503020000020003"/>
              </a:rPr>
              <a:t>Build a Product Landing Page</a:t>
            </a:r>
          </a:p>
          <a:p>
            <a:pPr marL="228600" lvl="0" indent="-228600">
              <a:lnSpc>
                <a:spcPct val="150000"/>
              </a:lnSpc>
              <a:buFont typeface="+mj-lt"/>
              <a:buAutoNum type="arabicPeriod"/>
            </a:pPr>
            <a:r>
              <a:rPr lang="en-US" sz="1200" dirty="0">
                <a:latin typeface="Avenir Book" panose="02000503020000020003"/>
              </a:rPr>
              <a:t>Build a Technical Documentation Page</a:t>
            </a:r>
          </a:p>
          <a:p>
            <a:pPr marL="228600" lvl="0" indent="-228600">
              <a:lnSpc>
                <a:spcPct val="150000"/>
              </a:lnSpc>
              <a:buFont typeface="+mj-lt"/>
              <a:buAutoNum type="arabicPeriod"/>
            </a:pPr>
            <a:r>
              <a:rPr lang="en-US" sz="1200" dirty="0">
                <a:latin typeface="Avenir Book" panose="02000503020000020003"/>
              </a:rPr>
              <a:t>Build a Personal Portfolio Webpage</a:t>
            </a:r>
            <a:endParaRPr lang="en-US" sz="1200" b="1" dirty="0">
              <a:latin typeface="Avenir Book" panose="02000503020000020003"/>
            </a:endParaRPr>
          </a:p>
        </p:txBody>
      </p:sp>
    </p:spTree>
    <p:extLst>
      <p:ext uri="{BB962C8B-B14F-4D97-AF65-F5344CB8AC3E}">
        <p14:creationId xmlns:p14="http://schemas.microsoft.com/office/powerpoint/2010/main" val="625522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561342"/>
          </a:xfrm>
          <a:prstGeom prst="rect">
            <a:avLst/>
          </a:prstGeom>
          <a:noFill/>
        </p:spPr>
        <p:txBody>
          <a:bodyPr wrap="square" rtlCol="0">
            <a:spAutoFit/>
          </a:bodyPr>
          <a:lstStyle/>
          <a:p>
            <a:pPr lvl="0">
              <a:lnSpc>
                <a:spcPct val="150000"/>
              </a:lnSpc>
            </a:pPr>
            <a:r>
              <a:rPr lang="en-US" sz="1200" dirty="0">
                <a:latin typeface="Avenir Book" panose="02000503020000020003"/>
              </a:rPr>
              <a:t>While HTML and CSS control the content and styling of a page, JavaScript is used to make it interactive. In the JavaScript Algorithm and Data Structures Certification, participants will learn the fundamentals of JavaScript including variables, arrays, objects, loops, and functions.</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Once they have the fundamentals down, they’ll apply that knowledge by creating algorithms to manipulate strings, </a:t>
            </a:r>
            <a:r>
              <a:rPr lang="en-US" sz="1200" dirty="0" err="1">
                <a:latin typeface="Avenir Book" panose="02000503020000020003"/>
              </a:rPr>
              <a:t>factorialize</a:t>
            </a:r>
            <a:r>
              <a:rPr lang="en-US" sz="1200" dirty="0">
                <a:latin typeface="Avenir Book" panose="02000503020000020003"/>
              </a:rPr>
              <a:t> numbers, and even calculate the orbit of the International Space Station.</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Along the way, participants will also learn two important programing styles or paradigms: Object Oriented Programing (OOP), and Functional Programing (FP).</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JavaScript I: Algorithms and Data Structures</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3115340"/>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a:latin typeface="Avenir Book" panose="02000503020000020003"/>
              </a:rPr>
              <a:t>Basic </a:t>
            </a:r>
            <a:r>
              <a:rPr lang="en-US" sz="1200" dirty="0" err="1">
                <a:latin typeface="Avenir Book" panose="02000503020000020003"/>
              </a:rPr>
              <a:t>Javascript</a:t>
            </a:r>
            <a:endParaRPr lang="en-US" sz="1200" dirty="0">
              <a:latin typeface="Avenir Book" panose="02000503020000020003"/>
            </a:endParaRPr>
          </a:p>
          <a:p>
            <a:pPr marL="228600" lvl="0" indent="-228600">
              <a:lnSpc>
                <a:spcPct val="150000"/>
              </a:lnSpc>
              <a:buFont typeface="+mj-lt"/>
              <a:buAutoNum type="arabicPeriod"/>
            </a:pPr>
            <a:r>
              <a:rPr lang="en-US" sz="1200" dirty="0">
                <a:latin typeface="Avenir Book" panose="02000503020000020003"/>
              </a:rPr>
              <a:t>ES6</a:t>
            </a:r>
          </a:p>
          <a:p>
            <a:pPr marL="228600" lvl="0" indent="-228600">
              <a:lnSpc>
                <a:spcPct val="150000"/>
              </a:lnSpc>
              <a:buFont typeface="+mj-lt"/>
              <a:buAutoNum type="arabicPeriod"/>
            </a:pPr>
            <a:r>
              <a:rPr lang="en-US" sz="1200" dirty="0">
                <a:latin typeface="Avenir Book" panose="02000503020000020003"/>
              </a:rPr>
              <a:t>Regular Expressions</a:t>
            </a:r>
          </a:p>
          <a:p>
            <a:pPr marL="228600" lvl="0" indent="-228600">
              <a:lnSpc>
                <a:spcPct val="150000"/>
              </a:lnSpc>
              <a:buFont typeface="+mj-lt"/>
              <a:buAutoNum type="arabicPeriod"/>
            </a:pPr>
            <a:r>
              <a:rPr lang="en-US" sz="1200" dirty="0">
                <a:latin typeface="Avenir Book" panose="02000503020000020003"/>
              </a:rPr>
              <a:t>Debugging</a:t>
            </a:r>
          </a:p>
          <a:p>
            <a:pPr marL="228600" lvl="0" indent="-228600">
              <a:lnSpc>
                <a:spcPct val="150000"/>
              </a:lnSpc>
              <a:buFont typeface="+mj-lt"/>
              <a:buAutoNum type="arabicPeriod"/>
            </a:pPr>
            <a:r>
              <a:rPr lang="en-US" sz="1200" dirty="0">
                <a:latin typeface="Avenir Book" panose="02000503020000020003"/>
              </a:rPr>
              <a:t>Basic Data Structures</a:t>
            </a:r>
          </a:p>
          <a:p>
            <a:pPr marL="228600" lvl="0" indent="-228600">
              <a:lnSpc>
                <a:spcPct val="150000"/>
              </a:lnSpc>
              <a:buFont typeface="+mj-lt"/>
              <a:buAutoNum type="arabicPeriod"/>
            </a:pPr>
            <a:r>
              <a:rPr lang="en-US" sz="1200" dirty="0">
                <a:latin typeface="Avenir Book" panose="02000503020000020003"/>
              </a:rPr>
              <a:t>Basic Algorithm Scripting</a:t>
            </a:r>
          </a:p>
          <a:p>
            <a:pPr marL="228600" lvl="0" indent="-228600">
              <a:lnSpc>
                <a:spcPct val="150000"/>
              </a:lnSpc>
              <a:buFont typeface="+mj-lt"/>
              <a:buAutoNum type="arabicPeriod"/>
            </a:pPr>
            <a:r>
              <a:rPr lang="en-US" sz="1200" dirty="0">
                <a:latin typeface="Avenir Book" panose="02000503020000020003"/>
              </a:rPr>
              <a:t>Object Oriented Programming</a:t>
            </a:r>
          </a:p>
          <a:p>
            <a:pPr marL="228600" lvl="0" indent="-228600">
              <a:lnSpc>
                <a:spcPct val="150000"/>
              </a:lnSpc>
              <a:buFont typeface="+mj-lt"/>
              <a:buAutoNum type="arabicPeriod"/>
            </a:pPr>
            <a:r>
              <a:rPr lang="en-US" sz="1200" dirty="0">
                <a:latin typeface="Avenir Book" panose="02000503020000020003"/>
              </a:rPr>
              <a:t>Functional Programming</a:t>
            </a:r>
          </a:p>
          <a:p>
            <a:pPr marL="228600" lvl="0" indent="-228600">
              <a:lnSpc>
                <a:spcPct val="150000"/>
              </a:lnSpc>
              <a:buFont typeface="+mj-lt"/>
              <a:buAutoNum type="arabicPeriod"/>
            </a:pPr>
            <a:r>
              <a:rPr lang="en-US" sz="1200" dirty="0">
                <a:latin typeface="Avenir Book" panose="02000503020000020003"/>
              </a:rPr>
              <a:t>Intermediate Algorithm Scripting</a:t>
            </a:r>
            <a:br>
              <a:rPr lang="en-US" sz="1200" dirty="0">
                <a:latin typeface="Avenir Book" panose="02000503020000020003"/>
              </a:rPr>
            </a:b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Palindrome Checker</a:t>
            </a:r>
          </a:p>
          <a:p>
            <a:pPr marL="228600" lvl="0" indent="-228600">
              <a:lnSpc>
                <a:spcPct val="150000"/>
              </a:lnSpc>
              <a:buFont typeface="+mj-lt"/>
              <a:buAutoNum type="arabicPeriod"/>
            </a:pPr>
            <a:r>
              <a:rPr lang="en-US" sz="1200" dirty="0">
                <a:latin typeface="Avenir Book" panose="02000503020000020003"/>
              </a:rPr>
              <a:t>Roman Numeral Converter</a:t>
            </a:r>
          </a:p>
          <a:p>
            <a:pPr marL="228600" lvl="0" indent="-228600">
              <a:lnSpc>
                <a:spcPct val="150000"/>
              </a:lnSpc>
              <a:buFont typeface="+mj-lt"/>
              <a:buAutoNum type="arabicPeriod"/>
            </a:pPr>
            <a:r>
              <a:rPr lang="en-US" sz="1200" dirty="0">
                <a:latin typeface="Avenir Book" panose="02000503020000020003"/>
              </a:rPr>
              <a:t>Caesars Cipher</a:t>
            </a:r>
          </a:p>
          <a:p>
            <a:pPr marL="228600" lvl="0" indent="-228600">
              <a:lnSpc>
                <a:spcPct val="150000"/>
              </a:lnSpc>
              <a:buFont typeface="+mj-lt"/>
              <a:buAutoNum type="arabicPeriod"/>
            </a:pPr>
            <a:r>
              <a:rPr lang="en-US" sz="1200" dirty="0">
                <a:latin typeface="Avenir Book" panose="02000503020000020003"/>
              </a:rPr>
              <a:t>Telephone Number Validator</a:t>
            </a:r>
          </a:p>
          <a:p>
            <a:pPr marL="228600" lvl="0" indent="-228600">
              <a:lnSpc>
                <a:spcPct val="150000"/>
              </a:lnSpc>
              <a:buFont typeface="+mj-lt"/>
              <a:buAutoNum type="arabicPeriod"/>
            </a:pPr>
            <a:r>
              <a:rPr lang="en-US" sz="1200" dirty="0">
                <a:latin typeface="Avenir Book" panose="02000503020000020003"/>
              </a:rPr>
              <a:t>Cash Register</a:t>
            </a:r>
          </a:p>
        </p:txBody>
      </p:sp>
    </p:spTree>
    <p:extLst>
      <p:ext uri="{BB962C8B-B14F-4D97-AF65-F5344CB8AC3E}">
        <p14:creationId xmlns:p14="http://schemas.microsoft.com/office/powerpoint/2010/main" val="329318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284343"/>
          </a:xfrm>
          <a:prstGeom prst="rect">
            <a:avLst/>
          </a:prstGeom>
          <a:noFill/>
        </p:spPr>
        <p:txBody>
          <a:bodyPr wrap="square" rtlCol="0">
            <a:spAutoFit/>
          </a:bodyPr>
          <a:lstStyle/>
          <a:p>
            <a:pPr lvl="0">
              <a:lnSpc>
                <a:spcPct val="150000"/>
              </a:lnSpc>
            </a:pPr>
            <a:r>
              <a:rPr lang="en-US" sz="1200" dirty="0">
                <a:latin typeface="Avenir Book" panose="02000503020000020003"/>
              </a:rPr>
              <a:t>Once participants are familiar with HTML, CSS, and JavaScript, they will level up their skills by learning some of the most popular front-end libraries in the industry.</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In the Front End Libraries Certification, you'll learn how to style your site quickly with Bootstrap. You'll also learn how add logic to your CSS styles and extend them with Sass.</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Later, you'll build a shopping cart and other applications to learn how to create powerful Single Page Applications (SPAs) with React and Redux.</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Front End Development Libraries</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2561342"/>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a:latin typeface="Avenir Book" panose="02000503020000020003"/>
              </a:rPr>
              <a:t>Bootstrap</a:t>
            </a:r>
          </a:p>
          <a:p>
            <a:pPr marL="228600" lvl="0" indent="-228600">
              <a:lnSpc>
                <a:spcPct val="150000"/>
              </a:lnSpc>
              <a:buFont typeface="+mj-lt"/>
              <a:buAutoNum type="arabicPeriod"/>
            </a:pPr>
            <a:r>
              <a:rPr lang="en-US" sz="1200" dirty="0">
                <a:latin typeface="Avenir Book" panose="02000503020000020003"/>
              </a:rPr>
              <a:t>jQuery</a:t>
            </a:r>
          </a:p>
          <a:p>
            <a:pPr marL="228600" lvl="0" indent="-228600">
              <a:lnSpc>
                <a:spcPct val="150000"/>
              </a:lnSpc>
              <a:buFont typeface="+mj-lt"/>
              <a:buAutoNum type="arabicPeriod"/>
            </a:pPr>
            <a:r>
              <a:rPr lang="en-US" sz="1200" dirty="0">
                <a:latin typeface="Avenir Book" panose="02000503020000020003"/>
              </a:rPr>
              <a:t>SASS</a:t>
            </a:r>
          </a:p>
          <a:p>
            <a:pPr marL="228600" lvl="0" indent="-228600">
              <a:lnSpc>
                <a:spcPct val="150000"/>
              </a:lnSpc>
              <a:buFont typeface="+mj-lt"/>
              <a:buAutoNum type="arabicPeriod"/>
            </a:pPr>
            <a:r>
              <a:rPr lang="en-US" sz="1200" dirty="0">
                <a:latin typeface="Avenir Book" panose="02000503020000020003"/>
              </a:rPr>
              <a:t>React</a:t>
            </a:r>
          </a:p>
          <a:p>
            <a:pPr marL="228600" lvl="0" indent="-228600">
              <a:lnSpc>
                <a:spcPct val="150000"/>
              </a:lnSpc>
              <a:buFont typeface="+mj-lt"/>
              <a:buAutoNum type="arabicPeriod"/>
            </a:pPr>
            <a:r>
              <a:rPr lang="en-US" sz="1200" dirty="0">
                <a:latin typeface="Avenir Book" panose="02000503020000020003"/>
              </a:rPr>
              <a:t>Redux</a:t>
            </a:r>
          </a:p>
          <a:p>
            <a:pPr marL="228600" lvl="0" indent="-228600">
              <a:lnSpc>
                <a:spcPct val="150000"/>
              </a:lnSpc>
              <a:buFont typeface="+mj-lt"/>
              <a:buAutoNum type="arabicPeriod"/>
            </a:pPr>
            <a:r>
              <a:rPr lang="en-US" sz="1200" dirty="0">
                <a:latin typeface="Avenir Book" panose="02000503020000020003"/>
              </a:rPr>
              <a:t>React &amp; Redux</a:t>
            </a: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Build a Random Quote Machine</a:t>
            </a:r>
          </a:p>
          <a:p>
            <a:pPr marL="228600" lvl="0" indent="-228600">
              <a:lnSpc>
                <a:spcPct val="150000"/>
              </a:lnSpc>
              <a:buFont typeface="+mj-lt"/>
              <a:buAutoNum type="arabicPeriod"/>
            </a:pPr>
            <a:r>
              <a:rPr lang="en-US" sz="1200" dirty="0">
                <a:latin typeface="Avenir Book" panose="02000503020000020003"/>
              </a:rPr>
              <a:t>Build a Markdown Previewer</a:t>
            </a:r>
          </a:p>
          <a:p>
            <a:pPr marL="228600" lvl="0" indent="-228600">
              <a:lnSpc>
                <a:spcPct val="150000"/>
              </a:lnSpc>
              <a:buFont typeface="+mj-lt"/>
              <a:buAutoNum type="arabicPeriod"/>
            </a:pPr>
            <a:r>
              <a:rPr lang="en-US" sz="1200" dirty="0">
                <a:latin typeface="Avenir Book" panose="02000503020000020003"/>
              </a:rPr>
              <a:t>Build a Drum Machine</a:t>
            </a:r>
          </a:p>
          <a:p>
            <a:pPr marL="228600" lvl="0" indent="-228600">
              <a:lnSpc>
                <a:spcPct val="150000"/>
              </a:lnSpc>
              <a:buFont typeface="+mj-lt"/>
              <a:buAutoNum type="arabicPeriod"/>
            </a:pPr>
            <a:r>
              <a:rPr lang="en-US" sz="1200" dirty="0">
                <a:latin typeface="Avenir Book" panose="02000503020000020003"/>
              </a:rPr>
              <a:t>Build a JavaScript Calculator</a:t>
            </a:r>
          </a:p>
          <a:p>
            <a:pPr marL="228600" lvl="0" indent="-228600">
              <a:lnSpc>
                <a:spcPct val="150000"/>
              </a:lnSpc>
              <a:buFont typeface="+mj-lt"/>
              <a:buAutoNum type="arabicPeriod"/>
            </a:pPr>
            <a:r>
              <a:rPr lang="en-US" sz="1200" dirty="0">
                <a:latin typeface="Avenir Book" panose="02000503020000020003"/>
              </a:rPr>
              <a:t>Build a 25 + 5 Clock</a:t>
            </a:r>
          </a:p>
        </p:txBody>
      </p:sp>
    </p:spTree>
    <p:extLst>
      <p:ext uri="{BB962C8B-B14F-4D97-AF65-F5344CB8AC3E}">
        <p14:creationId xmlns:p14="http://schemas.microsoft.com/office/powerpoint/2010/main" val="3857556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1453347"/>
          </a:xfrm>
          <a:prstGeom prst="rect">
            <a:avLst/>
          </a:prstGeom>
          <a:noFill/>
        </p:spPr>
        <p:txBody>
          <a:bodyPr wrap="square" rtlCol="0">
            <a:spAutoFit/>
          </a:bodyPr>
          <a:lstStyle/>
          <a:p>
            <a:pPr lvl="0">
              <a:lnSpc>
                <a:spcPct val="150000"/>
              </a:lnSpc>
            </a:pPr>
            <a:r>
              <a:rPr lang="en-US" sz="1200" dirty="0">
                <a:latin typeface="Avenir Book" panose="02000503020000020003"/>
              </a:rPr>
              <a:t>Data is all around us, but it doesn't mean much without shape or context. In the Data Visualization Certification, participants will build charts, graphs, and maps to present different types of data with the D3.js library.</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You'll also learn about JSON (JavaScript Object Notation), and how to work with data online using an API (Application Programing Interface).</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Data Visualization</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3575353"/>
            <a:ext cx="3756993" cy="1176348"/>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a:latin typeface="Avenir Book" panose="02000503020000020003"/>
              </a:rPr>
              <a:t>Data Visualization with D3</a:t>
            </a:r>
          </a:p>
          <a:p>
            <a:pPr marL="228600" lvl="0" indent="-228600">
              <a:lnSpc>
                <a:spcPct val="150000"/>
              </a:lnSpc>
              <a:buFont typeface="+mj-lt"/>
              <a:buAutoNum type="arabicPeriod"/>
            </a:pPr>
            <a:r>
              <a:rPr lang="en-US" sz="1200" dirty="0">
                <a:latin typeface="Avenir Book" panose="02000503020000020003"/>
              </a:rPr>
              <a:t>JSON APIs and AJAX</a:t>
            </a:r>
            <a:br>
              <a:rPr lang="en-US" sz="1200" dirty="0">
                <a:latin typeface="Avenir Book" panose="02000503020000020003"/>
              </a:rPr>
            </a:b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357535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Visualize Data with a Bar Chart</a:t>
            </a:r>
          </a:p>
          <a:p>
            <a:pPr marL="228600" lvl="0" indent="-228600">
              <a:lnSpc>
                <a:spcPct val="150000"/>
              </a:lnSpc>
              <a:buFont typeface="+mj-lt"/>
              <a:buAutoNum type="arabicPeriod"/>
            </a:pPr>
            <a:r>
              <a:rPr lang="en-US" sz="1200" dirty="0">
                <a:latin typeface="Avenir Book" panose="02000503020000020003"/>
              </a:rPr>
              <a:t>Visualize Data with a Scatterplot Graph</a:t>
            </a:r>
          </a:p>
          <a:p>
            <a:pPr marL="228600" lvl="0" indent="-228600">
              <a:lnSpc>
                <a:spcPct val="150000"/>
              </a:lnSpc>
              <a:buFont typeface="+mj-lt"/>
              <a:buAutoNum type="arabicPeriod"/>
            </a:pPr>
            <a:r>
              <a:rPr lang="en-US" sz="1200" dirty="0">
                <a:latin typeface="Avenir Book" panose="02000503020000020003"/>
              </a:rPr>
              <a:t>Visualize Data with a Heat Map</a:t>
            </a:r>
          </a:p>
          <a:p>
            <a:pPr marL="228600" lvl="0" indent="-228600">
              <a:lnSpc>
                <a:spcPct val="150000"/>
              </a:lnSpc>
              <a:buFont typeface="+mj-lt"/>
              <a:buAutoNum type="arabicPeriod"/>
            </a:pPr>
            <a:r>
              <a:rPr lang="en-US" sz="1200" dirty="0">
                <a:latin typeface="Avenir Book" panose="02000503020000020003"/>
              </a:rPr>
              <a:t>Visualize Data with a Choropleth Map</a:t>
            </a:r>
          </a:p>
          <a:p>
            <a:pPr marL="228600" lvl="0" indent="-228600">
              <a:lnSpc>
                <a:spcPct val="150000"/>
              </a:lnSpc>
              <a:buFont typeface="+mj-lt"/>
              <a:buAutoNum type="arabicPeriod"/>
            </a:pPr>
            <a:r>
              <a:rPr lang="en-US" sz="1200" dirty="0">
                <a:latin typeface="Avenir Book" panose="02000503020000020003"/>
              </a:rPr>
              <a:t>Visualize Data with a </a:t>
            </a:r>
            <a:r>
              <a:rPr lang="en-US" sz="1200" dirty="0" err="1">
                <a:latin typeface="Avenir Book" panose="02000503020000020003"/>
              </a:rPr>
              <a:t>Treemap</a:t>
            </a:r>
            <a:r>
              <a:rPr lang="en-US" sz="1200" dirty="0">
                <a:latin typeface="Avenir Book" panose="02000503020000020003"/>
              </a:rPr>
              <a:t> Diagram</a:t>
            </a:r>
          </a:p>
        </p:txBody>
      </p:sp>
    </p:spTree>
    <p:extLst>
      <p:ext uri="{BB962C8B-B14F-4D97-AF65-F5344CB8AC3E}">
        <p14:creationId xmlns:p14="http://schemas.microsoft.com/office/powerpoint/2010/main" val="3273666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838341"/>
          </a:xfrm>
          <a:prstGeom prst="rect">
            <a:avLst/>
          </a:prstGeom>
          <a:noFill/>
        </p:spPr>
        <p:txBody>
          <a:bodyPr wrap="square" rtlCol="0">
            <a:spAutoFit/>
          </a:bodyPr>
          <a:lstStyle/>
          <a:p>
            <a:pPr lvl="0">
              <a:lnSpc>
                <a:spcPct val="150000"/>
              </a:lnSpc>
            </a:pPr>
            <a:r>
              <a:rPr lang="en-US" sz="1200" dirty="0">
                <a:latin typeface="Avenir Book" panose="02000503020000020003"/>
              </a:rPr>
              <a:t>Until this point, participants have only used JavaScript on the front end to add interactivity to a page, solve algorithm challenges, or build an SPA. But JavaScript can also be used on the back end, or server, to build entire web applications.</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Today, one of the popular ways to build applications is through microservices, which are small, modular applications that work together to form a larger whole.</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In the APIs and Microservices Certification, participants will learn how to write back end-ready with Node.js and </a:t>
            </a:r>
            <a:r>
              <a:rPr lang="en-US" sz="1200" dirty="0" err="1">
                <a:latin typeface="Avenir Book" panose="02000503020000020003"/>
              </a:rPr>
              <a:t>npm</a:t>
            </a:r>
            <a:r>
              <a:rPr lang="en-US" sz="1200" dirty="0">
                <a:latin typeface="Avenir Book" panose="02000503020000020003"/>
              </a:rPr>
              <a:t> (Node Package Manager). They’ll also build web applications with the Express framework and build a People Finder microservice with MongoDB and the Mongoose library.</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err="1">
                <a:solidFill>
                  <a:schemeClr val="bg1"/>
                </a:solidFill>
                <a:latin typeface="Roboto Light" panose="02000000000000000000" pitchFamily="2" charset="0"/>
                <a:ea typeface="Roboto Light" panose="02000000000000000000" pitchFamily="2" charset="0"/>
              </a:rPr>
              <a:t>Javascript</a:t>
            </a:r>
            <a:r>
              <a:rPr lang="en-US" sz="2800" dirty="0">
                <a:solidFill>
                  <a:schemeClr val="bg1"/>
                </a:solidFill>
                <a:latin typeface="Roboto Light" panose="02000000000000000000" pitchFamily="2" charset="0"/>
                <a:ea typeface="Roboto Light" panose="02000000000000000000" pitchFamily="2" charset="0"/>
              </a:rPr>
              <a:t> II: APIs and Microservices</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407549"/>
            <a:ext cx="3756993" cy="2007344"/>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err="1">
                <a:latin typeface="Avenir Book" panose="02000503020000020003"/>
              </a:rPr>
              <a:t>Manging</a:t>
            </a:r>
            <a:r>
              <a:rPr lang="en-US" sz="1200" dirty="0">
                <a:latin typeface="Avenir Book" panose="02000503020000020003"/>
              </a:rPr>
              <a:t> Packages with NPM</a:t>
            </a:r>
          </a:p>
          <a:p>
            <a:pPr marL="228600" lvl="0" indent="-228600">
              <a:lnSpc>
                <a:spcPct val="150000"/>
              </a:lnSpc>
              <a:buFont typeface="+mj-lt"/>
              <a:buAutoNum type="arabicPeriod"/>
            </a:pPr>
            <a:r>
              <a:rPr lang="en-US" sz="1200" dirty="0">
                <a:latin typeface="Avenir Book" panose="02000503020000020003"/>
              </a:rPr>
              <a:t>Basic Node &amp; Express</a:t>
            </a:r>
          </a:p>
          <a:p>
            <a:pPr marL="228600" lvl="0" indent="-228600">
              <a:lnSpc>
                <a:spcPct val="150000"/>
              </a:lnSpc>
              <a:buFont typeface="+mj-lt"/>
              <a:buAutoNum type="arabicPeriod"/>
            </a:pPr>
            <a:r>
              <a:rPr lang="en-US" sz="1200" dirty="0">
                <a:latin typeface="Avenir Book" panose="02000503020000020003"/>
              </a:rPr>
              <a:t>MongoDB and Mongoose</a:t>
            </a: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407549"/>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Timestamp Microservice</a:t>
            </a:r>
          </a:p>
          <a:p>
            <a:pPr marL="228600" lvl="0" indent="-228600">
              <a:lnSpc>
                <a:spcPct val="150000"/>
              </a:lnSpc>
              <a:buFont typeface="+mj-lt"/>
              <a:buAutoNum type="arabicPeriod"/>
            </a:pPr>
            <a:r>
              <a:rPr lang="en-US" sz="1200" dirty="0">
                <a:latin typeface="Avenir Book" panose="02000503020000020003"/>
              </a:rPr>
              <a:t>Request Header Parser Microservice</a:t>
            </a:r>
          </a:p>
          <a:p>
            <a:pPr marL="228600" lvl="0" indent="-228600">
              <a:lnSpc>
                <a:spcPct val="150000"/>
              </a:lnSpc>
              <a:buFont typeface="+mj-lt"/>
              <a:buAutoNum type="arabicPeriod"/>
            </a:pPr>
            <a:r>
              <a:rPr lang="en-US" sz="1200" dirty="0">
                <a:latin typeface="Avenir Book" panose="02000503020000020003"/>
              </a:rPr>
              <a:t>URL Shortener Microservice</a:t>
            </a:r>
          </a:p>
          <a:p>
            <a:pPr marL="228600" lvl="0" indent="-228600">
              <a:lnSpc>
                <a:spcPct val="150000"/>
              </a:lnSpc>
              <a:buFont typeface="+mj-lt"/>
              <a:buAutoNum type="arabicPeriod"/>
            </a:pPr>
            <a:r>
              <a:rPr lang="en-US" sz="1200" dirty="0">
                <a:latin typeface="Avenir Book" panose="02000503020000020003"/>
              </a:rPr>
              <a:t>Exercise Tracker</a:t>
            </a:r>
          </a:p>
          <a:p>
            <a:pPr marL="228600" lvl="0" indent="-228600">
              <a:lnSpc>
                <a:spcPct val="150000"/>
              </a:lnSpc>
              <a:buFont typeface="+mj-lt"/>
              <a:buAutoNum type="arabicPeriod"/>
            </a:pPr>
            <a:r>
              <a:rPr lang="en-US" sz="1200" dirty="0">
                <a:latin typeface="Avenir Book" panose="02000503020000020003"/>
              </a:rPr>
              <a:t>File Metadata Microservice</a:t>
            </a:r>
          </a:p>
        </p:txBody>
      </p:sp>
    </p:spTree>
    <p:extLst>
      <p:ext uri="{BB962C8B-B14F-4D97-AF65-F5344CB8AC3E}">
        <p14:creationId xmlns:p14="http://schemas.microsoft.com/office/powerpoint/2010/main" val="3140522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561342"/>
          </a:xfrm>
          <a:prstGeom prst="rect">
            <a:avLst/>
          </a:prstGeom>
          <a:noFill/>
        </p:spPr>
        <p:txBody>
          <a:bodyPr wrap="square" rtlCol="0">
            <a:spAutoFit/>
          </a:bodyPr>
          <a:lstStyle/>
          <a:p>
            <a:pPr lvl="0">
              <a:lnSpc>
                <a:spcPct val="150000"/>
              </a:lnSpc>
            </a:pPr>
            <a:r>
              <a:rPr lang="en-US" sz="1200" dirty="0">
                <a:latin typeface="Avenir Book" panose="02000503020000020003"/>
              </a:rPr>
              <a:t>As programs or web applications become more complex, one should test them to make sure that new changes don't break their original functionality.</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In the Quality Assurance Certification, you'll learn how to write tests with Chai to ensure your applications work the way you expect them to.</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Then you'll build a chat application to learn advanced Node and Express concepts. You'll also use Pug as a template engine, Passport for authentication, and </a:t>
            </a:r>
            <a:r>
              <a:rPr lang="en-US" sz="1200" dirty="0" err="1">
                <a:latin typeface="Avenir Book" panose="02000503020000020003"/>
              </a:rPr>
              <a:t>Socket.io</a:t>
            </a:r>
            <a:r>
              <a:rPr lang="en-US" sz="1200" dirty="0">
                <a:latin typeface="Avenir Book" panose="02000503020000020003"/>
              </a:rPr>
              <a:t> for real-time communication between the server and connected clients.</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Quality Assurance</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2007344"/>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a:latin typeface="Avenir Book" panose="02000503020000020003"/>
              </a:rPr>
              <a:t>Quality Assurance and Testing with Chai</a:t>
            </a:r>
          </a:p>
          <a:p>
            <a:pPr marL="228600" lvl="0" indent="-228600">
              <a:lnSpc>
                <a:spcPct val="150000"/>
              </a:lnSpc>
              <a:buFont typeface="+mj-lt"/>
              <a:buAutoNum type="arabicPeriod"/>
            </a:pPr>
            <a:r>
              <a:rPr lang="en-US" sz="1200" dirty="0">
                <a:latin typeface="Avenir Book" panose="02000503020000020003"/>
              </a:rPr>
              <a:t>Advanced Node and Express</a:t>
            </a:r>
          </a:p>
          <a:p>
            <a:pPr marL="228600" lvl="0" indent="-228600">
              <a:lnSpc>
                <a:spcPct val="150000"/>
              </a:lnSpc>
              <a:buFont typeface="+mj-lt"/>
              <a:buAutoNum type="arabicPeriod"/>
            </a:pPr>
            <a:r>
              <a:rPr lang="en-US" sz="1200" dirty="0">
                <a:latin typeface="Avenir Book" panose="02000503020000020003"/>
              </a:rPr>
              <a:t>MongoDB and Mongoose</a:t>
            </a: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Metric-Imperial Converter</a:t>
            </a:r>
          </a:p>
          <a:p>
            <a:pPr marL="228600" lvl="0" indent="-228600">
              <a:lnSpc>
                <a:spcPct val="150000"/>
              </a:lnSpc>
              <a:buFont typeface="+mj-lt"/>
              <a:buAutoNum type="arabicPeriod"/>
            </a:pPr>
            <a:r>
              <a:rPr lang="en-US" sz="1200" dirty="0">
                <a:latin typeface="Avenir Book" panose="02000503020000020003"/>
              </a:rPr>
              <a:t>Issue Tracker</a:t>
            </a:r>
          </a:p>
          <a:p>
            <a:pPr marL="228600" lvl="0" indent="-228600">
              <a:lnSpc>
                <a:spcPct val="150000"/>
              </a:lnSpc>
              <a:buFont typeface="+mj-lt"/>
              <a:buAutoNum type="arabicPeriod"/>
            </a:pPr>
            <a:r>
              <a:rPr lang="en-US" sz="1200" dirty="0">
                <a:latin typeface="Avenir Book" panose="02000503020000020003"/>
              </a:rPr>
              <a:t>Personal Library</a:t>
            </a:r>
          </a:p>
          <a:p>
            <a:pPr marL="228600" lvl="0" indent="-228600">
              <a:lnSpc>
                <a:spcPct val="150000"/>
              </a:lnSpc>
              <a:buFont typeface="+mj-lt"/>
              <a:buAutoNum type="arabicPeriod"/>
            </a:pPr>
            <a:r>
              <a:rPr lang="en-US" sz="1200" dirty="0">
                <a:latin typeface="Avenir Book" panose="02000503020000020003"/>
              </a:rPr>
              <a:t>Sudoku Solver</a:t>
            </a:r>
          </a:p>
          <a:p>
            <a:pPr marL="228600" lvl="0" indent="-228600">
              <a:lnSpc>
                <a:spcPct val="150000"/>
              </a:lnSpc>
              <a:buFont typeface="+mj-lt"/>
              <a:buAutoNum type="arabicPeriod"/>
            </a:pPr>
            <a:r>
              <a:rPr lang="en-US" sz="1200" dirty="0">
                <a:latin typeface="Avenir Book" panose="02000503020000020003"/>
              </a:rPr>
              <a:t>American British Translator</a:t>
            </a:r>
          </a:p>
        </p:txBody>
      </p:sp>
    </p:spTree>
    <p:extLst>
      <p:ext uri="{BB962C8B-B14F-4D97-AF65-F5344CB8AC3E}">
        <p14:creationId xmlns:p14="http://schemas.microsoft.com/office/powerpoint/2010/main" val="3171119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1730345"/>
          </a:xfrm>
          <a:prstGeom prst="rect">
            <a:avLst/>
          </a:prstGeom>
          <a:noFill/>
        </p:spPr>
        <p:txBody>
          <a:bodyPr wrap="square" rtlCol="0">
            <a:spAutoFit/>
          </a:bodyPr>
          <a:lstStyle/>
          <a:p>
            <a:pPr lvl="0">
              <a:lnSpc>
                <a:spcPct val="150000"/>
              </a:lnSpc>
            </a:pPr>
            <a:r>
              <a:rPr lang="en-US" sz="1200" dirty="0">
                <a:latin typeface="Avenir Book" panose="02000503020000020003"/>
              </a:rPr>
              <a:t>Python is one of the most popular, flexible programming languages today. It can be used for everything from basic scripting to machine learning.</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In the Scientific Computing with Python Certification, participants will learn Python fundamentals like variables, loops, conditionals, and functions. Then they’ll quickly ramp up to complex data structures, networking, relational databases, and data visualization.</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Python I: Scientific Computing</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1453347"/>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a:latin typeface="Avenir Book" panose="02000503020000020003"/>
              </a:rPr>
              <a:t>Python for Everybody</a:t>
            </a: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Arithmetic Formatter</a:t>
            </a:r>
          </a:p>
          <a:p>
            <a:pPr marL="228600" lvl="0" indent="-228600">
              <a:lnSpc>
                <a:spcPct val="150000"/>
              </a:lnSpc>
              <a:buFont typeface="+mj-lt"/>
              <a:buAutoNum type="arabicPeriod"/>
            </a:pPr>
            <a:r>
              <a:rPr lang="en-US" sz="1200" dirty="0">
                <a:latin typeface="Avenir Book" panose="02000503020000020003"/>
              </a:rPr>
              <a:t>Time Calculator</a:t>
            </a:r>
          </a:p>
          <a:p>
            <a:pPr marL="228600" lvl="0" indent="-228600">
              <a:lnSpc>
                <a:spcPct val="150000"/>
              </a:lnSpc>
              <a:buFont typeface="+mj-lt"/>
              <a:buAutoNum type="arabicPeriod"/>
            </a:pPr>
            <a:r>
              <a:rPr lang="en-US" sz="1200" dirty="0">
                <a:latin typeface="Avenir Book" panose="02000503020000020003"/>
              </a:rPr>
              <a:t>Budget App</a:t>
            </a:r>
          </a:p>
          <a:p>
            <a:pPr marL="228600" lvl="0" indent="-228600">
              <a:lnSpc>
                <a:spcPct val="150000"/>
              </a:lnSpc>
              <a:buFont typeface="+mj-lt"/>
              <a:buAutoNum type="arabicPeriod"/>
            </a:pPr>
            <a:r>
              <a:rPr lang="en-US" sz="1200" dirty="0">
                <a:latin typeface="Avenir Book" panose="02000503020000020003"/>
              </a:rPr>
              <a:t>Polygon Area Calculator</a:t>
            </a:r>
          </a:p>
          <a:p>
            <a:pPr marL="228600" lvl="0" indent="-228600">
              <a:lnSpc>
                <a:spcPct val="150000"/>
              </a:lnSpc>
              <a:buFont typeface="+mj-lt"/>
              <a:buAutoNum type="arabicPeriod"/>
            </a:pPr>
            <a:r>
              <a:rPr lang="en-US" sz="1200" dirty="0">
                <a:latin typeface="Avenir Book" panose="02000503020000020003"/>
              </a:rPr>
              <a:t>Probability Calculator</a:t>
            </a:r>
          </a:p>
        </p:txBody>
      </p:sp>
    </p:spTree>
    <p:extLst>
      <p:ext uri="{BB962C8B-B14F-4D97-AF65-F5344CB8AC3E}">
        <p14:creationId xmlns:p14="http://schemas.microsoft.com/office/powerpoint/2010/main" val="3271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007344"/>
          </a:xfrm>
          <a:prstGeom prst="rect">
            <a:avLst/>
          </a:prstGeom>
          <a:noFill/>
        </p:spPr>
        <p:txBody>
          <a:bodyPr wrap="square" rtlCol="0">
            <a:spAutoFit/>
          </a:bodyPr>
          <a:lstStyle/>
          <a:p>
            <a:pPr lvl="0">
              <a:lnSpc>
                <a:spcPct val="150000"/>
              </a:lnSpc>
            </a:pPr>
            <a:r>
              <a:rPr lang="en-US" sz="1200" dirty="0">
                <a:latin typeface="Avenir Book" panose="02000503020000020003"/>
              </a:rPr>
              <a:t>Data Analysis has been around for a long time. But up until a few years ago, developers practiced it using expensive, closed-source tools like Tableau. But recently, Python, SQL, and other open libraries have changed Data Analysis forever.</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In the Data Analysis with Python Certification, participants will learn the fundamentals of data analysis with Python. By the end of this certification, they'll know how to read data from sources like CSVs and SQL, and how to use libraries like </a:t>
            </a:r>
            <a:r>
              <a:rPr lang="en-US" sz="1200" dirty="0" err="1">
                <a:latin typeface="Avenir Book" panose="02000503020000020003"/>
              </a:rPr>
              <a:t>Numpy</a:t>
            </a:r>
            <a:r>
              <a:rPr lang="en-US" sz="1200" dirty="0">
                <a:latin typeface="Avenir Book" panose="02000503020000020003"/>
              </a:rPr>
              <a:t>, Pandas, Matplotlib, and Seaborn to process and visualize data.</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Python II: Data Analysis</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1453347"/>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err="1">
                <a:latin typeface="Avenir Book" panose="02000503020000020003"/>
              </a:rPr>
              <a:t>Numpy</a:t>
            </a: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Mean-Variance-Standard Deviation Calculator</a:t>
            </a:r>
          </a:p>
          <a:p>
            <a:pPr marL="228600" lvl="0" indent="-228600">
              <a:lnSpc>
                <a:spcPct val="150000"/>
              </a:lnSpc>
              <a:buFont typeface="+mj-lt"/>
              <a:buAutoNum type="arabicPeriod"/>
            </a:pPr>
            <a:r>
              <a:rPr lang="en-US" sz="1200" dirty="0">
                <a:latin typeface="Avenir Book" panose="02000503020000020003"/>
              </a:rPr>
              <a:t>Demographic Data Analyzer</a:t>
            </a:r>
          </a:p>
          <a:p>
            <a:pPr marL="228600" lvl="0" indent="-228600">
              <a:lnSpc>
                <a:spcPct val="150000"/>
              </a:lnSpc>
              <a:buFont typeface="+mj-lt"/>
              <a:buAutoNum type="arabicPeriod"/>
            </a:pPr>
            <a:r>
              <a:rPr lang="en-US" sz="1200" dirty="0">
                <a:latin typeface="Avenir Book" panose="02000503020000020003"/>
              </a:rPr>
              <a:t>Medical Data Visualizer</a:t>
            </a:r>
          </a:p>
          <a:p>
            <a:pPr marL="228600" lvl="0" indent="-228600">
              <a:lnSpc>
                <a:spcPct val="150000"/>
              </a:lnSpc>
              <a:buFont typeface="+mj-lt"/>
              <a:buAutoNum type="arabicPeriod"/>
            </a:pPr>
            <a:r>
              <a:rPr lang="en-US" sz="1200" dirty="0">
                <a:latin typeface="Avenir Book" panose="02000503020000020003"/>
              </a:rPr>
              <a:t>Page View Time Series Visualizer</a:t>
            </a:r>
          </a:p>
          <a:p>
            <a:pPr marL="228600" lvl="0" indent="-228600">
              <a:lnSpc>
                <a:spcPct val="150000"/>
              </a:lnSpc>
              <a:buFont typeface="+mj-lt"/>
              <a:buAutoNum type="arabicPeriod"/>
            </a:pPr>
            <a:r>
              <a:rPr lang="en-US" sz="1200" dirty="0">
                <a:latin typeface="Avenir Book" panose="02000503020000020003"/>
              </a:rPr>
              <a:t>Sea Level Predictor</a:t>
            </a:r>
          </a:p>
        </p:txBody>
      </p:sp>
    </p:spTree>
    <p:extLst>
      <p:ext uri="{BB962C8B-B14F-4D97-AF65-F5344CB8AC3E}">
        <p14:creationId xmlns:p14="http://schemas.microsoft.com/office/powerpoint/2010/main" val="96727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1453347"/>
          </a:xfrm>
          <a:prstGeom prst="rect">
            <a:avLst/>
          </a:prstGeom>
          <a:noFill/>
        </p:spPr>
        <p:txBody>
          <a:bodyPr wrap="square" rtlCol="0">
            <a:spAutoFit/>
          </a:bodyPr>
          <a:lstStyle/>
          <a:p>
            <a:pPr lvl="0">
              <a:lnSpc>
                <a:spcPct val="150000"/>
              </a:lnSpc>
            </a:pPr>
            <a:r>
              <a:rPr lang="en-US" sz="1200" dirty="0">
                <a:latin typeface="Avenir Book" panose="02000503020000020003"/>
              </a:rPr>
              <a:t>Machine learning has many practical applications that you can use in your projects or on the job.</a:t>
            </a:r>
          </a:p>
          <a:p>
            <a:pPr lvl="0">
              <a:lnSpc>
                <a:spcPct val="150000"/>
              </a:lnSpc>
            </a:pPr>
            <a:r>
              <a:rPr lang="en-US" sz="1200" dirty="0">
                <a:latin typeface="Avenir Book" panose="02000503020000020003"/>
              </a:rPr>
              <a:t>In this certification, participants will use the TensorFlow framework to build several neural networks and explore more advanced techniques like natural language processing and reinforcement learning.</a:t>
            </a:r>
          </a:p>
          <a:p>
            <a:pPr lvl="0">
              <a:lnSpc>
                <a:spcPct val="150000"/>
              </a:lnSpc>
            </a:pPr>
            <a:r>
              <a:rPr lang="en-US" sz="1200" dirty="0">
                <a:latin typeface="Avenir Book" panose="02000503020000020003"/>
              </a:rPr>
              <a:t>They’ll also dive into neural networks, and learn the principles behind how deep, recurrent, and convolutional neural networks work.</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Python III: Machine Learning</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err="1">
                <a:latin typeface="Avenir Book" panose="02000503020000020003"/>
              </a:rPr>
              <a:t>Tensorflow</a:t>
            </a:r>
            <a:endParaRPr lang="en-US" sz="1200" dirty="0">
              <a:latin typeface="Avenir Book" panose="02000503020000020003"/>
            </a:endParaRPr>
          </a:p>
          <a:p>
            <a:pPr marL="228600" lvl="0" indent="-228600">
              <a:lnSpc>
                <a:spcPct val="150000"/>
              </a:lnSpc>
              <a:buFont typeface="+mj-lt"/>
              <a:buAutoNum type="arabicPeriod"/>
            </a:pPr>
            <a:r>
              <a:rPr lang="en-US" sz="1200" dirty="0">
                <a:latin typeface="Avenir Book" panose="02000503020000020003"/>
              </a:rPr>
              <a:t>How Neural Networks Work</a:t>
            </a: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Rock Paper Scissors</a:t>
            </a:r>
          </a:p>
          <a:p>
            <a:pPr marL="228600" lvl="0" indent="-228600">
              <a:lnSpc>
                <a:spcPct val="150000"/>
              </a:lnSpc>
              <a:buFont typeface="+mj-lt"/>
              <a:buAutoNum type="arabicPeriod"/>
            </a:pPr>
            <a:r>
              <a:rPr lang="en-US" sz="1200" dirty="0">
                <a:latin typeface="Avenir Book" panose="02000503020000020003"/>
              </a:rPr>
              <a:t>Cat and Dog Image Classifier</a:t>
            </a:r>
          </a:p>
          <a:p>
            <a:pPr marL="228600" lvl="0" indent="-228600">
              <a:lnSpc>
                <a:spcPct val="150000"/>
              </a:lnSpc>
              <a:buFont typeface="+mj-lt"/>
              <a:buAutoNum type="arabicPeriod"/>
            </a:pPr>
            <a:r>
              <a:rPr lang="en-US" sz="1200" dirty="0">
                <a:latin typeface="Avenir Book" panose="02000503020000020003"/>
              </a:rPr>
              <a:t>Book Recommendation Engine using KNN</a:t>
            </a:r>
          </a:p>
          <a:p>
            <a:pPr marL="228600" lvl="0" indent="-228600">
              <a:lnSpc>
                <a:spcPct val="150000"/>
              </a:lnSpc>
              <a:buFont typeface="+mj-lt"/>
              <a:buAutoNum type="arabicPeriod"/>
            </a:pPr>
            <a:r>
              <a:rPr lang="en-US" sz="1200" dirty="0">
                <a:latin typeface="Avenir Book" panose="02000503020000020003"/>
              </a:rPr>
              <a:t>Linear Regression Health Costs Calculator</a:t>
            </a:r>
          </a:p>
          <a:p>
            <a:pPr marL="228600" lvl="0" indent="-228600">
              <a:lnSpc>
                <a:spcPct val="150000"/>
              </a:lnSpc>
              <a:buFont typeface="+mj-lt"/>
              <a:buAutoNum type="arabicPeriod"/>
            </a:pPr>
            <a:r>
              <a:rPr lang="en-US" sz="1200" dirty="0">
                <a:latin typeface="Avenir Book" panose="02000503020000020003"/>
              </a:rPr>
              <a:t>Neural Network SMS Text Classifier</a:t>
            </a:r>
          </a:p>
        </p:txBody>
      </p:sp>
    </p:spTree>
    <p:extLst>
      <p:ext uri="{BB962C8B-B14F-4D97-AF65-F5344CB8AC3E}">
        <p14:creationId xmlns:p14="http://schemas.microsoft.com/office/powerpoint/2010/main" val="1586491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5137" y="1398732"/>
            <a:ext cx="8298172" cy="2284343"/>
          </a:xfrm>
          <a:prstGeom prst="rect">
            <a:avLst/>
          </a:prstGeom>
          <a:noFill/>
        </p:spPr>
        <p:txBody>
          <a:bodyPr wrap="square" rtlCol="0">
            <a:spAutoFit/>
          </a:bodyPr>
          <a:lstStyle/>
          <a:p>
            <a:pPr lvl="0">
              <a:lnSpc>
                <a:spcPct val="150000"/>
              </a:lnSpc>
            </a:pPr>
            <a:r>
              <a:rPr lang="en-US" sz="1200" dirty="0">
                <a:latin typeface="Avenir Book" panose="02000503020000020003"/>
              </a:rPr>
              <a:t>With everything we do online, there's a vast amount of sensitive information at risk: email addresses, passwords, phone numbers, and much more.</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With the Information Security Certification, participants will build a secure web app with </a:t>
            </a:r>
            <a:r>
              <a:rPr lang="en-US" sz="1200" dirty="0" err="1">
                <a:latin typeface="Avenir Book" panose="02000503020000020003"/>
              </a:rPr>
              <a:t>HelmetJS</a:t>
            </a:r>
            <a:r>
              <a:rPr lang="en-US" sz="1200" dirty="0">
                <a:latin typeface="Avenir Book" panose="02000503020000020003"/>
              </a:rPr>
              <a:t> to learn the fundamentals of protecting people's information online.</a:t>
            </a:r>
          </a:p>
          <a:p>
            <a:pPr lvl="0">
              <a:lnSpc>
                <a:spcPct val="150000"/>
              </a:lnSpc>
            </a:pPr>
            <a:endParaRPr lang="en-US" sz="1200" dirty="0">
              <a:latin typeface="Avenir Book" panose="02000503020000020003"/>
            </a:endParaRPr>
          </a:p>
          <a:p>
            <a:pPr lvl="0">
              <a:lnSpc>
                <a:spcPct val="150000"/>
              </a:lnSpc>
            </a:pPr>
            <a:r>
              <a:rPr lang="en-US" sz="1200" dirty="0">
                <a:latin typeface="Avenir Book" panose="02000503020000020003"/>
              </a:rPr>
              <a:t>They will also build a TCP client, and an Nmap and port scanner in Python. This will help learn the basics of penetration testing — an important component of good information security.</a:t>
            </a:r>
          </a:p>
        </p:txBody>
      </p:sp>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25604" y="299680"/>
            <a:ext cx="747522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Information Security</a:t>
            </a:r>
          </a:p>
        </p:txBody>
      </p:sp>
      <p:sp>
        <p:nvSpPr>
          <p:cNvPr id="5" name="TextBox 4">
            <a:extLst>
              <a:ext uri="{FF2B5EF4-FFF2-40B4-BE49-F238E27FC236}">
                <a16:creationId xmlns:a16="http://schemas.microsoft.com/office/drawing/2014/main" id="{40696309-533A-864F-8398-6AFC4B9CB8A1}"/>
              </a:ext>
            </a:extLst>
          </p:cNvPr>
          <p:cNvSpPr txBox="1"/>
          <p:nvPr/>
        </p:nvSpPr>
        <p:spPr>
          <a:xfrm>
            <a:off x="445137" y="4037683"/>
            <a:ext cx="3756993" cy="2007344"/>
          </a:xfrm>
          <a:prstGeom prst="rect">
            <a:avLst/>
          </a:prstGeom>
          <a:noFill/>
        </p:spPr>
        <p:txBody>
          <a:bodyPr wrap="square" rtlCol="0">
            <a:spAutoFit/>
          </a:bodyPr>
          <a:lstStyle/>
          <a:p>
            <a:pPr lvl="0">
              <a:lnSpc>
                <a:spcPct val="150000"/>
              </a:lnSpc>
            </a:pPr>
            <a:r>
              <a:rPr lang="en-US" sz="1200" b="1" dirty="0">
                <a:latin typeface="Avenir Book" panose="02000503020000020003"/>
              </a:rPr>
              <a:t>Courses</a:t>
            </a:r>
            <a:r>
              <a:rPr lang="en-US" sz="1200" dirty="0">
                <a:latin typeface="Avenir Book" panose="02000503020000020003"/>
              </a:rPr>
              <a:t> </a:t>
            </a:r>
          </a:p>
          <a:p>
            <a:pPr marL="228600" lvl="0" indent="-228600">
              <a:lnSpc>
                <a:spcPct val="150000"/>
              </a:lnSpc>
              <a:buFont typeface="+mj-lt"/>
              <a:buAutoNum type="arabicPeriod"/>
            </a:pPr>
            <a:r>
              <a:rPr lang="en-US" sz="1200" dirty="0">
                <a:latin typeface="Avenir Book" panose="02000503020000020003"/>
              </a:rPr>
              <a:t>Information Security with </a:t>
            </a:r>
            <a:r>
              <a:rPr lang="en-US" sz="1200" dirty="0" err="1">
                <a:latin typeface="Avenir Book" panose="02000503020000020003"/>
              </a:rPr>
              <a:t>HelmetJS</a:t>
            </a:r>
            <a:endParaRPr lang="en-US" sz="1200" dirty="0">
              <a:latin typeface="Avenir Book" panose="02000503020000020003"/>
            </a:endParaRPr>
          </a:p>
          <a:p>
            <a:pPr marL="228600" lvl="0" indent="-228600">
              <a:lnSpc>
                <a:spcPct val="150000"/>
              </a:lnSpc>
              <a:buFont typeface="+mj-lt"/>
              <a:buAutoNum type="arabicPeriod"/>
            </a:pPr>
            <a:r>
              <a:rPr lang="en-US" sz="1200" dirty="0">
                <a:latin typeface="Avenir Book" panose="02000503020000020003"/>
              </a:rPr>
              <a:t>Python for Penetration Testing</a:t>
            </a: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a:p>
            <a:pPr marL="228600" lvl="0" indent="-228600">
              <a:lnSpc>
                <a:spcPct val="150000"/>
              </a:lnSpc>
              <a:buFont typeface="+mj-lt"/>
              <a:buAutoNum type="arabicPeriod"/>
            </a:pPr>
            <a:endParaRPr lang="en-US" sz="1200" dirty="0">
              <a:latin typeface="Avenir Book" panose="02000503020000020003"/>
            </a:endParaRPr>
          </a:p>
        </p:txBody>
      </p:sp>
      <p:sp>
        <p:nvSpPr>
          <p:cNvPr id="9" name="TextBox 8">
            <a:extLst>
              <a:ext uri="{FF2B5EF4-FFF2-40B4-BE49-F238E27FC236}">
                <a16:creationId xmlns:a16="http://schemas.microsoft.com/office/drawing/2014/main" id="{94C92E92-C925-CF46-BC04-DAB1EDA4DB62}"/>
              </a:ext>
            </a:extLst>
          </p:cNvPr>
          <p:cNvSpPr txBox="1"/>
          <p:nvPr/>
        </p:nvSpPr>
        <p:spPr>
          <a:xfrm>
            <a:off x="4594223" y="4037683"/>
            <a:ext cx="3756993" cy="1730345"/>
          </a:xfrm>
          <a:prstGeom prst="rect">
            <a:avLst/>
          </a:prstGeom>
          <a:noFill/>
        </p:spPr>
        <p:txBody>
          <a:bodyPr wrap="square" rtlCol="0">
            <a:spAutoFit/>
          </a:bodyPr>
          <a:lstStyle/>
          <a:p>
            <a:pPr lvl="0">
              <a:lnSpc>
                <a:spcPct val="150000"/>
              </a:lnSpc>
            </a:pPr>
            <a:r>
              <a:rPr lang="en-US" sz="1200" b="1" dirty="0">
                <a:latin typeface="Avenir Book" panose="02000503020000020003"/>
              </a:rPr>
              <a:t>Projects </a:t>
            </a:r>
          </a:p>
          <a:p>
            <a:pPr marL="228600" lvl="0" indent="-228600">
              <a:lnSpc>
                <a:spcPct val="150000"/>
              </a:lnSpc>
              <a:buFont typeface="+mj-lt"/>
              <a:buAutoNum type="arabicPeriod"/>
            </a:pPr>
            <a:r>
              <a:rPr lang="en-US" sz="1200" dirty="0">
                <a:latin typeface="Avenir Book" panose="02000503020000020003"/>
              </a:rPr>
              <a:t>Stock Price Checker</a:t>
            </a:r>
          </a:p>
          <a:p>
            <a:pPr marL="228600" lvl="0" indent="-228600">
              <a:lnSpc>
                <a:spcPct val="150000"/>
              </a:lnSpc>
              <a:buFont typeface="+mj-lt"/>
              <a:buAutoNum type="arabicPeriod"/>
            </a:pPr>
            <a:r>
              <a:rPr lang="en-US" sz="1200" dirty="0">
                <a:latin typeface="Avenir Book" panose="02000503020000020003"/>
              </a:rPr>
              <a:t>Anonymous Message Board</a:t>
            </a:r>
          </a:p>
          <a:p>
            <a:pPr marL="228600" lvl="0" indent="-228600">
              <a:lnSpc>
                <a:spcPct val="150000"/>
              </a:lnSpc>
              <a:buFont typeface="+mj-lt"/>
              <a:buAutoNum type="arabicPeriod"/>
            </a:pPr>
            <a:r>
              <a:rPr lang="en-US" sz="1200" dirty="0">
                <a:latin typeface="Avenir Book" panose="02000503020000020003"/>
              </a:rPr>
              <a:t>Port Scanner</a:t>
            </a:r>
          </a:p>
          <a:p>
            <a:pPr marL="228600" lvl="0" indent="-228600">
              <a:lnSpc>
                <a:spcPct val="150000"/>
              </a:lnSpc>
              <a:buFont typeface="+mj-lt"/>
              <a:buAutoNum type="arabicPeriod"/>
            </a:pPr>
            <a:r>
              <a:rPr lang="en-US" sz="1200" dirty="0">
                <a:latin typeface="Avenir Book" panose="02000503020000020003"/>
              </a:rPr>
              <a:t>SHA-1 Password Cracker</a:t>
            </a:r>
          </a:p>
          <a:p>
            <a:pPr marL="228600" lvl="0" indent="-228600">
              <a:lnSpc>
                <a:spcPct val="150000"/>
              </a:lnSpc>
              <a:buFont typeface="+mj-lt"/>
              <a:buAutoNum type="arabicPeriod"/>
            </a:pPr>
            <a:r>
              <a:rPr lang="en-US" sz="1200" dirty="0">
                <a:latin typeface="Avenir Book" panose="02000503020000020003"/>
              </a:rPr>
              <a:t>Secure Real Time Multiplayer Game</a:t>
            </a:r>
          </a:p>
        </p:txBody>
      </p:sp>
    </p:spTree>
    <p:extLst>
      <p:ext uri="{BB962C8B-B14F-4D97-AF65-F5344CB8AC3E}">
        <p14:creationId xmlns:p14="http://schemas.microsoft.com/office/powerpoint/2010/main" val="1630113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38618" y="248310"/>
            <a:ext cx="4847573" cy="523220"/>
          </a:xfrm>
          <a:prstGeom prst="rect">
            <a:avLst/>
          </a:prstGeom>
          <a:noFill/>
        </p:spPr>
        <p:txBody>
          <a:bodyPr wrap="square" rtlCol="0">
            <a:spAutoFit/>
          </a:bodyPr>
          <a:lstStyle/>
          <a:p>
            <a:r>
              <a:rPr lang="en-US" sz="2800" b="1" dirty="0">
                <a:solidFill>
                  <a:schemeClr val="bg1"/>
                </a:solidFill>
                <a:latin typeface="Roboto Light" panose="02000000000000000000" pitchFamily="2" charset="0"/>
                <a:ea typeface="Roboto Light" panose="02000000000000000000" pitchFamily="2" charset="0"/>
              </a:rPr>
              <a:t>Instructors</a:t>
            </a:r>
          </a:p>
        </p:txBody>
      </p:sp>
    </p:spTree>
    <p:extLst>
      <p:ext uri="{BB962C8B-B14F-4D97-AF65-F5344CB8AC3E}">
        <p14:creationId xmlns:p14="http://schemas.microsoft.com/office/powerpoint/2010/main" val="13705081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81224</TotalTime>
  <Words>1594</Words>
  <Application>Microsoft Macintosh PowerPoint</Application>
  <PresentationFormat>On-screen Show (4:3)</PresentationFormat>
  <Paragraphs>232</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Avenir Book</vt:lpstr>
      <vt:lpstr>Calibri</vt:lpstr>
      <vt:lpstr>Calibri Light</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172</cp:revision>
  <cp:lastPrinted>2021-06-21T14:10:50Z</cp:lastPrinted>
  <dcterms:created xsi:type="dcterms:W3CDTF">2020-11-24T00:12:57Z</dcterms:created>
  <dcterms:modified xsi:type="dcterms:W3CDTF">2021-08-20T13:15:22Z</dcterms:modified>
</cp:coreProperties>
</file>