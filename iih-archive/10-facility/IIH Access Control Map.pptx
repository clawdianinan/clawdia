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79" r:id="rId3"/>
    <p:sldId id="291" r:id="rId4"/>
    <p:sldId id="292" r:id="rId5"/>
    <p:sldId id="29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F931"/>
    <a:srgbClr val="58E1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32"/>
    <p:restoredTop sz="95701"/>
  </p:normalViewPr>
  <p:slideViewPr>
    <p:cSldViewPr snapToGrid="0" snapToObjects="1">
      <p:cViewPr>
        <p:scale>
          <a:sx n="140" d="100"/>
          <a:sy n="140" d="100"/>
        </p:scale>
        <p:origin x="568" y="-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47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15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693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02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44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734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76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2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4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25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82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06702-883C-1C49-A3D9-95FC99D4F10F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438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E1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9FE6C51-FFDA-1B4D-A499-FF8277F7F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90" y="3429000"/>
            <a:ext cx="3744361" cy="17914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9D572B-B3ED-904F-9CD5-AAFE070052F0}"/>
              </a:ext>
            </a:extLst>
          </p:cNvPr>
          <p:cNvSpPr txBox="1"/>
          <p:nvPr/>
        </p:nvSpPr>
        <p:spPr>
          <a:xfrm>
            <a:off x="876822" y="5220483"/>
            <a:ext cx="4847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ACCESS CONTROL MAP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1D6F3D-0AB0-5342-85F1-6C95F1F7360B}"/>
              </a:ext>
            </a:extLst>
          </p:cNvPr>
          <p:cNvSpPr txBox="1"/>
          <p:nvPr/>
        </p:nvSpPr>
        <p:spPr>
          <a:xfrm>
            <a:off x="876822" y="5639213"/>
            <a:ext cx="4847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June 2024</a:t>
            </a:r>
          </a:p>
        </p:txBody>
      </p:sp>
    </p:spTree>
    <p:extLst>
      <p:ext uri="{BB962C8B-B14F-4D97-AF65-F5344CB8AC3E}">
        <p14:creationId xmlns:p14="http://schemas.microsoft.com/office/powerpoint/2010/main" val="3543114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1938511-037F-ED46-AB38-15FD5B6934D2}"/>
              </a:ext>
            </a:extLst>
          </p:cNvPr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2FD0B8-0DC6-1743-8B69-8E7B75617526}"/>
              </a:ext>
            </a:extLst>
          </p:cNvPr>
          <p:cNvSpPr txBox="1"/>
          <p:nvPr/>
        </p:nvSpPr>
        <p:spPr>
          <a:xfrm>
            <a:off x="538618" y="371598"/>
            <a:ext cx="4847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Ground Floor</a:t>
            </a:r>
          </a:p>
        </p:txBody>
      </p:sp>
      <p:pic>
        <p:nvPicPr>
          <p:cNvPr id="3" name="Picture 2" descr="A diagram of a building&#10;&#10;Description automatically generated">
            <a:extLst>
              <a:ext uri="{FF2B5EF4-FFF2-40B4-BE49-F238E27FC236}">
                <a16:creationId xmlns:a16="http://schemas.microsoft.com/office/drawing/2014/main" id="{F2FC6066-4009-14E3-5C21-614DEB8F2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76" y="1398732"/>
            <a:ext cx="7772400" cy="4350359"/>
          </a:xfrm>
          <a:prstGeom prst="rect">
            <a:avLst/>
          </a:prstGeom>
        </p:spPr>
      </p:pic>
      <p:sp>
        <p:nvSpPr>
          <p:cNvPr id="9" name="Triangle 8">
            <a:extLst>
              <a:ext uri="{FF2B5EF4-FFF2-40B4-BE49-F238E27FC236}">
                <a16:creationId xmlns:a16="http://schemas.microsoft.com/office/drawing/2014/main" id="{F891643C-ACF9-C7FC-2347-F29A088E39B5}"/>
              </a:ext>
            </a:extLst>
          </p:cNvPr>
          <p:cNvSpPr/>
          <p:nvPr/>
        </p:nvSpPr>
        <p:spPr>
          <a:xfrm>
            <a:off x="4682301" y="2154902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3574EB62-7822-4015-BC03-9043806C041A}"/>
              </a:ext>
            </a:extLst>
          </p:cNvPr>
          <p:cNvSpPr/>
          <p:nvPr/>
        </p:nvSpPr>
        <p:spPr>
          <a:xfrm>
            <a:off x="5105675" y="2169414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896F3445-1383-6053-1A00-9A30CC57D077}"/>
              </a:ext>
            </a:extLst>
          </p:cNvPr>
          <p:cNvSpPr/>
          <p:nvPr/>
        </p:nvSpPr>
        <p:spPr>
          <a:xfrm>
            <a:off x="4682301" y="2911072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F3AB65D1-77CF-DAF1-5FDF-EF01365FDF85}"/>
              </a:ext>
            </a:extLst>
          </p:cNvPr>
          <p:cNvSpPr/>
          <p:nvPr/>
        </p:nvSpPr>
        <p:spPr>
          <a:xfrm>
            <a:off x="5189249" y="2911072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D4910143-2F68-CDEA-F1CE-EBB4D6515C8B}"/>
              </a:ext>
            </a:extLst>
          </p:cNvPr>
          <p:cNvSpPr/>
          <p:nvPr/>
        </p:nvSpPr>
        <p:spPr>
          <a:xfrm>
            <a:off x="5013907" y="4960005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latin typeface="Avenir Black" panose="02000503020000020003" pitchFamily="2" charset="0"/>
              </a:rPr>
              <a:t>9</a:t>
            </a:r>
            <a:endParaRPr lang="en-US" dirty="0"/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7783C727-5803-3A0D-410F-B042E5D14BEA}"/>
              </a:ext>
            </a:extLst>
          </p:cNvPr>
          <p:cNvSpPr/>
          <p:nvPr/>
        </p:nvSpPr>
        <p:spPr>
          <a:xfrm>
            <a:off x="4854951" y="7008938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BF3C6219-951B-9240-7E61-C4998720EAE5}"/>
              </a:ext>
            </a:extLst>
          </p:cNvPr>
          <p:cNvSpPr/>
          <p:nvPr/>
        </p:nvSpPr>
        <p:spPr>
          <a:xfrm>
            <a:off x="2118305" y="4485872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latin typeface="Avenir Black" panose="02000503020000020003" pitchFamily="2" charset="0"/>
              </a:rPr>
              <a:t>6</a:t>
            </a:r>
            <a:endParaRPr lang="en-US" dirty="0"/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CBACA41C-5920-EB83-DCF1-1F4CF08D3E3D}"/>
              </a:ext>
            </a:extLst>
          </p:cNvPr>
          <p:cNvSpPr/>
          <p:nvPr/>
        </p:nvSpPr>
        <p:spPr>
          <a:xfrm>
            <a:off x="5301616" y="4485872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latin typeface="Avenir Black" panose="02000503020000020003" pitchFamily="2" charset="0"/>
              </a:rPr>
              <a:t>8</a:t>
            </a:r>
            <a:endParaRPr lang="en-US" b="1" dirty="0">
              <a:latin typeface="Avenir Black" panose="02000503020000020003" pitchFamily="2" charset="0"/>
            </a:endParaRPr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F5F851A8-F6DB-98C6-EE15-875D91C25128}"/>
              </a:ext>
            </a:extLst>
          </p:cNvPr>
          <p:cNvSpPr/>
          <p:nvPr/>
        </p:nvSpPr>
        <p:spPr>
          <a:xfrm>
            <a:off x="5519016" y="2766978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b="1" dirty="0">
              <a:latin typeface="Avenir Black" panose="02000503020000020003" pitchFamily="2" charset="0"/>
            </a:endParaRP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2280D04D-3E0C-8C8E-9DD9-1ACBC9E46D55}"/>
              </a:ext>
            </a:extLst>
          </p:cNvPr>
          <p:cNvSpPr/>
          <p:nvPr/>
        </p:nvSpPr>
        <p:spPr>
          <a:xfrm>
            <a:off x="2641442" y="3159833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latin typeface="Avenir Black" panose="02000503020000020003" pitchFamily="2" charset="0"/>
              </a:rPr>
              <a:t>1</a:t>
            </a:r>
            <a:endParaRPr lang="en-US" b="1" dirty="0">
              <a:latin typeface="Avenir Black" panose="02000503020000020003" pitchFamily="2" charset="0"/>
            </a:endParaRPr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09F4F1E1-D53F-6B61-33AF-B4D5127DD36F}"/>
              </a:ext>
            </a:extLst>
          </p:cNvPr>
          <p:cNvSpPr/>
          <p:nvPr/>
        </p:nvSpPr>
        <p:spPr>
          <a:xfrm>
            <a:off x="2640189" y="4629966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latin typeface="Avenir Black" panose="02000503020000020003" pitchFamily="2" charset="0"/>
              </a:rPr>
              <a:t>7</a:t>
            </a:r>
            <a:endParaRPr lang="en-US" dirty="0"/>
          </a:p>
        </p:txBody>
      </p:sp>
      <p:sp>
        <p:nvSpPr>
          <p:cNvPr id="26" name="Triangle 25">
            <a:extLst>
              <a:ext uri="{FF2B5EF4-FFF2-40B4-BE49-F238E27FC236}">
                <a16:creationId xmlns:a16="http://schemas.microsoft.com/office/drawing/2014/main" id="{07F1E90F-453F-A3D7-2FF5-F28040D9F6E3}"/>
              </a:ext>
            </a:extLst>
          </p:cNvPr>
          <p:cNvSpPr/>
          <p:nvPr/>
        </p:nvSpPr>
        <p:spPr>
          <a:xfrm>
            <a:off x="4515152" y="3088547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latin typeface="Avenir Black" panose="02000503020000020003" pitchFamily="2" charset="0"/>
              </a:rPr>
              <a:t>3</a:t>
            </a:r>
            <a:endParaRPr lang="en-US" b="1" dirty="0">
              <a:latin typeface="Avenir Black" panose="02000503020000020003" pitchFamily="2" charset="0"/>
            </a:endParaRPr>
          </a:p>
        </p:txBody>
      </p:sp>
      <p:sp>
        <p:nvSpPr>
          <p:cNvPr id="27" name="Triangle 26">
            <a:extLst>
              <a:ext uri="{FF2B5EF4-FFF2-40B4-BE49-F238E27FC236}">
                <a16:creationId xmlns:a16="http://schemas.microsoft.com/office/drawing/2014/main" id="{50C69A74-7061-FEAE-4D01-341C4EB1CE58}"/>
              </a:ext>
            </a:extLst>
          </p:cNvPr>
          <p:cNvSpPr/>
          <p:nvPr/>
        </p:nvSpPr>
        <p:spPr>
          <a:xfrm>
            <a:off x="4515151" y="4185987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latin typeface="Avenir Black" panose="02000503020000020003" pitchFamily="2" charset="0"/>
              </a:rPr>
              <a:t>4</a:t>
            </a:r>
            <a:endParaRPr lang="en-US" b="1" dirty="0">
              <a:latin typeface="Avenir Black" panose="02000503020000020003" pitchFamily="2" charset="0"/>
            </a:endParaRPr>
          </a:p>
        </p:txBody>
      </p:sp>
      <p:sp>
        <p:nvSpPr>
          <p:cNvPr id="28" name="Triangle 27">
            <a:extLst>
              <a:ext uri="{FF2B5EF4-FFF2-40B4-BE49-F238E27FC236}">
                <a16:creationId xmlns:a16="http://schemas.microsoft.com/office/drawing/2014/main" id="{D01C8878-E2E6-4711-FC40-7B9875B813E2}"/>
              </a:ext>
            </a:extLst>
          </p:cNvPr>
          <p:cNvSpPr/>
          <p:nvPr/>
        </p:nvSpPr>
        <p:spPr>
          <a:xfrm>
            <a:off x="5340206" y="1988096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4C297F0-E0EA-AF0F-57B9-10CAE01C5547}"/>
              </a:ext>
            </a:extLst>
          </p:cNvPr>
          <p:cNvGrpSpPr/>
          <p:nvPr/>
        </p:nvGrpSpPr>
        <p:grpSpPr>
          <a:xfrm>
            <a:off x="6744676" y="4980988"/>
            <a:ext cx="1424956" cy="975629"/>
            <a:chOff x="6744676" y="4980988"/>
            <a:chExt cx="1424956" cy="975629"/>
          </a:xfrm>
        </p:grpSpPr>
        <p:sp>
          <p:nvSpPr>
            <p:cNvPr id="22" name="Triangle 21">
              <a:extLst>
                <a:ext uri="{FF2B5EF4-FFF2-40B4-BE49-F238E27FC236}">
                  <a16:creationId xmlns:a16="http://schemas.microsoft.com/office/drawing/2014/main" id="{77462151-0007-EEDE-96B5-13330B0DB61E}"/>
                </a:ext>
              </a:extLst>
            </p:cNvPr>
            <p:cNvSpPr/>
            <p:nvPr/>
          </p:nvSpPr>
          <p:spPr>
            <a:xfrm>
              <a:off x="6749416" y="5032052"/>
              <a:ext cx="167149" cy="144094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DA0B890-2DBF-7920-A3E8-58E90CE18AD0}"/>
                </a:ext>
              </a:extLst>
            </p:cNvPr>
            <p:cNvSpPr/>
            <p:nvPr/>
          </p:nvSpPr>
          <p:spPr>
            <a:xfrm>
              <a:off x="6765648" y="5395963"/>
              <a:ext cx="126609" cy="12660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CE23CB2-D9E5-7C3A-B683-B17CBD17ED8D}"/>
                </a:ext>
              </a:extLst>
            </p:cNvPr>
            <p:cNvSpPr txBox="1"/>
            <p:nvPr/>
          </p:nvSpPr>
          <p:spPr>
            <a:xfrm>
              <a:off x="6916565" y="4980988"/>
              <a:ext cx="12530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Avenir Book" panose="02000503020000020003" pitchFamily="2" charset="0"/>
                </a:rPr>
                <a:t>Door Lock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BFB83DE-513B-0909-C185-549EE90531A1}"/>
                </a:ext>
              </a:extLst>
            </p:cNvPr>
            <p:cNvSpPr txBox="1"/>
            <p:nvPr/>
          </p:nvSpPr>
          <p:spPr>
            <a:xfrm>
              <a:off x="6916565" y="5336156"/>
              <a:ext cx="12530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Avenir Book" panose="02000503020000020003" pitchFamily="2" charset="0"/>
                </a:rPr>
                <a:t>Turnstile Reader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3B05504-D244-78C1-6B44-0396A908E15E}"/>
                </a:ext>
              </a:extLst>
            </p:cNvPr>
            <p:cNvSpPr/>
            <p:nvPr/>
          </p:nvSpPr>
          <p:spPr>
            <a:xfrm>
              <a:off x="6744676" y="5759717"/>
              <a:ext cx="147581" cy="14758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559373C-8209-9912-12E1-53AEA70F3434}"/>
                </a:ext>
              </a:extLst>
            </p:cNvPr>
            <p:cNvSpPr txBox="1"/>
            <p:nvPr/>
          </p:nvSpPr>
          <p:spPr>
            <a:xfrm>
              <a:off x="6916565" y="5710396"/>
              <a:ext cx="12530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Avenir Book" panose="02000503020000020003" pitchFamily="2" charset="0"/>
                </a:rPr>
                <a:t>Elevator Reader</a:t>
              </a:r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53D5FB8D-BFEE-B31B-A95A-20960D36AA58}"/>
              </a:ext>
            </a:extLst>
          </p:cNvPr>
          <p:cNvSpPr/>
          <p:nvPr/>
        </p:nvSpPr>
        <p:spPr>
          <a:xfrm>
            <a:off x="3057043" y="2897361"/>
            <a:ext cx="147581" cy="14758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latin typeface="Avenir Black" panose="02000503020000020003" pitchFamily="2" charset="0"/>
              </a:rPr>
              <a:t>1</a:t>
            </a:r>
            <a:endParaRPr lang="en-US" b="1" dirty="0">
              <a:latin typeface="Avenir Black" panose="02000503020000020003" pitchFamily="2" charset="0"/>
            </a:endParaRPr>
          </a:p>
        </p:txBody>
      </p:sp>
      <p:sp>
        <p:nvSpPr>
          <p:cNvPr id="34" name="Triangle 33">
            <a:extLst>
              <a:ext uri="{FF2B5EF4-FFF2-40B4-BE49-F238E27FC236}">
                <a16:creationId xmlns:a16="http://schemas.microsoft.com/office/drawing/2014/main" id="{B1DACD72-0EE7-3C53-CEA6-339B0EE8E738}"/>
              </a:ext>
            </a:extLst>
          </p:cNvPr>
          <p:cNvSpPr/>
          <p:nvPr/>
        </p:nvSpPr>
        <p:spPr>
          <a:xfrm>
            <a:off x="4029787" y="2784825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riangle 34">
            <a:extLst>
              <a:ext uri="{FF2B5EF4-FFF2-40B4-BE49-F238E27FC236}">
                <a16:creationId xmlns:a16="http://schemas.microsoft.com/office/drawing/2014/main" id="{CBBB4D49-E4F4-E2EB-4B56-166F990237D9}"/>
              </a:ext>
            </a:extLst>
          </p:cNvPr>
          <p:cNvSpPr/>
          <p:nvPr/>
        </p:nvSpPr>
        <p:spPr>
          <a:xfrm>
            <a:off x="3704029" y="2353196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riangle 36">
            <a:extLst>
              <a:ext uri="{FF2B5EF4-FFF2-40B4-BE49-F238E27FC236}">
                <a16:creationId xmlns:a16="http://schemas.microsoft.com/office/drawing/2014/main" id="{09A25724-2BD9-742D-CE1A-DB0F849AC897}"/>
              </a:ext>
            </a:extLst>
          </p:cNvPr>
          <p:cNvSpPr/>
          <p:nvPr/>
        </p:nvSpPr>
        <p:spPr>
          <a:xfrm>
            <a:off x="2613839" y="4185987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latin typeface="Avenir Black" panose="02000503020000020003" pitchFamily="2" charset="0"/>
              </a:rPr>
              <a:t>2</a:t>
            </a:r>
            <a:endParaRPr lang="en-US" b="1" dirty="0">
              <a:latin typeface="Avenir Black" panose="02000503020000020003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C4FB1E-20DC-B135-F665-5E42F3D9FF32}"/>
              </a:ext>
            </a:extLst>
          </p:cNvPr>
          <p:cNvSpPr/>
          <p:nvPr/>
        </p:nvSpPr>
        <p:spPr>
          <a:xfrm>
            <a:off x="2911602" y="2430786"/>
            <a:ext cx="126609" cy="12660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latin typeface="Avenir Black" panose="02000503020000020003" pitchFamily="2" charset="0"/>
              </a:rPr>
              <a:t>1</a:t>
            </a:r>
            <a:endParaRPr lang="en-US" b="1" dirty="0">
              <a:latin typeface="Avenir Black" panose="02000503020000020003" pitchFamily="2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FF515D-84EC-1597-008D-CDB5A623BB15}"/>
              </a:ext>
            </a:extLst>
          </p:cNvPr>
          <p:cNvSpPr/>
          <p:nvPr/>
        </p:nvSpPr>
        <p:spPr>
          <a:xfrm>
            <a:off x="5423780" y="3746963"/>
            <a:ext cx="126609" cy="12660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latin typeface="Avenir Black" panose="02000503020000020003" pitchFamily="2" charset="0"/>
              </a:rPr>
              <a:t>2</a:t>
            </a:r>
            <a:endParaRPr lang="en-US" b="1" dirty="0">
              <a:latin typeface="Avenir Black" panose="02000503020000020003" pitchFamily="2" charset="0"/>
            </a:endParaRPr>
          </a:p>
        </p:txBody>
      </p:sp>
      <p:sp>
        <p:nvSpPr>
          <p:cNvPr id="41" name="Triangle 40">
            <a:extLst>
              <a:ext uri="{FF2B5EF4-FFF2-40B4-BE49-F238E27FC236}">
                <a16:creationId xmlns:a16="http://schemas.microsoft.com/office/drawing/2014/main" id="{A064192E-11EE-847F-F683-9B123B1AE9F8}"/>
              </a:ext>
            </a:extLst>
          </p:cNvPr>
          <p:cNvSpPr/>
          <p:nvPr/>
        </p:nvSpPr>
        <p:spPr>
          <a:xfrm>
            <a:off x="3862638" y="2944453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riangle 41">
            <a:extLst>
              <a:ext uri="{FF2B5EF4-FFF2-40B4-BE49-F238E27FC236}">
                <a16:creationId xmlns:a16="http://schemas.microsoft.com/office/drawing/2014/main" id="{E133CD3C-7399-DD02-01D7-C6F236776342}"/>
              </a:ext>
            </a:extLst>
          </p:cNvPr>
          <p:cNvSpPr/>
          <p:nvPr/>
        </p:nvSpPr>
        <p:spPr>
          <a:xfrm>
            <a:off x="3871178" y="2146209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riangle 42">
            <a:extLst>
              <a:ext uri="{FF2B5EF4-FFF2-40B4-BE49-F238E27FC236}">
                <a16:creationId xmlns:a16="http://schemas.microsoft.com/office/drawing/2014/main" id="{D2495149-C336-153F-046A-8F39F8C62C52}"/>
              </a:ext>
            </a:extLst>
          </p:cNvPr>
          <p:cNvSpPr/>
          <p:nvPr/>
        </p:nvSpPr>
        <p:spPr>
          <a:xfrm>
            <a:off x="5479585" y="2285617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8D2EA0A-352D-24B8-5DC8-A0B42F508311}"/>
              </a:ext>
            </a:extLst>
          </p:cNvPr>
          <p:cNvSpPr txBox="1"/>
          <p:nvPr/>
        </p:nvSpPr>
        <p:spPr>
          <a:xfrm>
            <a:off x="3817535" y="2154902"/>
            <a:ext cx="2744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  <a:latin typeface="Avenir Black" panose="02000503020000020003" pitchFamily="2" charset="0"/>
              </a:rPr>
              <a:t>10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0222A4-DEB7-F63A-1E38-67F4856AAB1D}"/>
              </a:ext>
            </a:extLst>
          </p:cNvPr>
          <p:cNvSpPr txBox="1"/>
          <p:nvPr/>
        </p:nvSpPr>
        <p:spPr>
          <a:xfrm>
            <a:off x="3807023" y="2952609"/>
            <a:ext cx="2744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  <a:latin typeface="Avenir Black" panose="02000503020000020003" pitchFamily="2" charset="0"/>
              </a:rPr>
              <a:t>11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836874-0C58-C882-6C47-5D268B2E01B4}"/>
              </a:ext>
            </a:extLst>
          </p:cNvPr>
          <p:cNvSpPr txBox="1"/>
          <p:nvPr/>
        </p:nvSpPr>
        <p:spPr>
          <a:xfrm>
            <a:off x="3650386" y="2355102"/>
            <a:ext cx="2744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  <a:latin typeface="Avenir Black" panose="02000503020000020003" pitchFamily="2" charset="0"/>
              </a:rPr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CB3918-16FA-6922-8D79-E64D95720012}"/>
              </a:ext>
            </a:extLst>
          </p:cNvPr>
          <p:cNvSpPr txBox="1"/>
          <p:nvPr/>
        </p:nvSpPr>
        <p:spPr>
          <a:xfrm>
            <a:off x="3976144" y="2786485"/>
            <a:ext cx="2744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  <a:latin typeface="Avenir Black" panose="02000503020000020003" pitchFamily="2" charset="0"/>
              </a:rPr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47C0B3-6305-4C5D-B6ED-4FB8DE075A57}"/>
              </a:ext>
            </a:extLst>
          </p:cNvPr>
          <p:cNvSpPr txBox="1"/>
          <p:nvPr/>
        </p:nvSpPr>
        <p:spPr>
          <a:xfrm>
            <a:off x="5286563" y="1997375"/>
            <a:ext cx="2744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  <a:latin typeface="Avenir Black" panose="02000503020000020003" pitchFamily="2" charset="0"/>
              </a:rPr>
              <a:t>14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B18E8A1-4DD8-8005-A029-4A6A8FAE3DD3}"/>
              </a:ext>
            </a:extLst>
          </p:cNvPr>
          <p:cNvSpPr txBox="1"/>
          <p:nvPr/>
        </p:nvSpPr>
        <p:spPr>
          <a:xfrm>
            <a:off x="5423587" y="2289600"/>
            <a:ext cx="2744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  <a:latin typeface="Avenir Black" panose="02000503020000020003" pitchFamily="2" charset="0"/>
              </a:rPr>
              <a:t>15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C76C7C-FD41-9F0F-E1BA-690DA50A390F}"/>
              </a:ext>
            </a:extLst>
          </p:cNvPr>
          <p:cNvSpPr txBox="1"/>
          <p:nvPr/>
        </p:nvSpPr>
        <p:spPr>
          <a:xfrm>
            <a:off x="5460157" y="2777396"/>
            <a:ext cx="2744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  <a:latin typeface="Avenir Black" panose="02000503020000020003" pitchFamily="2" charset="0"/>
              </a:rPr>
              <a:t>16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7C247E-971A-8A1A-1566-95ECF56CB778}"/>
              </a:ext>
            </a:extLst>
          </p:cNvPr>
          <p:cNvSpPr txBox="1"/>
          <p:nvPr/>
        </p:nvSpPr>
        <p:spPr>
          <a:xfrm>
            <a:off x="4628658" y="2159954"/>
            <a:ext cx="2744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  <a:latin typeface="Avenir Black" panose="02000503020000020003" pitchFamily="2" charset="0"/>
              </a:rPr>
              <a:t>17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077CB3-1A64-8A9E-E8FD-900BE7869BB4}"/>
              </a:ext>
            </a:extLst>
          </p:cNvPr>
          <p:cNvSpPr txBox="1"/>
          <p:nvPr/>
        </p:nvSpPr>
        <p:spPr>
          <a:xfrm>
            <a:off x="5053307" y="2178154"/>
            <a:ext cx="2744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  <a:latin typeface="Avenir Black" panose="02000503020000020003" pitchFamily="2" charset="0"/>
              </a:rPr>
              <a:t>18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479D473-A8F5-19D6-D31B-6642FBE44F50}"/>
              </a:ext>
            </a:extLst>
          </p:cNvPr>
          <p:cNvSpPr txBox="1"/>
          <p:nvPr/>
        </p:nvSpPr>
        <p:spPr>
          <a:xfrm>
            <a:off x="4628658" y="2920195"/>
            <a:ext cx="2744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  <a:latin typeface="Avenir Black" panose="02000503020000020003" pitchFamily="2" charset="0"/>
              </a:rPr>
              <a:t>19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D88482-8B69-A3C0-D387-7E299752F5A6}"/>
              </a:ext>
            </a:extLst>
          </p:cNvPr>
          <p:cNvSpPr txBox="1"/>
          <p:nvPr/>
        </p:nvSpPr>
        <p:spPr>
          <a:xfrm>
            <a:off x="5128548" y="2920195"/>
            <a:ext cx="2744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  <a:latin typeface="Avenir Black" panose="02000503020000020003" pitchFamily="2" charset="0"/>
              </a:rPr>
              <a:t>20</a:t>
            </a:r>
          </a:p>
        </p:txBody>
      </p:sp>
      <p:sp>
        <p:nvSpPr>
          <p:cNvPr id="56" name="Triangle 55">
            <a:extLst>
              <a:ext uri="{FF2B5EF4-FFF2-40B4-BE49-F238E27FC236}">
                <a16:creationId xmlns:a16="http://schemas.microsoft.com/office/drawing/2014/main" id="{0CC07709-6BC9-7746-EE61-7D89CF5B3D77}"/>
              </a:ext>
            </a:extLst>
          </p:cNvPr>
          <p:cNvSpPr/>
          <p:nvPr/>
        </p:nvSpPr>
        <p:spPr>
          <a:xfrm>
            <a:off x="3997882" y="1965459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venir Black" panose="02000503020000020003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5C162F-36AA-99F5-671A-AC564E76DE1B}"/>
              </a:ext>
            </a:extLst>
          </p:cNvPr>
          <p:cNvSpPr txBox="1"/>
          <p:nvPr/>
        </p:nvSpPr>
        <p:spPr>
          <a:xfrm>
            <a:off x="3943688" y="1974892"/>
            <a:ext cx="2744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  <a:latin typeface="Avenir Black" panose="02000503020000020003" pitchFamily="2" charset="0"/>
              </a:rPr>
              <a:t>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769336-67DB-B61C-1B63-B23AB35E4453}"/>
              </a:ext>
            </a:extLst>
          </p:cNvPr>
          <p:cNvSpPr txBox="1"/>
          <p:nvPr/>
        </p:nvSpPr>
        <p:spPr>
          <a:xfrm>
            <a:off x="6601968" y="2784825"/>
            <a:ext cx="1856232" cy="206210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venir Book" panose="02000503020000020003" pitchFamily="2" charset="0"/>
              </a:rPr>
              <a:t>1-4	Main Hall</a:t>
            </a:r>
          </a:p>
          <a:p>
            <a:r>
              <a:rPr lang="en-US" sz="800" dirty="0">
                <a:latin typeface="Avenir Book" panose="02000503020000020003" pitchFamily="2" charset="0"/>
              </a:rPr>
              <a:t>6	VIP Lounge</a:t>
            </a:r>
          </a:p>
          <a:p>
            <a:r>
              <a:rPr lang="en-US" sz="800" dirty="0">
                <a:latin typeface="Avenir Book" panose="02000503020000020003" pitchFamily="2" charset="0"/>
              </a:rPr>
              <a:t>7	Cafeteria</a:t>
            </a:r>
          </a:p>
          <a:p>
            <a:r>
              <a:rPr lang="en-US" sz="800" dirty="0">
                <a:latin typeface="Avenir Book" panose="02000503020000020003" pitchFamily="2" charset="0"/>
              </a:rPr>
              <a:t>8	Staff Offices</a:t>
            </a:r>
          </a:p>
          <a:p>
            <a:r>
              <a:rPr lang="en-US" sz="800" dirty="0">
                <a:latin typeface="Avenir Book" panose="02000503020000020003" pitchFamily="2" charset="0"/>
              </a:rPr>
              <a:t>9	Meeting Room</a:t>
            </a:r>
          </a:p>
          <a:p>
            <a:r>
              <a:rPr lang="en-US" sz="800" dirty="0">
                <a:latin typeface="Avenir Book" panose="02000503020000020003" pitchFamily="2" charset="0"/>
              </a:rPr>
              <a:t>10	Offices Entrance West</a:t>
            </a:r>
          </a:p>
          <a:p>
            <a:r>
              <a:rPr lang="en-US" sz="800" dirty="0">
                <a:latin typeface="Avenir Book" panose="02000503020000020003" pitchFamily="2" charset="0"/>
              </a:rPr>
              <a:t>11	Offices Entrance East</a:t>
            </a:r>
          </a:p>
          <a:p>
            <a:r>
              <a:rPr lang="en-US" sz="800" dirty="0">
                <a:latin typeface="Avenir Book" panose="02000503020000020003" pitchFamily="2" charset="0"/>
              </a:rPr>
              <a:t>12	Office Suite 1</a:t>
            </a:r>
          </a:p>
          <a:p>
            <a:r>
              <a:rPr lang="en-US" sz="800" dirty="0">
                <a:latin typeface="Avenir Book" panose="02000503020000020003" pitchFamily="2" charset="0"/>
              </a:rPr>
              <a:t>13	Office Suite 2</a:t>
            </a:r>
          </a:p>
          <a:p>
            <a:r>
              <a:rPr lang="en-US" sz="800" dirty="0">
                <a:latin typeface="Avenir Book" panose="02000503020000020003" pitchFamily="2" charset="0"/>
              </a:rPr>
              <a:t>14	IT Room </a:t>
            </a:r>
          </a:p>
          <a:p>
            <a:r>
              <a:rPr lang="en-US" sz="800" dirty="0">
                <a:latin typeface="Avenir Book" panose="02000503020000020003" pitchFamily="2" charset="0"/>
              </a:rPr>
              <a:t>15-16	Pitch Hall </a:t>
            </a:r>
          </a:p>
          <a:p>
            <a:r>
              <a:rPr lang="en-US" sz="800" dirty="0">
                <a:latin typeface="Avenir Book" panose="02000503020000020003" pitchFamily="2" charset="0"/>
              </a:rPr>
              <a:t>17-20	Office Suite 3 </a:t>
            </a:r>
          </a:p>
          <a:p>
            <a:r>
              <a:rPr lang="en-US" sz="800" dirty="0">
                <a:latin typeface="Avenir Book" panose="02000503020000020003" pitchFamily="2" charset="0"/>
              </a:rPr>
              <a:t>21	Office Suite 4 </a:t>
            </a:r>
          </a:p>
          <a:p>
            <a:pPr marL="228600" indent="-228600">
              <a:buAutoNum type="arabicPlain" startAt="14"/>
            </a:pPr>
            <a:endParaRPr lang="en-US" sz="800" dirty="0">
              <a:latin typeface="Avenir Book" panose="02000503020000020003" pitchFamily="2" charset="0"/>
            </a:endParaRPr>
          </a:p>
          <a:p>
            <a:pPr marL="228600" indent="-228600">
              <a:buAutoNum type="arabicPlain" startAt="6"/>
            </a:pPr>
            <a:endParaRPr lang="en-US" sz="800" dirty="0">
              <a:latin typeface="Avenir Book" panose="02000503020000020003" pitchFamily="2" charset="0"/>
            </a:endParaRPr>
          </a:p>
          <a:p>
            <a:pPr marL="228600" indent="-228600">
              <a:buAutoNum type="arabicPlain" startAt="6"/>
            </a:pPr>
            <a:endParaRPr lang="en-US" sz="800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711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1938511-037F-ED46-AB38-15FD5B6934D2}"/>
              </a:ext>
            </a:extLst>
          </p:cNvPr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2FD0B8-0DC6-1743-8B69-8E7B75617526}"/>
              </a:ext>
            </a:extLst>
          </p:cNvPr>
          <p:cNvSpPr txBox="1"/>
          <p:nvPr/>
        </p:nvSpPr>
        <p:spPr>
          <a:xfrm>
            <a:off x="538618" y="371598"/>
            <a:ext cx="4847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First Floor</a:t>
            </a:r>
          </a:p>
        </p:txBody>
      </p:sp>
      <p:pic>
        <p:nvPicPr>
          <p:cNvPr id="4" name="Picture 3" descr="A blueprint of a building&#10;&#10;Description automatically generated">
            <a:extLst>
              <a:ext uri="{FF2B5EF4-FFF2-40B4-BE49-F238E27FC236}">
                <a16:creationId xmlns:a16="http://schemas.microsoft.com/office/drawing/2014/main" id="{63608E08-DF9A-5FBB-E44C-7064526794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523" b="1355"/>
          <a:stretch/>
        </p:blipFill>
        <p:spPr>
          <a:xfrm>
            <a:off x="844952" y="1527577"/>
            <a:ext cx="7731781" cy="431442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526AD2B-7A22-1884-DB70-9640BFBA882C}"/>
              </a:ext>
            </a:extLst>
          </p:cNvPr>
          <p:cNvGrpSpPr/>
          <p:nvPr/>
        </p:nvGrpSpPr>
        <p:grpSpPr>
          <a:xfrm>
            <a:off x="6744676" y="4980988"/>
            <a:ext cx="1424956" cy="975629"/>
            <a:chOff x="6744676" y="4980988"/>
            <a:chExt cx="1424956" cy="975629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BD2B96E4-CD1E-2B19-5CF1-3EE7B214BD30}"/>
                </a:ext>
              </a:extLst>
            </p:cNvPr>
            <p:cNvSpPr/>
            <p:nvPr/>
          </p:nvSpPr>
          <p:spPr>
            <a:xfrm>
              <a:off x="6749416" y="5032052"/>
              <a:ext cx="167149" cy="144094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A46734-6994-E594-4B3F-407BCAF665E0}"/>
                </a:ext>
              </a:extLst>
            </p:cNvPr>
            <p:cNvSpPr/>
            <p:nvPr/>
          </p:nvSpPr>
          <p:spPr>
            <a:xfrm>
              <a:off x="6765648" y="5395963"/>
              <a:ext cx="126609" cy="12660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0C66468-26E3-545C-A5BF-CCFFEC22154B}"/>
                </a:ext>
              </a:extLst>
            </p:cNvPr>
            <p:cNvSpPr txBox="1"/>
            <p:nvPr/>
          </p:nvSpPr>
          <p:spPr>
            <a:xfrm>
              <a:off x="6916565" y="4980988"/>
              <a:ext cx="12530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Avenir Book" panose="02000503020000020003" pitchFamily="2" charset="0"/>
                </a:rPr>
                <a:t>Door Lock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55543A-4409-5AF4-C521-5795E97657B1}"/>
                </a:ext>
              </a:extLst>
            </p:cNvPr>
            <p:cNvSpPr txBox="1"/>
            <p:nvPr/>
          </p:nvSpPr>
          <p:spPr>
            <a:xfrm>
              <a:off x="6916565" y="5336156"/>
              <a:ext cx="12530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Avenir Book" panose="02000503020000020003" pitchFamily="2" charset="0"/>
                </a:rPr>
                <a:t>Turnstile Reader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A671A93-806D-8DD6-234D-EEC1E580B79A}"/>
                </a:ext>
              </a:extLst>
            </p:cNvPr>
            <p:cNvSpPr/>
            <p:nvPr/>
          </p:nvSpPr>
          <p:spPr>
            <a:xfrm>
              <a:off x="6744676" y="5759717"/>
              <a:ext cx="147581" cy="14758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54C77D4-B4EC-CFE4-76EB-972E8A3CCD9A}"/>
                </a:ext>
              </a:extLst>
            </p:cNvPr>
            <p:cNvSpPr txBox="1"/>
            <p:nvPr/>
          </p:nvSpPr>
          <p:spPr>
            <a:xfrm>
              <a:off x="6916565" y="5710396"/>
              <a:ext cx="12530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Avenir Book" panose="02000503020000020003" pitchFamily="2" charset="0"/>
                </a:rPr>
                <a:t>Elevator Reader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4E7CA56-4E0C-8B88-9238-8DBA7353119D}"/>
              </a:ext>
            </a:extLst>
          </p:cNvPr>
          <p:cNvSpPr/>
          <p:nvPr/>
        </p:nvSpPr>
        <p:spPr>
          <a:xfrm>
            <a:off x="2962404" y="2532387"/>
            <a:ext cx="126609" cy="12660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latin typeface="Avenir Black" panose="02000503020000020003" pitchFamily="2" charset="0"/>
              </a:rPr>
              <a:t>1</a:t>
            </a:r>
            <a:endParaRPr lang="en-US" b="1" dirty="0">
              <a:latin typeface="Avenir Black" panose="02000503020000020003" pitchFamily="2" charset="0"/>
            </a:endParaRPr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CE66DCD6-BDEE-D9E1-F3DE-891919BA9D9A}"/>
              </a:ext>
            </a:extLst>
          </p:cNvPr>
          <p:cNvSpPr/>
          <p:nvPr/>
        </p:nvSpPr>
        <p:spPr>
          <a:xfrm>
            <a:off x="3661696" y="2293931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AF0799CE-0839-870F-F85A-3F1D64D96B74}"/>
              </a:ext>
            </a:extLst>
          </p:cNvPr>
          <p:cNvSpPr/>
          <p:nvPr/>
        </p:nvSpPr>
        <p:spPr>
          <a:xfrm>
            <a:off x="4710842" y="2293931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id="{F493865D-A571-73C3-E6BD-17A58CBC42C9}"/>
              </a:ext>
            </a:extLst>
          </p:cNvPr>
          <p:cNvSpPr/>
          <p:nvPr/>
        </p:nvSpPr>
        <p:spPr>
          <a:xfrm>
            <a:off x="3546461" y="4908941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37429A0C-EB29-65EC-F88D-47AD8BD36E8B}"/>
              </a:ext>
            </a:extLst>
          </p:cNvPr>
          <p:cNvSpPr/>
          <p:nvPr/>
        </p:nvSpPr>
        <p:spPr>
          <a:xfrm>
            <a:off x="3253403" y="4908941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id="{D871E105-47A9-5373-F48A-D6D516D69E8D}"/>
              </a:ext>
            </a:extLst>
          </p:cNvPr>
          <p:cNvSpPr/>
          <p:nvPr/>
        </p:nvSpPr>
        <p:spPr>
          <a:xfrm>
            <a:off x="2926477" y="4908941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8B2E2F68-FE52-A379-96C0-334AB908335B}"/>
              </a:ext>
            </a:extLst>
          </p:cNvPr>
          <p:cNvSpPr/>
          <p:nvPr/>
        </p:nvSpPr>
        <p:spPr>
          <a:xfrm>
            <a:off x="2811218" y="4773473"/>
            <a:ext cx="167149" cy="14409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6EB7D7-452F-E83F-B337-CEE50FC82F16}"/>
              </a:ext>
            </a:extLst>
          </p:cNvPr>
          <p:cNvSpPr/>
          <p:nvPr/>
        </p:nvSpPr>
        <p:spPr>
          <a:xfrm>
            <a:off x="5536271" y="3971720"/>
            <a:ext cx="126609" cy="12660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latin typeface="Avenir Black" panose="02000503020000020003" pitchFamily="2" charset="0"/>
              </a:rPr>
              <a:t>2</a:t>
            </a:r>
            <a:endParaRPr lang="en-US" b="1" dirty="0">
              <a:latin typeface="Avenir Black" panose="02000503020000020003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84A367-B64F-0207-D07A-7F85C7A2952E}"/>
              </a:ext>
            </a:extLst>
          </p:cNvPr>
          <p:cNvSpPr txBox="1"/>
          <p:nvPr/>
        </p:nvSpPr>
        <p:spPr>
          <a:xfrm>
            <a:off x="3608053" y="2302169"/>
            <a:ext cx="2744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  <a:latin typeface="Avenir Black" panose="02000503020000020003" pitchFamily="2" charset="0"/>
              </a:rPr>
              <a:t>22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CC0844-E4EC-21AF-A05E-24081908BD71}"/>
              </a:ext>
            </a:extLst>
          </p:cNvPr>
          <p:cNvSpPr txBox="1"/>
          <p:nvPr/>
        </p:nvSpPr>
        <p:spPr>
          <a:xfrm>
            <a:off x="4657199" y="2302169"/>
            <a:ext cx="2744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  <a:latin typeface="Avenir Black" panose="02000503020000020003" pitchFamily="2" charset="0"/>
              </a:rPr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0E68BA-9356-9B5F-2B55-A38B4B5669C4}"/>
              </a:ext>
            </a:extLst>
          </p:cNvPr>
          <p:cNvSpPr txBox="1"/>
          <p:nvPr/>
        </p:nvSpPr>
        <p:spPr>
          <a:xfrm>
            <a:off x="3492818" y="4917192"/>
            <a:ext cx="2744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  <a:latin typeface="Avenir Black" panose="02000503020000020003" pitchFamily="2" charset="0"/>
              </a:rPr>
              <a:t>24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581FB7-5FE8-41A9-F5CA-D08A960A5D90}"/>
              </a:ext>
            </a:extLst>
          </p:cNvPr>
          <p:cNvSpPr txBox="1"/>
          <p:nvPr/>
        </p:nvSpPr>
        <p:spPr>
          <a:xfrm>
            <a:off x="3199760" y="4917192"/>
            <a:ext cx="2744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  <a:latin typeface="Avenir Black" panose="02000503020000020003" pitchFamily="2" charset="0"/>
              </a:rPr>
              <a:t>25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CC0150-52D2-D1F5-53F5-BB8DCA486681}"/>
              </a:ext>
            </a:extLst>
          </p:cNvPr>
          <p:cNvSpPr txBox="1"/>
          <p:nvPr/>
        </p:nvSpPr>
        <p:spPr>
          <a:xfrm>
            <a:off x="2874952" y="4917192"/>
            <a:ext cx="2744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  <a:latin typeface="Avenir Black" panose="02000503020000020003" pitchFamily="2" charset="0"/>
              </a:rPr>
              <a:t>26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1810AE-E0BF-25D4-F897-1A7D44746ACE}"/>
              </a:ext>
            </a:extLst>
          </p:cNvPr>
          <p:cNvSpPr txBox="1"/>
          <p:nvPr/>
        </p:nvSpPr>
        <p:spPr>
          <a:xfrm>
            <a:off x="2759216" y="4775765"/>
            <a:ext cx="2744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  <a:latin typeface="Avenir Black" panose="02000503020000020003" pitchFamily="2" charset="0"/>
              </a:rPr>
              <a:t>27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C1EBD8E-8042-8D21-CECC-637349A069D9}"/>
              </a:ext>
            </a:extLst>
          </p:cNvPr>
          <p:cNvSpPr/>
          <p:nvPr/>
        </p:nvSpPr>
        <p:spPr>
          <a:xfrm>
            <a:off x="3057043" y="3037407"/>
            <a:ext cx="147581" cy="14758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latin typeface="Avenir Black" panose="02000503020000020003" pitchFamily="2" charset="0"/>
              </a:rPr>
              <a:t>1</a:t>
            </a:r>
            <a:endParaRPr lang="en-US" b="1" dirty="0">
              <a:latin typeface="Avenir Black" panose="02000503020000020003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8B3B73-C649-D9E6-59DB-9E90D0F4E1AF}"/>
              </a:ext>
            </a:extLst>
          </p:cNvPr>
          <p:cNvSpPr txBox="1"/>
          <p:nvPr/>
        </p:nvSpPr>
        <p:spPr>
          <a:xfrm>
            <a:off x="6602339" y="3405828"/>
            <a:ext cx="185623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venir Book" panose="02000503020000020003" pitchFamily="2" charset="0"/>
              </a:rPr>
              <a:t>22-23	General Workspaces </a:t>
            </a:r>
          </a:p>
          <a:p>
            <a:r>
              <a:rPr lang="en-US" sz="800" dirty="0">
                <a:latin typeface="Avenir Book" panose="02000503020000020003" pitchFamily="2" charset="0"/>
              </a:rPr>
              <a:t>24-26	Private Offices </a:t>
            </a:r>
          </a:p>
          <a:p>
            <a:r>
              <a:rPr lang="en-US" sz="800" dirty="0">
                <a:latin typeface="Avenir Book" panose="02000503020000020003" pitchFamily="2" charset="0"/>
              </a:rPr>
              <a:t>27	MDs Office</a:t>
            </a:r>
          </a:p>
        </p:txBody>
      </p:sp>
    </p:spTree>
    <p:extLst>
      <p:ext uri="{BB962C8B-B14F-4D97-AF65-F5344CB8AC3E}">
        <p14:creationId xmlns:p14="http://schemas.microsoft.com/office/powerpoint/2010/main" val="217311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1938511-037F-ED46-AB38-15FD5B6934D2}"/>
              </a:ext>
            </a:extLst>
          </p:cNvPr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2FD0B8-0DC6-1743-8B69-8E7B75617526}"/>
              </a:ext>
            </a:extLst>
          </p:cNvPr>
          <p:cNvSpPr txBox="1"/>
          <p:nvPr/>
        </p:nvSpPr>
        <p:spPr>
          <a:xfrm>
            <a:off x="538618" y="371598"/>
            <a:ext cx="4847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Totals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92E500F-EC60-34F9-FDE6-674D261D8E1F}"/>
              </a:ext>
            </a:extLst>
          </p:cNvPr>
          <p:cNvGrpSpPr/>
          <p:nvPr/>
        </p:nvGrpSpPr>
        <p:grpSpPr>
          <a:xfrm>
            <a:off x="1324182" y="2354173"/>
            <a:ext cx="3074826" cy="2024711"/>
            <a:chOff x="6744676" y="5032052"/>
            <a:chExt cx="1349055" cy="888326"/>
          </a:xfrm>
        </p:grpSpPr>
        <p:sp>
          <p:nvSpPr>
            <p:cNvPr id="3" name="Triangle 2">
              <a:extLst>
                <a:ext uri="{FF2B5EF4-FFF2-40B4-BE49-F238E27FC236}">
                  <a16:creationId xmlns:a16="http://schemas.microsoft.com/office/drawing/2014/main" id="{289E4B4C-3262-46A6-DB07-A3E4B61ECE2D}"/>
                </a:ext>
              </a:extLst>
            </p:cNvPr>
            <p:cNvSpPr/>
            <p:nvPr/>
          </p:nvSpPr>
          <p:spPr>
            <a:xfrm>
              <a:off x="6749416" y="5032052"/>
              <a:ext cx="167149" cy="144094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A66C977-463A-E9D7-C05C-2D7EFBEBC5F8}"/>
                </a:ext>
              </a:extLst>
            </p:cNvPr>
            <p:cNvSpPr/>
            <p:nvPr/>
          </p:nvSpPr>
          <p:spPr>
            <a:xfrm>
              <a:off x="6765648" y="5395963"/>
              <a:ext cx="126609" cy="12660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BB6F04D-2BE7-A086-B5F2-7ADD41D30F7D}"/>
                </a:ext>
              </a:extLst>
            </p:cNvPr>
            <p:cNvSpPr txBox="1"/>
            <p:nvPr/>
          </p:nvSpPr>
          <p:spPr>
            <a:xfrm>
              <a:off x="6916565" y="5042430"/>
              <a:ext cx="678396" cy="1350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venir Book" panose="02000503020000020003" pitchFamily="2" charset="0"/>
                </a:rPr>
                <a:t>Door Locks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4C3E8E3-CCBE-90D5-DE5A-F273A691E5E0}"/>
                </a:ext>
              </a:extLst>
            </p:cNvPr>
            <p:cNvSpPr txBox="1"/>
            <p:nvPr/>
          </p:nvSpPr>
          <p:spPr>
            <a:xfrm>
              <a:off x="6916565" y="5397601"/>
              <a:ext cx="707310" cy="1350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venir Book" panose="02000503020000020003" pitchFamily="2" charset="0"/>
                </a:rPr>
                <a:t>Turnstile Readers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23255F3-097A-9476-5A12-FB02739E6F20}"/>
                </a:ext>
              </a:extLst>
            </p:cNvPr>
            <p:cNvSpPr/>
            <p:nvPr/>
          </p:nvSpPr>
          <p:spPr>
            <a:xfrm>
              <a:off x="6744676" y="5759717"/>
              <a:ext cx="147581" cy="14758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7C2C1AF-B433-B513-6C89-827006C520DF}"/>
                </a:ext>
              </a:extLst>
            </p:cNvPr>
            <p:cNvSpPr txBox="1"/>
            <p:nvPr/>
          </p:nvSpPr>
          <p:spPr>
            <a:xfrm>
              <a:off x="6916565" y="5771840"/>
              <a:ext cx="772367" cy="148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venir Book" panose="02000503020000020003" pitchFamily="2" charset="0"/>
                </a:rPr>
                <a:t>Elevator Reader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81B83AC-4DFD-BA16-52C1-514BF9663880}"/>
                </a:ext>
              </a:extLst>
            </p:cNvPr>
            <p:cNvSpPr txBox="1"/>
            <p:nvPr/>
          </p:nvSpPr>
          <p:spPr>
            <a:xfrm>
              <a:off x="7769339" y="5042430"/>
              <a:ext cx="324392" cy="1350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venir Book" panose="02000503020000020003" pitchFamily="2" charset="0"/>
                </a:rPr>
                <a:t>27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761628C-0EBB-F26C-057A-FFA147692421}"/>
                </a:ext>
              </a:extLst>
            </p:cNvPr>
            <p:cNvSpPr txBox="1"/>
            <p:nvPr/>
          </p:nvSpPr>
          <p:spPr>
            <a:xfrm>
              <a:off x="7769339" y="5397601"/>
              <a:ext cx="324392" cy="1350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venir Book" panose="02000503020000020003" pitchFamily="2" charset="0"/>
                </a:rPr>
                <a:t>2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BBF924C-0188-4C92-4D15-EAF7B0075501}"/>
                </a:ext>
              </a:extLst>
            </p:cNvPr>
            <p:cNvSpPr txBox="1"/>
            <p:nvPr/>
          </p:nvSpPr>
          <p:spPr>
            <a:xfrm>
              <a:off x="7769339" y="5772263"/>
              <a:ext cx="324392" cy="1350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venir Book" panose="02000503020000020003" pitchFamily="2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6858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E1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469859-87CA-4C06-AF2D-90E444E95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2414016"/>
            <a:ext cx="4229100" cy="202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805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55804</TotalTime>
  <Words>132</Words>
  <Application>Microsoft Macintosh PowerPoint</Application>
  <PresentationFormat>On-screen Show (4:3)</PresentationFormat>
  <Paragraphs>66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Avenir Black</vt:lpstr>
      <vt:lpstr>Avenir Book</vt:lpstr>
      <vt:lpstr>Calibri</vt:lpstr>
      <vt:lpstr>Calibri Light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Temi Kolawole</dc:creator>
  <cp:lastModifiedBy>Temi Kolawole</cp:lastModifiedBy>
  <cp:revision>177</cp:revision>
  <dcterms:created xsi:type="dcterms:W3CDTF">2020-11-24T00:12:57Z</dcterms:created>
  <dcterms:modified xsi:type="dcterms:W3CDTF">2025-03-23T11:17:34Z</dcterms:modified>
</cp:coreProperties>
</file>