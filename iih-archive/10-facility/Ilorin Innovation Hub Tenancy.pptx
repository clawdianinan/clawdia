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5" r:id="rId6"/>
    <p:sldId id="264" r:id="rId7"/>
    <p:sldId id="262" r:id="rId8"/>
    <p:sldId id="263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utosin Bello" initials="OB" lastIdx="1" clrIdx="0">
    <p:extLst>
      <p:ext uri="{19B8F6BF-5375-455C-9EA6-DF929625EA0E}">
        <p15:presenceInfo xmlns:p15="http://schemas.microsoft.com/office/powerpoint/2012/main" userId="61294f0160ccdd8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E166"/>
    <a:srgbClr val="2FF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33"/>
    <p:restoredTop sz="94291" autoAdjust="0"/>
  </p:normalViewPr>
  <p:slideViewPr>
    <p:cSldViewPr snapToGrid="0" snapToObjects="1">
      <p:cViewPr varScale="1">
        <p:scale>
          <a:sx n="122" d="100"/>
          <a:sy n="122" d="100"/>
        </p:scale>
        <p:origin x="9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*</a:t>
            </a:r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/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/>
          </a:p>
          <a:p>
            <a:r>
              <a:rPr lang="en-US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F271026-B1D8-402A-A3C1-C8EA1C91789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06702-883C-1C49-A3D9-95FC99D4F10F}" type="datetimeFigureOut">
              <a:rPr lang="en-US" smtClean="0"/>
              <a:t>6/2/22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5C96-B43F-EF41-83BB-885FD2BDB03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E1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3490" y="3429000"/>
            <a:ext cx="3744361" cy="17914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6822" y="5220483"/>
            <a:ext cx="484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PROPOSED TENANCY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822" y="5639213"/>
            <a:ext cx="484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OCTOBER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8618" y="1609963"/>
            <a:ext cx="7785985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Overview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Floor Distribution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Ground Floor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First Floor Layout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Capacity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Tenancy Prospects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Tenancy Legal Prospects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Concessions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 pitchFamily="2" charset="0"/>
              </a:rPr>
              <a:t>Revenue Projections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248310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8618" y="1398732"/>
            <a:ext cx="8314437" cy="486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The Ilorin Innovation Hub is a state-of-the-art structure that will be the best innovation &amp; technology structure in Nigeria and West Africa. The building will serve the following main purposes: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Avenir Book" panose="02000503020000020003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Create a conducive environment for people to work, interact and learn.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opportunities for tenants and visitors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affordable feeding options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Provide basic retail for offices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/>
              </a:rPr>
              <a:t>Conduct events and build a community-driven tech ecosystem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Avenir Book" panose="02000503020000020003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To achieve this, different sections of the Innovation Hub are being allocated to serve these needs.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Avenir Book" panose="020005030200000200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2038" y="251958"/>
            <a:ext cx="484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Floor Distribution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3822D89-E8F1-6249-ABF3-DBDF23AA2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84154"/>
              </p:ext>
            </p:extLst>
          </p:nvPr>
        </p:nvGraphicFramePr>
        <p:xfrm>
          <a:off x="548640" y="1583705"/>
          <a:ext cx="7810052" cy="407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4268">
                  <a:extLst>
                    <a:ext uri="{9D8B030D-6E8A-4147-A177-3AD203B41FA5}">
                      <a16:colId xmlns:a16="http://schemas.microsoft.com/office/drawing/2014/main" val="2189967081"/>
                    </a:ext>
                  </a:extLst>
                </a:gridCol>
                <a:gridCol w="3915784">
                  <a:extLst>
                    <a:ext uri="{9D8B030D-6E8A-4147-A177-3AD203B41FA5}">
                      <a16:colId xmlns:a16="http://schemas.microsoft.com/office/drawing/2014/main" val="334535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Ground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First Floor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632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68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Co-Working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15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Multi-purpose 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371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Conference Hall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Management Offices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16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85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Snack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488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Internal Offices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3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Computer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6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venir Book" panose="02000503020000020003" pitchFamily="2" charset="0"/>
                        </a:rPr>
                        <a:t>Server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88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venir Book" panose="02000503020000020003" pitchFamily="2" charset="0"/>
                        </a:rPr>
                        <a:t>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721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Ground Floor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8C554-1FA3-E049-972E-23D43858B6CC}"/>
              </a:ext>
            </a:extLst>
          </p:cNvPr>
          <p:cNvSpPr txBox="1"/>
          <p:nvPr/>
        </p:nvSpPr>
        <p:spPr>
          <a:xfrm>
            <a:off x="538619" y="1398732"/>
            <a:ext cx="3732168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Multi-purpose Hall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Conference Hall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Offices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Innovation Hub Staff Offices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Cafeteria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Kitchen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Reception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Shops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Server Room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Rest Rooms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6DEC5E3-3C1B-1149-9AE8-54148F324A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9" t="9726" r="8546" b="5418"/>
          <a:stretch/>
        </p:blipFill>
        <p:spPr>
          <a:xfrm>
            <a:off x="4744123" y="1038572"/>
            <a:ext cx="3732168" cy="581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4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First Floor</a:t>
            </a: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EBC7F352-745E-FE4C-8718-EA7DC1A48D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2" t="19513" r="5001" b="6671"/>
          <a:stretch/>
        </p:blipFill>
        <p:spPr>
          <a:xfrm>
            <a:off x="4134065" y="1266415"/>
            <a:ext cx="4740258" cy="5424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561866-31AA-2E4F-A53E-E78D003BAF0D}"/>
              </a:ext>
            </a:extLst>
          </p:cNvPr>
          <p:cNvSpPr txBox="1"/>
          <p:nvPr/>
        </p:nvSpPr>
        <p:spPr>
          <a:xfrm>
            <a:off x="269677" y="1398732"/>
            <a:ext cx="3968836" cy="1899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General Workspace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Meeting Rooms (proposed)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Offices (additional proposed)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venir Book" panose="02000503020000020003"/>
              </a:rPr>
              <a:t>Management Offices</a:t>
            </a:r>
          </a:p>
        </p:txBody>
      </p:sp>
    </p:spTree>
    <p:extLst>
      <p:ext uri="{BB962C8B-B14F-4D97-AF65-F5344CB8AC3E}">
        <p14:creationId xmlns:p14="http://schemas.microsoft.com/office/powerpoint/2010/main" val="144827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Anchor Tenant Prospects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97BFA38-DD81-164A-991A-07FD38609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76631"/>
              </p:ext>
            </p:extLst>
          </p:nvPr>
        </p:nvGraphicFramePr>
        <p:xfrm>
          <a:off x="538618" y="1618002"/>
          <a:ext cx="7970682" cy="4551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5341">
                  <a:extLst>
                    <a:ext uri="{9D8B030D-6E8A-4147-A177-3AD203B41FA5}">
                      <a16:colId xmlns:a16="http://schemas.microsoft.com/office/drawing/2014/main" val="1790082616"/>
                    </a:ext>
                  </a:extLst>
                </a:gridCol>
                <a:gridCol w="3985341">
                  <a:extLst>
                    <a:ext uri="{9D8B030D-6E8A-4147-A177-3AD203B41FA5}">
                      <a16:colId xmlns:a16="http://schemas.microsoft.com/office/drawing/2014/main" val="340047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b="1" i="0" dirty="0">
                          <a:latin typeface="Avenir Black" panose="02000503020000020003" pitchFamily="2" charset="0"/>
                        </a:rPr>
                        <a:t>Tenant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Proposed Location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344828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GIZ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8050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Alliance </a:t>
                      </a:r>
                      <a:r>
                        <a:rPr lang="en-US" sz="1800" dirty="0" err="1">
                          <a:latin typeface="Avenir Book" panose="02000503020000020003" pitchFamily="2" charset="0"/>
                        </a:rPr>
                        <a:t>Français</a:t>
                      </a:r>
                      <a:r>
                        <a:rPr lang="en-US" sz="1800" dirty="0">
                          <a:latin typeface="Avenir Book" panose="02000503020000020003" pitchFamily="2" charset="0"/>
                        </a:rPr>
                        <a:t> 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06930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Sterling Bank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433822396"/>
                  </a:ext>
                </a:extLst>
              </a:tr>
              <a:tr h="476637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Hugo Tech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Ground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788264135"/>
                  </a:ext>
                </a:extLst>
              </a:tr>
              <a:tr h="4766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US Embassy American Corner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Workspace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27687208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Avenir Book" panose="02000503020000020003" pitchFamily="2" charset="0"/>
                        </a:rPr>
                        <a:t>iLab</a:t>
                      </a:r>
                      <a:r>
                        <a:rPr lang="en-US" sz="1800" dirty="0">
                          <a:latin typeface="Avenir Book" panose="02000503020000020003" pitchFamily="2" charset="0"/>
                        </a:rPr>
                        <a:t> Incubator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First Floor Offices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16424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41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5600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Concessions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075B7E5-62F6-E84B-B2E7-C596EB7C5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80185"/>
              </p:ext>
            </p:extLst>
          </p:nvPr>
        </p:nvGraphicFramePr>
        <p:xfrm>
          <a:off x="538618" y="2763222"/>
          <a:ext cx="7669467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489">
                  <a:extLst>
                    <a:ext uri="{9D8B030D-6E8A-4147-A177-3AD203B41FA5}">
                      <a16:colId xmlns:a16="http://schemas.microsoft.com/office/drawing/2014/main" val="3652394628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381974126"/>
                    </a:ext>
                  </a:extLst>
                </a:gridCol>
                <a:gridCol w="3689873">
                  <a:extLst>
                    <a:ext uri="{9D8B030D-6E8A-4147-A177-3AD203B41FA5}">
                      <a16:colId xmlns:a16="http://schemas.microsoft.com/office/drawing/2014/main" val="281514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Section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venir Black" panose="02000503020000020003" pitchFamily="2" charset="0"/>
                        </a:rPr>
                        <a:t>Number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9922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Continental &amp; traditional meals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48014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Coffee Shop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Coffee, tea, soft drinks &amp; light snacks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4221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Retail Shops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Computer store, bookstore.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73733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9384089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4031458-B525-DD41-91B9-2B618A69CF2F}"/>
              </a:ext>
            </a:extLst>
          </p:cNvPr>
          <p:cNvSpPr txBox="1"/>
          <p:nvPr/>
        </p:nvSpPr>
        <p:spPr>
          <a:xfrm>
            <a:off x="603164" y="1398732"/>
            <a:ext cx="7669466" cy="799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venir Book" panose="02000503020000020003"/>
              </a:rPr>
              <a:t>The following sections in the Innovation Hub should be conceded out to vendors to manage, with a minimum 3-year lease arrangement.</a:t>
            </a:r>
          </a:p>
        </p:txBody>
      </p:sp>
    </p:spTree>
    <p:extLst>
      <p:ext uri="{BB962C8B-B14F-4D97-AF65-F5344CB8AC3E}">
        <p14:creationId xmlns:p14="http://schemas.microsoft.com/office/powerpoint/2010/main" val="62732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"/>
            <a:ext cx="9144000" cy="1027134"/>
          </a:xfrm>
          <a:prstGeom prst="rect">
            <a:avLst/>
          </a:prstGeom>
          <a:solidFill>
            <a:srgbClr val="58E1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8618" y="371598"/>
            <a:ext cx="7131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Yearly Tenancy Revenue Projection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FD623CE-D4CC-744A-A8E8-649334BB2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609911"/>
              </p:ext>
            </p:extLst>
          </p:nvPr>
        </p:nvGraphicFramePr>
        <p:xfrm>
          <a:off x="538618" y="1173947"/>
          <a:ext cx="8082577" cy="527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693">
                  <a:extLst>
                    <a:ext uri="{9D8B030D-6E8A-4147-A177-3AD203B41FA5}">
                      <a16:colId xmlns:a16="http://schemas.microsoft.com/office/drawing/2014/main" val="32210198"/>
                    </a:ext>
                  </a:extLst>
                </a:gridCol>
                <a:gridCol w="2474258">
                  <a:extLst>
                    <a:ext uri="{9D8B030D-6E8A-4147-A177-3AD203B41FA5}">
                      <a16:colId xmlns:a16="http://schemas.microsoft.com/office/drawing/2014/main" val="975667653"/>
                    </a:ext>
                  </a:extLst>
                </a:gridCol>
                <a:gridCol w="2197594">
                  <a:extLst>
                    <a:ext uri="{9D8B030D-6E8A-4147-A177-3AD203B41FA5}">
                      <a16:colId xmlns:a16="http://schemas.microsoft.com/office/drawing/2014/main" val="870373714"/>
                    </a:ext>
                  </a:extLst>
                </a:gridCol>
                <a:gridCol w="1404516">
                  <a:extLst>
                    <a:ext uri="{9D8B030D-6E8A-4147-A177-3AD203B41FA5}">
                      <a16:colId xmlns:a16="http://schemas.microsoft.com/office/drawing/2014/main" val="456760931"/>
                    </a:ext>
                  </a:extLst>
                </a:gridCol>
                <a:gridCol w="1404516">
                  <a:extLst>
                    <a:ext uri="{9D8B030D-6E8A-4147-A177-3AD203B41FA5}">
                      <a16:colId xmlns:a16="http://schemas.microsoft.com/office/drawing/2014/main" val="2435239228"/>
                    </a:ext>
                  </a:extLst>
                </a:gridCol>
              </a:tblGrid>
              <a:tr h="376280"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latin typeface="Avenir Black" panose="02000503020000020003" pitchFamily="2" charset="0"/>
                        </a:rPr>
                        <a:t>SN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latin typeface="Avenir Black" panose="02000503020000020003" pitchFamily="2" charset="0"/>
                        </a:rPr>
                        <a:t>Space 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latin typeface="Avenir Black" panose="02000503020000020003" pitchFamily="2" charset="0"/>
                        </a:rPr>
                        <a:t>Rate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latin typeface="Avenir Black" panose="02000503020000020003" pitchFamily="2" charset="0"/>
                        </a:rPr>
                        <a:t>Number of Units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latin typeface="Avenir Black" panose="02000503020000020003" pitchFamily="2" charset="0"/>
                        </a:rPr>
                        <a:t>Revenue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343111955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Office Plan 1 (downstairs)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1,500,000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4,500,000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509697278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Office Plan 2 (upstairs)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600,000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5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3,000,000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294550710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Office Plan 3 (upstairs)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700,000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1,400,000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92925688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4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Individual Workspace (upstairs)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20,000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2,000,000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921108545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5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Individual Workspace </a:t>
                      </a:r>
                      <a:br>
                        <a:rPr lang="en-US" sz="1000" dirty="0">
                          <a:latin typeface="Avenir Book" panose="02000503020000020003" pitchFamily="2" charset="0"/>
                        </a:rPr>
                      </a:br>
                      <a:r>
                        <a:rPr lang="en-US" sz="1000" dirty="0">
                          <a:latin typeface="Avenir Book" panose="02000503020000020003" pitchFamily="2" charset="0"/>
                        </a:rPr>
                        <a:t>(in multipurpose hall downstairs)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20,000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150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3,000,000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486743208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6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Cafeteria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6,000,000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6,000,000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650289613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7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Coffee Shop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2,000,000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2,000,000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606602509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8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Retail Shops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1,000,000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3,000,000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267890052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9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Conference Hall Rentals (estimate)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10,800,000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venir Book" panose="02000503020000020003" pitchFamily="2" charset="0"/>
                        </a:rPr>
                        <a:t>10,800,000</a:t>
                      </a:r>
                      <a:endParaRPr lang="en-US" sz="1000" dirty="0">
                        <a:latin typeface="Avenir Boo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42721824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Main Hall Rentals (estimate)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12,400,000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venir Book" panose="02000503020000020003" pitchFamily="2" charset="0"/>
                        </a:rPr>
                        <a:t>8,400,000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794929174"/>
                  </a:ext>
                </a:extLst>
              </a:tr>
              <a:tr h="402370">
                <a:tc>
                  <a:txBody>
                    <a:bodyPr/>
                    <a:lstStyle/>
                    <a:p>
                      <a:endParaRPr lang="en-US" sz="1000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b="1" i="0" dirty="0">
                          <a:latin typeface="Avenir Black" panose="02000503020000020003" pitchFamily="2" charset="0"/>
                        </a:rPr>
                        <a:t>Total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sz="1000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sz="1000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en-US" sz="1000" b="1" i="0">
                          <a:latin typeface="Avenir Black" panose="02000503020000020003" pitchFamily="2" charset="0"/>
                        </a:rPr>
                        <a:t>48,100,000</a:t>
                      </a:r>
                      <a:endParaRPr lang="en-US" sz="1000" b="1" i="0" dirty="0">
                        <a:latin typeface="Avenir Black" panose="02000503020000020003" pitchFamily="2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24783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44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100288</TotalTime>
  <Words>363</Words>
  <Application>Microsoft Macintosh PowerPoint</Application>
  <PresentationFormat>On-screen Show (4:3)</PresentationFormat>
  <Paragraphs>140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 Black</vt:lpstr>
      <vt:lpstr>Avenir Book</vt:lpstr>
      <vt:lpstr>Calibri</vt:lpstr>
      <vt:lpstr>Calibri Light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Temi Kolawole</dc:creator>
  <cp:lastModifiedBy>Temi Kolawole</cp:lastModifiedBy>
  <cp:revision>218</cp:revision>
  <cp:lastPrinted>2021-10-12T12:22:36Z</cp:lastPrinted>
  <dcterms:created xsi:type="dcterms:W3CDTF">2020-11-24T00:12:57Z</dcterms:created>
  <dcterms:modified xsi:type="dcterms:W3CDTF">2022-06-02T14:30:58Z</dcterms:modified>
</cp:coreProperties>
</file>