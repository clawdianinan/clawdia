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itchFamily="2" charset="77"/>
      <p:regular r:id="rId21"/>
      <p:bold r:id="rId22"/>
      <p:italic r:id="rId23"/>
      <p:boldItalic r:id="rId24"/>
    </p:embeddedFont>
    <p:embeddedFont>
      <p:font typeface="Montserrat SemiBold" pitchFamily="2" charset="77"/>
      <p:regular r:id="rId25"/>
      <p:bold r:id="rId26"/>
      <p:italic r:id="rId27"/>
      <p:boldItalic r:id="rId28"/>
    </p:embeddedFont>
    <p:embeddedFont>
      <p:font typeface="Poppins" pitchFamily="2" charset="77"/>
      <p:regular r:id="rId29"/>
      <p:bold r:id="rId30"/>
      <p:italic r:id="rId31"/>
      <p:boldItalic r:id="rId32"/>
    </p:embeddedFont>
    <p:embeddedFont>
      <p:font typeface="Poppins SemiBold" panose="020B0604020202020204" pitchFamily="34" charset="0"/>
      <p:regular r:id="rId33"/>
      <p:bold r:id="rId34"/>
      <p:italic r:id="rId35"/>
      <p:boldItalic r:id="rId36"/>
    </p:embeddedFont>
    <p:embeddedFont>
      <p:font typeface="Source Sans Pro" panose="020B0503030403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0B70AA-5DA3-40F7-998D-60CE3C913FA0}">
  <a:tblStyle styleId="{3F0B70AA-5DA3-40F7-998D-60CE3C913F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56" d="100"/>
          <a:sy n="156" d="100"/>
        </p:scale>
        <p:origin x="360" y="1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0572f2087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0572f2087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572f2087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10572f2087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630" y="685800"/>
            <a:ext cx="457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680a4e490_2_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10680a4e490_2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630" y="685800"/>
            <a:ext cx="457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680a4e490_2_7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10680a4e490_2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0680a4e490_2_7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10680a4e490_2_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680a4e490_2_8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55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680a4e490_2_8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0750f978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55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0750f978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0680a4e490_2_8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10680a4e490_2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49" y="1143000"/>
            <a:ext cx="5486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680a4e490_2_8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10680a4e490_2_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49" y="1143000"/>
            <a:ext cx="5486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0680a4e490_2_9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10680a4e490_2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49" y="1143000"/>
            <a:ext cx="5486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0680a4e490_2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0680a4e490_2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0575a1b5f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10575a1b5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06a79e9eff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106a79e9ef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21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08">
  <p:cSld name="Title Only 08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5786563" y="3189458"/>
            <a:ext cx="29253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 b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2pPr>
            <a:lvl3pPr marL="1371600" lvl="2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3pPr>
            <a:lvl4pPr marL="1828800" lvl="3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4pPr>
            <a:lvl5pPr marL="2286000" lvl="4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5pPr>
            <a:lvl6pPr marL="274320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6pPr>
            <a:lvl7pPr marL="320040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7pPr>
            <a:lvl8pPr marL="365760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8pPr>
            <a:lvl9pPr marL="411480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5788063" y="1988955"/>
            <a:ext cx="2920500" cy="13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None/>
              <a:defRPr sz="3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2pPr>
            <a:lvl3pPr marL="1371600" lvl="2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3pPr>
            <a:lvl4pPr marL="1828800" lvl="3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4pPr>
            <a:lvl5pPr marL="2286000" lvl="4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5pPr>
            <a:lvl6pPr marL="274320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6pPr>
            <a:lvl7pPr marL="320040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7pPr>
            <a:lvl8pPr marL="365760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8pPr>
            <a:lvl9pPr marL="411480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Picture 02">
  <p:cSld name="Title and Picture 0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>
            <a:spLocks noGrp="1"/>
          </p:cNvSpPr>
          <p:nvPr>
            <p:ph type="pic" idx="2"/>
          </p:nvPr>
        </p:nvSpPr>
        <p:spPr>
          <a:xfrm>
            <a:off x="4463714" y="0"/>
            <a:ext cx="46803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657892" y="1790045"/>
            <a:ext cx="42438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2pPr>
            <a:lvl3pPr marL="1371600" lvl="2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3pPr>
            <a:lvl4pPr marL="1828800" lvl="3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4pPr>
            <a:lvl5pPr marL="2286000" lvl="4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5pPr>
            <a:lvl6pPr marL="274320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6pPr>
            <a:lvl7pPr marL="320040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7pPr>
            <a:lvl8pPr marL="365760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8pPr>
            <a:lvl9pPr marL="411480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3"/>
          </p:nvPr>
        </p:nvSpPr>
        <p:spPr>
          <a:xfrm>
            <a:off x="657891" y="1215187"/>
            <a:ext cx="42438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None/>
              <a:defRPr sz="3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2pPr>
            <a:lvl3pPr marL="1371600" lvl="2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3pPr>
            <a:lvl4pPr marL="1828800" lvl="3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4pPr>
            <a:lvl5pPr marL="2286000" lvl="4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5pPr>
            <a:lvl6pPr marL="274320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6pPr>
            <a:lvl7pPr marL="320040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7pPr>
            <a:lvl8pPr marL="365760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8pPr>
            <a:lvl9pPr marL="411480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Picture 01">
  <p:cSld name="Title and Picture 0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>
            <a:spLocks noGrp="1"/>
          </p:cNvSpPr>
          <p:nvPr>
            <p:ph type="pic" idx="2"/>
          </p:nvPr>
        </p:nvSpPr>
        <p:spPr>
          <a:xfrm>
            <a:off x="0" y="0"/>
            <a:ext cx="7602900" cy="5143500"/>
          </a:xfrm>
          <a:prstGeom prst="homePlate">
            <a:avLst>
              <a:gd name="adj" fmla="val 29883"/>
            </a:avLst>
          </a:prstGeom>
          <a:noFill/>
          <a:ln>
            <a:noFill/>
          </a:ln>
        </p:spPr>
        <p:txBody>
          <a:bodyPr spcFirstLastPara="1" wrap="square" lIns="62200" tIns="31075" rIns="62200" bIns="310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864263" y="1251281"/>
            <a:ext cx="42438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00" tIns="31075" rIns="62200" bIns="310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None/>
              <a:defRPr sz="3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2pPr>
            <a:lvl3pPr marL="1371600" lvl="2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3pPr>
            <a:lvl4pPr marL="1828800" lvl="3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4pPr>
            <a:lvl5pPr marL="2286000" lvl="4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5pPr>
            <a:lvl6pPr marL="274320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6pPr>
            <a:lvl7pPr marL="320040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7pPr>
            <a:lvl8pPr marL="365760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8pPr>
            <a:lvl9pPr marL="411480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3"/>
          </p:nvPr>
        </p:nvSpPr>
        <p:spPr>
          <a:xfrm>
            <a:off x="864263" y="1826140"/>
            <a:ext cx="42438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00" tIns="31075" rIns="62200" bIns="310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 b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2pPr>
            <a:lvl3pPr marL="1371600" lvl="2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3pPr>
            <a:lvl4pPr marL="1828800" lvl="3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4pPr>
            <a:lvl5pPr marL="2286000" lvl="4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5pPr>
            <a:lvl6pPr marL="274320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/>
            </a:lvl6pPr>
            <a:lvl7pPr marL="320040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7pPr>
            <a:lvl8pPr marL="365760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/>
            </a:lvl8pPr>
            <a:lvl9pPr marL="411480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Picture 01 1">
  <p:cSld name="Title and Picture 0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>
            <a:spLocks noGrp="1"/>
          </p:cNvSpPr>
          <p:nvPr>
            <p:ph type="pic" idx="2"/>
          </p:nvPr>
        </p:nvSpPr>
        <p:spPr>
          <a:xfrm>
            <a:off x="0" y="0"/>
            <a:ext cx="7602900" cy="5143500"/>
          </a:xfrm>
          <a:prstGeom prst="homePlate">
            <a:avLst>
              <a:gd name="adj" fmla="val 29883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864263" y="1251281"/>
            <a:ext cx="42438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None/>
              <a:defRPr sz="41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3"/>
          </p:nvPr>
        </p:nvSpPr>
        <p:spPr>
          <a:xfrm>
            <a:off x="864263" y="1826140"/>
            <a:ext cx="42438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>
            <a:spLocks noGrp="1"/>
          </p:cNvSpPr>
          <p:nvPr>
            <p:ph type="pic" idx="2"/>
          </p:nvPr>
        </p:nvSpPr>
        <p:spPr>
          <a:xfrm>
            <a:off x="0" y="0"/>
            <a:ext cx="4300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>
            <a:spLocks noGrp="1"/>
          </p:cNvSpPr>
          <p:nvPr>
            <p:ph type="pic" idx="2"/>
          </p:nvPr>
        </p:nvSpPr>
        <p:spPr>
          <a:xfrm>
            <a:off x="793583" y="524435"/>
            <a:ext cx="3778500" cy="40914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">
  <p:cSld name="15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5487829" y="350044"/>
            <a:ext cx="3184800" cy="18789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9"/>
          <p:cNvSpPr>
            <a:spLocks noGrp="1"/>
          </p:cNvSpPr>
          <p:nvPr>
            <p:ph type="pic" idx="3"/>
          </p:nvPr>
        </p:nvSpPr>
        <p:spPr>
          <a:xfrm>
            <a:off x="4137309" y="350044"/>
            <a:ext cx="1284000" cy="18789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>
            <a:spLocks noGrp="1"/>
          </p:cNvSpPr>
          <p:nvPr>
            <p:ph type="pic" idx="4"/>
          </p:nvPr>
        </p:nvSpPr>
        <p:spPr>
          <a:xfrm>
            <a:off x="2079373" y="350044"/>
            <a:ext cx="1977000" cy="18789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0650" tIns="90650" rIns="90650" bIns="9065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300" cy="755700"/>
          </a:xfrm>
          <a:prstGeom prst="rect">
            <a:avLst/>
          </a:prstGeom>
        </p:spPr>
        <p:txBody>
          <a:bodyPr spcFirstLastPara="1" wrap="square" lIns="90650" tIns="90650" rIns="90650" bIns="9065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300" cy="31794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0650" tIns="90650" rIns="90650" bIns="90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0650" tIns="90650" rIns="90650" bIns="9065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5" name="Google Shape;11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0650" tIns="90650" rIns="90650" bIns="9065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>
            <a:r>
              <a:t>xx%</a:t>
            </a:r>
          </a:p>
        </p:txBody>
      </p:sp>
      <p:sp>
        <p:nvSpPr>
          <p:cNvPr id="118" name="Google Shape;118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0650" tIns="90650" rIns="90650" bIns="90650" anchor="t" anchorCtr="0">
            <a:noAutofit/>
          </a:bodyPr>
          <a:lstStyle>
            <a:lvl1pPr lvl="0" rtl="0">
              <a:buNone/>
              <a:defRPr sz="1200"/>
            </a:lvl1pPr>
            <a:lvl2pPr lvl="1" rtl="0">
              <a:buNone/>
              <a:defRPr sz="1200"/>
            </a:lvl2pPr>
            <a:lvl3pPr lvl="2" rtl="0">
              <a:buNone/>
              <a:defRPr sz="1200"/>
            </a:lvl3pPr>
            <a:lvl4pPr lvl="3" rtl="0">
              <a:buNone/>
              <a:defRPr sz="1200"/>
            </a:lvl4pPr>
            <a:lvl5pPr lvl="4" rtl="0">
              <a:buNone/>
              <a:defRPr sz="1200"/>
            </a:lvl5pPr>
            <a:lvl6pPr lvl="5" rtl="0">
              <a:buNone/>
              <a:defRPr sz="1200"/>
            </a:lvl6pPr>
            <a:lvl7pPr lvl="6" rtl="0">
              <a:buNone/>
              <a:defRPr sz="1200"/>
            </a:lvl7pPr>
            <a:lvl8pPr lvl="7" rtl="0">
              <a:buNone/>
              <a:defRPr sz="1200"/>
            </a:lvl8pPr>
            <a:lvl9pPr lvl="8" rtl="0"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Picture 02">
  <p:cSld name="Title and Picture 0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>
            <a:spLocks noGrp="1"/>
          </p:cNvSpPr>
          <p:nvPr>
            <p:ph type="pic" idx="2"/>
          </p:nvPr>
        </p:nvSpPr>
        <p:spPr>
          <a:xfrm>
            <a:off x="4463906" y="0"/>
            <a:ext cx="4680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body" idx="1"/>
          </p:nvPr>
        </p:nvSpPr>
        <p:spPr>
          <a:xfrm>
            <a:off x="657920" y="1790077"/>
            <a:ext cx="42441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14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2pPr>
            <a:lvl3pPr marL="1371600" lvl="2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4pPr>
            <a:lvl5pPr marL="2286000" lvl="4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5pPr>
            <a:lvl6pPr marL="2743200" lvl="5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body" idx="3"/>
          </p:nvPr>
        </p:nvSpPr>
        <p:spPr>
          <a:xfrm>
            <a:off x="657919" y="1215209"/>
            <a:ext cx="42441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800"/>
              <a:buNone/>
              <a:defRPr sz="42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2pPr>
            <a:lvl3pPr marL="1371600" lvl="2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4pPr>
            <a:lvl5pPr marL="2286000" lvl="4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5pPr>
            <a:lvl6pPr marL="2743200" lvl="5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8557152" y="474993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08">
  <p:cSld name="Title Only 08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body" idx="1"/>
          </p:nvPr>
        </p:nvSpPr>
        <p:spPr>
          <a:xfrm>
            <a:off x="5786812" y="3189514"/>
            <a:ext cx="292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50" tIns="34850" rIns="69750" bIns="348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1400" b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2pPr>
            <a:lvl3pPr marL="1371600" lvl="2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4pPr>
            <a:lvl5pPr marL="2286000" lvl="4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5pPr>
            <a:lvl6pPr marL="2743200" lvl="5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body" idx="2"/>
          </p:nvPr>
        </p:nvSpPr>
        <p:spPr>
          <a:xfrm>
            <a:off x="5788312" y="1988990"/>
            <a:ext cx="2920500" cy="13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50" tIns="34850" rIns="69750" bIns="348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800"/>
              <a:buNone/>
              <a:defRPr sz="42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2pPr>
            <a:lvl3pPr marL="1371600" lvl="2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4pPr>
            <a:lvl5pPr marL="2286000" lvl="4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5pPr>
            <a:lvl6pPr marL="2743200" lvl="5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8557152" y="474993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50" tIns="34850" rIns="69750" bIns="3485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650" tIns="90650" rIns="90650" bIns="906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650" tIns="90650" rIns="90650" bIns="90650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650" tIns="90650" rIns="90650" bIns="90650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5"/>
          <p:cNvSpPr/>
          <p:nvPr/>
        </p:nvSpPr>
        <p:spPr>
          <a:xfrm>
            <a:off x="-2" y="0"/>
            <a:ext cx="9144000" cy="5143500"/>
          </a:xfrm>
          <a:prstGeom prst="rect">
            <a:avLst/>
          </a:prstGeom>
          <a:solidFill>
            <a:srgbClr val="0ACAFE">
              <a:alpha val="89440"/>
            </a:srgbClr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5"/>
          <p:cNvSpPr txBox="1"/>
          <p:nvPr/>
        </p:nvSpPr>
        <p:spPr>
          <a:xfrm>
            <a:off x="1195500" y="1952550"/>
            <a:ext cx="7707300" cy="19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59595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KWARA INNOVATION HUB	</a:t>
            </a:r>
            <a:endParaRPr sz="6100">
              <a:solidFill>
                <a:srgbClr val="59595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9" name="Google Shape;139;p35"/>
          <p:cNvSpPr/>
          <p:nvPr/>
        </p:nvSpPr>
        <p:spPr>
          <a:xfrm>
            <a:off x="0" y="0"/>
            <a:ext cx="620700" cy="5143500"/>
          </a:xfrm>
          <a:prstGeom prst="rect">
            <a:avLst/>
          </a:prstGeom>
          <a:solidFill>
            <a:srgbClr val="59595C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825" y="184750"/>
            <a:ext cx="1791751" cy="4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5"/>
          <p:cNvSpPr txBox="1"/>
          <p:nvPr/>
        </p:nvSpPr>
        <p:spPr>
          <a:xfrm>
            <a:off x="1255150" y="812600"/>
            <a:ext cx="71007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 &amp; PRELIMINARY COST ESTIMATE PROPOSAL </a:t>
            </a: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DECEMBER 13th 2021</a:t>
            </a: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6"/>
          <p:cNvPicPr preferRelativeResize="0"/>
          <p:nvPr/>
        </p:nvPicPr>
        <p:blipFill rotWithShape="1">
          <a:blip r:embed="rId3">
            <a:alphaModFix/>
          </a:blip>
          <a:srcRect t="592" b="59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7" name="Google Shape;147;p36"/>
          <p:cNvSpPr/>
          <p:nvPr/>
        </p:nvSpPr>
        <p:spPr>
          <a:xfrm>
            <a:off x="-2" y="0"/>
            <a:ext cx="9144000" cy="5143500"/>
          </a:xfrm>
          <a:prstGeom prst="rect">
            <a:avLst/>
          </a:prstGeom>
          <a:solidFill>
            <a:srgbClr val="1B1C1C">
              <a:alpha val="24810"/>
            </a:srgbClr>
          </a:solidFill>
          <a:ln w="12700" cap="flat" cmpd="sng">
            <a:solidFill>
              <a:srgbClr val="42719B">
                <a:alpha val="9882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6"/>
          <p:cNvSpPr txBox="1"/>
          <p:nvPr/>
        </p:nvSpPr>
        <p:spPr>
          <a:xfrm>
            <a:off x="6571099" y="3168388"/>
            <a:ext cx="16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9" name="Google Shape;149;p36"/>
          <p:cNvGrpSpPr/>
          <p:nvPr/>
        </p:nvGrpSpPr>
        <p:grpSpPr>
          <a:xfrm>
            <a:off x="6295275" y="423625"/>
            <a:ext cx="2309100" cy="1763425"/>
            <a:chOff x="5468200" y="1111600"/>
            <a:chExt cx="2309100" cy="1763425"/>
          </a:xfrm>
        </p:grpSpPr>
        <p:sp>
          <p:nvSpPr>
            <p:cNvPr id="150" name="Google Shape;150;p36"/>
            <p:cNvSpPr/>
            <p:nvPr/>
          </p:nvSpPr>
          <p:spPr>
            <a:xfrm>
              <a:off x="5468200" y="1111600"/>
              <a:ext cx="2309100" cy="570000"/>
            </a:xfrm>
            <a:prstGeom prst="rect">
              <a:avLst/>
            </a:prstGeom>
            <a:solidFill>
              <a:srgbClr val="0ACA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6"/>
            <p:cNvSpPr txBox="1"/>
            <p:nvPr/>
          </p:nvSpPr>
          <p:spPr>
            <a:xfrm>
              <a:off x="5549500" y="1235050"/>
              <a:ext cx="2146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22850" rIns="45725" bIns="2285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WHO WE ARE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152" name="Google Shape;152;p36"/>
            <p:cNvSpPr/>
            <p:nvPr/>
          </p:nvSpPr>
          <p:spPr>
            <a:xfrm>
              <a:off x="5468200" y="1681625"/>
              <a:ext cx="2309100" cy="119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36"/>
          <p:cNvSpPr txBox="1"/>
          <p:nvPr/>
        </p:nvSpPr>
        <p:spPr>
          <a:xfrm>
            <a:off x="6427425" y="983450"/>
            <a:ext cx="20448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Spacefinish is one of Africa’s leading Design/Build company that specialises in office spaces. We have a core team of 30 professionals, and network of +40 consultant partners across multiple African countries.</a:t>
            </a:r>
            <a:endParaRPr sz="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CAFE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3429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</a:endParaRPr>
          </a:p>
        </p:txBody>
      </p:sp>
      <p:sp>
        <p:nvSpPr>
          <p:cNvPr id="159" name="Google Shape;159;p37"/>
          <p:cNvSpPr txBox="1">
            <a:spLocks noGrp="1"/>
          </p:cNvSpPr>
          <p:nvPr>
            <p:ph type="body" idx="4294967295"/>
          </p:nvPr>
        </p:nvSpPr>
        <p:spPr>
          <a:xfrm>
            <a:off x="455264" y="2638098"/>
            <a:ext cx="6037500" cy="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25" tIns="34000" rIns="68025" bIns="340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SPACE ZONING</a:t>
            </a:r>
            <a:endParaRPr sz="2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37"/>
          <p:cNvCxnSpPr/>
          <p:nvPr/>
        </p:nvCxnSpPr>
        <p:spPr>
          <a:xfrm>
            <a:off x="352606" y="2714288"/>
            <a:ext cx="0" cy="303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/>
          <p:nvPr/>
        </p:nvSpPr>
        <p:spPr>
          <a:xfrm>
            <a:off x="8053635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6" name="Google Shape;166;p38"/>
          <p:cNvSpPr/>
          <p:nvPr/>
        </p:nvSpPr>
        <p:spPr>
          <a:xfrm>
            <a:off x="7817098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7" name="Google Shape;167;p38"/>
          <p:cNvSpPr/>
          <p:nvPr/>
        </p:nvSpPr>
        <p:spPr>
          <a:xfrm>
            <a:off x="8290173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8" name="Google Shape;168;p38"/>
          <p:cNvSpPr/>
          <p:nvPr/>
        </p:nvSpPr>
        <p:spPr>
          <a:xfrm>
            <a:off x="8526710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9" name="Google Shape;169;p38"/>
          <p:cNvSpPr txBox="1"/>
          <p:nvPr/>
        </p:nvSpPr>
        <p:spPr>
          <a:xfrm>
            <a:off x="1529116" y="4707572"/>
            <a:ext cx="2946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WWW.SPACEFINISH.COM</a:t>
            </a:r>
            <a:endParaRPr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0" name="Google Shape;170;p38"/>
          <p:cNvGrpSpPr/>
          <p:nvPr/>
        </p:nvGrpSpPr>
        <p:grpSpPr>
          <a:xfrm>
            <a:off x="219782" y="67250"/>
            <a:ext cx="3209242" cy="4999997"/>
            <a:chOff x="1347025" y="0"/>
            <a:chExt cx="3209242" cy="5143501"/>
          </a:xfrm>
        </p:grpSpPr>
        <p:pic>
          <p:nvPicPr>
            <p:cNvPr id="171" name="Google Shape;171;p38"/>
            <p:cNvPicPr preferRelativeResize="0"/>
            <p:nvPr/>
          </p:nvPicPr>
          <p:blipFill rotWithShape="1">
            <a:blip r:embed="rId3">
              <a:alphaModFix/>
            </a:blip>
            <a:srcRect l="16829" t="8928" r="8039" b="5878"/>
            <a:stretch/>
          </p:blipFill>
          <p:spPr>
            <a:xfrm>
              <a:off x="1347025" y="0"/>
              <a:ext cx="3209242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38"/>
            <p:cNvSpPr/>
            <p:nvPr/>
          </p:nvSpPr>
          <p:spPr>
            <a:xfrm>
              <a:off x="2067575" y="1538550"/>
              <a:ext cx="1504400" cy="1790150"/>
            </a:xfrm>
            <a:custGeom>
              <a:avLst/>
              <a:gdLst/>
              <a:ahLst/>
              <a:cxnLst/>
              <a:rect l="l" t="t" r="r" b="b"/>
              <a:pathLst>
                <a:path w="60176" h="71606" extrusionOk="0">
                  <a:moveTo>
                    <a:pt x="0" y="56814"/>
                  </a:moveTo>
                  <a:lnTo>
                    <a:pt x="29584" y="0"/>
                  </a:lnTo>
                  <a:lnTo>
                    <a:pt x="60176" y="14792"/>
                  </a:lnTo>
                  <a:lnTo>
                    <a:pt x="28911" y="7160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3" name="Google Shape;173;p38"/>
            <p:cNvSpPr/>
            <p:nvPr/>
          </p:nvSpPr>
          <p:spPr>
            <a:xfrm>
              <a:off x="1419300" y="1404075"/>
              <a:ext cx="685810" cy="737625"/>
            </a:xfrm>
            <a:custGeom>
              <a:avLst/>
              <a:gdLst/>
              <a:ahLst/>
              <a:cxnLst/>
              <a:rect l="l" t="t" r="r" b="b"/>
              <a:pathLst>
                <a:path w="23533" h="26222" extrusionOk="0">
                  <a:moveTo>
                    <a:pt x="0" y="25549"/>
                  </a:moveTo>
                  <a:lnTo>
                    <a:pt x="15801" y="0"/>
                  </a:lnTo>
                  <a:lnTo>
                    <a:pt x="23533" y="4034"/>
                  </a:lnTo>
                  <a:lnTo>
                    <a:pt x="10422" y="2622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" name="Google Shape;174;p38"/>
            <p:cNvSpPr/>
            <p:nvPr/>
          </p:nvSpPr>
          <p:spPr>
            <a:xfrm>
              <a:off x="1924700" y="849400"/>
              <a:ext cx="470650" cy="554675"/>
            </a:xfrm>
            <a:custGeom>
              <a:avLst/>
              <a:gdLst/>
              <a:ahLst/>
              <a:cxnLst/>
              <a:rect l="l" t="t" r="r" b="b"/>
              <a:pathLst>
                <a:path w="18826" h="22187" extrusionOk="0">
                  <a:moveTo>
                    <a:pt x="0" y="18489"/>
                  </a:moveTo>
                  <a:lnTo>
                    <a:pt x="11766" y="0"/>
                  </a:lnTo>
                  <a:lnTo>
                    <a:pt x="18826" y="3025"/>
                  </a:lnTo>
                  <a:lnTo>
                    <a:pt x="7396" y="22187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5" name="Google Shape;175;p38"/>
            <p:cNvSpPr/>
            <p:nvPr/>
          </p:nvSpPr>
          <p:spPr>
            <a:xfrm>
              <a:off x="2867100" y="2594150"/>
              <a:ext cx="914370" cy="1129600"/>
            </a:xfrm>
            <a:custGeom>
              <a:avLst/>
              <a:gdLst/>
              <a:ahLst/>
              <a:cxnLst/>
              <a:rect l="l" t="t" r="r" b="b"/>
              <a:pathLst>
                <a:path w="34963" h="44039" extrusionOk="0">
                  <a:moveTo>
                    <a:pt x="11094" y="39333"/>
                  </a:moveTo>
                  <a:lnTo>
                    <a:pt x="2354" y="44039"/>
                  </a:lnTo>
                  <a:lnTo>
                    <a:pt x="0" y="37652"/>
                  </a:lnTo>
                  <a:lnTo>
                    <a:pt x="20507" y="0"/>
                  </a:lnTo>
                  <a:lnTo>
                    <a:pt x="34963" y="8068"/>
                  </a:lnTo>
                  <a:lnTo>
                    <a:pt x="11430" y="3597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6" name="Google Shape;176;p38"/>
            <p:cNvSpPr/>
            <p:nvPr/>
          </p:nvSpPr>
          <p:spPr>
            <a:xfrm>
              <a:off x="3387075" y="2026000"/>
              <a:ext cx="823625" cy="781576"/>
            </a:xfrm>
            <a:custGeom>
              <a:avLst/>
              <a:gdLst/>
              <a:ahLst/>
              <a:cxnLst/>
              <a:rect l="l" t="t" r="r" b="b"/>
              <a:pathLst>
                <a:path w="32945" h="30929" extrusionOk="0">
                  <a:moveTo>
                    <a:pt x="0" y="23197"/>
                  </a:moveTo>
                  <a:lnTo>
                    <a:pt x="16136" y="30929"/>
                  </a:lnTo>
                  <a:lnTo>
                    <a:pt x="32945" y="10086"/>
                  </a:lnTo>
                  <a:lnTo>
                    <a:pt x="13447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77" name="Google Shape;177;p38"/>
          <p:cNvSpPr/>
          <p:nvPr/>
        </p:nvSpPr>
        <p:spPr>
          <a:xfrm>
            <a:off x="2428975" y="4736375"/>
            <a:ext cx="739500" cy="1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8"/>
          <p:cNvSpPr/>
          <p:nvPr/>
        </p:nvSpPr>
        <p:spPr>
          <a:xfrm>
            <a:off x="5042750" y="4010575"/>
            <a:ext cx="739500" cy="1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8"/>
          <p:cNvSpPr/>
          <p:nvPr/>
        </p:nvSpPr>
        <p:spPr>
          <a:xfrm>
            <a:off x="3546750" y="4045163"/>
            <a:ext cx="739500" cy="1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8"/>
          <p:cNvSpPr txBox="1"/>
          <p:nvPr/>
        </p:nvSpPr>
        <p:spPr>
          <a:xfrm>
            <a:off x="0" y="4708600"/>
            <a:ext cx="2382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GROUND FLOOR</a:t>
            </a:r>
            <a:endParaRPr sz="20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38"/>
          <p:cNvSpPr/>
          <p:nvPr/>
        </p:nvSpPr>
        <p:spPr>
          <a:xfrm>
            <a:off x="3571975" y="4509450"/>
            <a:ext cx="739500" cy="1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38"/>
          <p:cNvGrpSpPr/>
          <p:nvPr/>
        </p:nvGrpSpPr>
        <p:grpSpPr>
          <a:xfrm>
            <a:off x="3305599" y="704687"/>
            <a:ext cx="3759126" cy="4335775"/>
            <a:chOff x="4926149" y="731537"/>
            <a:chExt cx="3759126" cy="4335775"/>
          </a:xfrm>
        </p:grpSpPr>
        <p:pic>
          <p:nvPicPr>
            <p:cNvPr id="183" name="Google Shape;183;p38"/>
            <p:cNvPicPr preferRelativeResize="0"/>
            <p:nvPr/>
          </p:nvPicPr>
          <p:blipFill rotWithShape="1">
            <a:blip r:embed="rId4">
              <a:alphaModFix/>
            </a:blip>
            <a:srcRect l="4799" t="19872" r="4636" b="6222"/>
            <a:stretch/>
          </p:blipFill>
          <p:spPr>
            <a:xfrm>
              <a:off x="4926149" y="731537"/>
              <a:ext cx="3759126" cy="4335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38"/>
            <p:cNvSpPr/>
            <p:nvPr/>
          </p:nvSpPr>
          <p:spPr>
            <a:xfrm>
              <a:off x="7639725" y="2370600"/>
              <a:ext cx="613476" cy="781600"/>
            </a:xfrm>
            <a:custGeom>
              <a:avLst/>
              <a:gdLst/>
              <a:ahLst/>
              <a:cxnLst/>
              <a:rect l="l" t="t" r="r" b="b"/>
              <a:pathLst>
                <a:path w="23196" h="31264" extrusionOk="0">
                  <a:moveTo>
                    <a:pt x="9077" y="31264"/>
                  </a:moveTo>
                  <a:lnTo>
                    <a:pt x="0" y="26894"/>
                  </a:lnTo>
                  <a:lnTo>
                    <a:pt x="13783" y="0"/>
                  </a:lnTo>
                  <a:lnTo>
                    <a:pt x="23196" y="50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5" name="Google Shape;185;p38"/>
            <p:cNvSpPr/>
            <p:nvPr/>
          </p:nvSpPr>
          <p:spPr>
            <a:xfrm>
              <a:off x="5042750" y="4565800"/>
              <a:ext cx="739500" cy="14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38"/>
          <p:cNvSpPr/>
          <p:nvPr/>
        </p:nvSpPr>
        <p:spPr>
          <a:xfrm>
            <a:off x="3429025" y="4834000"/>
            <a:ext cx="739500" cy="1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8"/>
          <p:cNvSpPr txBox="1"/>
          <p:nvPr/>
        </p:nvSpPr>
        <p:spPr>
          <a:xfrm>
            <a:off x="2755400" y="3090475"/>
            <a:ext cx="1711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Design Areas/Scope</a:t>
            </a:r>
            <a:endParaRPr sz="12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8" name="Google Shape;188;p38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189" name="Google Shape;189;p38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0" name="Google Shape;190;p38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91" name="Google Shape;191;p38"/>
          <p:cNvSpPr txBox="1"/>
          <p:nvPr/>
        </p:nvSpPr>
        <p:spPr>
          <a:xfrm>
            <a:off x="4152475" y="4632400"/>
            <a:ext cx="244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FIRST FLOOR</a:t>
            </a:r>
            <a:endParaRPr sz="20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92" name="Google Shape;192;p38"/>
          <p:cNvGraphicFramePr/>
          <p:nvPr>
            <p:extLst>
              <p:ext uri="{D42A27DB-BD31-4B8C-83A1-F6EECF244321}">
                <p14:modId xmlns:p14="http://schemas.microsoft.com/office/powerpoint/2010/main" val="2567101293"/>
              </p:ext>
            </p:extLst>
          </p:nvPr>
        </p:nvGraphicFramePr>
        <p:xfrm>
          <a:off x="6997876" y="92377"/>
          <a:ext cx="1878600" cy="4415760"/>
        </p:xfrm>
        <a:graphic>
          <a:graphicData uri="http://schemas.openxmlformats.org/drawingml/2006/table">
            <a:tbl>
              <a:tblPr>
                <a:noFill/>
                <a:tableStyleId>{3F0B70AA-5DA3-40F7-998D-60CE3C913FA0}</a:tableStyleId>
              </a:tblPr>
              <a:tblGrid>
                <a:gridCol w="91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Option 1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>
                    <a:solidFill>
                      <a:srgbClr val="0ACAFE">
                        <a:alpha val="90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check</a:t>
                      </a:r>
                      <a:endParaRPr sz="9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>
                    <a:solidFill>
                      <a:srgbClr val="0ACAFE">
                        <a:alpha val="9045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Reception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Restaurant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Kitchen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Shops/Retail Stores</a:t>
                      </a:r>
                      <a:endParaRPr sz="7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Storage and Server room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Multipurpose Hall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Shared Offices(1)</a:t>
                      </a:r>
                      <a:endParaRPr sz="7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Coffee Lounge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Conference Hall</a:t>
                      </a:r>
                      <a:endParaRPr sz="7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Staff Offices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Management Offices</a:t>
                      </a:r>
                      <a:endParaRPr sz="7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General Workspace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Restrooms</a:t>
                      </a:r>
                      <a:endParaRPr sz="7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5300" marR="55300" marT="43975" marB="43975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93" name="Google Shape;193;p38"/>
          <p:cNvSpPr/>
          <p:nvPr/>
        </p:nvSpPr>
        <p:spPr>
          <a:xfrm>
            <a:off x="8206125" y="524675"/>
            <a:ext cx="189985" cy="144936"/>
          </a:xfrm>
          <a:custGeom>
            <a:avLst/>
            <a:gdLst/>
            <a:ahLst/>
            <a:cxnLst/>
            <a:rect l="l" t="t" r="r" b="b"/>
            <a:pathLst>
              <a:path w="14120" h="7732" extrusionOk="0">
                <a:moveTo>
                  <a:pt x="0" y="3361"/>
                </a:moveTo>
                <a:lnTo>
                  <a:pt x="4371" y="7732"/>
                </a:lnTo>
                <a:lnTo>
                  <a:pt x="1412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" name="Google Shape;194;p38"/>
          <p:cNvSpPr/>
          <p:nvPr/>
        </p:nvSpPr>
        <p:spPr>
          <a:xfrm>
            <a:off x="8206125" y="2380185"/>
            <a:ext cx="189985" cy="144936"/>
          </a:xfrm>
          <a:custGeom>
            <a:avLst/>
            <a:gdLst/>
            <a:ahLst/>
            <a:cxnLst/>
            <a:rect l="l" t="t" r="r" b="b"/>
            <a:pathLst>
              <a:path w="14120" h="7732" extrusionOk="0">
                <a:moveTo>
                  <a:pt x="0" y="3361"/>
                </a:moveTo>
                <a:lnTo>
                  <a:pt x="4371" y="7732"/>
                </a:lnTo>
                <a:lnTo>
                  <a:pt x="1412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5" name="Google Shape;195;p38"/>
          <p:cNvSpPr/>
          <p:nvPr/>
        </p:nvSpPr>
        <p:spPr>
          <a:xfrm>
            <a:off x="8206125" y="2998689"/>
            <a:ext cx="189985" cy="144936"/>
          </a:xfrm>
          <a:custGeom>
            <a:avLst/>
            <a:gdLst/>
            <a:ahLst/>
            <a:cxnLst/>
            <a:rect l="l" t="t" r="r" b="b"/>
            <a:pathLst>
              <a:path w="14120" h="7732" extrusionOk="0">
                <a:moveTo>
                  <a:pt x="0" y="3361"/>
                </a:moveTo>
                <a:lnTo>
                  <a:pt x="4371" y="7732"/>
                </a:lnTo>
                <a:lnTo>
                  <a:pt x="1412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6" name="Google Shape;196;p38"/>
          <p:cNvSpPr/>
          <p:nvPr/>
        </p:nvSpPr>
        <p:spPr>
          <a:xfrm>
            <a:off x="8206125" y="3307941"/>
            <a:ext cx="189985" cy="144936"/>
          </a:xfrm>
          <a:custGeom>
            <a:avLst/>
            <a:gdLst/>
            <a:ahLst/>
            <a:cxnLst/>
            <a:rect l="l" t="t" r="r" b="b"/>
            <a:pathLst>
              <a:path w="14120" h="7732" extrusionOk="0">
                <a:moveTo>
                  <a:pt x="0" y="3361"/>
                </a:moveTo>
                <a:lnTo>
                  <a:pt x="4371" y="7732"/>
                </a:lnTo>
                <a:lnTo>
                  <a:pt x="1412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7" name="Google Shape;197;p38"/>
          <p:cNvSpPr/>
          <p:nvPr/>
        </p:nvSpPr>
        <p:spPr>
          <a:xfrm>
            <a:off x="8206125" y="3694505"/>
            <a:ext cx="189985" cy="144936"/>
          </a:xfrm>
          <a:custGeom>
            <a:avLst/>
            <a:gdLst/>
            <a:ahLst/>
            <a:cxnLst/>
            <a:rect l="l" t="t" r="r" b="b"/>
            <a:pathLst>
              <a:path w="14120" h="7732" extrusionOk="0">
                <a:moveTo>
                  <a:pt x="0" y="3361"/>
                </a:moveTo>
                <a:lnTo>
                  <a:pt x="4371" y="7732"/>
                </a:lnTo>
                <a:lnTo>
                  <a:pt x="1412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9" name="Google Shape;199;p38"/>
          <p:cNvSpPr/>
          <p:nvPr/>
        </p:nvSpPr>
        <p:spPr>
          <a:xfrm>
            <a:off x="8206125" y="4313009"/>
            <a:ext cx="189985" cy="144936"/>
          </a:xfrm>
          <a:custGeom>
            <a:avLst/>
            <a:gdLst/>
            <a:ahLst/>
            <a:cxnLst/>
            <a:rect l="l" t="t" r="r" b="b"/>
            <a:pathLst>
              <a:path w="14120" h="7732" extrusionOk="0">
                <a:moveTo>
                  <a:pt x="0" y="3361"/>
                </a:moveTo>
                <a:lnTo>
                  <a:pt x="4371" y="7732"/>
                </a:lnTo>
                <a:lnTo>
                  <a:pt x="1412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0" name="Google Shape;200;p38"/>
          <p:cNvSpPr txBox="1"/>
          <p:nvPr/>
        </p:nvSpPr>
        <p:spPr>
          <a:xfrm>
            <a:off x="8190563" y="4457950"/>
            <a:ext cx="22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8190550" y="995600"/>
            <a:ext cx="22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8"/>
          <p:cNvSpPr txBox="1"/>
          <p:nvPr/>
        </p:nvSpPr>
        <p:spPr>
          <a:xfrm>
            <a:off x="8190550" y="1328088"/>
            <a:ext cx="22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8"/>
          <p:cNvSpPr txBox="1"/>
          <p:nvPr/>
        </p:nvSpPr>
        <p:spPr>
          <a:xfrm>
            <a:off x="8190575" y="1637338"/>
            <a:ext cx="22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38"/>
          <p:cNvSpPr txBox="1"/>
          <p:nvPr/>
        </p:nvSpPr>
        <p:spPr>
          <a:xfrm>
            <a:off x="8190575" y="1946600"/>
            <a:ext cx="22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8190550" y="690800"/>
            <a:ext cx="22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8190550" y="2595800"/>
            <a:ext cx="22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8"/>
          <p:cNvSpPr/>
          <p:nvPr/>
        </p:nvSpPr>
        <p:spPr>
          <a:xfrm>
            <a:off x="1380550" y="3546225"/>
            <a:ext cx="709125" cy="1096775"/>
          </a:xfrm>
          <a:custGeom>
            <a:avLst/>
            <a:gdLst/>
            <a:ahLst/>
            <a:cxnLst/>
            <a:rect l="l" t="t" r="r" b="b"/>
            <a:pathLst>
              <a:path w="28365" h="43871" extrusionOk="0">
                <a:moveTo>
                  <a:pt x="0" y="25718"/>
                </a:moveTo>
                <a:lnTo>
                  <a:pt x="13994" y="0"/>
                </a:lnTo>
                <a:lnTo>
                  <a:pt x="16641" y="6808"/>
                </a:lnTo>
                <a:lnTo>
                  <a:pt x="26096" y="1891"/>
                </a:lnTo>
                <a:lnTo>
                  <a:pt x="28365" y="30634"/>
                </a:lnTo>
                <a:lnTo>
                  <a:pt x="9455" y="438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9" name="Google Shape;209;p38"/>
          <p:cNvSpPr/>
          <p:nvPr/>
        </p:nvSpPr>
        <p:spPr>
          <a:xfrm>
            <a:off x="1702025" y="1229775"/>
            <a:ext cx="945500" cy="690200"/>
          </a:xfrm>
          <a:custGeom>
            <a:avLst/>
            <a:gdLst/>
            <a:ahLst/>
            <a:cxnLst/>
            <a:rect l="l" t="t" r="r" b="b"/>
            <a:pathLst>
              <a:path w="37820" h="27608" extrusionOk="0">
                <a:moveTo>
                  <a:pt x="0" y="13236"/>
                </a:moveTo>
                <a:lnTo>
                  <a:pt x="6429" y="0"/>
                </a:lnTo>
                <a:lnTo>
                  <a:pt x="37820" y="13236"/>
                </a:lnTo>
                <a:lnTo>
                  <a:pt x="29121" y="27608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0" name="Google Shape;210;p38"/>
          <p:cNvSpPr/>
          <p:nvPr/>
        </p:nvSpPr>
        <p:spPr>
          <a:xfrm>
            <a:off x="4027950" y="823200"/>
            <a:ext cx="501100" cy="624003"/>
          </a:xfrm>
          <a:custGeom>
            <a:avLst/>
            <a:gdLst/>
            <a:ahLst/>
            <a:cxnLst/>
            <a:rect l="l" t="t" r="r" b="b"/>
            <a:pathLst>
              <a:path w="20044" h="23826" extrusionOk="0">
                <a:moveTo>
                  <a:pt x="10590" y="23826"/>
                </a:moveTo>
                <a:lnTo>
                  <a:pt x="0" y="18532"/>
                </a:lnTo>
                <a:lnTo>
                  <a:pt x="11346" y="0"/>
                </a:lnTo>
                <a:lnTo>
                  <a:pt x="20044" y="5673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1" name="Google Shape;211;p38"/>
          <p:cNvSpPr/>
          <p:nvPr/>
        </p:nvSpPr>
        <p:spPr>
          <a:xfrm>
            <a:off x="3429025" y="4104075"/>
            <a:ext cx="739500" cy="31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201;p38">
            <a:extLst>
              <a:ext uri="{FF2B5EF4-FFF2-40B4-BE49-F238E27FC236}">
                <a16:creationId xmlns:a16="http://schemas.microsoft.com/office/drawing/2014/main" id="{EE0E789C-8513-E844-BF3E-3977A0F71E98}"/>
              </a:ext>
            </a:extLst>
          </p:cNvPr>
          <p:cNvSpPr txBox="1"/>
          <p:nvPr/>
        </p:nvSpPr>
        <p:spPr>
          <a:xfrm>
            <a:off x="8190563" y="4762750"/>
            <a:ext cx="22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/>
          <p:nvPr/>
        </p:nvSpPr>
        <p:spPr>
          <a:xfrm>
            <a:off x="8053635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7" name="Google Shape;217;p39"/>
          <p:cNvSpPr/>
          <p:nvPr/>
        </p:nvSpPr>
        <p:spPr>
          <a:xfrm>
            <a:off x="7817098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8" name="Google Shape;218;p39"/>
          <p:cNvSpPr/>
          <p:nvPr/>
        </p:nvSpPr>
        <p:spPr>
          <a:xfrm>
            <a:off x="8290173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9" name="Google Shape;219;p39"/>
          <p:cNvSpPr/>
          <p:nvPr/>
        </p:nvSpPr>
        <p:spPr>
          <a:xfrm>
            <a:off x="8526710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20" name="Google Shape;220;p39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221" name="Google Shape;221;p39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2" name="Google Shape;222;p39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3" name="Google Shape;223;p39"/>
          <p:cNvSpPr txBox="1"/>
          <p:nvPr/>
        </p:nvSpPr>
        <p:spPr>
          <a:xfrm>
            <a:off x="379425" y="-3587"/>
            <a:ext cx="78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Reception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(Eye nkorin)</a:t>
            </a: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4" name="Google Shape;224;p39"/>
          <p:cNvCxnSpPr/>
          <p:nvPr/>
        </p:nvCxnSpPr>
        <p:spPr>
          <a:xfrm>
            <a:off x="147125" y="4939325"/>
            <a:ext cx="8515500" cy="0"/>
          </a:xfrm>
          <a:prstGeom prst="straightConnector1">
            <a:avLst/>
          </a:prstGeom>
          <a:noFill/>
          <a:ln w="9525" cap="flat" cmpd="sng">
            <a:solidFill>
              <a:srgbClr val="56BE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39"/>
          <p:cNvSpPr/>
          <p:nvPr/>
        </p:nvSpPr>
        <p:spPr>
          <a:xfrm>
            <a:off x="8608937" y="4779566"/>
            <a:ext cx="382500" cy="319500"/>
          </a:xfrm>
          <a:prstGeom prst="rect">
            <a:avLst/>
          </a:prstGeom>
          <a:solidFill>
            <a:srgbClr val="56BEEC"/>
          </a:solidFill>
          <a:ln>
            <a:noFill/>
          </a:ln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9"/>
          <p:cNvSpPr txBox="1"/>
          <p:nvPr/>
        </p:nvSpPr>
        <p:spPr>
          <a:xfrm>
            <a:off x="8396839" y="4816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75" tIns="34675" rIns="69375" bIns="346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fld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7" name="Google Shape;227;p39"/>
          <p:cNvPicPr preferRelativeResize="0"/>
          <p:nvPr/>
        </p:nvPicPr>
        <p:blipFill rotWithShape="1">
          <a:blip r:embed="rId3">
            <a:alphaModFix/>
          </a:blip>
          <a:srcRect l="328" t="30806" b="29749"/>
          <a:stretch/>
        </p:blipFill>
        <p:spPr>
          <a:xfrm>
            <a:off x="147125" y="4811772"/>
            <a:ext cx="897721" cy="3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087" y="443775"/>
            <a:ext cx="7669775" cy="4314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/>
          <p:nvPr/>
        </p:nvSpPr>
        <p:spPr>
          <a:xfrm>
            <a:off x="1235550" y="454375"/>
            <a:ext cx="6900025" cy="2462459"/>
          </a:xfrm>
          <a:custGeom>
            <a:avLst/>
            <a:gdLst/>
            <a:ahLst/>
            <a:cxnLst/>
            <a:rect l="l" t="t" r="r" b="b"/>
            <a:pathLst>
              <a:path w="276001" h="101190" extrusionOk="0">
                <a:moveTo>
                  <a:pt x="0" y="0"/>
                </a:moveTo>
                <a:lnTo>
                  <a:pt x="58831" y="41014"/>
                </a:lnTo>
                <a:lnTo>
                  <a:pt x="54124" y="41686"/>
                </a:lnTo>
                <a:lnTo>
                  <a:pt x="53788" y="101190"/>
                </a:lnTo>
                <a:lnTo>
                  <a:pt x="84716" y="101190"/>
                </a:lnTo>
                <a:lnTo>
                  <a:pt x="84716" y="94802"/>
                </a:lnTo>
                <a:lnTo>
                  <a:pt x="187922" y="94130"/>
                </a:lnTo>
                <a:lnTo>
                  <a:pt x="198008" y="99509"/>
                </a:lnTo>
                <a:lnTo>
                  <a:pt x="207084" y="99509"/>
                </a:lnTo>
                <a:lnTo>
                  <a:pt x="206748" y="41350"/>
                </a:lnTo>
                <a:lnTo>
                  <a:pt x="276001" y="4035"/>
                </a:lnTo>
                <a:lnTo>
                  <a:pt x="276001" y="0"/>
                </a:lnTo>
                <a:close/>
              </a:path>
            </a:pathLst>
          </a:custGeom>
          <a:solidFill>
            <a:srgbClr val="FFFFFF">
              <a:alpha val="75280"/>
            </a:srgbClr>
          </a:solidFill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0" name="Google Shape;230;p39"/>
          <p:cNvSpPr/>
          <p:nvPr/>
        </p:nvSpPr>
        <p:spPr>
          <a:xfrm>
            <a:off x="4899875" y="336700"/>
            <a:ext cx="2428800" cy="9486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00B0F0">
              <a:alpha val="5787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ceiling works and lighting features are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wall cladding, paintwork is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finishes is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9"/>
          <p:cNvSpPr txBox="1"/>
          <p:nvPr/>
        </p:nvSpPr>
        <p:spPr>
          <a:xfrm>
            <a:off x="3643025" y="4445475"/>
            <a:ext cx="55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WOrkscopes</a:t>
            </a:r>
            <a:r>
              <a:rPr lang="en" sz="1200" b="1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Furnitures, Artwork and glass partition</a:t>
            </a:r>
            <a:endParaRPr sz="1200" b="1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402" y="422801"/>
            <a:ext cx="8516752" cy="4294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40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238" name="Google Shape;238;p40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9" name="Google Shape;239;p40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40" name="Google Shape;240;p40"/>
          <p:cNvSpPr txBox="1"/>
          <p:nvPr/>
        </p:nvSpPr>
        <p:spPr>
          <a:xfrm>
            <a:off x="330075" y="69350"/>
            <a:ext cx="5822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Shared Office space A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(Gaa Alimi)</a:t>
            </a:r>
            <a:endParaRPr sz="20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1" name="Google Shape;241;p40"/>
          <p:cNvCxnSpPr/>
          <p:nvPr/>
        </p:nvCxnSpPr>
        <p:spPr>
          <a:xfrm>
            <a:off x="147125" y="4939325"/>
            <a:ext cx="8515500" cy="0"/>
          </a:xfrm>
          <a:prstGeom prst="straightConnector1">
            <a:avLst/>
          </a:prstGeom>
          <a:noFill/>
          <a:ln w="9525" cap="flat" cmpd="sng">
            <a:solidFill>
              <a:srgbClr val="56BE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" name="Google Shape;242;p40"/>
          <p:cNvSpPr/>
          <p:nvPr/>
        </p:nvSpPr>
        <p:spPr>
          <a:xfrm>
            <a:off x="8608937" y="4779566"/>
            <a:ext cx="382500" cy="319500"/>
          </a:xfrm>
          <a:prstGeom prst="rect">
            <a:avLst/>
          </a:prstGeom>
          <a:solidFill>
            <a:srgbClr val="56BEEC"/>
          </a:solidFill>
          <a:ln>
            <a:noFill/>
          </a:ln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0"/>
          <p:cNvSpPr txBox="1"/>
          <p:nvPr/>
        </p:nvSpPr>
        <p:spPr>
          <a:xfrm>
            <a:off x="8396839" y="4816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75" tIns="34675" rIns="69375" bIns="346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fld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4" name="Google Shape;244;p40"/>
          <p:cNvPicPr preferRelativeResize="0"/>
          <p:nvPr/>
        </p:nvPicPr>
        <p:blipFill rotWithShape="1">
          <a:blip r:embed="rId4">
            <a:alphaModFix/>
          </a:blip>
          <a:srcRect l="328" t="30806" b="29749"/>
          <a:stretch/>
        </p:blipFill>
        <p:spPr>
          <a:xfrm>
            <a:off x="147125" y="4811772"/>
            <a:ext cx="897721" cy="3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0"/>
          <p:cNvSpPr/>
          <p:nvPr/>
        </p:nvSpPr>
        <p:spPr>
          <a:xfrm>
            <a:off x="201800" y="395550"/>
            <a:ext cx="8547300" cy="3840825"/>
          </a:xfrm>
          <a:custGeom>
            <a:avLst/>
            <a:gdLst/>
            <a:ahLst/>
            <a:cxnLst/>
            <a:rect l="l" t="t" r="r" b="b"/>
            <a:pathLst>
              <a:path w="341892" h="153633" extrusionOk="0">
                <a:moveTo>
                  <a:pt x="0" y="153633"/>
                </a:moveTo>
                <a:lnTo>
                  <a:pt x="22524" y="127411"/>
                </a:lnTo>
                <a:lnTo>
                  <a:pt x="67235" y="125058"/>
                </a:lnTo>
                <a:lnTo>
                  <a:pt x="70597" y="129092"/>
                </a:lnTo>
                <a:lnTo>
                  <a:pt x="70597" y="108921"/>
                </a:lnTo>
                <a:lnTo>
                  <a:pt x="92112" y="107241"/>
                </a:lnTo>
                <a:lnTo>
                  <a:pt x="91776" y="98500"/>
                </a:lnTo>
                <a:lnTo>
                  <a:pt x="96483" y="98500"/>
                </a:lnTo>
                <a:lnTo>
                  <a:pt x="95810" y="69253"/>
                </a:lnTo>
                <a:lnTo>
                  <a:pt x="177837" y="73623"/>
                </a:lnTo>
                <a:lnTo>
                  <a:pt x="179518" y="101526"/>
                </a:lnTo>
                <a:lnTo>
                  <a:pt x="197672" y="99172"/>
                </a:lnTo>
                <a:lnTo>
                  <a:pt x="198680" y="93457"/>
                </a:lnTo>
                <a:lnTo>
                  <a:pt x="208093" y="93457"/>
                </a:lnTo>
                <a:lnTo>
                  <a:pt x="209774" y="99845"/>
                </a:lnTo>
                <a:lnTo>
                  <a:pt x="341892" y="108585"/>
                </a:lnTo>
                <a:lnTo>
                  <a:pt x="339874" y="0"/>
                </a:lnTo>
                <a:lnTo>
                  <a:pt x="1345" y="2017"/>
                </a:lnTo>
                <a:close/>
              </a:path>
            </a:pathLst>
          </a:custGeom>
          <a:solidFill>
            <a:srgbClr val="FFFFFF">
              <a:alpha val="64040"/>
            </a:srgbClr>
          </a:solidFill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246" name="Google Shape;246;p40"/>
          <p:cNvSpPr/>
          <p:nvPr/>
        </p:nvSpPr>
        <p:spPr>
          <a:xfrm>
            <a:off x="5509475" y="336700"/>
            <a:ext cx="2428800" cy="9486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00B0F0">
              <a:alpha val="5787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ceiling works and lighting features are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wall cladding, paintwork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finishes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40"/>
          <p:cNvSpPr txBox="1"/>
          <p:nvPr/>
        </p:nvSpPr>
        <p:spPr>
          <a:xfrm>
            <a:off x="4252625" y="4445475"/>
            <a:ext cx="55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WOrkscopes</a:t>
            </a:r>
            <a:r>
              <a:rPr lang="en" sz="1200" b="1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Furnitures, Artwork and glass partition</a:t>
            </a:r>
            <a:endParaRPr sz="1200" b="1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425" y="388450"/>
            <a:ext cx="7680301" cy="431661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1"/>
          <p:cNvSpPr txBox="1"/>
          <p:nvPr/>
        </p:nvSpPr>
        <p:spPr>
          <a:xfrm>
            <a:off x="330075" y="69350"/>
            <a:ext cx="5822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Multipurpose Hall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(Malete)</a:t>
            </a:r>
            <a:endParaRPr sz="20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4" name="Google Shape;254;p41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255" name="Google Shape;255;p41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6" name="Google Shape;256;p41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257" name="Google Shape;257;p41"/>
          <p:cNvCxnSpPr/>
          <p:nvPr/>
        </p:nvCxnSpPr>
        <p:spPr>
          <a:xfrm>
            <a:off x="147125" y="4939325"/>
            <a:ext cx="8515500" cy="0"/>
          </a:xfrm>
          <a:prstGeom prst="straightConnector1">
            <a:avLst/>
          </a:prstGeom>
          <a:noFill/>
          <a:ln w="9525" cap="flat" cmpd="sng">
            <a:solidFill>
              <a:srgbClr val="56BE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41"/>
          <p:cNvSpPr/>
          <p:nvPr/>
        </p:nvSpPr>
        <p:spPr>
          <a:xfrm>
            <a:off x="8608937" y="4779566"/>
            <a:ext cx="382500" cy="319500"/>
          </a:xfrm>
          <a:prstGeom prst="rect">
            <a:avLst/>
          </a:prstGeom>
          <a:solidFill>
            <a:srgbClr val="56BEEC"/>
          </a:solidFill>
          <a:ln>
            <a:noFill/>
          </a:ln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41"/>
          <p:cNvSpPr txBox="1"/>
          <p:nvPr/>
        </p:nvSpPr>
        <p:spPr>
          <a:xfrm>
            <a:off x="8396839" y="4816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75" tIns="34675" rIns="69375" bIns="346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fld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p41"/>
          <p:cNvPicPr preferRelativeResize="0"/>
          <p:nvPr/>
        </p:nvPicPr>
        <p:blipFill rotWithShape="1">
          <a:blip r:embed="rId4">
            <a:alphaModFix/>
          </a:blip>
          <a:srcRect l="328" t="30806" b="29749"/>
          <a:stretch/>
        </p:blipFill>
        <p:spPr>
          <a:xfrm>
            <a:off x="147125" y="4811772"/>
            <a:ext cx="897721" cy="3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1"/>
          <p:cNvSpPr txBox="1"/>
          <p:nvPr/>
        </p:nvSpPr>
        <p:spPr>
          <a:xfrm>
            <a:off x="2576225" y="4445475"/>
            <a:ext cx="55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WOrkscopes</a:t>
            </a:r>
            <a:r>
              <a:rPr lang="en" sz="1200" b="1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Furnitures, Artwork and glass partition</a:t>
            </a:r>
            <a:endParaRPr sz="1200" b="1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41"/>
          <p:cNvSpPr/>
          <p:nvPr/>
        </p:nvSpPr>
        <p:spPr>
          <a:xfrm>
            <a:off x="567425" y="407175"/>
            <a:ext cx="7686900" cy="2798675"/>
          </a:xfrm>
          <a:custGeom>
            <a:avLst/>
            <a:gdLst/>
            <a:ahLst/>
            <a:cxnLst/>
            <a:rect l="l" t="t" r="r" b="b"/>
            <a:pathLst>
              <a:path w="307476" h="111947" extrusionOk="0">
                <a:moveTo>
                  <a:pt x="378" y="111947"/>
                </a:moveTo>
                <a:lnTo>
                  <a:pt x="98332" y="100223"/>
                </a:lnTo>
                <a:lnTo>
                  <a:pt x="103627" y="95306"/>
                </a:lnTo>
                <a:lnTo>
                  <a:pt x="193260" y="88121"/>
                </a:lnTo>
                <a:lnTo>
                  <a:pt x="196664" y="81691"/>
                </a:lnTo>
                <a:lnTo>
                  <a:pt x="196664" y="64672"/>
                </a:lnTo>
                <a:lnTo>
                  <a:pt x="307097" y="54083"/>
                </a:lnTo>
                <a:lnTo>
                  <a:pt x="307476" y="3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5280"/>
            </a:srgbClr>
          </a:solidFill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263" name="Google Shape;263;p41"/>
          <p:cNvSpPr/>
          <p:nvPr/>
        </p:nvSpPr>
        <p:spPr>
          <a:xfrm>
            <a:off x="4942938" y="577350"/>
            <a:ext cx="2428800" cy="9486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00B0F0">
              <a:alpha val="5787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ceiling works and lighting features are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wall cladding, artwork, paintwork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finishes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41"/>
          <p:cNvSpPr/>
          <p:nvPr/>
        </p:nvSpPr>
        <p:spPr>
          <a:xfrm>
            <a:off x="6599700" y="1759250"/>
            <a:ext cx="1645200" cy="5778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FF0000">
              <a:alpha val="7079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Furniture is re-designed and optimised in line with budget</a:t>
            </a:r>
            <a:endParaRPr sz="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/>
          <p:nvPr/>
        </p:nvSpPr>
        <p:spPr>
          <a:xfrm>
            <a:off x="8053635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0" name="Google Shape;270;p42"/>
          <p:cNvSpPr/>
          <p:nvPr/>
        </p:nvSpPr>
        <p:spPr>
          <a:xfrm>
            <a:off x="7817098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1" name="Google Shape;271;p42"/>
          <p:cNvSpPr/>
          <p:nvPr/>
        </p:nvSpPr>
        <p:spPr>
          <a:xfrm>
            <a:off x="8290173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2" name="Google Shape;272;p42"/>
          <p:cNvSpPr/>
          <p:nvPr/>
        </p:nvSpPr>
        <p:spPr>
          <a:xfrm>
            <a:off x="8526710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3" name="Google Shape;273;p42"/>
          <p:cNvSpPr txBox="1"/>
          <p:nvPr/>
        </p:nvSpPr>
        <p:spPr>
          <a:xfrm>
            <a:off x="1529116" y="4707572"/>
            <a:ext cx="2946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WWW.SPACEFINISH.COM</a:t>
            </a:r>
            <a:endParaRPr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4" name="Google Shape;274;p42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275" name="Google Shape;275;p42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6" name="Google Shape;276;p42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77" name="Google Shape;277;p42"/>
          <p:cNvSpPr txBox="1"/>
          <p:nvPr/>
        </p:nvSpPr>
        <p:spPr>
          <a:xfrm>
            <a:off x="430900" y="-3587"/>
            <a:ext cx="78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MANAGEMENT OFFICE. BREAKOUT LOUNGE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(Offa)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8" name="Google Shape;278;p42"/>
          <p:cNvPicPr preferRelativeResize="0"/>
          <p:nvPr/>
        </p:nvPicPr>
        <p:blipFill rotWithShape="1">
          <a:blip r:embed="rId3">
            <a:alphaModFix/>
          </a:blip>
          <a:srcRect l="16205"/>
          <a:stretch/>
        </p:blipFill>
        <p:spPr>
          <a:xfrm>
            <a:off x="1529125" y="390025"/>
            <a:ext cx="6159089" cy="4317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42"/>
          <p:cNvCxnSpPr/>
          <p:nvPr/>
        </p:nvCxnSpPr>
        <p:spPr>
          <a:xfrm>
            <a:off x="147125" y="4939325"/>
            <a:ext cx="8515500" cy="0"/>
          </a:xfrm>
          <a:prstGeom prst="straightConnector1">
            <a:avLst/>
          </a:prstGeom>
          <a:noFill/>
          <a:ln w="9525" cap="flat" cmpd="sng">
            <a:solidFill>
              <a:srgbClr val="56BE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280;p42"/>
          <p:cNvSpPr/>
          <p:nvPr/>
        </p:nvSpPr>
        <p:spPr>
          <a:xfrm>
            <a:off x="8608937" y="4779566"/>
            <a:ext cx="382500" cy="319500"/>
          </a:xfrm>
          <a:prstGeom prst="rect">
            <a:avLst/>
          </a:prstGeom>
          <a:solidFill>
            <a:srgbClr val="56BEEC"/>
          </a:solidFill>
          <a:ln>
            <a:noFill/>
          </a:ln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2"/>
          <p:cNvSpPr txBox="1"/>
          <p:nvPr/>
        </p:nvSpPr>
        <p:spPr>
          <a:xfrm>
            <a:off x="8396839" y="4816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75" tIns="34675" rIns="69375" bIns="346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fld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2" name="Google Shape;282;p42"/>
          <p:cNvPicPr preferRelativeResize="0"/>
          <p:nvPr/>
        </p:nvPicPr>
        <p:blipFill rotWithShape="1">
          <a:blip r:embed="rId4">
            <a:alphaModFix/>
          </a:blip>
          <a:srcRect l="328" t="30806" b="29749"/>
          <a:stretch/>
        </p:blipFill>
        <p:spPr>
          <a:xfrm>
            <a:off x="147125" y="4811772"/>
            <a:ext cx="897721" cy="3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2"/>
          <p:cNvSpPr txBox="1"/>
          <p:nvPr/>
        </p:nvSpPr>
        <p:spPr>
          <a:xfrm>
            <a:off x="2576225" y="4445475"/>
            <a:ext cx="55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WOrkscopes</a:t>
            </a:r>
            <a:r>
              <a:rPr lang="en" sz="1200" b="1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Furnitures, Artwork and glass partition</a:t>
            </a:r>
            <a:endParaRPr sz="1200" b="1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42"/>
          <p:cNvSpPr/>
          <p:nvPr/>
        </p:nvSpPr>
        <p:spPr>
          <a:xfrm>
            <a:off x="3988013" y="403725"/>
            <a:ext cx="2428800" cy="9486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00B0F0">
              <a:alpha val="5787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ceiling works and lighting features are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wall cladding, paintwork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finishes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/>
          <p:nvPr/>
        </p:nvSpPr>
        <p:spPr>
          <a:xfrm>
            <a:off x="8053635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0" name="Google Shape;290;p43"/>
          <p:cNvSpPr/>
          <p:nvPr/>
        </p:nvSpPr>
        <p:spPr>
          <a:xfrm>
            <a:off x="7817098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1" name="Google Shape;291;p43"/>
          <p:cNvSpPr/>
          <p:nvPr/>
        </p:nvSpPr>
        <p:spPr>
          <a:xfrm>
            <a:off x="8290173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2" name="Google Shape;292;p43"/>
          <p:cNvSpPr/>
          <p:nvPr/>
        </p:nvSpPr>
        <p:spPr>
          <a:xfrm>
            <a:off x="8526710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1529116" y="4707572"/>
            <a:ext cx="2946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WWW.SPACEFINISH.COM</a:t>
            </a:r>
            <a:endParaRPr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94" name="Google Shape;294;p43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295" name="Google Shape;295;p43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6" name="Google Shape;296;p43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297" name="Google Shape;297;p43"/>
          <p:cNvPicPr preferRelativeResize="0"/>
          <p:nvPr/>
        </p:nvPicPr>
        <p:blipFill rotWithShape="1">
          <a:blip r:embed="rId3">
            <a:alphaModFix/>
          </a:blip>
          <a:srcRect l="13635" t="3614" r="8446"/>
          <a:stretch/>
        </p:blipFill>
        <p:spPr>
          <a:xfrm>
            <a:off x="1155925" y="385150"/>
            <a:ext cx="5994301" cy="43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3"/>
          <p:cNvSpPr txBox="1"/>
          <p:nvPr/>
        </p:nvSpPr>
        <p:spPr>
          <a:xfrm>
            <a:off x="379425" y="-3587"/>
            <a:ext cx="78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General Workspace 1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(Kainji)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9" name="Google Shape;299;p43"/>
          <p:cNvCxnSpPr/>
          <p:nvPr/>
        </p:nvCxnSpPr>
        <p:spPr>
          <a:xfrm>
            <a:off x="147125" y="4939325"/>
            <a:ext cx="8515500" cy="0"/>
          </a:xfrm>
          <a:prstGeom prst="straightConnector1">
            <a:avLst/>
          </a:prstGeom>
          <a:noFill/>
          <a:ln w="9525" cap="flat" cmpd="sng">
            <a:solidFill>
              <a:srgbClr val="56BE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0" name="Google Shape;300;p43"/>
          <p:cNvSpPr/>
          <p:nvPr/>
        </p:nvSpPr>
        <p:spPr>
          <a:xfrm>
            <a:off x="8608937" y="4779566"/>
            <a:ext cx="382500" cy="319500"/>
          </a:xfrm>
          <a:prstGeom prst="rect">
            <a:avLst/>
          </a:prstGeom>
          <a:solidFill>
            <a:srgbClr val="56BEEC"/>
          </a:solidFill>
          <a:ln>
            <a:noFill/>
          </a:ln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3"/>
          <p:cNvSpPr txBox="1"/>
          <p:nvPr/>
        </p:nvSpPr>
        <p:spPr>
          <a:xfrm>
            <a:off x="8396839" y="4816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75" tIns="34675" rIns="69375" bIns="346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fld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43"/>
          <p:cNvPicPr preferRelativeResize="0"/>
          <p:nvPr/>
        </p:nvPicPr>
        <p:blipFill rotWithShape="1">
          <a:blip r:embed="rId4">
            <a:alphaModFix/>
          </a:blip>
          <a:srcRect l="328" t="30806" b="29749"/>
          <a:stretch/>
        </p:blipFill>
        <p:spPr>
          <a:xfrm>
            <a:off x="147125" y="4811772"/>
            <a:ext cx="897721" cy="3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/>
          <p:nvPr/>
        </p:nvSpPr>
        <p:spPr>
          <a:xfrm>
            <a:off x="1151500" y="387150"/>
            <a:ext cx="6017550" cy="2966750"/>
          </a:xfrm>
          <a:custGeom>
            <a:avLst/>
            <a:gdLst/>
            <a:ahLst/>
            <a:cxnLst/>
            <a:rect l="l" t="t" r="r" b="b"/>
            <a:pathLst>
              <a:path w="240702" h="118670" extrusionOk="0">
                <a:moveTo>
                  <a:pt x="18490" y="118670"/>
                </a:moveTo>
                <a:lnTo>
                  <a:pt x="336" y="105559"/>
                </a:lnTo>
                <a:lnTo>
                  <a:pt x="0" y="1009"/>
                </a:lnTo>
                <a:lnTo>
                  <a:pt x="240030" y="0"/>
                </a:lnTo>
                <a:lnTo>
                  <a:pt x="240702" y="91440"/>
                </a:lnTo>
                <a:lnTo>
                  <a:pt x="221540" y="91776"/>
                </a:lnTo>
                <a:lnTo>
                  <a:pt x="219523" y="85053"/>
                </a:lnTo>
                <a:lnTo>
                  <a:pt x="219859" y="66227"/>
                </a:lnTo>
                <a:lnTo>
                  <a:pt x="216498" y="61184"/>
                </a:lnTo>
                <a:lnTo>
                  <a:pt x="208093" y="57486"/>
                </a:lnTo>
                <a:lnTo>
                  <a:pt x="194646" y="60176"/>
                </a:lnTo>
                <a:lnTo>
                  <a:pt x="190276" y="68580"/>
                </a:lnTo>
                <a:lnTo>
                  <a:pt x="190948" y="83372"/>
                </a:lnTo>
                <a:lnTo>
                  <a:pt x="154305" y="80346"/>
                </a:lnTo>
                <a:lnTo>
                  <a:pt x="153633" y="65554"/>
                </a:lnTo>
                <a:lnTo>
                  <a:pt x="146909" y="61857"/>
                </a:lnTo>
                <a:lnTo>
                  <a:pt x="141530" y="61857"/>
                </a:lnTo>
                <a:lnTo>
                  <a:pt x="39333" y="47737"/>
                </a:lnTo>
                <a:lnTo>
                  <a:pt x="23532" y="54461"/>
                </a:lnTo>
                <a:lnTo>
                  <a:pt x="17145" y="63201"/>
                </a:lnTo>
                <a:close/>
              </a:path>
            </a:pathLst>
          </a:custGeom>
          <a:solidFill>
            <a:srgbClr val="FFFFFF">
              <a:alpha val="64040"/>
            </a:srgbClr>
          </a:solidFill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04" name="Google Shape;304;p43"/>
          <p:cNvSpPr txBox="1"/>
          <p:nvPr/>
        </p:nvSpPr>
        <p:spPr>
          <a:xfrm>
            <a:off x="2576225" y="4445475"/>
            <a:ext cx="55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WOrkscopes</a:t>
            </a:r>
            <a:r>
              <a:rPr lang="en" sz="1200" b="1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Furnitures, Artwork and glass partition</a:t>
            </a:r>
            <a:endParaRPr sz="1200" b="1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3988013" y="403725"/>
            <a:ext cx="2428800" cy="9486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00B0F0">
              <a:alpha val="5787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ceiling works and lighting features are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wall cladding, paintwork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finishes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/>
          <p:cNvSpPr/>
          <p:nvPr/>
        </p:nvSpPr>
        <p:spPr>
          <a:xfrm>
            <a:off x="8053635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1" name="Google Shape;311;p44"/>
          <p:cNvSpPr/>
          <p:nvPr/>
        </p:nvSpPr>
        <p:spPr>
          <a:xfrm>
            <a:off x="7817098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2" name="Google Shape;312;p44"/>
          <p:cNvSpPr/>
          <p:nvPr/>
        </p:nvSpPr>
        <p:spPr>
          <a:xfrm>
            <a:off x="8290173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3" name="Google Shape;313;p44"/>
          <p:cNvSpPr/>
          <p:nvPr/>
        </p:nvSpPr>
        <p:spPr>
          <a:xfrm>
            <a:off x="8526710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4" name="Google Shape;314;p44"/>
          <p:cNvSpPr txBox="1"/>
          <p:nvPr/>
        </p:nvSpPr>
        <p:spPr>
          <a:xfrm>
            <a:off x="1529116" y="4707572"/>
            <a:ext cx="2946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WWW.SPACEFINISH.COM</a:t>
            </a:r>
            <a:endParaRPr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5" name="Google Shape;315;p44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316" name="Google Shape;316;p44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7" name="Google Shape;317;p44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18" name="Google Shape;318;p44"/>
          <p:cNvSpPr txBox="1"/>
          <p:nvPr/>
        </p:nvSpPr>
        <p:spPr>
          <a:xfrm>
            <a:off x="351763" y="-3587"/>
            <a:ext cx="78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MEETING ROOM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(Ago)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9" name="Google Shape;3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874" y="512575"/>
            <a:ext cx="7141601" cy="4194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44"/>
          <p:cNvCxnSpPr/>
          <p:nvPr/>
        </p:nvCxnSpPr>
        <p:spPr>
          <a:xfrm>
            <a:off x="147125" y="4939325"/>
            <a:ext cx="8515500" cy="0"/>
          </a:xfrm>
          <a:prstGeom prst="straightConnector1">
            <a:avLst/>
          </a:prstGeom>
          <a:noFill/>
          <a:ln w="9525" cap="flat" cmpd="sng">
            <a:solidFill>
              <a:srgbClr val="56BE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44"/>
          <p:cNvSpPr/>
          <p:nvPr/>
        </p:nvSpPr>
        <p:spPr>
          <a:xfrm>
            <a:off x="8608937" y="4779566"/>
            <a:ext cx="382500" cy="319500"/>
          </a:xfrm>
          <a:prstGeom prst="rect">
            <a:avLst/>
          </a:prstGeom>
          <a:solidFill>
            <a:srgbClr val="56BEEC"/>
          </a:solidFill>
          <a:ln>
            <a:noFill/>
          </a:ln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44"/>
          <p:cNvSpPr txBox="1"/>
          <p:nvPr/>
        </p:nvSpPr>
        <p:spPr>
          <a:xfrm>
            <a:off x="8396839" y="4816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75" tIns="34675" rIns="69375" bIns="346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fld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44"/>
          <p:cNvPicPr preferRelativeResize="0"/>
          <p:nvPr/>
        </p:nvPicPr>
        <p:blipFill rotWithShape="1">
          <a:blip r:embed="rId4">
            <a:alphaModFix/>
          </a:blip>
          <a:srcRect l="328" t="30806" b="29749"/>
          <a:stretch/>
        </p:blipFill>
        <p:spPr>
          <a:xfrm>
            <a:off x="147125" y="4811772"/>
            <a:ext cx="897721" cy="3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4"/>
          <p:cNvSpPr/>
          <p:nvPr/>
        </p:nvSpPr>
        <p:spPr>
          <a:xfrm>
            <a:off x="890975" y="496400"/>
            <a:ext cx="6984050" cy="2689425"/>
          </a:xfrm>
          <a:custGeom>
            <a:avLst/>
            <a:gdLst/>
            <a:ahLst/>
            <a:cxnLst/>
            <a:rect l="l" t="t" r="r" b="b"/>
            <a:pathLst>
              <a:path w="279362" h="107577" extrusionOk="0">
                <a:moveTo>
                  <a:pt x="26221" y="104551"/>
                </a:moveTo>
                <a:lnTo>
                  <a:pt x="0" y="107577"/>
                </a:lnTo>
                <a:lnTo>
                  <a:pt x="672" y="1009"/>
                </a:lnTo>
                <a:lnTo>
                  <a:pt x="279362" y="0"/>
                </a:lnTo>
                <a:lnTo>
                  <a:pt x="230953" y="5715"/>
                </a:lnTo>
                <a:lnTo>
                  <a:pt x="82363" y="57487"/>
                </a:lnTo>
                <a:lnTo>
                  <a:pt x="81018" y="92785"/>
                </a:lnTo>
                <a:lnTo>
                  <a:pt x="50426" y="91777"/>
                </a:lnTo>
                <a:lnTo>
                  <a:pt x="25885" y="96147"/>
                </a:lnTo>
                <a:close/>
              </a:path>
            </a:pathLst>
          </a:custGeom>
          <a:solidFill>
            <a:srgbClr val="FFFFFF">
              <a:alpha val="64040"/>
            </a:srgbClr>
          </a:solidFill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25" name="Google Shape;325;p44"/>
          <p:cNvSpPr txBox="1"/>
          <p:nvPr/>
        </p:nvSpPr>
        <p:spPr>
          <a:xfrm>
            <a:off x="2576225" y="4445475"/>
            <a:ext cx="55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WOrkscopes</a:t>
            </a:r>
            <a:r>
              <a:rPr lang="en" sz="1200" b="1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Furnitures, Artwork and glass partition</a:t>
            </a:r>
            <a:endParaRPr sz="1200" b="1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44"/>
          <p:cNvSpPr/>
          <p:nvPr/>
        </p:nvSpPr>
        <p:spPr>
          <a:xfrm>
            <a:off x="3988013" y="403725"/>
            <a:ext cx="2428800" cy="9486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00B0F0">
              <a:alpha val="5787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ceiling works and lighting features are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wall cladding, paintwork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finishes is excluded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975" y="523725"/>
            <a:ext cx="7415328" cy="41711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45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333" name="Google Shape;333;p45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4" name="Google Shape;334;p45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35" name="Google Shape;335;p45"/>
          <p:cNvSpPr txBox="1"/>
          <p:nvPr/>
        </p:nvSpPr>
        <p:spPr>
          <a:xfrm>
            <a:off x="379425" y="-3587"/>
            <a:ext cx="78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General Workspace 2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(Moraba)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6" name="Google Shape;336;p45"/>
          <p:cNvCxnSpPr/>
          <p:nvPr/>
        </p:nvCxnSpPr>
        <p:spPr>
          <a:xfrm>
            <a:off x="147125" y="4939325"/>
            <a:ext cx="8515500" cy="0"/>
          </a:xfrm>
          <a:prstGeom prst="straightConnector1">
            <a:avLst/>
          </a:prstGeom>
          <a:noFill/>
          <a:ln w="9525" cap="flat" cmpd="sng">
            <a:solidFill>
              <a:srgbClr val="56BE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" name="Google Shape;337;p45"/>
          <p:cNvSpPr/>
          <p:nvPr/>
        </p:nvSpPr>
        <p:spPr>
          <a:xfrm>
            <a:off x="8608937" y="4779566"/>
            <a:ext cx="382500" cy="319500"/>
          </a:xfrm>
          <a:prstGeom prst="rect">
            <a:avLst/>
          </a:prstGeom>
          <a:solidFill>
            <a:srgbClr val="56BEEC"/>
          </a:solidFill>
          <a:ln>
            <a:noFill/>
          </a:ln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45"/>
          <p:cNvSpPr txBox="1"/>
          <p:nvPr/>
        </p:nvSpPr>
        <p:spPr>
          <a:xfrm>
            <a:off x="8396839" y="4816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75" tIns="34675" rIns="69375" bIns="346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fld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9" name="Google Shape;339;p45"/>
          <p:cNvPicPr preferRelativeResize="0"/>
          <p:nvPr/>
        </p:nvPicPr>
        <p:blipFill rotWithShape="1">
          <a:blip r:embed="rId4">
            <a:alphaModFix/>
          </a:blip>
          <a:srcRect l="328" t="30806" b="29749"/>
          <a:stretch/>
        </p:blipFill>
        <p:spPr>
          <a:xfrm>
            <a:off x="147125" y="4811772"/>
            <a:ext cx="897721" cy="3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5"/>
          <p:cNvSpPr/>
          <p:nvPr/>
        </p:nvSpPr>
        <p:spPr>
          <a:xfrm>
            <a:off x="756500" y="496400"/>
            <a:ext cx="7437900" cy="4219025"/>
          </a:xfrm>
          <a:custGeom>
            <a:avLst/>
            <a:gdLst/>
            <a:ahLst/>
            <a:cxnLst/>
            <a:rect l="l" t="t" r="r" b="b"/>
            <a:pathLst>
              <a:path w="297516" h="168761" extrusionOk="0">
                <a:moveTo>
                  <a:pt x="26558" y="118671"/>
                </a:moveTo>
                <a:lnTo>
                  <a:pt x="0" y="168761"/>
                </a:lnTo>
                <a:lnTo>
                  <a:pt x="0" y="0"/>
                </a:lnTo>
                <a:lnTo>
                  <a:pt x="297516" y="1345"/>
                </a:lnTo>
                <a:lnTo>
                  <a:pt x="296844" y="146909"/>
                </a:lnTo>
                <a:lnTo>
                  <a:pt x="278354" y="140522"/>
                </a:lnTo>
                <a:lnTo>
                  <a:pt x="277345" y="52108"/>
                </a:lnTo>
                <a:lnTo>
                  <a:pt x="187922" y="66563"/>
                </a:lnTo>
                <a:lnTo>
                  <a:pt x="162037" y="61521"/>
                </a:lnTo>
                <a:lnTo>
                  <a:pt x="162373" y="99172"/>
                </a:lnTo>
                <a:lnTo>
                  <a:pt x="143211" y="96147"/>
                </a:lnTo>
                <a:lnTo>
                  <a:pt x="128419" y="93794"/>
                </a:lnTo>
                <a:lnTo>
                  <a:pt x="129764" y="67572"/>
                </a:lnTo>
                <a:lnTo>
                  <a:pt x="49081" y="62865"/>
                </a:lnTo>
                <a:lnTo>
                  <a:pt x="51099" y="100853"/>
                </a:lnTo>
                <a:lnTo>
                  <a:pt x="36307" y="101862"/>
                </a:lnTo>
                <a:lnTo>
                  <a:pt x="24204" y="121360"/>
                </a:lnTo>
                <a:close/>
              </a:path>
            </a:pathLst>
          </a:custGeom>
          <a:solidFill>
            <a:srgbClr val="FFFFFF">
              <a:alpha val="64040"/>
            </a:srgbClr>
          </a:solidFill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41" name="Google Shape;341;p45"/>
          <p:cNvSpPr txBox="1"/>
          <p:nvPr/>
        </p:nvSpPr>
        <p:spPr>
          <a:xfrm>
            <a:off x="2576225" y="4369275"/>
            <a:ext cx="55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WOrkscopes</a:t>
            </a:r>
            <a:r>
              <a:rPr lang="en" sz="1200" b="1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Furnitures, Artwork and glass partition</a:t>
            </a:r>
            <a:endParaRPr sz="1200" b="1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5"/>
          <p:cNvSpPr/>
          <p:nvPr/>
        </p:nvSpPr>
        <p:spPr>
          <a:xfrm>
            <a:off x="3988013" y="403725"/>
            <a:ext cx="2428800" cy="9486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00B0F0">
              <a:alpha val="5787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ceiling works and lighting features are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wall cladding, paintwork is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finishes are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/>
        </p:nvSpPr>
        <p:spPr>
          <a:xfrm>
            <a:off x="8053635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8" name="Google Shape;348;p46"/>
          <p:cNvSpPr/>
          <p:nvPr/>
        </p:nvSpPr>
        <p:spPr>
          <a:xfrm>
            <a:off x="7817098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9" name="Google Shape;349;p46"/>
          <p:cNvSpPr/>
          <p:nvPr/>
        </p:nvSpPr>
        <p:spPr>
          <a:xfrm>
            <a:off x="8290173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0" name="Google Shape;350;p46"/>
          <p:cNvSpPr/>
          <p:nvPr/>
        </p:nvSpPr>
        <p:spPr>
          <a:xfrm>
            <a:off x="8526710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1" name="Google Shape;351;p46"/>
          <p:cNvSpPr txBox="1"/>
          <p:nvPr/>
        </p:nvSpPr>
        <p:spPr>
          <a:xfrm>
            <a:off x="1529116" y="4707572"/>
            <a:ext cx="2946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25" tIns="31450" rIns="62925" bIns="3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WWW.SPACEFINISH.COM</a:t>
            </a:r>
            <a:endParaRPr sz="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2" name="Google Shape;352;p46"/>
          <p:cNvGrpSpPr/>
          <p:nvPr/>
        </p:nvGrpSpPr>
        <p:grpSpPr>
          <a:xfrm flipH="1">
            <a:off x="266280" y="1282"/>
            <a:ext cx="6757" cy="383875"/>
            <a:chOff x="616453" y="-60"/>
            <a:chExt cx="11432" cy="1195500"/>
          </a:xfrm>
        </p:grpSpPr>
        <p:cxnSp>
          <p:nvCxnSpPr>
            <p:cNvPr id="353" name="Google Shape;353;p46"/>
            <p:cNvCxnSpPr/>
            <p:nvPr/>
          </p:nvCxnSpPr>
          <p:spPr>
            <a:xfrm rot="-5400000">
              <a:off x="307785" y="872489"/>
              <a:ext cx="640200" cy="0"/>
            </a:xfrm>
            <a:prstGeom prst="straightConnector1">
              <a:avLst/>
            </a:prstGeom>
            <a:noFill/>
            <a:ln w="25400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4" name="Google Shape;354;p46"/>
            <p:cNvCxnSpPr/>
            <p:nvPr/>
          </p:nvCxnSpPr>
          <p:spPr>
            <a:xfrm rot="-5400000">
              <a:off x="18703" y="597690"/>
              <a:ext cx="1195500" cy="0"/>
            </a:xfrm>
            <a:prstGeom prst="straightConnector1">
              <a:avLst/>
            </a:prstGeom>
            <a:noFill/>
            <a:ln w="9525" cap="flat" cmpd="sng">
              <a:solidFill>
                <a:srgbClr val="56BEE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355" name="Google Shape;35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75" y="337700"/>
            <a:ext cx="7385948" cy="433852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6"/>
          <p:cNvSpPr/>
          <p:nvPr/>
        </p:nvSpPr>
        <p:spPr>
          <a:xfrm>
            <a:off x="8290173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7" name="Google Shape;357;p46"/>
          <p:cNvSpPr/>
          <p:nvPr/>
        </p:nvSpPr>
        <p:spPr>
          <a:xfrm>
            <a:off x="8526710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8" name="Google Shape;358;p46"/>
          <p:cNvSpPr txBox="1"/>
          <p:nvPr/>
        </p:nvSpPr>
        <p:spPr>
          <a:xfrm>
            <a:off x="379425" y="-3587"/>
            <a:ext cx="78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00" tIns="34850" rIns="69700" bIns="348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Conference Hall </a:t>
            </a: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(Tanke)</a:t>
            </a:r>
            <a:r>
              <a:rPr lang="en" sz="20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46"/>
          <p:cNvSpPr/>
          <p:nvPr/>
        </p:nvSpPr>
        <p:spPr>
          <a:xfrm>
            <a:off x="8526710" y="4833938"/>
            <a:ext cx="142884" cy="14288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125" tIns="13125" rIns="13125" bIns="13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60" name="Google Shape;360;p46"/>
          <p:cNvCxnSpPr/>
          <p:nvPr/>
        </p:nvCxnSpPr>
        <p:spPr>
          <a:xfrm>
            <a:off x="147125" y="4939325"/>
            <a:ext cx="8515500" cy="0"/>
          </a:xfrm>
          <a:prstGeom prst="straightConnector1">
            <a:avLst/>
          </a:prstGeom>
          <a:noFill/>
          <a:ln w="9525" cap="flat" cmpd="sng">
            <a:solidFill>
              <a:srgbClr val="56BEE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1" name="Google Shape;361;p46"/>
          <p:cNvSpPr/>
          <p:nvPr/>
        </p:nvSpPr>
        <p:spPr>
          <a:xfrm>
            <a:off x="8608937" y="4779566"/>
            <a:ext cx="382500" cy="319500"/>
          </a:xfrm>
          <a:prstGeom prst="rect">
            <a:avLst/>
          </a:prstGeom>
          <a:solidFill>
            <a:srgbClr val="56BEEC"/>
          </a:solidFill>
          <a:ln>
            <a:noFill/>
          </a:ln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46"/>
          <p:cNvSpPr txBox="1"/>
          <p:nvPr/>
        </p:nvSpPr>
        <p:spPr>
          <a:xfrm>
            <a:off x="8396839" y="4816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75" tIns="34675" rIns="69375" bIns="346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fld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3" name="Google Shape;363;p46"/>
          <p:cNvPicPr preferRelativeResize="0"/>
          <p:nvPr/>
        </p:nvPicPr>
        <p:blipFill rotWithShape="1">
          <a:blip r:embed="rId4">
            <a:alphaModFix/>
          </a:blip>
          <a:srcRect l="328" t="30806" b="29749"/>
          <a:stretch/>
        </p:blipFill>
        <p:spPr>
          <a:xfrm>
            <a:off x="147125" y="4811772"/>
            <a:ext cx="897721" cy="3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6"/>
          <p:cNvSpPr/>
          <p:nvPr/>
        </p:nvSpPr>
        <p:spPr>
          <a:xfrm>
            <a:off x="647225" y="303100"/>
            <a:ext cx="7429500" cy="3798800"/>
          </a:xfrm>
          <a:custGeom>
            <a:avLst/>
            <a:gdLst/>
            <a:ahLst/>
            <a:cxnLst/>
            <a:rect l="l" t="t" r="r" b="b"/>
            <a:pathLst>
              <a:path w="297180" h="151952" extrusionOk="0">
                <a:moveTo>
                  <a:pt x="673" y="2354"/>
                </a:moveTo>
                <a:lnTo>
                  <a:pt x="673" y="27903"/>
                </a:lnTo>
                <a:lnTo>
                  <a:pt x="32610" y="43031"/>
                </a:lnTo>
                <a:lnTo>
                  <a:pt x="32946" y="80346"/>
                </a:lnTo>
                <a:lnTo>
                  <a:pt x="0" y="75640"/>
                </a:lnTo>
                <a:lnTo>
                  <a:pt x="1009" y="149263"/>
                </a:lnTo>
                <a:lnTo>
                  <a:pt x="21516" y="148254"/>
                </a:lnTo>
                <a:lnTo>
                  <a:pt x="22188" y="151952"/>
                </a:lnTo>
                <a:lnTo>
                  <a:pt x="62193" y="149935"/>
                </a:lnTo>
                <a:lnTo>
                  <a:pt x="59840" y="135816"/>
                </a:lnTo>
                <a:lnTo>
                  <a:pt x="71270" y="133462"/>
                </a:lnTo>
                <a:lnTo>
                  <a:pt x="79338" y="139514"/>
                </a:lnTo>
                <a:lnTo>
                  <a:pt x="102198" y="124722"/>
                </a:lnTo>
                <a:lnTo>
                  <a:pt x="101526" y="110602"/>
                </a:lnTo>
                <a:lnTo>
                  <a:pt x="119343" y="108249"/>
                </a:lnTo>
                <a:lnTo>
                  <a:pt x="222213" y="110602"/>
                </a:lnTo>
                <a:lnTo>
                  <a:pt x="235996" y="127411"/>
                </a:lnTo>
                <a:lnTo>
                  <a:pt x="240030" y="126403"/>
                </a:lnTo>
                <a:lnTo>
                  <a:pt x="239022" y="121024"/>
                </a:lnTo>
                <a:lnTo>
                  <a:pt x="270286" y="119679"/>
                </a:lnTo>
                <a:lnTo>
                  <a:pt x="270959" y="103879"/>
                </a:lnTo>
                <a:lnTo>
                  <a:pt x="272976" y="92113"/>
                </a:lnTo>
                <a:lnTo>
                  <a:pt x="288776" y="92449"/>
                </a:lnTo>
                <a:lnTo>
                  <a:pt x="288440" y="25886"/>
                </a:lnTo>
                <a:lnTo>
                  <a:pt x="297180" y="25886"/>
                </a:lnTo>
                <a:lnTo>
                  <a:pt x="297180" y="0"/>
                </a:lnTo>
                <a:close/>
              </a:path>
            </a:pathLst>
          </a:custGeom>
          <a:solidFill>
            <a:srgbClr val="FFFFFF">
              <a:alpha val="75280"/>
            </a:srgbClr>
          </a:solidFill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65" name="Google Shape;365;p46"/>
          <p:cNvSpPr txBox="1"/>
          <p:nvPr/>
        </p:nvSpPr>
        <p:spPr>
          <a:xfrm>
            <a:off x="2576225" y="4369275"/>
            <a:ext cx="55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WOrkscopes</a:t>
            </a:r>
            <a:r>
              <a:rPr lang="en" sz="1200" b="1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Furnitures, Artwork and glass partition</a:t>
            </a:r>
            <a:endParaRPr sz="1200" b="1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46"/>
          <p:cNvSpPr/>
          <p:nvPr/>
        </p:nvSpPr>
        <p:spPr>
          <a:xfrm>
            <a:off x="3714850" y="403725"/>
            <a:ext cx="2702100" cy="1370100"/>
          </a:xfrm>
          <a:prstGeom prst="wedgeRoundRectCallout">
            <a:avLst>
              <a:gd name="adj1" fmla="val -18511"/>
              <a:gd name="adj2" fmla="val 85439"/>
              <a:gd name="adj3" fmla="val 0"/>
            </a:avLst>
          </a:prstGeom>
          <a:solidFill>
            <a:srgbClr val="00B0F0">
              <a:alpha val="5787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51525" tIns="51525" rIns="51525" bIns="51525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ceiling works and lighting features are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wall cladding, paintwork is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finishes is excluded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Char char="●"/>
            </a:pPr>
            <a:r>
              <a:rPr lang="en" sz="9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Stepped seating to be secluded and replaced with normal single seats</a:t>
            </a:r>
            <a:endParaRPr sz="9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4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813" b="7813"/>
          <a:stretch/>
        </p:blipFill>
        <p:spPr>
          <a:xfrm>
            <a:off x="0" y="-27208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372" name="Google Shape;372;p47"/>
          <p:cNvSpPr/>
          <p:nvPr/>
        </p:nvSpPr>
        <p:spPr>
          <a:xfrm>
            <a:off x="521494" y="530874"/>
            <a:ext cx="8046900" cy="4050900"/>
          </a:xfrm>
          <a:prstGeom prst="rect">
            <a:avLst/>
          </a:prstGeom>
          <a:solidFill>
            <a:schemeClr val="lt1">
              <a:alpha val="94900"/>
            </a:schemeClr>
          </a:solidFill>
          <a:ln>
            <a:noFill/>
          </a:ln>
        </p:spPr>
        <p:txBody>
          <a:bodyPr spcFirstLastPara="1" wrap="square" lIns="70175" tIns="35075" rIns="70175" bIns="350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</a:t>
            </a:r>
            <a:endParaRPr sz="14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3" name="Google Shape;373;p47"/>
          <p:cNvSpPr txBox="1"/>
          <p:nvPr/>
        </p:nvSpPr>
        <p:spPr>
          <a:xfrm>
            <a:off x="2696498" y="2325251"/>
            <a:ext cx="3750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175" tIns="35075" rIns="70175" bIns="350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THANK</a:t>
            </a:r>
            <a:r>
              <a:rPr lang="en" sz="2400" b="1">
                <a:solidFill>
                  <a:srgbClr val="FF9F1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</a:t>
            </a:r>
            <a:endParaRPr sz="24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74" name="Google Shape;374;p47"/>
          <p:cNvGrpSpPr/>
          <p:nvPr/>
        </p:nvGrpSpPr>
        <p:grpSpPr>
          <a:xfrm>
            <a:off x="2389042" y="1973871"/>
            <a:ext cx="4365916" cy="1141342"/>
            <a:chOff x="2919464" y="2631828"/>
            <a:chExt cx="5821222" cy="1521789"/>
          </a:xfrm>
        </p:grpSpPr>
        <p:sp>
          <p:nvSpPr>
            <p:cNvPr id="375" name="Google Shape;375;p47"/>
            <p:cNvSpPr/>
            <p:nvPr/>
          </p:nvSpPr>
          <p:spPr>
            <a:xfrm>
              <a:off x="2919464" y="2631828"/>
              <a:ext cx="2376264" cy="931748"/>
            </a:xfrm>
            <a:custGeom>
              <a:avLst/>
              <a:gdLst/>
              <a:ahLst/>
              <a:cxnLst/>
              <a:rect l="l" t="t" r="r" b="b"/>
              <a:pathLst>
                <a:path w="2376264" h="931748" extrusionOk="0">
                  <a:moveTo>
                    <a:pt x="0" y="0"/>
                  </a:moveTo>
                  <a:lnTo>
                    <a:pt x="2376264" y="0"/>
                  </a:lnTo>
                  <a:lnTo>
                    <a:pt x="2376264" y="67652"/>
                  </a:lnTo>
                  <a:lnTo>
                    <a:pt x="72008" y="67652"/>
                  </a:lnTo>
                  <a:lnTo>
                    <a:pt x="72008" y="931748"/>
                  </a:lnTo>
                  <a:lnTo>
                    <a:pt x="0" y="931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70175" tIns="35075" rIns="70175" bIns="350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76" name="Google Shape;376;p47"/>
            <p:cNvSpPr/>
            <p:nvPr/>
          </p:nvSpPr>
          <p:spPr>
            <a:xfrm rot="10800000">
              <a:off x="6364422" y="3221869"/>
              <a:ext cx="2376264" cy="931748"/>
            </a:xfrm>
            <a:custGeom>
              <a:avLst/>
              <a:gdLst/>
              <a:ahLst/>
              <a:cxnLst/>
              <a:rect l="l" t="t" r="r" b="b"/>
              <a:pathLst>
                <a:path w="2376264" h="931748" extrusionOk="0">
                  <a:moveTo>
                    <a:pt x="0" y="0"/>
                  </a:moveTo>
                  <a:lnTo>
                    <a:pt x="2376264" y="0"/>
                  </a:lnTo>
                  <a:lnTo>
                    <a:pt x="2376264" y="67652"/>
                  </a:lnTo>
                  <a:lnTo>
                    <a:pt x="72008" y="67652"/>
                  </a:lnTo>
                  <a:lnTo>
                    <a:pt x="72008" y="931748"/>
                  </a:lnTo>
                  <a:lnTo>
                    <a:pt x="0" y="931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70175" tIns="35075" rIns="70175" bIns="350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425</Words>
  <Application>Microsoft Macintosh PowerPoint</Application>
  <PresentationFormat>On-screen Show (16:9)</PresentationFormat>
  <Paragraphs>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Poppins SemiBold</vt:lpstr>
      <vt:lpstr>Poppins</vt:lpstr>
      <vt:lpstr>Montserrat SemiBold</vt:lpstr>
      <vt:lpstr>Source Sans Pro</vt:lpstr>
      <vt:lpstr>Calibri</vt:lpstr>
      <vt:lpstr>Montserrat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Temi Kolawole</cp:lastModifiedBy>
  <cp:revision>4</cp:revision>
  <dcterms:modified xsi:type="dcterms:W3CDTF">2022-04-07T20:09:42Z</dcterms:modified>
</cp:coreProperties>
</file>