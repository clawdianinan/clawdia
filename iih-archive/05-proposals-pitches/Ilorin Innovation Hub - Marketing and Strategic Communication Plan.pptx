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embeddedFontLst>
    <p:embeddedFont>
      <p:font typeface="Lato" panose="020F0502020204030203" pitchFamily="34" charset="0"/>
      <p:regular r:id="rId61"/>
      <p:bold r:id="rId62"/>
      <p:italic r:id="rId63"/>
      <p:boldItalic r:id="rId64"/>
    </p:embeddedFont>
    <p:embeddedFont>
      <p:font typeface="Lato Black" panose="020F0502020204030203" pitchFamily="34" charset="0"/>
      <p:bold r:id="rId65"/>
      <p:italic r:id="rId66"/>
      <p:boldItalic r:id="rId67"/>
    </p:embeddedFont>
    <p:embeddedFont>
      <p:font typeface="Lato Light" panose="020F0502020204030203" pitchFamily="34"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587A9B-5581-4698-A67C-3324757FB292}">
  <a:tblStyle styleId="{FB587A9B-5581-4698-A67C-3324757FB29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959C07E-A9D0-494F-B3B5-55F0E27E85F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597"/>
  </p:normalViewPr>
  <p:slideViewPr>
    <p:cSldViewPr snapToGrid="0">
      <p:cViewPr varScale="1">
        <p:scale>
          <a:sx n="107" d="100"/>
          <a:sy n="107" d="100"/>
        </p:scale>
        <p:origin x="7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bde5a9562a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 name="Google Shape;79;g2bde5a9562a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b81dfb0534_0_3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g2b81dfb0534_0_35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c06df8a3fd_0_8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2c06df8a3fd_0_8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c172b0a0ea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g2c172b0a0ea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c172b0a0ea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g2c172b0a0ea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bde5a9562a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2bde5a9562a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c1be52f99b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g2c1be52f99b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c06df8a3f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2c06df8a3f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c16bfe686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g2c16bfe6869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c06df8a3fd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2c06df8a3fd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c06df8a3fd_0_8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g2c06df8a3fd_0_8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bde5a9562a_0_1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2bde5a9562a_0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bde5a9562a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g2bde5a9562a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c1dc5ed5a5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g2c1dc5ed5a5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c06df8a3fd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g2c06df8a3fd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c1be52f99b_0_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g2c1be52f99b_0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c1be52f99b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g2c1be52f99b_0_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c1dc5ed5a5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g2c1dc5ed5a5_0_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2c1f6c8ebc4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g2c1f6c8ebc4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bde5a9562a_0_2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g2bde5a9562a_0_2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c1dc5ed5a5_0_3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0" name="Google Shape;370;g2c1dc5ed5a5_0_3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8efa548575_3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28efa548575_3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28efa548575_3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g28efa548575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8efa548575_3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9" name="Google Shape;429;g28efa548575_3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bde5a9562a_0_2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g2bde5a9562a_0_2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8efa548575_3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g28efa548575_3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8efa548575_3_3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7" name="Google Shape;477;g28efa548575_3_3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8efa548575_3_3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g28efa548575_3_3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c1dc5ed5a5_0_3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g2c1dc5ed5a5_0_3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8efa548575_3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2" name="Google Shape;522;g28efa548575_3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2c1be52f99b_0_3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8" name="Google Shape;538;g2c1be52f99b_0_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8efa548575_3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4" name="Google Shape;554;g28efa548575_3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28efa548575_3_4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g28efa548575_3_4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28efa548575_3_3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1" name="Google Shape;581;g28efa548575_3_3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2c1dc5ed5a5_0_4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5" name="Google Shape;595;g2c1dc5ed5a5_0_4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28efa548575_3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9" name="Google Shape;609;g28efa548575_3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28efa548575_3_2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3" name="Google Shape;623;g28efa548575_3_2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2c1dc5ed5a5_0_4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7" name="Google Shape;637;g2c1dc5ed5a5_0_4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2c1dc5ed5a5_0_3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5" name="Google Shape;655;g2c1dc5ed5a5_0_3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2c1dc5ed5a5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g2c1dc5ed5a5_0_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c1be52f99b_0_1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g2c1be52f99b_0_1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c27f0baed6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c27f0baed6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c1dc5ed5a5_0_1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c1dc5ed5a5_0_1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2c1dc5ed5a5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c1dc5ed5a5_0_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c1dc5ed5a5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1dc5ed5a5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c1dc5ed5a5_0_1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1dc5ed5a5_0_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1dc5ed5a5_0_1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c1dc5ed5a5_0_1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1be52f99b_0_2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1be52f99b_0_2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c1dc5ed5a5_0_2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1dc5ed5a5_0_2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6b008844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6b008844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26b008844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26b008844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27f0baed6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27f0baed6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27f0baed6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27f0baed6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c27f0baed6_0_1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27f0baed6_0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c27f0baed6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c27f0baed6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c1be52f99b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be52f99b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8efa548575_0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8efa548575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968" name="Google Shape;968;g28efa548575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415611" y="992767"/>
            <a:ext cx="11360700" cy="2736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a:endParaRPr/>
          </a:p>
        </p:txBody>
      </p:sp>
      <p:sp>
        <p:nvSpPr>
          <p:cNvPr id="15" name="Google Shape;15;p2"/>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p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Google Shape;21;p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2" name="Google Shape;22;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15600" y="2867800"/>
            <a:ext cx="11360700" cy="1122300"/>
          </a:xfrm>
          <a:prstGeom prst="rect">
            <a:avLst/>
          </a:prstGeom>
          <a:noFill/>
          <a:ln>
            <a:noFill/>
          </a:ln>
        </p:spPr>
        <p:txBody>
          <a:bodyPr spcFirstLastPara="1" wrap="square" lIns="121900" tIns="121900" rIns="121900" bIns="121900" anchor="ctr"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5" name="Google Shape;25;p4"/>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28" name="Google Shape;28;p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29" name="Google Shape;29;p5"/>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2" name="Google Shape;32;p6"/>
          <p:cNvSpPr txBox="1">
            <a:spLocks noGrp="1"/>
          </p:cNvSpPr>
          <p:nvPr>
            <p:ph type="body" idx="1"/>
          </p:nvPr>
        </p:nvSpPr>
        <p:spPr>
          <a:xfrm>
            <a:off x="415600" y="1536633"/>
            <a:ext cx="5333100" cy="4555200"/>
          </a:xfrm>
          <a:prstGeom prst="rect">
            <a:avLst/>
          </a:prstGeom>
          <a:noFill/>
          <a:ln>
            <a:noFill/>
          </a:ln>
        </p:spPr>
        <p:txBody>
          <a:bodyPr spcFirstLastPara="1" wrap="square" lIns="121900" tIns="121900" rIns="121900" bIns="121900" anchor="t" anchorCtr="0">
            <a:no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3" name="Google Shape;33;p6"/>
          <p:cNvSpPr txBox="1">
            <a:spLocks noGrp="1"/>
          </p:cNvSpPr>
          <p:nvPr>
            <p:ph type="body" idx="2"/>
          </p:nvPr>
        </p:nvSpPr>
        <p:spPr>
          <a:xfrm>
            <a:off x="6443200" y="1536633"/>
            <a:ext cx="5333100" cy="4555200"/>
          </a:xfrm>
          <a:prstGeom prst="rect">
            <a:avLst/>
          </a:prstGeom>
          <a:noFill/>
          <a:ln>
            <a:noFill/>
          </a:ln>
        </p:spPr>
        <p:txBody>
          <a:bodyPr spcFirstLastPara="1" wrap="square" lIns="121900" tIns="121900" rIns="121900" bIns="121900" anchor="t" anchorCtr="0">
            <a:noAutofit/>
          </a:bodyPr>
          <a:lstStyle>
            <a:lvl1pPr marL="457200" lvl="0" indent="-349250" algn="l">
              <a:lnSpc>
                <a:spcPct val="115000"/>
              </a:lnSpc>
              <a:spcBef>
                <a:spcPts val="0"/>
              </a:spcBef>
              <a:spcAft>
                <a:spcPts val="0"/>
              </a:spcAft>
              <a:buSzPts val="1900"/>
              <a:buChar char="●"/>
              <a:defRPr sz="19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34" name="Google Shape;34;p6"/>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37" name="Google Shape;37;p7"/>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415600" y="740800"/>
            <a:ext cx="3744000" cy="1007700"/>
          </a:xfrm>
          <a:prstGeom prst="rect">
            <a:avLst/>
          </a:prstGeom>
          <a:noFill/>
          <a:ln>
            <a:noFill/>
          </a:ln>
        </p:spPr>
        <p:txBody>
          <a:bodyPr spcFirstLastPara="1" wrap="square" lIns="121900" tIns="121900" rIns="121900" bIns="121900"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40" name="Google Shape;40;p8"/>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Autofit/>
          </a:bodyPr>
          <a:lstStyle>
            <a:lvl1pPr marL="457200" lvl="0" indent="-330200" algn="l">
              <a:lnSpc>
                <a:spcPct val="115000"/>
              </a:lnSpc>
              <a:spcBef>
                <a:spcPts val="0"/>
              </a:spcBef>
              <a:spcAft>
                <a:spcPts val="0"/>
              </a:spcAft>
              <a:buSzPts val="1600"/>
              <a:buChar char="●"/>
              <a:defRPr sz="1600"/>
            </a:lvl1pPr>
            <a:lvl2pPr marL="914400" lvl="1" indent="-330200" algn="l">
              <a:lnSpc>
                <a:spcPct val="115000"/>
              </a:lnSpc>
              <a:spcBef>
                <a:spcPts val="0"/>
              </a:spcBef>
              <a:spcAft>
                <a:spcPts val="0"/>
              </a:spcAft>
              <a:buSzPts val="1600"/>
              <a:buChar char="○"/>
              <a:defRPr sz="1600"/>
            </a:lvl2pPr>
            <a:lvl3pPr marL="1371600" lvl="2" indent="-330200" algn="l">
              <a:lnSpc>
                <a:spcPct val="115000"/>
              </a:lnSpc>
              <a:spcBef>
                <a:spcPts val="0"/>
              </a:spcBef>
              <a:spcAft>
                <a:spcPts val="0"/>
              </a:spcAft>
              <a:buSzPts val="1600"/>
              <a:buChar char="■"/>
              <a:defRPr sz="1600"/>
            </a:lvl3pPr>
            <a:lvl4pPr marL="1828800" lvl="3" indent="-330200" algn="l">
              <a:lnSpc>
                <a:spcPct val="115000"/>
              </a:lnSpc>
              <a:spcBef>
                <a:spcPts val="0"/>
              </a:spcBef>
              <a:spcAft>
                <a:spcPts val="0"/>
              </a:spcAft>
              <a:buSzPts val="1600"/>
              <a:buChar char="●"/>
              <a:defRPr sz="1600"/>
            </a:lvl4pPr>
            <a:lvl5pPr marL="2286000" lvl="4" indent="-330200" algn="l">
              <a:lnSpc>
                <a:spcPct val="115000"/>
              </a:lnSpc>
              <a:spcBef>
                <a:spcPts val="0"/>
              </a:spcBef>
              <a:spcAft>
                <a:spcPts val="0"/>
              </a:spcAft>
              <a:buSzPts val="1600"/>
              <a:buChar char="○"/>
              <a:defRPr sz="1600"/>
            </a:lvl5pPr>
            <a:lvl6pPr marL="2743200" lvl="5" indent="-330200" algn="l">
              <a:lnSpc>
                <a:spcPct val="115000"/>
              </a:lnSpc>
              <a:spcBef>
                <a:spcPts val="0"/>
              </a:spcBef>
              <a:spcAft>
                <a:spcPts val="0"/>
              </a:spcAft>
              <a:buSzPts val="1600"/>
              <a:buChar char="■"/>
              <a:defRPr sz="1600"/>
            </a:lvl6pPr>
            <a:lvl7pPr marL="3200400" lvl="6" indent="-330200" algn="l">
              <a:lnSpc>
                <a:spcPct val="115000"/>
              </a:lnSpc>
              <a:spcBef>
                <a:spcPts val="0"/>
              </a:spcBef>
              <a:spcAft>
                <a:spcPts val="0"/>
              </a:spcAft>
              <a:buSzPts val="1600"/>
              <a:buChar char="●"/>
              <a:defRPr sz="1600"/>
            </a:lvl7pPr>
            <a:lvl8pPr marL="3657600" lvl="7" indent="-330200" algn="l">
              <a:lnSpc>
                <a:spcPct val="115000"/>
              </a:lnSpc>
              <a:spcBef>
                <a:spcPts val="0"/>
              </a:spcBef>
              <a:spcAft>
                <a:spcPts val="0"/>
              </a:spcAft>
              <a:buSzPts val="1600"/>
              <a:buChar char="○"/>
              <a:defRPr sz="1600"/>
            </a:lvl8pPr>
            <a:lvl9pPr marL="4114800" lvl="8" indent="-330200" algn="l">
              <a:lnSpc>
                <a:spcPct val="115000"/>
              </a:lnSpc>
              <a:spcBef>
                <a:spcPts val="0"/>
              </a:spcBef>
              <a:spcAft>
                <a:spcPts val="0"/>
              </a:spcAft>
              <a:buSzPts val="1600"/>
              <a:buChar char="■"/>
              <a:defRPr sz="1600"/>
            </a:lvl9pPr>
          </a:lstStyle>
          <a:p>
            <a:endParaRPr/>
          </a:p>
        </p:txBody>
      </p:sp>
      <p:sp>
        <p:nvSpPr>
          <p:cNvPr id="41" name="Google Shape;41;p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_POINT">
  <p:cSld name="MAIN_POINT">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44" name="Google Shape;44;p9"/>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_TITLE_AND_DESCRIPTION">
  <p:cSld name="SECTION_TITLE_AND_DESCRIPTION">
    <p:spTree>
      <p:nvGrpSpPr>
        <p:cNvPr id="1" name="Shape 45"/>
        <p:cNvGrpSpPr/>
        <p:nvPr/>
      </p:nvGrpSpPr>
      <p:grpSpPr>
        <a:xfrm>
          <a:off x="0" y="0"/>
          <a:ext cx="0" cy="0"/>
          <a:chOff x="0" y="0"/>
          <a:chExt cx="0" cy="0"/>
        </a:xfrm>
      </p:grpSpPr>
      <p:sp>
        <p:nvSpPr>
          <p:cNvPr id="46" name="Google Shape;46;p10"/>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10"/>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48" name="Google Shape;48;p10"/>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9" name="Google Shape;49;p10"/>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50" name="Google Shape;50;p1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51"/>
        <p:cNvGrpSpPr/>
        <p:nvPr/>
      </p:nvGrpSpPr>
      <p:grpSpPr>
        <a:xfrm>
          <a:off x="0" y="0"/>
          <a:ext cx="0" cy="0"/>
          <a:chOff x="0" y="0"/>
          <a:chExt cx="0" cy="0"/>
        </a:xfrm>
      </p:grpSpPr>
      <p:sp>
        <p:nvSpPr>
          <p:cNvPr id="52" name="Google Shape;52;p11"/>
          <p:cNvSpPr txBox="1">
            <a:spLocks noGrp="1"/>
          </p:cNvSpPr>
          <p:nvPr>
            <p:ph type="body" idx="1"/>
          </p:nvPr>
        </p:nvSpPr>
        <p:spPr>
          <a:xfrm>
            <a:off x="415600" y="5640767"/>
            <a:ext cx="7998300" cy="806700"/>
          </a:xfrm>
          <a:prstGeom prst="rect">
            <a:avLst/>
          </a:prstGeom>
          <a:noFill/>
          <a:ln>
            <a:noFill/>
          </a:ln>
        </p:spPr>
        <p:txBody>
          <a:bodyPr spcFirstLastPara="1" wrap="square" lIns="121900" tIns="121900" rIns="121900" bIns="121900" anchor="ctr" anchorCtr="0">
            <a:noAutofit/>
          </a:bodyPr>
          <a:lstStyle>
            <a:lvl1pPr marL="457200" lvl="0" indent="-228600" algn="l">
              <a:lnSpc>
                <a:spcPct val="100000"/>
              </a:lnSpc>
              <a:spcBef>
                <a:spcPts val="0"/>
              </a:spcBef>
              <a:spcAft>
                <a:spcPts val="0"/>
              </a:spcAft>
              <a:buSzPts val="2400"/>
              <a:buNone/>
              <a:defRPr/>
            </a:lvl1pPr>
          </a:lstStyle>
          <a:p>
            <a:endParaRPr/>
          </a:p>
        </p:txBody>
      </p:sp>
      <p:sp>
        <p:nvSpPr>
          <p:cNvPr id="53" name="Google Shape;53;p1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_NUMBER">
  <p:cSld name="BIG_NUMBER">
    <p:spTree>
      <p:nvGrpSpPr>
        <p:cNvPr id="1" name="Shape 54"/>
        <p:cNvGrpSpPr/>
        <p:nvPr/>
      </p:nvGrpSpPr>
      <p:grpSpPr>
        <a:xfrm>
          <a:off x="0" y="0"/>
          <a:ext cx="0" cy="0"/>
          <a:chOff x="0" y="0"/>
          <a:chExt cx="0" cy="0"/>
        </a:xfrm>
      </p:grpSpPr>
      <p:sp>
        <p:nvSpPr>
          <p:cNvPr id="55" name="Google Shape;55;p12"/>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6" name="Google Shape;56;p12"/>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Autofit/>
          </a:bodyPr>
          <a:lstStyle>
            <a:lvl1pPr marL="457200" lvl="0" indent="-381000" algn="ctr">
              <a:lnSpc>
                <a:spcPct val="115000"/>
              </a:lnSpc>
              <a:spcBef>
                <a:spcPts val="0"/>
              </a:spcBef>
              <a:spcAft>
                <a:spcPts val="0"/>
              </a:spcAft>
              <a:buSzPts val="2400"/>
              <a:buChar char="●"/>
              <a:defRPr/>
            </a:lvl1pPr>
            <a:lvl2pPr marL="914400" lvl="1" indent="-349250" algn="ctr">
              <a:lnSpc>
                <a:spcPct val="115000"/>
              </a:lnSpc>
              <a:spcBef>
                <a:spcPts val="0"/>
              </a:spcBef>
              <a:spcAft>
                <a:spcPts val="0"/>
              </a:spcAft>
              <a:buSzPts val="1900"/>
              <a:buChar char="○"/>
              <a:defRPr/>
            </a:lvl2pPr>
            <a:lvl3pPr marL="1371600" lvl="2" indent="-349250" algn="ctr">
              <a:lnSpc>
                <a:spcPct val="115000"/>
              </a:lnSpc>
              <a:spcBef>
                <a:spcPts val="0"/>
              </a:spcBef>
              <a:spcAft>
                <a:spcPts val="0"/>
              </a:spcAft>
              <a:buSzPts val="1900"/>
              <a:buChar char="■"/>
              <a:defRPr/>
            </a:lvl3pPr>
            <a:lvl4pPr marL="1828800" lvl="3" indent="-349250" algn="ctr">
              <a:lnSpc>
                <a:spcPct val="115000"/>
              </a:lnSpc>
              <a:spcBef>
                <a:spcPts val="0"/>
              </a:spcBef>
              <a:spcAft>
                <a:spcPts val="0"/>
              </a:spcAft>
              <a:buSzPts val="1900"/>
              <a:buChar char="●"/>
              <a:defRPr/>
            </a:lvl4pPr>
            <a:lvl5pPr marL="2286000" lvl="4" indent="-349250" algn="ctr">
              <a:lnSpc>
                <a:spcPct val="115000"/>
              </a:lnSpc>
              <a:spcBef>
                <a:spcPts val="0"/>
              </a:spcBef>
              <a:spcAft>
                <a:spcPts val="0"/>
              </a:spcAft>
              <a:buSzPts val="1900"/>
              <a:buChar char="○"/>
              <a:defRPr/>
            </a:lvl5pPr>
            <a:lvl6pPr marL="2743200" lvl="5" indent="-349250" algn="ctr">
              <a:lnSpc>
                <a:spcPct val="115000"/>
              </a:lnSpc>
              <a:spcBef>
                <a:spcPts val="0"/>
              </a:spcBef>
              <a:spcAft>
                <a:spcPts val="0"/>
              </a:spcAft>
              <a:buSzPts val="1900"/>
              <a:buChar char="■"/>
              <a:defRPr/>
            </a:lvl6pPr>
            <a:lvl7pPr marL="3200400" lvl="6" indent="-349250" algn="ctr">
              <a:lnSpc>
                <a:spcPct val="115000"/>
              </a:lnSpc>
              <a:spcBef>
                <a:spcPts val="0"/>
              </a:spcBef>
              <a:spcAft>
                <a:spcPts val="0"/>
              </a:spcAft>
              <a:buSzPts val="1900"/>
              <a:buChar char="●"/>
              <a:defRPr/>
            </a:lvl7pPr>
            <a:lvl8pPr marL="3657600" lvl="7" indent="-349250" algn="ctr">
              <a:lnSpc>
                <a:spcPct val="115000"/>
              </a:lnSpc>
              <a:spcBef>
                <a:spcPts val="0"/>
              </a:spcBef>
              <a:spcAft>
                <a:spcPts val="0"/>
              </a:spcAft>
              <a:buSzPts val="1900"/>
              <a:buChar char="○"/>
              <a:defRPr/>
            </a:lvl8pPr>
            <a:lvl9pPr marL="4114800" lvl="8" indent="-349250" algn="ctr">
              <a:lnSpc>
                <a:spcPct val="115000"/>
              </a:lnSpc>
              <a:spcBef>
                <a:spcPts val="0"/>
              </a:spcBef>
              <a:spcAft>
                <a:spcPts val="0"/>
              </a:spcAft>
              <a:buSzPts val="1900"/>
              <a:buChar char="■"/>
              <a:defRPr/>
            </a:lvl9pPr>
          </a:lstStyle>
          <a:p>
            <a:endParaRPr/>
          </a:p>
        </p:txBody>
      </p:sp>
      <p:sp>
        <p:nvSpPr>
          <p:cNvPr id="57" name="Google Shape;57;p1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3"/>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FFC000"/>
        </a:solidFill>
        <a:effectLst/>
      </p:bgPr>
    </p:bg>
    <p:spTree>
      <p:nvGrpSpPr>
        <p:cNvPr id="1" name="Shape 6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2">
  <p:cSld name="OBJECT_2">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19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63" name="Google Shape;63;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349250" algn="l" rtl="0">
              <a:lnSpc>
                <a:spcPct val="90000"/>
              </a:lnSpc>
              <a:spcBef>
                <a:spcPts val="11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1pPr>
            <a:lvl2pPr marL="914400" marR="0" lvl="1"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2pPr>
            <a:lvl3pPr marL="1371600" marR="0" lvl="2"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3pPr>
            <a:lvl4pPr marL="1828800" marR="0" lvl="3"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4pPr>
            <a:lvl5pPr marL="2286000" marR="0" lvl="4"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5pPr>
            <a:lvl6pPr marL="2743200" marR="0" lvl="5"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6pPr>
            <a:lvl7pPr marL="3200400" marR="0" lvl="6"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7pPr>
            <a:lvl8pPr marL="3657600" marR="0" lvl="7"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8pPr>
            <a:lvl9pPr marL="4114800" marR="0" lvl="8" indent="-349250" algn="l" rtl="0">
              <a:lnSpc>
                <a:spcPct val="90000"/>
              </a:lnSpc>
              <a:spcBef>
                <a:spcPts val="500"/>
              </a:spcBef>
              <a:spcAft>
                <a:spcPts val="0"/>
              </a:spcAft>
              <a:buClr>
                <a:schemeClr val="dk1"/>
              </a:buClr>
              <a:buSzPts val="1900"/>
              <a:buFont typeface="Arial"/>
              <a:buChar char="•"/>
              <a:defRPr sz="1500" b="0" i="0" u="none" strike="noStrike" cap="none">
                <a:solidFill>
                  <a:srgbClr val="000000"/>
                </a:solidFill>
                <a:latin typeface="Arial"/>
                <a:ea typeface="Arial"/>
                <a:cs typeface="Arial"/>
                <a:sym typeface="Arial"/>
              </a:defRPr>
            </a:lvl9pPr>
          </a:lstStyle>
          <a:p>
            <a:endParaRPr/>
          </a:p>
        </p:txBody>
      </p:sp>
      <p:sp>
        <p:nvSpPr>
          <p:cNvPr id="64" name="Google Shape;64;p1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65" name="Google Shape;65;p1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66" name="Google Shape;66;p1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700"/>
              <a:buFont typeface="Arial"/>
              <a:buNone/>
              <a:defRPr sz="3700" b="0" i="0" u="none" strike="noStrike" cap="none">
                <a:solidFill>
                  <a:schemeClr val="dk1"/>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marR="0" lvl="0"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1pPr>
            <a:lvl2pPr marL="914400" marR="0" lvl="1"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2pPr>
            <a:lvl3pPr marL="1371600" marR="0" lvl="2"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3pPr>
            <a:lvl4pPr marL="1828800" marR="0" lvl="3"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4pPr>
            <a:lvl5pPr marL="2286000" marR="0" lvl="4"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5pPr>
            <a:lvl6pPr marL="2743200" marR="0" lvl="5"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6pPr>
            <a:lvl7pPr marL="3200400" marR="0" lvl="6"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7pPr>
            <a:lvl8pPr marL="3657600" marR="0" lvl="7"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8pPr>
            <a:lvl9pPr marL="4114800" marR="0" lvl="8" indent="-349250" algn="l" rtl="0">
              <a:lnSpc>
                <a:spcPct val="115000"/>
              </a:lnSpc>
              <a:spcBef>
                <a:spcPts val="0"/>
              </a:spcBef>
              <a:spcAft>
                <a:spcPts val="0"/>
              </a:spcAft>
              <a:buClr>
                <a:schemeClr val="dk2"/>
              </a:buClr>
              <a:buSzPts val="1900"/>
              <a:buFont typeface="Arial"/>
              <a:buChar char="■"/>
              <a:defRPr sz="1900" b="0" i="0" u="none" strike="noStrike" cap="none">
                <a:solidFill>
                  <a:schemeClr val="dk2"/>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hyperlink" Target="https://www.mwckigali.com/" TargetMode="External"/><Relationship Id="rId4" Type="http://schemas.openxmlformats.org/officeDocument/2006/relationships/hyperlink" Target="https://africatechnologyexpo.com/?ref=inclusiontimes.com"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p:nvPr/>
        </p:nvSpPr>
        <p:spPr>
          <a:xfrm>
            <a:off x="0" y="87675"/>
            <a:ext cx="12192000" cy="5553300"/>
          </a:xfrm>
          <a:prstGeom prst="rect">
            <a:avLst/>
          </a:prstGeom>
          <a:solidFill>
            <a:srgbClr val="DC454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2" name="Google Shape;72;p16"/>
          <p:cNvPicPr preferRelativeResize="0"/>
          <p:nvPr/>
        </p:nvPicPr>
        <p:blipFill rotWithShape="1">
          <a:blip r:embed="rId3">
            <a:alphaModFix/>
          </a:blip>
          <a:srcRect/>
          <a:stretch/>
        </p:blipFill>
        <p:spPr>
          <a:xfrm>
            <a:off x="0" y="-135225"/>
            <a:ext cx="12192000" cy="5650949"/>
          </a:xfrm>
          <a:prstGeom prst="rect">
            <a:avLst/>
          </a:prstGeom>
          <a:noFill/>
          <a:ln>
            <a:noFill/>
          </a:ln>
        </p:spPr>
      </p:pic>
      <p:sp>
        <p:nvSpPr>
          <p:cNvPr id="73" name="Google Shape;73;p16"/>
          <p:cNvSpPr txBox="1">
            <a:spLocks noGrp="1"/>
          </p:cNvSpPr>
          <p:nvPr>
            <p:ph type="ctrTitle"/>
          </p:nvPr>
        </p:nvSpPr>
        <p:spPr>
          <a:xfrm>
            <a:off x="2494050" y="3538775"/>
            <a:ext cx="7181700" cy="11991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Calibri"/>
              <a:buNone/>
            </a:pPr>
            <a:r>
              <a:rPr lang="en-US" sz="4000">
                <a:solidFill>
                  <a:srgbClr val="FFFFFF"/>
                </a:solidFill>
                <a:latin typeface="Lato Light"/>
                <a:ea typeface="Lato Light"/>
                <a:cs typeface="Lato Light"/>
                <a:sym typeface="Lato Light"/>
              </a:rPr>
              <a:t>A Marketing &amp; </a:t>
            </a:r>
            <a:r>
              <a:rPr lang="en-US" sz="4000">
                <a:solidFill>
                  <a:schemeClr val="lt1"/>
                </a:solidFill>
                <a:latin typeface="Lato Light"/>
                <a:ea typeface="Lato Light"/>
                <a:cs typeface="Lato Light"/>
                <a:sym typeface="Lato Light"/>
              </a:rPr>
              <a:t>Strategic</a:t>
            </a:r>
            <a:r>
              <a:rPr lang="en-US" sz="4000">
                <a:solidFill>
                  <a:srgbClr val="FFFFFF"/>
                </a:solidFill>
                <a:latin typeface="Lato Light"/>
                <a:ea typeface="Lato Light"/>
                <a:cs typeface="Lato Light"/>
                <a:sym typeface="Lato Light"/>
              </a:rPr>
              <a:t> Communication Plan</a:t>
            </a:r>
            <a:endParaRPr sz="4000">
              <a:solidFill>
                <a:srgbClr val="FFFFFF"/>
              </a:solidFill>
              <a:latin typeface="Lato Light"/>
              <a:ea typeface="Lato Light"/>
              <a:cs typeface="Lato Light"/>
              <a:sym typeface="Lato Light"/>
            </a:endParaRPr>
          </a:p>
        </p:txBody>
      </p:sp>
      <p:sp>
        <p:nvSpPr>
          <p:cNvPr id="74" name="Google Shape;74;p16"/>
          <p:cNvSpPr/>
          <p:nvPr/>
        </p:nvSpPr>
        <p:spPr>
          <a:xfrm rot="5400000">
            <a:off x="10840532" y="5366050"/>
            <a:ext cx="471900" cy="17358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cxnSp>
        <p:nvCxnSpPr>
          <p:cNvPr id="75" name="Google Shape;75;p16"/>
          <p:cNvCxnSpPr/>
          <p:nvPr/>
        </p:nvCxnSpPr>
        <p:spPr>
          <a:xfrm>
            <a:off x="9813903" y="5998000"/>
            <a:ext cx="0" cy="483300"/>
          </a:xfrm>
          <a:prstGeom prst="straightConnector1">
            <a:avLst/>
          </a:prstGeom>
          <a:noFill/>
          <a:ln w="9525" cap="flat" cmpd="sng">
            <a:solidFill>
              <a:schemeClr val="dk2"/>
            </a:solidFill>
            <a:prstDash val="solid"/>
            <a:round/>
            <a:headEnd type="none" w="sm" len="sm"/>
            <a:tailEnd type="none" w="sm" len="sm"/>
          </a:ln>
        </p:spPr>
      </p:cxnSp>
      <p:sp>
        <p:nvSpPr>
          <p:cNvPr id="76" name="Google Shape;76;p16"/>
          <p:cNvSpPr txBox="1">
            <a:spLocks noGrp="1"/>
          </p:cNvSpPr>
          <p:nvPr>
            <p:ph type="ctrTitle"/>
          </p:nvPr>
        </p:nvSpPr>
        <p:spPr>
          <a:xfrm>
            <a:off x="1404900" y="1452250"/>
            <a:ext cx="9382200" cy="14925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Calibri"/>
              <a:buNone/>
            </a:pPr>
            <a:r>
              <a:rPr lang="en-US" sz="4800" b="1">
                <a:solidFill>
                  <a:srgbClr val="FFFFFF"/>
                </a:solidFill>
                <a:latin typeface="Lato"/>
                <a:ea typeface="Lato"/>
                <a:cs typeface="Lato"/>
                <a:sym typeface="Lato"/>
              </a:rPr>
              <a:t>ILORIN INNOVATION HUB</a:t>
            </a:r>
            <a:endParaRPr sz="4800" b="1">
              <a:solidFill>
                <a:srgbClr val="FFFFF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grpSp>
        <p:nvGrpSpPr>
          <p:cNvPr id="81" name="Google Shape;81;p17"/>
          <p:cNvGrpSpPr/>
          <p:nvPr/>
        </p:nvGrpSpPr>
        <p:grpSpPr>
          <a:xfrm>
            <a:off x="9917422" y="5100494"/>
            <a:ext cx="2311056" cy="1847888"/>
            <a:chOff x="9283128" y="4713378"/>
            <a:chExt cx="2938779" cy="2331720"/>
          </a:xfrm>
        </p:grpSpPr>
        <p:sp>
          <p:nvSpPr>
            <p:cNvPr id="82" name="Google Shape;82;p17"/>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83;p17"/>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 name="Google Shape;84;p17"/>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 name="Google Shape;85;p17"/>
          <p:cNvSpPr txBox="1">
            <a:spLocks noGrp="1"/>
          </p:cNvSpPr>
          <p:nvPr>
            <p:ph type="title"/>
          </p:nvPr>
        </p:nvSpPr>
        <p:spPr>
          <a:xfrm>
            <a:off x="669250" y="307095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SITUATION AND CONTEXT</a:t>
            </a:r>
            <a:endParaRPr>
              <a:solidFill>
                <a:srgbClr val="DC4540"/>
              </a:solidFill>
              <a:latin typeface="Lato Black"/>
              <a:ea typeface="Lato Black"/>
              <a:cs typeface="Lato Black"/>
              <a:sym typeface="Lato Black"/>
            </a:endParaRPr>
          </a:p>
        </p:txBody>
      </p:sp>
      <p:grpSp>
        <p:nvGrpSpPr>
          <p:cNvPr id="86" name="Google Shape;86;p17"/>
          <p:cNvGrpSpPr/>
          <p:nvPr/>
        </p:nvGrpSpPr>
        <p:grpSpPr>
          <a:xfrm>
            <a:off x="593050" y="6292875"/>
            <a:ext cx="11495400" cy="415590"/>
            <a:chOff x="593050" y="6292875"/>
            <a:chExt cx="11495400" cy="415590"/>
          </a:xfrm>
        </p:grpSpPr>
        <p:sp>
          <p:nvSpPr>
            <p:cNvPr id="87" name="Google Shape;87;p17"/>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88" name="Google Shape;88;p17"/>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89" name="Google Shape;89;p17"/>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grpSp>
        <p:nvGrpSpPr>
          <p:cNvPr id="94" name="Google Shape;94;p18"/>
          <p:cNvGrpSpPr/>
          <p:nvPr/>
        </p:nvGrpSpPr>
        <p:grpSpPr>
          <a:xfrm>
            <a:off x="9910844" y="5045076"/>
            <a:ext cx="2311056" cy="1847888"/>
            <a:chOff x="9283128" y="4713378"/>
            <a:chExt cx="2938779" cy="2331720"/>
          </a:xfrm>
        </p:grpSpPr>
        <p:sp>
          <p:nvSpPr>
            <p:cNvPr id="95" name="Google Shape;95;p18"/>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96;p18"/>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 name="Google Shape;97;p18"/>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8" name="Google Shape;98;p18"/>
          <p:cNvSpPr txBox="1">
            <a:spLocks noGrp="1"/>
          </p:cNvSpPr>
          <p:nvPr>
            <p:ph type="title"/>
          </p:nvPr>
        </p:nvSpPr>
        <p:spPr>
          <a:xfrm>
            <a:off x="669250" y="4228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INTRODUCTION</a:t>
            </a:r>
            <a:endParaRPr sz="3400">
              <a:solidFill>
                <a:srgbClr val="DC4540"/>
              </a:solidFill>
              <a:latin typeface="Lato Black"/>
              <a:ea typeface="Lato Black"/>
              <a:cs typeface="Lato Black"/>
              <a:sym typeface="Lato Black"/>
            </a:endParaRPr>
          </a:p>
        </p:txBody>
      </p:sp>
      <p:sp>
        <p:nvSpPr>
          <p:cNvPr id="99" name="Google Shape;99;p18"/>
          <p:cNvSpPr txBox="1">
            <a:spLocks noGrp="1"/>
          </p:cNvSpPr>
          <p:nvPr>
            <p:ph type="body" idx="1"/>
          </p:nvPr>
        </p:nvSpPr>
        <p:spPr>
          <a:xfrm>
            <a:off x="688725" y="1431500"/>
            <a:ext cx="8189700" cy="46077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800">
                <a:solidFill>
                  <a:schemeClr val="dk1"/>
                </a:solidFill>
                <a:latin typeface="Lato"/>
                <a:ea typeface="Lato"/>
                <a:cs typeface="Lato"/>
                <a:sym typeface="Lato"/>
              </a:rPr>
              <a:t>The rise of digital transformation has propelled innovation hubs to center stage in driving national and regional social and economic development. These dynamic ecosystems serve as launchpads for burgeoning startups, fostering a collaborative environment for experimentation, talent acquisition, and the development of technology-driven solutions.</a:t>
            </a:r>
            <a:endParaRPr sz="1800">
              <a:solidFill>
                <a:schemeClr val="dk1"/>
              </a:solidFill>
              <a:latin typeface="Lato"/>
              <a:ea typeface="Lato"/>
              <a:cs typeface="Lato"/>
              <a:sym typeface="Lato"/>
            </a:endParaRPr>
          </a:p>
          <a:p>
            <a:pPr marL="0" lvl="0" indent="0" algn="l" rtl="0">
              <a:lnSpc>
                <a:spcPct val="115000"/>
              </a:lnSpc>
              <a:spcBef>
                <a:spcPts val="1200"/>
              </a:spcBef>
              <a:spcAft>
                <a:spcPts val="0"/>
              </a:spcAft>
              <a:buNone/>
            </a:pPr>
            <a:r>
              <a:rPr lang="en-US" sz="1800" b="1">
                <a:solidFill>
                  <a:schemeClr val="dk1"/>
                </a:solidFill>
                <a:latin typeface="Lato"/>
                <a:ea typeface="Lato"/>
                <a:cs typeface="Lato"/>
                <a:sym typeface="Lato"/>
              </a:rPr>
              <a:t>The Ilorin Innovation Hub:</a:t>
            </a:r>
            <a:endParaRPr sz="1800" b="1">
              <a:solidFill>
                <a:schemeClr val="dk1"/>
              </a:solidFill>
              <a:latin typeface="Lato"/>
              <a:ea typeface="Lato"/>
              <a:cs typeface="Lato"/>
              <a:sym typeface="Lato"/>
            </a:endParaRPr>
          </a:p>
          <a:p>
            <a:pPr marL="0" lvl="0" indent="0" algn="l" rtl="0">
              <a:lnSpc>
                <a:spcPct val="115000"/>
              </a:lnSpc>
              <a:spcBef>
                <a:spcPts val="1200"/>
              </a:spcBef>
              <a:spcAft>
                <a:spcPts val="0"/>
              </a:spcAft>
              <a:buNone/>
            </a:pPr>
            <a:r>
              <a:rPr lang="en-US" sz="1800">
                <a:solidFill>
                  <a:schemeClr val="dk1"/>
                </a:solidFill>
                <a:latin typeface="Lato"/>
                <a:ea typeface="Lato"/>
                <a:cs typeface="Lato"/>
                <a:sym typeface="Lato"/>
              </a:rPr>
              <a:t>Situated within the burgeoning Nigerian innovation landscape, the Ilorin Innovation Hub plays a pivotal role in nurturing early-stage startups. While its focus may extend beyond purely tech-driven ventures, the hub recognizes the crucial role technology plays in empowering solutions across sectors like agriculture, education, and healthcare.</a:t>
            </a:r>
            <a:endParaRPr sz="1800">
              <a:solidFill>
                <a:schemeClr val="dk1"/>
              </a:solidFill>
              <a:latin typeface="Lato"/>
              <a:ea typeface="Lato"/>
              <a:cs typeface="Lato"/>
              <a:sym typeface="Lato"/>
            </a:endParaRPr>
          </a:p>
          <a:p>
            <a:pPr marL="0" lvl="0" indent="0" algn="l" rtl="0">
              <a:lnSpc>
                <a:spcPct val="115000"/>
              </a:lnSpc>
              <a:spcBef>
                <a:spcPts val="1200"/>
              </a:spcBef>
              <a:spcAft>
                <a:spcPts val="0"/>
              </a:spcAft>
              <a:buClr>
                <a:schemeClr val="dk1"/>
              </a:buClr>
              <a:buSzPts val="1100"/>
              <a:buFont typeface="Arial"/>
              <a:buNone/>
            </a:pPr>
            <a:endParaRPr sz="1400">
              <a:solidFill>
                <a:schemeClr val="dk1"/>
              </a:solidFill>
              <a:latin typeface="Lato"/>
              <a:ea typeface="Lato"/>
              <a:cs typeface="Lato"/>
              <a:sym typeface="Lato"/>
            </a:endParaRPr>
          </a:p>
          <a:p>
            <a:pPr marL="0" lvl="0" indent="0" algn="l" rtl="0">
              <a:lnSpc>
                <a:spcPct val="115000"/>
              </a:lnSpc>
              <a:spcBef>
                <a:spcPts val="1200"/>
              </a:spcBef>
              <a:spcAft>
                <a:spcPts val="2100"/>
              </a:spcAft>
              <a:buNone/>
            </a:pPr>
            <a:endParaRPr sz="1400">
              <a:solidFill>
                <a:schemeClr val="dk1"/>
              </a:solidFill>
              <a:latin typeface="Lato"/>
              <a:ea typeface="Lato"/>
              <a:cs typeface="Lato"/>
              <a:sym typeface="Lato"/>
            </a:endParaRPr>
          </a:p>
        </p:txBody>
      </p:sp>
      <p:grpSp>
        <p:nvGrpSpPr>
          <p:cNvPr id="100" name="Google Shape;100;p18"/>
          <p:cNvGrpSpPr/>
          <p:nvPr/>
        </p:nvGrpSpPr>
        <p:grpSpPr>
          <a:xfrm>
            <a:off x="593050" y="6292875"/>
            <a:ext cx="11495400" cy="415590"/>
            <a:chOff x="593050" y="6292875"/>
            <a:chExt cx="11495400" cy="415590"/>
          </a:xfrm>
        </p:grpSpPr>
        <p:sp>
          <p:nvSpPr>
            <p:cNvPr id="101" name="Google Shape;101;p18"/>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02" name="Google Shape;102;p18"/>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03" name="Google Shape;103;p18"/>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104" name="Google Shape;104;p18"/>
          <p:cNvSpPr txBox="1"/>
          <p:nvPr/>
        </p:nvSpPr>
        <p:spPr>
          <a:xfrm>
            <a:off x="8539125" y="2420375"/>
            <a:ext cx="3531300" cy="987600"/>
          </a:xfrm>
          <a:prstGeom prst="rect">
            <a:avLst/>
          </a:prstGeom>
          <a:noFill/>
          <a:ln>
            <a:noFill/>
          </a:ln>
        </p:spPr>
        <p:txBody>
          <a:bodyPr spcFirstLastPara="1" wrap="square" lIns="91425" tIns="45700" rIns="91425" bIns="45700" anchor="ctr" anchorCtr="0">
            <a:noAutofit/>
          </a:bodyPr>
          <a:lstStyle/>
          <a:p>
            <a:pPr marL="0" lvl="0" indent="0" algn="ctr" rtl="0">
              <a:spcBef>
                <a:spcPts val="1000"/>
              </a:spcBef>
              <a:spcAft>
                <a:spcPts val="0"/>
              </a:spcAft>
              <a:buNone/>
            </a:pPr>
            <a:r>
              <a:rPr lang="en-US" sz="2200" b="1">
                <a:solidFill>
                  <a:srgbClr val="FFFFFF"/>
                </a:solidFill>
                <a:latin typeface="Lato"/>
                <a:ea typeface="Lato"/>
                <a:cs typeface="Lato"/>
                <a:sym typeface="Lato"/>
              </a:rPr>
              <a:t>Building a reputation</a:t>
            </a:r>
            <a:endParaRPr sz="2200" b="1">
              <a:solidFill>
                <a:srgbClr val="FFFFFF"/>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109" name="Google Shape;109;p19"/>
          <p:cNvGrpSpPr/>
          <p:nvPr/>
        </p:nvGrpSpPr>
        <p:grpSpPr>
          <a:xfrm>
            <a:off x="9910844" y="5045076"/>
            <a:ext cx="2311056" cy="1847888"/>
            <a:chOff x="9283128" y="4713378"/>
            <a:chExt cx="2938779" cy="2331720"/>
          </a:xfrm>
        </p:grpSpPr>
        <p:sp>
          <p:nvSpPr>
            <p:cNvPr id="110" name="Google Shape;110;p19"/>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111;p19"/>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 name="Google Shape;112;p19"/>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3" name="Google Shape;113;p19"/>
          <p:cNvSpPr txBox="1">
            <a:spLocks noGrp="1"/>
          </p:cNvSpPr>
          <p:nvPr>
            <p:ph type="title"/>
          </p:nvPr>
        </p:nvSpPr>
        <p:spPr>
          <a:xfrm>
            <a:off x="821650" y="4228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SOCIO-ECONOMIC BENEFITS OF HUBS</a:t>
            </a:r>
            <a:endParaRPr sz="3400">
              <a:solidFill>
                <a:srgbClr val="DC4540"/>
              </a:solidFill>
              <a:latin typeface="Lato Black"/>
              <a:ea typeface="Lato Black"/>
              <a:cs typeface="Lato Black"/>
              <a:sym typeface="Lato Black"/>
            </a:endParaRPr>
          </a:p>
        </p:txBody>
      </p:sp>
      <p:sp>
        <p:nvSpPr>
          <p:cNvPr id="114" name="Google Shape;114;p19"/>
          <p:cNvSpPr txBox="1">
            <a:spLocks noGrp="1"/>
          </p:cNvSpPr>
          <p:nvPr>
            <p:ph type="body" idx="1"/>
          </p:nvPr>
        </p:nvSpPr>
        <p:spPr>
          <a:xfrm>
            <a:off x="688725" y="1431500"/>
            <a:ext cx="10665000" cy="4607700"/>
          </a:xfrm>
          <a:prstGeom prst="rect">
            <a:avLst/>
          </a:prstGeom>
        </p:spPr>
        <p:txBody>
          <a:bodyPr spcFirstLastPara="1" wrap="square" lIns="91425" tIns="45700" rIns="91425" bIns="45700" anchor="t" anchorCtr="0">
            <a:noAutofit/>
          </a:bodyPr>
          <a:lstStyle/>
          <a:p>
            <a:pPr marL="457200" lvl="0" indent="-342900" algn="l" rtl="0">
              <a:lnSpc>
                <a:spcPct val="115000"/>
              </a:lnSpc>
              <a:spcBef>
                <a:spcPts val="1200"/>
              </a:spcBef>
              <a:spcAft>
                <a:spcPts val="0"/>
              </a:spcAft>
              <a:buSzPts val="1800"/>
              <a:buChar char="●"/>
            </a:pPr>
            <a:r>
              <a:rPr lang="en-US" sz="1800">
                <a:solidFill>
                  <a:schemeClr val="dk1"/>
                </a:solidFill>
                <a:latin typeface="Lato"/>
                <a:ea typeface="Lato"/>
                <a:cs typeface="Lato"/>
                <a:sym typeface="Lato"/>
              </a:rPr>
              <a:t>Fostering job creation by supporting startups that create new businesses and employment opportunities across the country</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Equipping individuals with entrepreneurial skills and knowledge through workshops and mentorship programs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Potential exists for the hub to support startups tackling social challenges in education, healthcare, or poverty alleviation</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The hub strengthens the entrepreneurial ecosystem contributing to economic diversification</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Fostering startup growth can lead to increased investment, innovation, and economic activity within the state and beyond</a:t>
            </a:r>
            <a:endParaRPr sz="1800">
              <a:solidFill>
                <a:schemeClr val="dk1"/>
              </a:solidFill>
              <a:latin typeface="Lato"/>
              <a:ea typeface="Lato"/>
              <a:cs typeface="Lato"/>
              <a:sym typeface="Lato"/>
            </a:endParaRPr>
          </a:p>
          <a:p>
            <a:pPr marL="0" lvl="0" indent="0" algn="l" rtl="0">
              <a:lnSpc>
                <a:spcPct val="115000"/>
              </a:lnSpc>
              <a:spcBef>
                <a:spcPts val="1200"/>
              </a:spcBef>
              <a:spcAft>
                <a:spcPts val="0"/>
              </a:spcAft>
              <a:buNone/>
            </a:pPr>
            <a:endParaRPr sz="1700">
              <a:solidFill>
                <a:schemeClr val="dk1"/>
              </a:solidFill>
              <a:latin typeface="Lato"/>
              <a:ea typeface="Lato"/>
              <a:cs typeface="Lato"/>
              <a:sym typeface="Lato"/>
            </a:endParaRPr>
          </a:p>
        </p:txBody>
      </p:sp>
      <p:grpSp>
        <p:nvGrpSpPr>
          <p:cNvPr id="115" name="Google Shape;115;p19"/>
          <p:cNvGrpSpPr/>
          <p:nvPr/>
        </p:nvGrpSpPr>
        <p:grpSpPr>
          <a:xfrm>
            <a:off x="593050" y="6292875"/>
            <a:ext cx="11495400" cy="415590"/>
            <a:chOff x="593050" y="6292875"/>
            <a:chExt cx="11495400" cy="415590"/>
          </a:xfrm>
        </p:grpSpPr>
        <p:sp>
          <p:nvSpPr>
            <p:cNvPr id="116" name="Google Shape;116;p19"/>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17" name="Google Shape;117;p19"/>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18" name="Google Shape;118;p19"/>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grpSp>
        <p:nvGrpSpPr>
          <p:cNvPr id="123" name="Google Shape;123;p20"/>
          <p:cNvGrpSpPr/>
          <p:nvPr/>
        </p:nvGrpSpPr>
        <p:grpSpPr>
          <a:xfrm>
            <a:off x="9910844" y="5045076"/>
            <a:ext cx="2311056" cy="1847888"/>
            <a:chOff x="9283128" y="4713378"/>
            <a:chExt cx="2938779" cy="2331720"/>
          </a:xfrm>
        </p:grpSpPr>
        <p:sp>
          <p:nvSpPr>
            <p:cNvPr id="124" name="Google Shape;124;p20"/>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 name="Google Shape;125;p20"/>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 name="Google Shape;126;p20"/>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7" name="Google Shape;127;p20"/>
          <p:cNvSpPr txBox="1">
            <a:spLocks noGrp="1"/>
          </p:cNvSpPr>
          <p:nvPr>
            <p:ph type="title"/>
          </p:nvPr>
        </p:nvSpPr>
        <p:spPr>
          <a:xfrm>
            <a:off x="821650" y="2704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TRENDS WITHIN THE ECOSYSTEM</a:t>
            </a:r>
            <a:endParaRPr>
              <a:solidFill>
                <a:srgbClr val="DC4540"/>
              </a:solidFill>
              <a:latin typeface="Lato Black"/>
              <a:ea typeface="Lato Black"/>
              <a:cs typeface="Lato Black"/>
              <a:sym typeface="Lato Black"/>
            </a:endParaRPr>
          </a:p>
        </p:txBody>
      </p:sp>
      <p:sp>
        <p:nvSpPr>
          <p:cNvPr id="128" name="Google Shape;128;p20"/>
          <p:cNvSpPr txBox="1">
            <a:spLocks noGrp="1"/>
          </p:cNvSpPr>
          <p:nvPr>
            <p:ph type="body" idx="1"/>
          </p:nvPr>
        </p:nvSpPr>
        <p:spPr>
          <a:xfrm>
            <a:off x="688725" y="1126700"/>
            <a:ext cx="10665000" cy="4607700"/>
          </a:xfrm>
          <a:prstGeom prst="rect">
            <a:avLst/>
          </a:prstGeom>
        </p:spPr>
        <p:txBody>
          <a:bodyPr spcFirstLastPara="1" wrap="square" lIns="91425" tIns="45700" rIns="91425" bIns="45700" anchor="t" anchorCtr="0">
            <a:noAutofit/>
          </a:bodyPr>
          <a:lstStyle/>
          <a:p>
            <a:pPr marL="457200" lvl="0" indent="-342900" algn="l" rtl="0">
              <a:lnSpc>
                <a:spcPct val="115000"/>
              </a:lnSpc>
              <a:spcBef>
                <a:spcPts val="1200"/>
              </a:spcBef>
              <a:spcAft>
                <a:spcPts val="0"/>
              </a:spcAft>
              <a:buSzPts val="1800"/>
              <a:buChar char="●"/>
            </a:pPr>
            <a:r>
              <a:rPr lang="en-US" sz="1800">
                <a:solidFill>
                  <a:schemeClr val="dk1"/>
                </a:solidFill>
                <a:latin typeface="Lato"/>
                <a:ea typeface="Lato"/>
                <a:cs typeface="Lato"/>
                <a:sym typeface="Lato"/>
              </a:rPr>
              <a:t>Focus on Tech-Enabled Solutions: There's a growing trend towards tech-enabled solutions addressing local challenges in areas like agriculture, education, and healthcare.</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Increased Investor Interest: Investment in Nigerian startups is on the rise, attracting both local and international venture capital firms.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Demand for Tech Skills: The growing technology sector in Nigeria is driving demand for tech skills and training, which innovation hubs addresses through its programs.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Increased Government Support: Initiatives like the Nigeria Startup Bill 2022 and government initiatives and private organizations are increasingly supporting youth entrepreneurship</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Focus on Youth and Inclusion: Programs targeting young people and promoting inclusion for women and underrepresented groups are gaining traction.</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Demand for Local Solutions: There's a growing need for locally-developed solutions addressing challenges in agriculture, clean energy, and healthcare.</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Emerging technologies like artificial intelligence, blockchain, and Internet of Things (IoT) have the potential to revolutionize various sectors.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The rise of remote work offers opportunities for hubs to connect with talent and startups beyond geographical limitations.</a:t>
            </a:r>
            <a:endParaRPr sz="1800">
              <a:solidFill>
                <a:schemeClr val="dk1"/>
              </a:solidFill>
              <a:latin typeface="Lato"/>
              <a:ea typeface="Lato"/>
              <a:cs typeface="Lato"/>
              <a:sym typeface="Lato"/>
            </a:endParaRPr>
          </a:p>
        </p:txBody>
      </p:sp>
      <p:grpSp>
        <p:nvGrpSpPr>
          <p:cNvPr id="129" name="Google Shape;129;p20"/>
          <p:cNvGrpSpPr/>
          <p:nvPr/>
        </p:nvGrpSpPr>
        <p:grpSpPr>
          <a:xfrm>
            <a:off x="593050" y="6292875"/>
            <a:ext cx="11495400" cy="415590"/>
            <a:chOff x="593050" y="6292875"/>
            <a:chExt cx="11495400" cy="415590"/>
          </a:xfrm>
        </p:grpSpPr>
        <p:sp>
          <p:nvSpPr>
            <p:cNvPr id="130" name="Google Shape;130;p20"/>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31" name="Google Shape;131;p20"/>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32" name="Google Shape;132;p20"/>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grpSp>
        <p:nvGrpSpPr>
          <p:cNvPr id="137" name="Google Shape;137;p21"/>
          <p:cNvGrpSpPr/>
          <p:nvPr/>
        </p:nvGrpSpPr>
        <p:grpSpPr>
          <a:xfrm>
            <a:off x="9910844" y="5045076"/>
            <a:ext cx="2311056" cy="1847888"/>
            <a:chOff x="9283128" y="4713378"/>
            <a:chExt cx="2938779" cy="2331720"/>
          </a:xfrm>
        </p:grpSpPr>
        <p:sp>
          <p:nvSpPr>
            <p:cNvPr id="138" name="Google Shape;138;p21"/>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 name="Google Shape;139;p21"/>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 name="Google Shape;140;p21"/>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1" name="Google Shape;141;p21"/>
          <p:cNvSpPr txBox="1">
            <a:spLocks noGrp="1"/>
          </p:cNvSpPr>
          <p:nvPr>
            <p:ph type="title"/>
          </p:nvPr>
        </p:nvSpPr>
        <p:spPr>
          <a:xfrm>
            <a:off x="821650" y="3466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THREATS/CHALLENGES</a:t>
            </a:r>
            <a:endParaRPr>
              <a:solidFill>
                <a:srgbClr val="DC4540"/>
              </a:solidFill>
              <a:latin typeface="Lato Black"/>
              <a:ea typeface="Lato Black"/>
              <a:cs typeface="Lato Black"/>
              <a:sym typeface="Lato Black"/>
            </a:endParaRPr>
          </a:p>
        </p:txBody>
      </p:sp>
      <p:sp>
        <p:nvSpPr>
          <p:cNvPr id="142" name="Google Shape;142;p21"/>
          <p:cNvSpPr txBox="1">
            <a:spLocks noGrp="1"/>
          </p:cNvSpPr>
          <p:nvPr>
            <p:ph type="body" idx="1"/>
          </p:nvPr>
        </p:nvSpPr>
        <p:spPr>
          <a:xfrm>
            <a:off x="688725" y="1431500"/>
            <a:ext cx="10665000" cy="4607700"/>
          </a:xfrm>
          <a:prstGeom prst="rect">
            <a:avLst/>
          </a:prstGeom>
        </p:spPr>
        <p:txBody>
          <a:bodyPr spcFirstLastPara="1" wrap="square" lIns="91425" tIns="45700" rIns="91425" bIns="45700" anchor="t" anchorCtr="0">
            <a:noAutofit/>
          </a:bodyPr>
          <a:lstStyle/>
          <a:p>
            <a:pPr marL="457200" lvl="0" indent="-342900" algn="l" rtl="0">
              <a:lnSpc>
                <a:spcPct val="115000"/>
              </a:lnSpc>
              <a:spcBef>
                <a:spcPts val="1200"/>
              </a:spcBef>
              <a:spcAft>
                <a:spcPts val="0"/>
              </a:spcAft>
              <a:buSzPts val="1800"/>
              <a:buChar char="●"/>
            </a:pPr>
            <a:r>
              <a:rPr lang="en-US" sz="1800">
                <a:solidFill>
                  <a:schemeClr val="dk1"/>
                </a:solidFill>
                <a:latin typeface="Lato"/>
                <a:ea typeface="Lato"/>
                <a:cs typeface="Lato"/>
                <a:sym typeface="Lato"/>
              </a:rPr>
              <a:t>Funding Shortages: Limited access to funding can restrict the hub's ability to offer comprehensive programs and resources.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Competition: Failure to differentiate itself from competitors could lead to difficulties attracting startups and investors.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Sustainability Challenges: Developing a sustainable business model for long-term operations is crucial.</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Char char="●"/>
            </a:pPr>
            <a:r>
              <a:rPr lang="en-US" sz="1800">
                <a:solidFill>
                  <a:schemeClr val="dk1"/>
                </a:solidFill>
                <a:latin typeface="Lato"/>
                <a:ea typeface="Lato"/>
                <a:cs typeface="Lato"/>
                <a:sym typeface="Lato"/>
              </a:rPr>
              <a:t>Brain Drain: Talented startups and entrepreneurs might migrate to established tech hubs like Lagos, seeking better access to resources and funding.</a:t>
            </a:r>
            <a:endParaRPr sz="1800">
              <a:solidFill>
                <a:schemeClr val="dk1"/>
              </a:solidFill>
              <a:latin typeface="Lato"/>
              <a:ea typeface="Lato"/>
              <a:cs typeface="Lato"/>
              <a:sym typeface="Lato"/>
            </a:endParaRPr>
          </a:p>
          <a:p>
            <a:pPr marL="0" lvl="0" indent="0" algn="l" rtl="0">
              <a:lnSpc>
                <a:spcPct val="115000"/>
              </a:lnSpc>
              <a:spcBef>
                <a:spcPts val="1200"/>
              </a:spcBef>
              <a:spcAft>
                <a:spcPts val="0"/>
              </a:spcAft>
              <a:buNone/>
            </a:pPr>
            <a:endParaRPr sz="1400">
              <a:solidFill>
                <a:schemeClr val="dk1"/>
              </a:solidFill>
              <a:latin typeface="Lato"/>
              <a:ea typeface="Lato"/>
              <a:cs typeface="Lato"/>
              <a:sym typeface="Lato"/>
            </a:endParaRPr>
          </a:p>
        </p:txBody>
      </p:sp>
      <p:grpSp>
        <p:nvGrpSpPr>
          <p:cNvPr id="143" name="Google Shape;143;p21"/>
          <p:cNvGrpSpPr/>
          <p:nvPr/>
        </p:nvGrpSpPr>
        <p:grpSpPr>
          <a:xfrm>
            <a:off x="593050" y="6292875"/>
            <a:ext cx="11495400" cy="415590"/>
            <a:chOff x="593050" y="6292875"/>
            <a:chExt cx="11495400" cy="415590"/>
          </a:xfrm>
        </p:grpSpPr>
        <p:sp>
          <p:nvSpPr>
            <p:cNvPr id="144" name="Google Shape;144;p21"/>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45" name="Google Shape;145;p21"/>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46" name="Google Shape;146;p21"/>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151" name="Google Shape;151;p22"/>
          <p:cNvGrpSpPr/>
          <p:nvPr/>
        </p:nvGrpSpPr>
        <p:grpSpPr>
          <a:xfrm>
            <a:off x="9910844" y="5045076"/>
            <a:ext cx="2311056" cy="1847888"/>
            <a:chOff x="9283128" y="4713378"/>
            <a:chExt cx="2938779" cy="2331720"/>
          </a:xfrm>
        </p:grpSpPr>
        <p:sp>
          <p:nvSpPr>
            <p:cNvPr id="152" name="Google Shape;152;p22"/>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 name="Google Shape;153;p22"/>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 name="Google Shape;154;p22"/>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5" name="Google Shape;155;p22"/>
          <p:cNvGrpSpPr/>
          <p:nvPr/>
        </p:nvGrpSpPr>
        <p:grpSpPr>
          <a:xfrm>
            <a:off x="593050" y="6292875"/>
            <a:ext cx="11495400" cy="415590"/>
            <a:chOff x="593050" y="6292875"/>
            <a:chExt cx="11495400" cy="415590"/>
          </a:xfrm>
        </p:grpSpPr>
        <p:sp>
          <p:nvSpPr>
            <p:cNvPr id="156" name="Google Shape;156;p22"/>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57" name="Google Shape;157;p22"/>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58" name="Google Shape;158;p22"/>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graphicFrame>
        <p:nvGraphicFramePr>
          <p:cNvPr id="159" name="Google Shape;159;p22"/>
          <p:cNvGraphicFramePr/>
          <p:nvPr/>
        </p:nvGraphicFramePr>
        <p:xfrm>
          <a:off x="2157700" y="1500913"/>
          <a:ext cx="9781875" cy="4644957"/>
        </p:xfrm>
        <a:graphic>
          <a:graphicData uri="http://schemas.openxmlformats.org/drawingml/2006/table">
            <a:tbl>
              <a:tblPr>
                <a:noFill/>
                <a:tableStyleId>{FB587A9B-5581-4698-A67C-3324757FB292}</a:tableStyleId>
              </a:tblPr>
              <a:tblGrid>
                <a:gridCol w="1956375">
                  <a:extLst>
                    <a:ext uri="{9D8B030D-6E8A-4147-A177-3AD203B41FA5}">
                      <a16:colId xmlns:a16="http://schemas.microsoft.com/office/drawing/2014/main" val="20000"/>
                    </a:ext>
                  </a:extLst>
                </a:gridCol>
                <a:gridCol w="1956375">
                  <a:extLst>
                    <a:ext uri="{9D8B030D-6E8A-4147-A177-3AD203B41FA5}">
                      <a16:colId xmlns:a16="http://schemas.microsoft.com/office/drawing/2014/main" val="20001"/>
                    </a:ext>
                  </a:extLst>
                </a:gridCol>
                <a:gridCol w="1956375">
                  <a:extLst>
                    <a:ext uri="{9D8B030D-6E8A-4147-A177-3AD203B41FA5}">
                      <a16:colId xmlns:a16="http://schemas.microsoft.com/office/drawing/2014/main" val="20002"/>
                    </a:ext>
                  </a:extLst>
                </a:gridCol>
                <a:gridCol w="1956375">
                  <a:extLst>
                    <a:ext uri="{9D8B030D-6E8A-4147-A177-3AD203B41FA5}">
                      <a16:colId xmlns:a16="http://schemas.microsoft.com/office/drawing/2014/main" val="20003"/>
                    </a:ext>
                  </a:extLst>
                </a:gridCol>
                <a:gridCol w="1956375">
                  <a:extLst>
                    <a:ext uri="{9D8B030D-6E8A-4147-A177-3AD203B41FA5}">
                      <a16:colId xmlns:a16="http://schemas.microsoft.com/office/drawing/2014/main" val="20004"/>
                    </a:ext>
                  </a:extLst>
                </a:gridCol>
              </a:tblGrid>
              <a:tr h="1179825">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Location</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Focus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Strengths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Weaknesses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Additional Notes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9825">
                <a:tc>
                  <a:txBody>
                    <a:bodyPr/>
                    <a:lstStyle/>
                    <a:p>
                      <a:pPr marL="0" lvl="0" indent="0" algn="l" rtl="0">
                        <a:lnSpc>
                          <a:spcPct val="115000"/>
                        </a:lnSpc>
                        <a:spcBef>
                          <a:spcPts val="0"/>
                        </a:spcBef>
                        <a:spcAft>
                          <a:spcPts val="0"/>
                        </a:spcAft>
                        <a:buNone/>
                      </a:pPr>
                      <a:r>
                        <a:rPr lang="en-US" sz="1600">
                          <a:latin typeface="Lato"/>
                          <a:ea typeface="Lato"/>
                          <a:cs typeface="Lato"/>
                          <a:sym typeface="Lato"/>
                        </a:rPr>
                        <a:t>Lagos</a:t>
                      </a:r>
                      <a:endParaRPr sz="1600">
                        <a:latin typeface="Lato"/>
                        <a:ea typeface="Lato"/>
                        <a:cs typeface="Lato"/>
                        <a:sym typeface="Lato"/>
                      </a:endParaRPr>
                    </a:p>
                  </a:txBody>
                  <a:tcPr marL="63500" marR="63500" marT="63500" marB="63500">
                    <a:lnL w="9525" cap="flat" cmpd="sng">
                      <a:solidFill>
                        <a:srgbClr val="00FF00">
                          <a:alpha val="0"/>
                        </a:srgbClr>
                      </a:solidFill>
                      <a:prstDash val="solid"/>
                      <a:round/>
                      <a:headEnd type="none" w="sm" len="sm"/>
                      <a:tailEnd type="none" w="sm" len="sm"/>
                    </a:lnL>
                    <a:lnR w="9525" cap="flat" cmpd="sng">
                      <a:solidFill>
                        <a:srgbClr val="00FF00">
                          <a:alpha val="0"/>
                        </a:srgbClr>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00FF00">
                          <a:alpha val="0"/>
                        </a:srgbClr>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Pan-African Innovation</a:t>
                      </a:r>
                      <a:endParaRPr sz="1600">
                        <a:latin typeface="Lato"/>
                        <a:ea typeface="Lato"/>
                        <a:cs typeface="Lato"/>
                        <a:sym typeface="Lato"/>
                      </a:endParaRPr>
                    </a:p>
                  </a:txBody>
                  <a:tcPr marL="63500" marR="63500" marT="63500" marB="63500">
                    <a:lnL w="9525" cap="flat" cmpd="sng">
                      <a:solidFill>
                        <a:srgbClr val="00FF00">
                          <a:alpha val="0"/>
                        </a:srgbClr>
                      </a:solidFill>
                      <a:prstDash val="solid"/>
                      <a:round/>
                      <a:headEnd type="none" w="sm" len="sm"/>
                      <a:tailEnd type="none" w="sm" len="sm"/>
                    </a:lnL>
                    <a:lnR w="9525" cap="flat" cmpd="sng">
                      <a:solidFill>
                        <a:srgbClr val="00FF00">
                          <a:alpha val="0"/>
                        </a:srgbClr>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00FF00">
                          <a:alpha val="0"/>
                        </a:srgbClr>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solidFill>
                            <a:schemeClr val="dk1"/>
                          </a:solidFill>
                          <a:latin typeface="Lato"/>
                          <a:ea typeface="Lato"/>
                          <a:cs typeface="Lato"/>
                          <a:sym typeface="Lato"/>
                        </a:rPr>
                        <a:t>Established hub with a strong network, team  and reputation. Offers incubation, investment, and training programs for startups. Emphasis on pan-African collaboration and market access.</a:t>
                      </a:r>
                      <a:endParaRPr sz="1600">
                        <a:solidFill>
                          <a:schemeClr val="dk1"/>
                        </a:solidFill>
                        <a:latin typeface="Lato"/>
                        <a:ea typeface="Lato"/>
                        <a:cs typeface="Lato"/>
                        <a:sym typeface="Lato"/>
                      </a:endParaRPr>
                    </a:p>
                  </a:txBody>
                  <a:tcPr marL="63500" marR="63500" marT="63500" marB="63500">
                    <a:lnL w="9525" cap="flat" cmpd="sng">
                      <a:solidFill>
                        <a:srgbClr val="00FF00">
                          <a:alpha val="0"/>
                        </a:srgbClr>
                      </a:solidFill>
                      <a:prstDash val="solid"/>
                      <a:round/>
                      <a:headEnd type="none" w="sm" len="sm"/>
                      <a:tailEnd type="none" w="sm" len="sm"/>
                    </a:lnL>
                    <a:lnR w="9525" cap="flat" cmpd="sng">
                      <a:solidFill>
                        <a:srgbClr val="00FF00">
                          <a:alpha val="0"/>
                        </a:srgbClr>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00FF00">
                          <a:alpha val="0"/>
                        </a:srgbClr>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High competition in Lagos.</a:t>
                      </a:r>
                      <a:endParaRPr sz="1600">
                        <a:latin typeface="Lato"/>
                        <a:ea typeface="Lato"/>
                        <a:cs typeface="Lato"/>
                        <a:sym typeface="Lato"/>
                      </a:endParaRPr>
                    </a:p>
                    <a:p>
                      <a:pPr marL="0" lvl="0" indent="0" algn="l" rtl="0">
                        <a:lnSpc>
                          <a:spcPct val="115000"/>
                        </a:lnSpc>
                        <a:spcBef>
                          <a:spcPts val="0"/>
                        </a:spcBef>
                        <a:spcAft>
                          <a:spcPts val="0"/>
                        </a:spcAft>
                        <a:buNone/>
                      </a:pPr>
                      <a:r>
                        <a:rPr lang="en-US" sz="1600">
                          <a:latin typeface="Lato"/>
                          <a:ea typeface="Lato"/>
                          <a:cs typeface="Lato"/>
                          <a:sym typeface="Lato"/>
                        </a:rPr>
                        <a:t>Limited focus beyond tech-driven ventures. </a:t>
                      </a:r>
                      <a:endParaRPr sz="1600">
                        <a:latin typeface="Lato"/>
                        <a:ea typeface="Lato"/>
                        <a:cs typeface="Lato"/>
                        <a:sym typeface="Lato"/>
                      </a:endParaRPr>
                    </a:p>
                    <a:p>
                      <a:pPr marL="0" lvl="0" indent="0" algn="l" rtl="0">
                        <a:lnSpc>
                          <a:spcPct val="115000"/>
                        </a:lnSpc>
                        <a:spcBef>
                          <a:spcPts val="0"/>
                        </a:spcBef>
                        <a:spcAft>
                          <a:spcPts val="0"/>
                        </a:spcAft>
                        <a:buNone/>
                      </a:pPr>
                      <a:r>
                        <a:rPr lang="en-US" sz="1600">
                          <a:solidFill>
                            <a:schemeClr val="dk1"/>
                          </a:solidFill>
                          <a:latin typeface="Lato"/>
                          <a:ea typeface="Lato"/>
                          <a:cs typeface="Lato"/>
                          <a:sym typeface="Lato"/>
                        </a:rPr>
                        <a:t>Limited reach to entrepreneurs outside the city.</a:t>
                      </a:r>
                      <a:endParaRPr sz="1600">
                        <a:latin typeface="Lato"/>
                        <a:ea typeface="Lato"/>
                        <a:cs typeface="Lato"/>
                        <a:sym typeface="Lato"/>
                      </a:endParaRPr>
                    </a:p>
                  </a:txBody>
                  <a:tcPr marL="63500" marR="63500" marT="63500" marB="63500">
                    <a:lnL w="9525" cap="flat" cmpd="sng">
                      <a:solidFill>
                        <a:srgbClr val="00FF00">
                          <a:alpha val="0"/>
                        </a:srgbClr>
                      </a:solidFill>
                      <a:prstDash val="solid"/>
                      <a:round/>
                      <a:headEnd type="none" w="sm" len="sm"/>
                      <a:tailEnd type="none" w="sm" len="sm"/>
                    </a:lnL>
                    <a:lnR w="9525" cap="flat" cmpd="sng">
                      <a:solidFill>
                        <a:srgbClr val="00FF00">
                          <a:alpha val="0"/>
                        </a:srgbClr>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00FF00">
                          <a:alpha val="0"/>
                        </a:srgbClr>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Offers pre-incubation support, Caters to a broader range of ventures beyond just startups</a:t>
                      </a:r>
                      <a:endParaRPr sz="1600">
                        <a:latin typeface="Lato"/>
                        <a:ea typeface="Lato"/>
                        <a:cs typeface="Lato"/>
                        <a:sym typeface="Lato"/>
                      </a:endParaRPr>
                    </a:p>
                  </a:txBody>
                  <a:tcPr marL="63500" marR="63500" marT="63500" marB="63500">
                    <a:lnL w="9525" cap="flat" cmpd="sng">
                      <a:solidFill>
                        <a:srgbClr val="00FF00">
                          <a:alpha val="0"/>
                        </a:srgbClr>
                      </a:solidFill>
                      <a:prstDash val="solid"/>
                      <a:round/>
                      <a:headEnd type="none" w="sm" len="sm"/>
                      <a:tailEnd type="none" w="sm" len="sm"/>
                    </a:lnL>
                    <a:lnR w="9525" cap="flat" cmpd="sng">
                      <a:solidFill>
                        <a:srgbClr val="00FF00">
                          <a:alpha val="0"/>
                        </a:srgbClr>
                      </a:solidFill>
                      <a:prstDash val="solid"/>
                      <a:round/>
                      <a:headEnd type="none" w="sm" len="sm"/>
                      <a:tailEnd type="none" w="sm" len="sm"/>
                    </a:lnR>
                    <a:lnT cap="flat" cmpd="sng">
                      <a:solidFill>
                        <a:srgbClr val="000000"/>
                      </a:solidFill>
                      <a:prstDash val="solid"/>
                      <a:round/>
                      <a:headEnd type="none" w="sm" len="sm"/>
                      <a:tailEnd type="none" w="sm" len="sm"/>
                    </a:lnT>
                    <a:lnB w="9525" cap="flat" cmpd="sng">
                      <a:solidFill>
                        <a:srgbClr val="00FF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60" name="Google Shape;160;p22" descr="CcHUB Logo"/>
          <p:cNvPicPr preferRelativeResize="0"/>
          <p:nvPr/>
        </p:nvPicPr>
        <p:blipFill>
          <a:blip r:embed="rId4">
            <a:alphaModFix/>
          </a:blip>
          <a:stretch>
            <a:fillRect/>
          </a:stretch>
        </p:blipFill>
        <p:spPr>
          <a:xfrm>
            <a:off x="0" y="1648925"/>
            <a:ext cx="1867925" cy="590550"/>
          </a:xfrm>
          <a:prstGeom prst="rect">
            <a:avLst/>
          </a:prstGeom>
          <a:noFill/>
          <a:ln>
            <a:noFill/>
          </a:ln>
        </p:spPr>
      </p:pic>
      <p:sp>
        <p:nvSpPr>
          <p:cNvPr id="161" name="Google Shape;161;p22"/>
          <p:cNvSpPr txBox="1"/>
          <p:nvPr/>
        </p:nvSpPr>
        <p:spPr>
          <a:xfrm>
            <a:off x="71025" y="96350"/>
            <a:ext cx="7655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1"/>
                </a:solidFill>
                <a:latin typeface="Lato"/>
                <a:ea typeface="Lato"/>
                <a:cs typeface="Lato"/>
                <a:sym typeface="Lato"/>
              </a:rPr>
              <a:t>KEY COMPETITION</a:t>
            </a:r>
            <a:endParaRPr sz="22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grpSp>
        <p:nvGrpSpPr>
          <p:cNvPr id="166" name="Google Shape;166;p23"/>
          <p:cNvGrpSpPr/>
          <p:nvPr/>
        </p:nvGrpSpPr>
        <p:grpSpPr>
          <a:xfrm>
            <a:off x="9910844" y="5045076"/>
            <a:ext cx="2311056" cy="1847888"/>
            <a:chOff x="9283128" y="4713378"/>
            <a:chExt cx="2938779" cy="2331720"/>
          </a:xfrm>
        </p:grpSpPr>
        <p:sp>
          <p:nvSpPr>
            <p:cNvPr id="167" name="Google Shape;167;p23"/>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8" name="Google Shape;168;p23"/>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 name="Google Shape;169;p23"/>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70" name="Google Shape;170;p23"/>
          <p:cNvGrpSpPr/>
          <p:nvPr/>
        </p:nvGrpSpPr>
        <p:grpSpPr>
          <a:xfrm>
            <a:off x="593050" y="6292875"/>
            <a:ext cx="11495400" cy="415590"/>
            <a:chOff x="593050" y="6292875"/>
            <a:chExt cx="11495400" cy="415590"/>
          </a:xfrm>
        </p:grpSpPr>
        <p:sp>
          <p:nvSpPr>
            <p:cNvPr id="171" name="Google Shape;171;p23"/>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72" name="Google Shape;172;p23"/>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73" name="Google Shape;173;p23"/>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graphicFrame>
        <p:nvGraphicFramePr>
          <p:cNvPr id="174" name="Google Shape;174;p23"/>
          <p:cNvGraphicFramePr/>
          <p:nvPr/>
        </p:nvGraphicFramePr>
        <p:xfrm>
          <a:off x="2161163" y="1022225"/>
          <a:ext cx="9781875" cy="4364541"/>
        </p:xfrm>
        <a:graphic>
          <a:graphicData uri="http://schemas.openxmlformats.org/drawingml/2006/table">
            <a:tbl>
              <a:tblPr>
                <a:noFill/>
                <a:tableStyleId>{FB587A9B-5581-4698-A67C-3324757FB292}</a:tableStyleId>
              </a:tblPr>
              <a:tblGrid>
                <a:gridCol w="1956375">
                  <a:extLst>
                    <a:ext uri="{9D8B030D-6E8A-4147-A177-3AD203B41FA5}">
                      <a16:colId xmlns:a16="http://schemas.microsoft.com/office/drawing/2014/main" val="20000"/>
                    </a:ext>
                  </a:extLst>
                </a:gridCol>
                <a:gridCol w="1956375">
                  <a:extLst>
                    <a:ext uri="{9D8B030D-6E8A-4147-A177-3AD203B41FA5}">
                      <a16:colId xmlns:a16="http://schemas.microsoft.com/office/drawing/2014/main" val="20001"/>
                    </a:ext>
                  </a:extLst>
                </a:gridCol>
                <a:gridCol w="1956375">
                  <a:extLst>
                    <a:ext uri="{9D8B030D-6E8A-4147-A177-3AD203B41FA5}">
                      <a16:colId xmlns:a16="http://schemas.microsoft.com/office/drawing/2014/main" val="20002"/>
                    </a:ext>
                  </a:extLst>
                </a:gridCol>
                <a:gridCol w="1956375">
                  <a:extLst>
                    <a:ext uri="{9D8B030D-6E8A-4147-A177-3AD203B41FA5}">
                      <a16:colId xmlns:a16="http://schemas.microsoft.com/office/drawing/2014/main" val="20003"/>
                    </a:ext>
                  </a:extLst>
                </a:gridCol>
                <a:gridCol w="1956375">
                  <a:extLst>
                    <a:ext uri="{9D8B030D-6E8A-4147-A177-3AD203B41FA5}">
                      <a16:colId xmlns:a16="http://schemas.microsoft.com/office/drawing/2014/main" val="20004"/>
                    </a:ext>
                  </a:extLst>
                </a:gridCol>
              </a:tblGrid>
              <a:tr h="1179825">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Location</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Focus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Strengths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Weaknesses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b="1">
                          <a:solidFill>
                            <a:schemeClr val="dk1"/>
                          </a:solidFill>
                          <a:latin typeface="Lato"/>
                          <a:ea typeface="Lato"/>
                          <a:cs typeface="Lato"/>
                          <a:sym typeface="Lato"/>
                        </a:rPr>
                        <a:t>Additional Notes</a:t>
                      </a:r>
                      <a:endParaRPr sz="1600">
                        <a:solidFill>
                          <a:schemeClr val="dk1"/>
                        </a:solidFill>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179825">
                <a:tc>
                  <a:txBody>
                    <a:bodyPr/>
                    <a:lstStyle/>
                    <a:p>
                      <a:pPr marL="0" lvl="0" indent="0" algn="l" rtl="0">
                        <a:lnSpc>
                          <a:spcPct val="115000"/>
                        </a:lnSpc>
                        <a:spcBef>
                          <a:spcPts val="0"/>
                        </a:spcBef>
                        <a:spcAft>
                          <a:spcPts val="0"/>
                        </a:spcAft>
                        <a:buNone/>
                      </a:pPr>
                      <a:r>
                        <a:rPr lang="en-US" sz="1600">
                          <a:latin typeface="Lato"/>
                          <a:ea typeface="Lato"/>
                          <a:cs typeface="Lato"/>
                          <a:sym typeface="Lato"/>
                        </a:rPr>
                        <a:t>Lagos</a:t>
                      </a:r>
                      <a:endParaRPr sz="1600">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Tech Startups (Fintech, E-commerce, Media, Education)</a:t>
                      </a:r>
                      <a:endParaRPr sz="1600">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Multiple locations, Training programs, access to funding </a:t>
                      </a:r>
                      <a:r>
                        <a:rPr lang="en-US" sz="1600">
                          <a:solidFill>
                            <a:schemeClr val="dk1"/>
                          </a:solidFill>
                          <a:latin typeface="Lato"/>
                          <a:ea typeface="Lato"/>
                          <a:cs typeface="Lato"/>
                          <a:sym typeface="Lato"/>
                        </a:rPr>
                        <a:t>Provides co-working spaces, mentorship, Hosts events like hackathons and conferences, fostering a vibrant community.</a:t>
                      </a:r>
                      <a:endParaRPr sz="1600">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Limited regional focus, Potentially saturated market for general tech startups in Lagos</a:t>
                      </a:r>
                      <a:endParaRPr sz="1600">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US" sz="1600">
                          <a:latin typeface="Lato"/>
                          <a:ea typeface="Lato"/>
                          <a:cs typeface="Lato"/>
                          <a:sym typeface="Lato"/>
                        </a:rPr>
                        <a:t>Focuses on early-stage ventures, </a:t>
                      </a:r>
                      <a:r>
                        <a:rPr lang="en-US" sz="1600">
                          <a:solidFill>
                            <a:schemeClr val="dk1"/>
                          </a:solidFill>
                          <a:latin typeface="Lato"/>
                          <a:ea typeface="Lato"/>
                          <a:cs typeface="Lato"/>
                          <a:sym typeface="Lato"/>
                        </a:rPr>
                        <a:t>might not cater to scaling startups</a:t>
                      </a:r>
                      <a:endParaRPr sz="1600">
                        <a:latin typeface="Lato"/>
                        <a:ea typeface="Lato"/>
                        <a:cs typeface="Lato"/>
                        <a:sym typeface="Lato"/>
                      </a:endParaRPr>
                    </a:p>
                  </a:txBody>
                  <a:tcPr marL="63500" marR="63500" marT="63500" marB="63500">
                    <a:lnL cap="flat" cmpd="sng">
                      <a:solidFill>
                        <a:srgbClr val="000000"/>
                      </a:solidFill>
                      <a:prstDash val="solid"/>
                      <a:round/>
                      <a:headEnd type="none" w="sm" len="sm"/>
                      <a:tailEnd type="none" w="sm" len="sm"/>
                    </a:lnL>
                    <a:lnR cap="flat" cmpd="sng">
                      <a:solidFill>
                        <a:srgbClr val="000000"/>
                      </a:solidFill>
                      <a:prstDash val="solid"/>
                      <a:round/>
                      <a:headEnd type="none" w="sm" len="sm"/>
                      <a:tailEnd type="none" w="sm" len="sm"/>
                    </a:lnR>
                    <a:lnT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75" name="Google Shape;175;p23" descr="Wennovation Hub"/>
          <p:cNvPicPr preferRelativeResize="0"/>
          <p:nvPr/>
        </p:nvPicPr>
        <p:blipFill>
          <a:blip r:embed="rId4">
            <a:alphaModFix/>
          </a:blip>
          <a:stretch>
            <a:fillRect/>
          </a:stretch>
        </p:blipFill>
        <p:spPr>
          <a:xfrm>
            <a:off x="228600" y="286850"/>
            <a:ext cx="1106850" cy="1092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grpSp>
        <p:nvGrpSpPr>
          <p:cNvPr id="180" name="Google Shape;180;p24"/>
          <p:cNvGrpSpPr/>
          <p:nvPr/>
        </p:nvGrpSpPr>
        <p:grpSpPr>
          <a:xfrm>
            <a:off x="9910844" y="5045076"/>
            <a:ext cx="2311056" cy="1847888"/>
            <a:chOff x="9283128" y="4713378"/>
            <a:chExt cx="2938779" cy="2331720"/>
          </a:xfrm>
        </p:grpSpPr>
        <p:sp>
          <p:nvSpPr>
            <p:cNvPr id="181" name="Google Shape;181;p24"/>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 name="Google Shape;182;p24"/>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 name="Google Shape;183;p24"/>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4" name="Google Shape;184;p24"/>
          <p:cNvSpPr txBox="1">
            <a:spLocks noGrp="1"/>
          </p:cNvSpPr>
          <p:nvPr>
            <p:ph type="title"/>
          </p:nvPr>
        </p:nvSpPr>
        <p:spPr>
          <a:xfrm>
            <a:off x="6519550" y="43900"/>
            <a:ext cx="5568900" cy="32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MEDIA ANALYSIS OF KEY ISSUE DRIVERS</a:t>
            </a:r>
            <a:endParaRPr sz="3400">
              <a:solidFill>
                <a:srgbClr val="DC4540"/>
              </a:solidFill>
              <a:latin typeface="Lato Black"/>
              <a:ea typeface="Lato Black"/>
              <a:cs typeface="Lato Black"/>
              <a:sym typeface="Lato Black"/>
            </a:endParaRPr>
          </a:p>
        </p:txBody>
      </p:sp>
      <p:grpSp>
        <p:nvGrpSpPr>
          <p:cNvPr id="185" name="Google Shape;185;p24"/>
          <p:cNvGrpSpPr/>
          <p:nvPr/>
        </p:nvGrpSpPr>
        <p:grpSpPr>
          <a:xfrm>
            <a:off x="593050" y="6292875"/>
            <a:ext cx="11495400" cy="415590"/>
            <a:chOff x="593050" y="6292875"/>
            <a:chExt cx="11495400" cy="415590"/>
          </a:xfrm>
        </p:grpSpPr>
        <p:sp>
          <p:nvSpPr>
            <p:cNvPr id="186" name="Google Shape;186;p24"/>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187" name="Google Shape;187;p24"/>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188" name="Google Shape;188;p24"/>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pic>
        <p:nvPicPr>
          <p:cNvPr id="189" name="Google Shape;189;p24" title="Points scored"/>
          <p:cNvPicPr preferRelativeResize="0"/>
          <p:nvPr/>
        </p:nvPicPr>
        <p:blipFill>
          <a:blip r:embed="rId4">
            <a:alphaModFix/>
          </a:blip>
          <a:stretch>
            <a:fillRect/>
          </a:stretch>
        </p:blipFill>
        <p:spPr>
          <a:xfrm>
            <a:off x="152400" y="522100"/>
            <a:ext cx="11742924" cy="561080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grpSp>
        <p:nvGrpSpPr>
          <p:cNvPr id="194" name="Google Shape;194;p25"/>
          <p:cNvGrpSpPr/>
          <p:nvPr/>
        </p:nvGrpSpPr>
        <p:grpSpPr>
          <a:xfrm>
            <a:off x="9910844" y="5045076"/>
            <a:ext cx="2311056" cy="1847888"/>
            <a:chOff x="9283128" y="4713378"/>
            <a:chExt cx="2938779" cy="2331720"/>
          </a:xfrm>
        </p:grpSpPr>
        <p:sp>
          <p:nvSpPr>
            <p:cNvPr id="195" name="Google Shape;195;p25"/>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 name="Google Shape;196;p25"/>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 name="Google Shape;197;p25"/>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8" name="Google Shape;198;p25"/>
          <p:cNvSpPr txBox="1">
            <a:spLocks noGrp="1"/>
          </p:cNvSpPr>
          <p:nvPr>
            <p:ph type="title"/>
          </p:nvPr>
        </p:nvSpPr>
        <p:spPr>
          <a:xfrm>
            <a:off x="8160625" y="91025"/>
            <a:ext cx="3561900" cy="32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NATURE OF STORIES</a:t>
            </a:r>
            <a:endParaRPr sz="3400">
              <a:solidFill>
                <a:srgbClr val="DC4540"/>
              </a:solidFill>
              <a:latin typeface="Lato Black"/>
              <a:ea typeface="Lato Black"/>
              <a:cs typeface="Lato Black"/>
              <a:sym typeface="Lato Black"/>
            </a:endParaRPr>
          </a:p>
        </p:txBody>
      </p:sp>
      <p:grpSp>
        <p:nvGrpSpPr>
          <p:cNvPr id="199" name="Google Shape;199;p25"/>
          <p:cNvGrpSpPr/>
          <p:nvPr/>
        </p:nvGrpSpPr>
        <p:grpSpPr>
          <a:xfrm>
            <a:off x="593050" y="6292875"/>
            <a:ext cx="11495400" cy="415590"/>
            <a:chOff x="593050" y="6292875"/>
            <a:chExt cx="11495400" cy="415590"/>
          </a:xfrm>
        </p:grpSpPr>
        <p:sp>
          <p:nvSpPr>
            <p:cNvPr id="200" name="Google Shape;200;p25"/>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01" name="Google Shape;201;p25"/>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02" name="Google Shape;202;p25"/>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pic>
        <p:nvPicPr>
          <p:cNvPr id="203" name="Google Shape;203;p25" title="Points scored"/>
          <p:cNvPicPr preferRelativeResize="0"/>
          <p:nvPr/>
        </p:nvPicPr>
        <p:blipFill>
          <a:blip r:embed="rId4">
            <a:alphaModFix/>
          </a:blip>
          <a:stretch>
            <a:fillRect/>
          </a:stretch>
        </p:blipFill>
        <p:spPr>
          <a:xfrm>
            <a:off x="152400" y="529350"/>
            <a:ext cx="10360599" cy="5300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grpSp>
        <p:nvGrpSpPr>
          <p:cNvPr id="208" name="Google Shape;208;p26"/>
          <p:cNvGrpSpPr/>
          <p:nvPr/>
        </p:nvGrpSpPr>
        <p:grpSpPr>
          <a:xfrm>
            <a:off x="9910844" y="5045076"/>
            <a:ext cx="2311056" cy="1847888"/>
            <a:chOff x="9283128" y="4713378"/>
            <a:chExt cx="2938779" cy="2331720"/>
          </a:xfrm>
        </p:grpSpPr>
        <p:sp>
          <p:nvSpPr>
            <p:cNvPr id="209" name="Google Shape;209;p26"/>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0" name="Google Shape;210;p26"/>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1" name="Google Shape;211;p26"/>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12" name="Google Shape;212;p26"/>
          <p:cNvGrpSpPr/>
          <p:nvPr/>
        </p:nvGrpSpPr>
        <p:grpSpPr>
          <a:xfrm>
            <a:off x="593050" y="6292875"/>
            <a:ext cx="11495400" cy="415590"/>
            <a:chOff x="593050" y="6292875"/>
            <a:chExt cx="11495400" cy="415590"/>
          </a:xfrm>
        </p:grpSpPr>
        <p:sp>
          <p:nvSpPr>
            <p:cNvPr id="213" name="Google Shape;213;p26"/>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14" name="Google Shape;214;p26"/>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15" name="Google Shape;215;p26"/>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graphicFrame>
        <p:nvGraphicFramePr>
          <p:cNvPr id="216" name="Google Shape;216;p26"/>
          <p:cNvGraphicFramePr/>
          <p:nvPr/>
        </p:nvGraphicFramePr>
        <p:xfrm>
          <a:off x="480275" y="161863"/>
          <a:ext cx="10287000" cy="5830129"/>
        </p:xfrm>
        <a:graphic>
          <a:graphicData uri="http://schemas.openxmlformats.org/drawingml/2006/table">
            <a:tbl>
              <a:tblPr>
                <a:noFill/>
                <a:tableStyleId>{FB587A9B-5581-4698-A67C-3324757FB292}</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2200">
                          <a:solidFill>
                            <a:schemeClr val="dk1"/>
                          </a:solidFill>
                          <a:latin typeface="Lato"/>
                          <a:ea typeface="Lato"/>
                          <a:cs typeface="Lato"/>
                          <a:sym typeface="Lato"/>
                        </a:rPr>
                        <a:t>TAKE OUTS</a:t>
                      </a:r>
                      <a:endParaRPr sz="2200">
                        <a:solidFill>
                          <a:schemeClr val="dk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None/>
                      </a:pPr>
                      <a:r>
                        <a:rPr lang="en-US" sz="2200">
                          <a:solidFill>
                            <a:schemeClr val="dk1"/>
                          </a:solidFill>
                          <a:latin typeface="Lato"/>
                          <a:ea typeface="Lato"/>
                          <a:cs typeface="Lato"/>
                          <a:sym typeface="Lato"/>
                        </a:rPr>
                        <a:t>IMPERATIVES</a:t>
                      </a:r>
                      <a:endParaRPr sz="22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381000">
                <a:tc>
                  <a:txBody>
                    <a:bodyPr/>
                    <a:lstStyle/>
                    <a:p>
                      <a:pPr marL="457200" lvl="0" indent="-317500" algn="l" rtl="0">
                        <a:lnSpc>
                          <a:spcPct val="115000"/>
                        </a:lnSpc>
                        <a:spcBef>
                          <a:spcPts val="1200"/>
                        </a:spcBef>
                        <a:spcAft>
                          <a:spcPts val="0"/>
                        </a:spcAft>
                        <a:buClr>
                          <a:schemeClr val="dk1"/>
                        </a:buClr>
                        <a:buSzPts val="1400"/>
                        <a:buFont typeface="Lato"/>
                        <a:buChar char="●"/>
                      </a:pPr>
                      <a:r>
                        <a:rPr lang="en-US">
                          <a:solidFill>
                            <a:schemeClr val="dk1"/>
                          </a:solidFill>
                          <a:latin typeface="Lato"/>
                          <a:ea typeface="Lato"/>
                          <a:cs typeface="Lato"/>
                          <a:sym typeface="Lato"/>
                        </a:rPr>
                        <a:t>Nigeria has witnessed a surge in technology hubs across major cities and an Increase in government support and initiatives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Co-creation hub has the most media presence, the combined media presence of all other hubs still doesn't compare</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There’s need to develop a more unique angle to stand out from competitions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Need to create, a strong network/commitment community in the ecosystem</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Most hubs are concentrated in south, leaving a gap in the central and northern regions.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There's a growing interest from the media in social impact alongside for-profit ventures.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There’s less focus on underserved sectors like agritech and cleantech</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Support for later-stage Startups is limited</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There’s high rise of collaborations and partnerships in the industry</a:t>
                      </a:r>
                      <a:endParaRPr>
                        <a:solidFill>
                          <a:schemeClr val="dk1"/>
                        </a:solidFill>
                        <a:latin typeface="Lato"/>
                        <a:ea typeface="Lato"/>
                        <a:cs typeface="Lato"/>
                        <a:sym typeface="Lato"/>
                      </a:endParaRPr>
                    </a:p>
                  </a:txBody>
                  <a:tcPr marL="91425" marR="91425" marT="91425" marB="91425"/>
                </a:tc>
                <a:tc>
                  <a:txBody>
                    <a:bodyPr/>
                    <a:lstStyle/>
                    <a:p>
                      <a:pPr marL="457200" lvl="0" indent="-317500" algn="l" rtl="0">
                        <a:lnSpc>
                          <a:spcPct val="115000"/>
                        </a:lnSpc>
                        <a:spcBef>
                          <a:spcPts val="1200"/>
                        </a:spcBef>
                        <a:spcAft>
                          <a:spcPts val="0"/>
                        </a:spcAft>
                        <a:buClr>
                          <a:schemeClr val="dk1"/>
                        </a:buClr>
                        <a:buSzPts val="1400"/>
                        <a:buFont typeface="Lato"/>
                        <a:buChar char="●"/>
                      </a:pPr>
                      <a:r>
                        <a:rPr lang="en-US">
                          <a:solidFill>
                            <a:schemeClr val="dk1"/>
                          </a:solidFill>
                          <a:latin typeface="Lato"/>
                          <a:ea typeface="Lato"/>
                          <a:cs typeface="Lato"/>
                          <a:sym typeface="Lato"/>
                        </a:rPr>
                        <a:t>Develop a clear and consistent brand identity that resonates with the target audience. </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Leverage the regional gap to become a regional innovation leader</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Build a strong alumni network/ community</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Form strategic partnerships with corporations in relevant sectors who might be interested in supporting innovation and development as part of their CSR initiatives.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Use success stories of startups supported by the hub to build trust and showcase credibility</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 Use targeted programs catering to specific industry sectors or stages of startup development.</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Offer multi-stage support and leverage that in the media</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Specialise in underserved sectors beyond typical tech-focused areas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Partner with universities, research institutions, established hubs, and industry experts to expand resources and opportunities.</a:t>
                      </a:r>
                      <a:endParaRPr>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a:solidFill>
                            <a:schemeClr val="dk1"/>
                          </a:solidFill>
                          <a:latin typeface="Lato"/>
                          <a:ea typeface="Lato"/>
                          <a:cs typeface="Lato"/>
                          <a:sym typeface="Lato"/>
                        </a:rPr>
                        <a:t>Showcase how the hub supports ventures addressing local challenges like poverty, unemployment, or access to education.</a:t>
                      </a:r>
                      <a:endParaRPr>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grpSp>
        <p:nvGrpSpPr>
          <p:cNvPr id="221" name="Google Shape;221;p27"/>
          <p:cNvGrpSpPr/>
          <p:nvPr/>
        </p:nvGrpSpPr>
        <p:grpSpPr>
          <a:xfrm>
            <a:off x="9910844" y="5045076"/>
            <a:ext cx="2311056" cy="1847888"/>
            <a:chOff x="9283128" y="4713378"/>
            <a:chExt cx="2938779" cy="2331720"/>
          </a:xfrm>
        </p:grpSpPr>
        <p:sp>
          <p:nvSpPr>
            <p:cNvPr id="222" name="Google Shape;222;p27"/>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 name="Google Shape;223;p27"/>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 name="Google Shape;224;p27"/>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5" name="Google Shape;225;p27"/>
          <p:cNvSpPr txBox="1">
            <a:spLocks noGrp="1"/>
          </p:cNvSpPr>
          <p:nvPr>
            <p:ph type="title"/>
          </p:nvPr>
        </p:nvSpPr>
        <p:spPr>
          <a:xfrm>
            <a:off x="669250" y="4228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OPPORTUNITIES FOR ILORIN INNOVATION HUB</a:t>
            </a:r>
            <a:endParaRPr>
              <a:solidFill>
                <a:srgbClr val="DC4540"/>
              </a:solidFill>
              <a:latin typeface="Lato Black"/>
              <a:ea typeface="Lato Black"/>
              <a:cs typeface="Lato Black"/>
              <a:sym typeface="Lato Black"/>
            </a:endParaRPr>
          </a:p>
        </p:txBody>
      </p:sp>
      <p:sp>
        <p:nvSpPr>
          <p:cNvPr id="226" name="Google Shape;226;p27"/>
          <p:cNvSpPr txBox="1">
            <a:spLocks noGrp="1"/>
          </p:cNvSpPr>
          <p:nvPr>
            <p:ph type="body" idx="1"/>
          </p:nvPr>
        </p:nvSpPr>
        <p:spPr>
          <a:xfrm>
            <a:off x="688725" y="1431500"/>
            <a:ext cx="10665000" cy="4607700"/>
          </a:xfrm>
          <a:prstGeom prst="rect">
            <a:avLst/>
          </a:prstGeom>
        </p:spPr>
        <p:txBody>
          <a:bodyPr spcFirstLastPara="1" wrap="square" lIns="91425" tIns="45700" rIns="91425" bIns="45700" anchor="t" anchorCtr="0">
            <a:noAutofit/>
          </a:bodyPr>
          <a:lstStyle/>
          <a:p>
            <a:pPr marL="457200" lvl="0" indent="-342900" algn="l" rtl="0">
              <a:lnSpc>
                <a:spcPct val="115000"/>
              </a:lnSpc>
              <a:spcBef>
                <a:spcPts val="1200"/>
              </a:spcBef>
              <a:spcAft>
                <a:spcPts val="0"/>
              </a:spcAft>
              <a:buClr>
                <a:schemeClr val="dk1"/>
              </a:buClr>
              <a:buSzPts val="1800"/>
              <a:buFont typeface="Lato"/>
              <a:buChar char="•"/>
            </a:pPr>
            <a:r>
              <a:rPr lang="en-US" sz="1800">
                <a:solidFill>
                  <a:schemeClr val="dk1"/>
                </a:solidFill>
                <a:latin typeface="Lato"/>
                <a:ea typeface="Lato"/>
                <a:cs typeface="Lato"/>
                <a:sym typeface="Lato"/>
              </a:rPr>
              <a:t>Ilorin's central location positions it strategically to support agritech and cleantech ventures addressing regional challenges in agriculture, renewable energy, and sustainable development.</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Focus on Deep Tech &amp; Hardware: cater to startups in robotics, artificial intelligence, Internet of Things (IoT), or hardware development. Collaborate with universities with engineering programs to provide specialized resources and mentorship.</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Engaging with international investors and innovation networks to attract global talent and funding.</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Collaborate with universities to offer internship programs, joint workshops, and access to research facilities for startups.</a:t>
            </a:r>
            <a:endParaRPr sz="1800">
              <a:solidFill>
                <a:schemeClr val="dk1"/>
              </a:solidFill>
              <a:latin typeface="Lato"/>
              <a:ea typeface="Lato"/>
              <a:cs typeface="Lato"/>
              <a:sym typeface="Lato"/>
            </a:endParaRPr>
          </a:p>
        </p:txBody>
      </p:sp>
      <p:grpSp>
        <p:nvGrpSpPr>
          <p:cNvPr id="227" name="Google Shape;227;p27"/>
          <p:cNvGrpSpPr/>
          <p:nvPr/>
        </p:nvGrpSpPr>
        <p:grpSpPr>
          <a:xfrm>
            <a:off x="593050" y="6292875"/>
            <a:ext cx="11495400" cy="415590"/>
            <a:chOff x="593050" y="6292875"/>
            <a:chExt cx="11495400" cy="415590"/>
          </a:xfrm>
        </p:grpSpPr>
        <p:sp>
          <p:nvSpPr>
            <p:cNvPr id="228" name="Google Shape;228;p27"/>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29" name="Google Shape;229;p27"/>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30" name="Google Shape;230;p27"/>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grpSp>
        <p:nvGrpSpPr>
          <p:cNvPr id="235" name="Google Shape;235;p28"/>
          <p:cNvGrpSpPr/>
          <p:nvPr/>
        </p:nvGrpSpPr>
        <p:grpSpPr>
          <a:xfrm>
            <a:off x="9910844" y="5045076"/>
            <a:ext cx="2311056" cy="1847888"/>
            <a:chOff x="9283128" y="4713378"/>
            <a:chExt cx="2938779" cy="2331720"/>
          </a:xfrm>
        </p:grpSpPr>
        <p:sp>
          <p:nvSpPr>
            <p:cNvPr id="236" name="Google Shape;236;p28"/>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 name="Google Shape;237;p28"/>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 name="Google Shape;238;p28"/>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9" name="Google Shape;239;p28"/>
          <p:cNvSpPr txBox="1">
            <a:spLocks noGrp="1"/>
          </p:cNvSpPr>
          <p:nvPr>
            <p:ph type="title"/>
          </p:nvPr>
        </p:nvSpPr>
        <p:spPr>
          <a:xfrm>
            <a:off x="669250" y="307095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PLANNING</a:t>
            </a:r>
            <a:endParaRPr>
              <a:solidFill>
                <a:srgbClr val="DC4540"/>
              </a:solidFill>
              <a:latin typeface="Lato Black"/>
              <a:ea typeface="Lato Black"/>
              <a:cs typeface="Lato Black"/>
              <a:sym typeface="Lato Black"/>
            </a:endParaRPr>
          </a:p>
        </p:txBody>
      </p:sp>
      <p:grpSp>
        <p:nvGrpSpPr>
          <p:cNvPr id="240" name="Google Shape;240;p28"/>
          <p:cNvGrpSpPr/>
          <p:nvPr/>
        </p:nvGrpSpPr>
        <p:grpSpPr>
          <a:xfrm>
            <a:off x="593050" y="6292875"/>
            <a:ext cx="11495400" cy="415590"/>
            <a:chOff x="593050" y="6292875"/>
            <a:chExt cx="11495400" cy="415590"/>
          </a:xfrm>
        </p:grpSpPr>
        <p:sp>
          <p:nvSpPr>
            <p:cNvPr id="241" name="Google Shape;241;p28"/>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42" name="Google Shape;242;p28"/>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43" name="Google Shape;243;p28"/>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9"/>
          <p:cNvSpPr/>
          <p:nvPr/>
        </p:nvSpPr>
        <p:spPr>
          <a:xfrm>
            <a:off x="-12925" y="0"/>
            <a:ext cx="6134700" cy="6858000"/>
          </a:xfrm>
          <a:prstGeom prst="rect">
            <a:avLst/>
          </a:prstGeom>
          <a:solidFill>
            <a:srgbClr val="E6B8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p29"/>
          <p:cNvSpPr/>
          <p:nvPr/>
        </p:nvSpPr>
        <p:spPr>
          <a:xfrm>
            <a:off x="6121775" y="-50"/>
            <a:ext cx="6089100" cy="6858000"/>
          </a:xfrm>
          <a:prstGeom prst="rect">
            <a:avLst/>
          </a:prstGeom>
          <a:solidFill>
            <a:srgbClr val="F4C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50" name="Google Shape;250;p29"/>
          <p:cNvGrpSpPr/>
          <p:nvPr/>
        </p:nvGrpSpPr>
        <p:grpSpPr>
          <a:xfrm>
            <a:off x="9910844" y="5045076"/>
            <a:ext cx="2311056" cy="1847888"/>
            <a:chOff x="9283128" y="4713378"/>
            <a:chExt cx="2938779" cy="2331720"/>
          </a:xfrm>
        </p:grpSpPr>
        <p:sp>
          <p:nvSpPr>
            <p:cNvPr id="251" name="Google Shape;251;p29"/>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2" name="Google Shape;252;p29"/>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3" name="Google Shape;253;p29"/>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54" name="Google Shape;254;p29"/>
          <p:cNvSpPr txBox="1">
            <a:spLocks noGrp="1"/>
          </p:cNvSpPr>
          <p:nvPr>
            <p:ph type="title"/>
          </p:nvPr>
        </p:nvSpPr>
        <p:spPr>
          <a:xfrm>
            <a:off x="669250" y="422800"/>
            <a:ext cx="49422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COMMUNICATION OBJECTIVES</a:t>
            </a:r>
            <a:endParaRPr sz="3400">
              <a:solidFill>
                <a:srgbClr val="DC4540"/>
              </a:solidFill>
              <a:latin typeface="Lato Black"/>
              <a:ea typeface="Lato Black"/>
              <a:cs typeface="Lato Black"/>
              <a:sym typeface="Lato Black"/>
            </a:endParaRPr>
          </a:p>
        </p:txBody>
      </p:sp>
      <p:sp>
        <p:nvSpPr>
          <p:cNvPr id="255" name="Google Shape;255;p29"/>
          <p:cNvSpPr txBox="1">
            <a:spLocks noGrp="1"/>
          </p:cNvSpPr>
          <p:nvPr>
            <p:ph type="body" idx="1"/>
          </p:nvPr>
        </p:nvSpPr>
        <p:spPr>
          <a:xfrm>
            <a:off x="688725" y="1431500"/>
            <a:ext cx="4942200" cy="4607700"/>
          </a:xfrm>
          <a:prstGeom prst="rect">
            <a:avLst/>
          </a:prstGeom>
        </p:spPr>
        <p:txBody>
          <a:bodyPr spcFirstLastPara="1" wrap="square" lIns="91425" tIns="45700" rIns="91425" bIns="45700" anchor="t" anchorCtr="0">
            <a:noAutofit/>
          </a:bodyPr>
          <a:lstStyle/>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Generating Awareness on the activities of the hub and its unique value proposition amongst relevant stakeholders</a:t>
            </a:r>
            <a:endParaRPr sz="1800">
              <a:solidFill>
                <a:schemeClr val="dk1"/>
              </a:solidFill>
              <a:latin typeface="Lato"/>
              <a:ea typeface="Lato"/>
              <a:cs typeface="Lato"/>
              <a:sym typeface="Lato"/>
            </a:endParaRPr>
          </a:p>
          <a:p>
            <a:pPr marL="457200" lvl="0" indent="-342900" algn="just"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Use communication channels to showcase the hub's importance and impact on social and economic development to Nigeria’s economy</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Position the hub as a leader in fostering innovation in the country</a:t>
            </a:r>
            <a:endParaRPr sz="1800">
              <a:solidFill>
                <a:schemeClr val="dk1"/>
              </a:solidFill>
              <a:latin typeface="Lato"/>
              <a:ea typeface="Lato"/>
              <a:cs typeface="Lato"/>
              <a:sym typeface="Lato"/>
            </a:endParaRPr>
          </a:p>
          <a:p>
            <a:pPr marL="457200" lvl="0" indent="-342900" algn="just"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Arm key stakeholders with the knowledge required to participate in the hub's programs and initiatives</a:t>
            </a:r>
            <a:endParaRPr sz="1400">
              <a:solidFill>
                <a:schemeClr val="dk1"/>
              </a:solidFill>
              <a:latin typeface="Lato"/>
              <a:ea typeface="Lato"/>
              <a:cs typeface="Lato"/>
              <a:sym typeface="Lato"/>
            </a:endParaRPr>
          </a:p>
        </p:txBody>
      </p:sp>
      <p:grpSp>
        <p:nvGrpSpPr>
          <p:cNvPr id="256" name="Google Shape;256;p29"/>
          <p:cNvGrpSpPr/>
          <p:nvPr/>
        </p:nvGrpSpPr>
        <p:grpSpPr>
          <a:xfrm>
            <a:off x="593050" y="6292875"/>
            <a:ext cx="11495400" cy="415590"/>
            <a:chOff x="593050" y="6292875"/>
            <a:chExt cx="11495400" cy="415590"/>
          </a:xfrm>
        </p:grpSpPr>
        <p:sp>
          <p:nvSpPr>
            <p:cNvPr id="257" name="Google Shape;257;p29"/>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58" name="Google Shape;258;p29"/>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59" name="Google Shape;259;p29"/>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260" name="Google Shape;260;p29"/>
          <p:cNvSpPr txBox="1">
            <a:spLocks noGrp="1"/>
          </p:cNvSpPr>
          <p:nvPr>
            <p:ph type="title"/>
          </p:nvPr>
        </p:nvSpPr>
        <p:spPr>
          <a:xfrm>
            <a:off x="6620575" y="422800"/>
            <a:ext cx="49422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MARKETING OBJECTIVES</a:t>
            </a:r>
            <a:endParaRPr sz="3400">
              <a:solidFill>
                <a:srgbClr val="DC4540"/>
              </a:solidFill>
              <a:latin typeface="Lato Black"/>
              <a:ea typeface="Lato Black"/>
              <a:cs typeface="Lato Black"/>
              <a:sym typeface="Lato Black"/>
            </a:endParaRPr>
          </a:p>
        </p:txBody>
      </p:sp>
      <p:sp>
        <p:nvSpPr>
          <p:cNvPr id="261" name="Google Shape;261;p29"/>
          <p:cNvSpPr txBox="1">
            <a:spLocks noGrp="1"/>
          </p:cNvSpPr>
          <p:nvPr>
            <p:ph type="body" idx="1"/>
          </p:nvPr>
        </p:nvSpPr>
        <p:spPr>
          <a:xfrm>
            <a:off x="6640050" y="1431500"/>
            <a:ext cx="4942200" cy="4607700"/>
          </a:xfrm>
          <a:prstGeom prst="rect">
            <a:avLst/>
          </a:prstGeom>
        </p:spPr>
        <p:txBody>
          <a:bodyPr spcFirstLastPara="1" wrap="square" lIns="91425" tIns="45700" rIns="91425" bIns="45700" anchor="t" anchorCtr="0">
            <a:noAutofit/>
          </a:bodyPr>
          <a:lstStyle/>
          <a:p>
            <a:pPr marL="457200" lvl="0" indent="-342900" algn="just"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Grow participation of students, graduates and tech enthusiasts in the Hub’s programmes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Secure funding and partnerships to support growth and sustainability</a:t>
            </a:r>
            <a:endParaRPr sz="1800">
              <a:solidFill>
                <a:schemeClr val="dk1"/>
              </a:solidFill>
              <a:latin typeface="Lato"/>
              <a:ea typeface="Lato"/>
              <a:cs typeface="Lato"/>
              <a:sym typeface="Lato"/>
            </a:endParaRPr>
          </a:p>
          <a:p>
            <a:pPr marL="0" lvl="0" indent="0" algn="l" rtl="0">
              <a:lnSpc>
                <a:spcPct val="115000"/>
              </a:lnSpc>
              <a:spcBef>
                <a:spcPts val="1200"/>
              </a:spcBef>
              <a:spcAft>
                <a:spcPts val="400"/>
              </a:spcAft>
              <a:buClr>
                <a:schemeClr val="dk1"/>
              </a:buClr>
              <a:buSzPts val="1100"/>
              <a:buFont typeface="Arial"/>
              <a:buNone/>
            </a:pPr>
            <a:endParaRPr sz="1400">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grpSp>
        <p:nvGrpSpPr>
          <p:cNvPr id="266" name="Google Shape;266;p30"/>
          <p:cNvGrpSpPr/>
          <p:nvPr/>
        </p:nvGrpSpPr>
        <p:grpSpPr>
          <a:xfrm>
            <a:off x="9910844" y="5045076"/>
            <a:ext cx="2311056" cy="1847888"/>
            <a:chOff x="9283128" y="4713378"/>
            <a:chExt cx="2938779" cy="2331720"/>
          </a:xfrm>
        </p:grpSpPr>
        <p:sp>
          <p:nvSpPr>
            <p:cNvPr id="267" name="Google Shape;267;p30"/>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8" name="Google Shape;268;p30"/>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9" name="Google Shape;269;p30"/>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70" name="Google Shape;270;p30"/>
          <p:cNvSpPr txBox="1">
            <a:spLocks noGrp="1"/>
          </p:cNvSpPr>
          <p:nvPr>
            <p:ph type="title"/>
          </p:nvPr>
        </p:nvSpPr>
        <p:spPr>
          <a:xfrm>
            <a:off x="669250" y="4228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KEY STAKEHOLDERS</a:t>
            </a:r>
            <a:endParaRPr>
              <a:solidFill>
                <a:srgbClr val="DC4540"/>
              </a:solidFill>
              <a:latin typeface="Lato Black"/>
              <a:ea typeface="Lato Black"/>
              <a:cs typeface="Lato Black"/>
              <a:sym typeface="Lato Black"/>
            </a:endParaRPr>
          </a:p>
        </p:txBody>
      </p:sp>
      <p:grpSp>
        <p:nvGrpSpPr>
          <p:cNvPr id="271" name="Google Shape;271;p30"/>
          <p:cNvGrpSpPr/>
          <p:nvPr/>
        </p:nvGrpSpPr>
        <p:grpSpPr>
          <a:xfrm>
            <a:off x="593050" y="6292875"/>
            <a:ext cx="11495400" cy="415590"/>
            <a:chOff x="593050" y="6292875"/>
            <a:chExt cx="11495400" cy="415590"/>
          </a:xfrm>
        </p:grpSpPr>
        <p:sp>
          <p:nvSpPr>
            <p:cNvPr id="272" name="Google Shape;272;p30"/>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73" name="Google Shape;273;p30"/>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74" name="Google Shape;274;p30"/>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graphicFrame>
        <p:nvGraphicFramePr>
          <p:cNvPr id="275" name="Google Shape;275;p30"/>
          <p:cNvGraphicFramePr/>
          <p:nvPr/>
        </p:nvGraphicFramePr>
        <p:xfrm>
          <a:off x="314100" y="1277325"/>
          <a:ext cx="11699725" cy="4754640"/>
        </p:xfrm>
        <a:graphic>
          <a:graphicData uri="http://schemas.openxmlformats.org/drawingml/2006/table">
            <a:tbl>
              <a:tblPr>
                <a:noFill/>
                <a:tableStyleId>{FB587A9B-5581-4698-A67C-3324757FB292}</a:tableStyleId>
              </a:tblPr>
              <a:tblGrid>
                <a:gridCol w="2135275">
                  <a:extLst>
                    <a:ext uri="{9D8B030D-6E8A-4147-A177-3AD203B41FA5}">
                      <a16:colId xmlns:a16="http://schemas.microsoft.com/office/drawing/2014/main" val="20000"/>
                    </a:ext>
                  </a:extLst>
                </a:gridCol>
                <a:gridCol w="4947250">
                  <a:extLst>
                    <a:ext uri="{9D8B030D-6E8A-4147-A177-3AD203B41FA5}">
                      <a16:colId xmlns:a16="http://schemas.microsoft.com/office/drawing/2014/main" val="20001"/>
                    </a:ext>
                  </a:extLst>
                </a:gridCol>
                <a:gridCol w="4617200">
                  <a:extLst>
                    <a:ext uri="{9D8B030D-6E8A-4147-A177-3AD203B41FA5}">
                      <a16:colId xmlns:a16="http://schemas.microsoft.com/office/drawing/2014/main" val="20002"/>
                    </a:ext>
                  </a:extLst>
                </a:gridCol>
              </a:tblGrid>
              <a:tr h="303500">
                <a:tc>
                  <a:txBody>
                    <a:bodyPr/>
                    <a:lstStyle/>
                    <a:p>
                      <a:pPr marL="0" marR="0" lvl="0" indent="0" algn="l" rtl="0">
                        <a:lnSpc>
                          <a:spcPct val="90000"/>
                        </a:lnSpc>
                        <a:spcBef>
                          <a:spcPts val="0"/>
                        </a:spcBef>
                        <a:spcAft>
                          <a:spcPts val="0"/>
                        </a:spcAft>
                        <a:buNone/>
                      </a:pPr>
                      <a:r>
                        <a:rPr lang="en-US" sz="1500" b="1">
                          <a:solidFill>
                            <a:schemeClr val="dk1"/>
                          </a:solidFill>
                          <a:latin typeface="Lato"/>
                          <a:ea typeface="Lato"/>
                          <a:cs typeface="Lato"/>
                          <a:sym typeface="Lato"/>
                        </a:rPr>
                        <a:t>Groups</a:t>
                      </a:r>
                      <a:endParaRPr sz="1500" b="1">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b="1">
                          <a:solidFill>
                            <a:schemeClr val="dk1"/>
                          </a:solidFill>
                          <a:latin typeface="Lato"/>
                          <a:ea typeface="Lato"/>
                          <a:cs typeface="Lato"/>
                          <a:sym typeface="Lato"/>
                        </a:rPr>
                        <a:t>Who They Are</a:t>
                      </a:r>
                      <a:endParaRPr sz="1500" b="1">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b="1">
                          <a:solidFill>
                            <a:schemeClr val="dk1"/>
                          </a:solidFill>
                          <a:latin typeface="Lato"/>
                          <a:ea typeface="Lato"/>
                          <a:cs typeface="Lato"/>
                          <a:sym typeface="Lato"/>
                        </a:rPr>
                        <a:t>Desired Action</a:t>
                      </a:r>
                      <a:endParaRPr sz="1500" b="1">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90000"/>
                        </a:lnSpc>
                        <a:spcBef>
                          <a:spcPts val="0"/>
                        </a:spcBef>
                        <a:spcAft>
                          <a:spcPts val="0"/>
                        </a:spcAft>
                        <a:buNone/>
                      </a:pPr>
                      <a:r>
                        <a:rPr lang="en-US" sz="1200" b="1">
                          <a:solidFill>
                            <a:schemeClr val="dk1"/>
                          </a:solidFill>
                          <a:latin typeface="Lato"/>
                          <a:ea typeface="Lato"/>
                          <a:cs typeface="Lato"/>
                          <a:sym typeface="Lato"/>
                        </a:rPr>
                        <a:t>CORE AUDIENCE</a:t>
                      </a:r>
                      <a:endParaRPr sz="1200" b="1">
                        <a:solidFill>
                          <a:schemeClr val="dk1"/>
                        </a:solidFill>
                        <a:latin typeface="Lato"/>
                        <a:ea typeface="Lato"/>
                        <a:cs typeface="Lato"/>
                        <a:sym typeface="Lato"/>
                      </a:endParaRPr>
                    </a:p>
                  </a:txBody>
                  <a:tcPr marL="91425" marR="91425" marT="91425" marB="91425">
                    <a:solidFill>
                      <a:srgbClr val="93C47D"/>
                    </a:solidFill>
                  </a:tcPr>
                </a:tc>
                <a:tc>
                  <a:txBody>
                    <a:bodyPr/>
                    <a:lstStyle/>
                    <a:p>
                      <a:pPr marL="0" marR="0" lvl="0" indent="0" algn="l" rtl="0">
                        <a:lnSpc>
                          <a:spcPct val="90000"/>
                        </a:lnSpc>
                        <a:spcBef>
                          <a:spcPts val="0"/>
                        </a:spcBef>
                        <a:spcAft>
                          <a:spcPts val="0"/>
                        </a:spcAft>
                        <a:buNone/>
                      </a:pPr>
                      <a:endParaRPr sz="1500">
                        <a:solidFill>
                          <a:schemeClr val="dk1"/>
                        </a:solidFill>
                        <a:latin typeface="Lato"/>
                        <a:ea typeface="Lato"/>
                        <a:cs typeface="Lato"/>
                        <a:sym typeface="Lato"/>
                      </a:endParaRPr>
                    </a:p>
                  </a:txBody>
                  <a:tcPr marL="91425" marR="91425" marT="91425" marB="91425">
                    <a:solidFill>
                      <a:srgbClr val="93C47D"/>
                    </a:solidFill>
                  </a:tcPr>
                </a:tc>
                <a:tc>
                  <a:txBody>
                    <a:bodyPr/>
                    <a:lstStyle/>
                    <a:p>
                      <a:pPr marL="0" marR="0" lvl="0" indent="0" algn="l" rtl="0">
                        <a:lnSpc>
                          <a:spcPct val="90000"/>
                        </a:lnSpc>
                        <a:spcBef>
                          <a:spcPts val="0"/>
                        </a:spcBef>
                        <a:spcAft>
                          <a:spcPts val="0"/>
                        </a:spcAft>
                        <a:buNone/>
                      </a:pPr>
                      <a:endParaRPr sz="1500">
                        <a:solidFill>
                          <a:schemeClr val="dk1"/>
                        </a:solidFill>
                        <a:latin typeface="Lato"/>
                        <a:ea typeface="Lato"/>
                        <a:cs typeface="Lato"/>
                        <a:sym typeface="Lato"/>
                      </a:endParaRPr>
                    </a:p>
                  </a:txBody>
                  <a:tcPr marL="91425" marR="91425" marT="91425" marB="91425">
                    <a:solidFill>
                      <a:srgbClr val="93C47D"/>
                    </a:solidFill>
                  </a:tcPr>
                </a:tc>
                <a:extLst>
                  <a:ext uri="{0D108BD9-81ED-4DB2-BD59-A6C34878D82A}">
                    <a16:rowId xmlns:a16="http://schemas.microsoft.com/office/drawing/2014/main" val="10001"/>
                  </a:ext>
                </a:extLst>
              </a:tr>
              <a:tr h="381000">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Potential investors</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Private organisations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High-tech corporations (international)</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Funding for accelerators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Project investments</a:t>
                      </a:r>
                      <a:endParaRPr sz="15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Potential partners</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Higher institutions(local and international)</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Research institutions (local and international)</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High-tech corporations (international)</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Government</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Mentorship for incubators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Event partnerships / participation / sponsorships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Partnership on initiatives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Endorsements</a:t>
                      </a:r>
                      <a:endParaRPr sz="15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Tech participants</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Students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Graduates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Tech enthusiasts</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Startup founders</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Participation in the Startup Growth Programme and Tech Skills Programme</a:t>
                      </a:r>
                      <a:endParaRPr sz="15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4"/>
                  </a:ext>
                </a:extLst>
              </a:tr>
              <a:tr h="0">
                <a:tc>
                  <a:txBody>
                    <a:bodyPr/>
                    <a:lstStyle/>
                    <a:p>
                      <a:pPr marL="0" marR="0" lvl="0" indent="0" algn="l" rtl="0">
                        <a:lnSpc>
                          <a:spcPct val="90000"/>
                        </a:lnSpc>
                        <a:spcBef>
                          <a:spcPts val="0"/>
                        </a:spcBef>
                        <a:spcAft>
                          <a:spcPts val="0"/>
                        </a:spcAft>
                        <a:buNone/>
                      </a:pPr>
                      <a:r>
                        <a:rPr lang="en-US" sz="1200" b="1">
                          <a:solidFill>
                            <a:schemeClr val="dk1"/>
                          </a:solidFill>
                          <a:latin typeface="Lato"/>
                          <a:ea typeface="Lato"/>
                          <a:cs typeface="Lato"/>
                          <a:sym typeface="Lato"/>
                        </a:rPr>
                        <a:t>SECONDARY AUDIENCE</a:t>
                      </a:r>
                      <a:endParaRPr sz="1200" b="1">
                        <a:solidFill>
                          <a:schemeClr val="dk1"/>
                        </a:solidFill>
                        <a:latin typeface="Lato"/>
                        <a:ea typeface="Lato"/>
                        <a:cs typeface="Lato"/>
                        <a:sym typeface="Lato"/>
                      </a:endParaRPr>
                    </a:p>
                  </a:txBody>
                  <a:tcPr marL="91425" marR="91425" marT="91425" marB="91425">
                    <a:solidFill>
                      <a:srgbClr val="FFD966"/>
                    </a:solidFill>
                  </a:tcPr>
                </a:tc>
                <a:tc>
                  <a:txBody>
                    <a:bodyPr/>
                    <a:lstStyle/>
                    <a:p>
                      <a:pPr marL="0" marR="0" lvl="0" indent="0" algn="l" rtl="0">
                        <a:lnSpc>
                          <a:spcPct val="90000"/>
                        </a:lnSpc>
                        <a:spcBef>
                          <a:spcPts val="0"/>
                        </a:spcBef>
                        <a:spcAft>
                          <a:spcPts val="0"/>
                        </a:spcAft>
                        <a:buNone/>
                      </a:pPr>
                      <a:endParaRPr sz="1500">
                        <a:solidFill>
                          <a:schemeClr val="dk1"/>
                        </a:solidFill>
                        <a:latin typeface="Lato"/>
                        <a:ea typeface="Lato"/>
                        <a:cs typeface="Lato"/>
                        <a:sym typeface="Lato"/>
                      </a:endParaRPr>
                    </a:p>
                  </a:txBody>
                  <a:tcPr marL="91425" marR="91425" marT="91425" marB="91425">
                    <a:solidFill>
                      <a:srgbClr val="FFD966"/>
                    </a:solidFill>
                  </a:tcPr>
                </a:tc>
                <a:tc>
                  <a:txBody>
                    <a:bodyPr/>
                    <a:lstStyle/>
                    <a:p>
                      <a:pPr marL="0" marR="0" lvl="0" indent="0" algn="l" rtl="0">
                        <a:lnSpc>
                          <a:spcPct val="90000"/>
                        </a:lnSpc>
                        <a:spcBef>
                          <a:spcPts val="0"/>
                        </a:spcBef>
                        <a:spcAft>
                          <a:spcPts val="0"/>
                        </a:spcAft>
                        <a:buNone/>
                      </a:pPr>
                      <a:endParaRPr sz="1500">
                        <a:solidFill>
                          <a:schemeClr val="dk1"/>
                        </a:solidFill>
                        <a:latin typeface="Lato"/>
                        <a:ea typeface="Lato"/>
                        <a:cs typeface="Lato"/>
                        <a:sym typeface="Lato"/>
                      </a:endParaRPr>
                    </a:p>
                  </a:txBody>
                  <a:tcPr marL="91425" marR="91425" marT="91425" marB="91425">
                    <a:solidFill>
                      <a:srgbClr val="FFD966"/>
                    </a:solidFill>
                  </a:tcPr>
                </a:tc>
                <a:extLst>
                  <a:ext uri="{0D108BD9-81ED-4DB2-BD59-A6C34878D82A}">
                    <a16:rowId xmlns:a16="http://schemas.microsoft.com/office/drawing/2014/main" val="10005"/>
                  </a:ext>
                </a:extLst>
              </a:tr>
              <a:tr h="381000">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The Media</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Tech and ICT, Business, News</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Dissemination of accurate information</a:t>
                      </a:r>
                      <a:endParaRPr sz="15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Others</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General Public</a:t>
                      </a:r>
                      <a:endParaRPr sz="15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Good perception of the hub</a:t>
                      </a:r>
                      <a:endParaRPr sz="1500">
                        <a:solidFill>
                          <a:schemeClr val="dk1"/>
                        </a:solidFill>
                        <a:latin typeface="Lato"/>
                        <a:ea typeface="Lato"/>
                        <a:cs typeface="Lato"/>
                        <a:sym typeface="Lato"/>
                      </a:endParaRPr>
                    </a:p>
                    <a:p>
                      <a:pPr marL="0" marR="0" lvl="0" indent="0" algn="l" rtl="0">
                        <a:lnSpc>
                          <a:spcPct val="90000"/>
                        </a:lnSpc>
                        <a:spcBef>
                          <a:spcPts val="0"/>
                        </a:spcBef>
                        <a:spcAft>
                          <a:spcPts val="0"/>
                        </a:spcAft>
                        <a:buNone/>
                      </a:pPr>
                      <a:r>
                        <a:rPr lang="en-US" sz="1500">
                          <a:solidFill>
                            <a:schemeClr val="dk1"/>
                          </a:solidFill>
                          <a:latin typeface="Lato"/>
                          <a:ea typeface="Lato"/>
                          <a:cs typeface="Lato"/>
                          <a:sym typeface="Lato"/>
                        </a:rPr>
                        <a:t>Advocacy (recommendations/referrals)</a:t>
                      </a:r>
                      <a:endParaRPr sz="1500">
                        <a:solidFill>
                          <a:schemeClr val="dk1"/>
                        </a:solidFill>
                        <a:latin typeface="Lato"/>
                        <a:ea typeface="Lato"/>
                        <a:cs typeface="Lato"/>
                        <a:sym typeface="Lato"/>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grpSp>
        <p:nvGrpSpPr>
          <p:cNvPr id="280" name="Google Shape;280;p31"/>
          <p:cNvGrpSpPr/>
          <p:nvPr/>
        </p:nvGrpSpPr>
        <p:grpSpPr>
          <a:xfrm>
            <a:off x="9910844" y="5045076"/>
            <a:ext cx="2311056" cy="1847888"/>
            <a:chOff x="9283128" y="4713378"/>
            <a:chExt cx="2938779" cy="2331720"/>
          </a:xfrm>
        </p:grpSpPr>
        <p:sp>
          <p:nvSpPr>
            <p:cNvPr id="281" name="Google Shape;281;p31"/>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82" name="Google Shape;282;p31"/>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83" name="Google Shape;283;p31"/>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84" name="Google Shape;284;p31"/>
          <p:cNvGrpSpPr/>
          <p:nvPr/>
        </p:nvGrpSpPr>
        <p:grpSpPr>
          <a:xfrm>
            <a:off x="593050" y="6292875"/>
            <a:ext cx="11495400" cy="415590"/>
            <a:chOff x="593050" y="6292875"/>
            <a:chExt cx="11495400" cy="415590"/>
          </a:xfrm>
        </p:grpSpPr>
        <p:sp>
          <p:nvSpPr>
            <p:cNvPr id="285" name="Google Shape;285;p31"/>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86" name="Google Shape;286;p31"/>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287" name="Google Shape;287;p31"/>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graphicFrame>
        <p:nvGraphicFramePr>
          <p:cNvPr id="288" name="Google Shape;288;p31"/>
          <p:cNvGraphicFramePr/>
          <p:nvPr>
            <p:extLst>
              <p:ext uri="{D42A27DB-BD31-4B8C-83A1-F6EECF244321}">
                <p14:modId xmlns:p14="http://schemas.microsoft.com/office/powerpoint/2010/main" val="1898028036"/>
              </p:ext>
            </p:extLst>
          </p:nvPr>
        </p:nvGraphicFramePr>
        <p:xfrm>
          <a:off x="182326" y="186575"/>
          <a:ext cx="11661350" cy="6215083"/>
        </p:xfrm>
        <a:graphic>
          <a:graphicData uri="http://schemas.openxmlformats.org/drawingml/2006/table">
            <a:tbl>
              <a:tblPr>
                <a:noFill/>
                <a:tableStyleId>{F959C07E-A9D0-494F-B3B5-55F0E27E85FE}</a:tableStyleId>
              </a:tblPr>
              <a:tblGrid>
                <a:gridCol w="1729975">
                  <a:extLst>
                    <a:ext uri="{9D8B030D-6E8A-4147-A177-3AD203B41FA5}">
                      <a16:colId xmlns:a16="http://schemas.microsoft.com/office/drawing/2014/main" val="20000"/>
                    </a:ext>
                  </a:extLst>
                </a:gridCol>
                <a:gridCol w="3567575">
                  <a:extLst>
                    <a:ext uri="{9D8B030D-6E8A-4147-A177-3AD203B41FA5}">
                      <a16:colId xmlns:a16="http://schemas.microsoft.com/office/drawing/2014/main" val="20001"/>
                    </a:ext>
                  </a:extLst>
                </a:gridCol>
                <a:gridCol w="4026000">
                  <a:extLst>
                    <a:ext uri="{9D8B030D-6E8A-4147-A177-3AD203B41FA5}">
                      <a16:colId xmlns:a16="http://schemas.microsoft.com/office/drawing/2014/main" val="20002"/>
                    </a:ext>
                  </a:extLst>
                </a:gridCol>
                <a:gridCol w="2337800">
                  <a:extLst>
                    <a:ext uri="{9D8B030D-6E8A-4147-A177-3AD203B41FA5}">
                      <a16:colId xmlns:a16="http://schemas.microsoft.com/office/drawing/2014/main" val="20003"/>
                    </a:ext>
                  </a:extLst>
                </a:gridCol>
              </a:tblGrid>
              <a:tr h="699625">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Lato"/>
                          <a:ea typeface="Lato"/>
                          <a:cs typeface="Lato"/>
                          <a:sym typeface="Lato"/>
                        </a:rPr>
                        <a:t>STAKEHOLDER</a:t>
                      </a:r>
                      <a:endParaRPr sz="1600" b="1" u="none" strike="noStrike" cap="none">
                        <a:latin typeface="Lato"/>
                        <a:ea typeface="Lato"/>
                        <a:cs typeface="Lato"/>
                        <a:sym typeface="Lato"/>
                      </a:endParaRPr>
                    </a:p>
                  </a:txBody>
                  <a:tcPr marL="91425" marR="91425" marT="91425" marB="91425">
                    <a:solidFill>
                      <a:srgbClr val="F3F3F3"/>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Lato"/>
                          <a:ea typeface="Lato"/>
                          <a:cs typeface="Lato"/>
                          <a:sym typeface="Lato"/>
                        </a:rPr>
                        <a:t>NEED</a:t>
                      </a:r>
                      <a:endParaRPr sz="1600" b="1" u="none" strike="noStrike" cap="none">
                        <a:latin typeface="Lato"/>
                        <a:ea typeface="Lato"/>
                        <a:cs typeface="Lato"/>
                        <a:sym typeface="Lato"/>
                      </a:endParaRPr>
                    </a:p>
                  </a:txBody>
                  <a:tcPr marL="91425" marR="91425" marT="91425" marB="91425">
                    <a:solidFill>
                      <a:srgbClr val="F3F3F3"/>
                    </a:solidFill>
                  </a:tcPr>
                </a:tc>
                <a:tc>
                  <a:txBody>
                    <a:bodyPr/>
                    <a:lstStyle/>
                    <a:p>
                      <a:pPr marL="0" marR="0" lvl="0" indent="0" algn="l" rtl="0">
                        <a:lnSpc>
                          <a:spcPct val="100000"/>
                        </a:lnSpc>
                        <a:spcBef>
                          <a:spcPts val="0"/>
                        </a:spcBef>
                        <a:spcAft>
                          <a:spcPts val="0"/>
                        </a:spcAft>
                        <a:buNone/>
                      </a:pPr>
                      <a:r>
                        <a:rPr lang="en-US" sz="1600" b="1">
                          <a:latin typeface="Lato"/>
                          <a:ea typeface="Lato"/>
                          <a:cs typeface="Lato"/>
                          <a:sym typeface="Lato"/>
                        </a:rPr>
                        <a:t>MESSAGING</a:t>
                      </a:r>
                      <a:endParaRPr sz="1600" b="1">
                        <a:latin typeface="Lato"/>
                        <a:ea typeface="Lato"/>
                        <a:cs typeface="Lato"/>
                        <a:sym typeface="Lato"/>
                      </a:endParaRPr>
                    </a:p>
                  </a:txBody>
                  <a:tcPr marL="91425" marR="91425" marT="91425" marB="91425">
                    <a:solidFill>
                      <a:srgbClr val="F3F3F3"/>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Lato"/>
                          <a:ea typeface="Lato"/>
                          <a:cs typeface="Lato"/>
                          <a:sym typeface="Lato"/>
                        </a:rPr>
                        <a:t>HOW THEY CAN BE REACHED</a:t>
                      </a:r>
                      <a:endParaRPr sz="1600" b="1" u="none" strike="noStrike" cap="none">
                        <a:latin typeface="Lato"/>
                        <a:ea typeface="Lato"/>
                        <a:cs typeface="Lato"/>
                        <a:sym typeface="Lato"/>
                      </a:endParaRPr>
                    </a:p>
                  </a:txBody>
                  <a:tcPr marL="91425" marR="91425" marT="91425" marB="91425">
                    <a:solidFill>
                      <a:srgbClr val="F3F3F3"/>
                    </a:solidFill>
                  </a:tcPr>
                </a:tc>
                <a:extLst>
                  <a:ext uri="{0D108BD9-81ED-4DB2-BD59-A6C34878D82A}">
                    <a16:rowId xmlns:a16="http://schemas.microsoft.com/office/drawing/2014/main" val="10000"/>
                  </a:ext>
                </a:extLst>
              </a:tr>
              <a:tr h="954025">
                <a:tc>
                  <a:txBody>
                    <a:bodyPr/>
                    <a:lstStyle/>
                    <a:p>
                      <a:pPr marL="0" lvl="0" indent="0" algn="l" rtl="0">
                        <a:lnSpc>
                          <a:spcPct val="115000"/>
                        </a:lnSpc>
                        <a:spcBef>
                          <a:spcPts val="0"/>
                        </a:spcBef>
                        <a:spcAft>
                          <a:spcPts val="1000"/>
                        </a:spcAft>
                        <a:buNone/>
                      </a:pPr>
                      <a:r>
                        <a:rPr lang="en-US" sz="1600">
                          <a:solidFill>
                            <a:schemeClr val="dk1"/>
                          </a:solidFill>
                          <a:latin typeface="Lato"/>
                          <a:ea typeface="Lato"/>
                          <a:cs typeface="Lato"/>
                          <a:sym typeface="Lato"/>
                        </a:rPr>
                        <a:t>Young students and graduates </a:t>
                      </a:r>
                      <a:endParaRPr sz="1600" u="none" strike="noStrike" cap="none">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None/>
                      </a:pPr>
                      <a:r>
                        <a:rPr lang="en-US" sz="1600">
                          <a:solidFill>
                            <a:schemeClr val="dk1"/>
                          </a:solidFill>
                          <a:latin typeface="Lato"/>
                          <a:ea typeface="Lato"/>
                          <a:cs typeface="Lato"/>
                          <a:sym typeface="Lato"/>
                        </a:rPr>
                        <a:t>Skills development, mentorship, internship opportunities, access to funding for student ventures.</a:t>
                      </a:r>
                      <a:endParaRPr sz="1600" u="none" strike="noStrike" cap="none">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None/>
                      </a:pPr>
                      <a:r>
                        <a:rPr lang="en-US" sz="1600">
                          <a:solidFill>
                            <a:schemeClr val="dk1"/>
                          </a:solidFill>
                          <a:latin typeface="Lato"/>
                          <a:ea typeface="Lato"/>
                          <a:cs typeface="Lato"/>
                          <a:sym typeface="Lato"/>
                        </a:rPr>
                        <a:t>Highlight programs that equip students with entrepreneurial skills, emphasize internship opportunities with innovative companies. Emphasize the hub's role in fostering a vibrant innovation ecosystem for aspiring founders</a:t>
                      </a:r>
                      <a:endParaRPr sz="1600">
                        <a:solidFill>
                          <a:schemeClr val="dk1"/>
                        </a:solidFill>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800"/>
                        <a:buFont typeface="Arial"/>
                        <a:buNone/>
                      </a:pPr>
                      <a:r>
                        <a:rPr lang="en-US" sz="1600" u="none" strike="noStrike" cap="none" dirty="0">
                          <a:solidFill>
                            <a:srgbClr val="000000"/>
                          </a:solidFill>
                          <a:latin typeface="Lato"/>
                          <a:ea typeface="Lato"/>
                          <a:cs typeface="Lato"/>
                          <a:sym typeface="Lato"/>
                        </a:rPr>
                        <a:t>Articles, news reports, Ads, Events</a:t>
                      </a:r>
                      <a:endParaRPr sz="1600" u="none" strike="noStrike" cap="none" dirty="0">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r h="823575">
                <a:tc>
                  <a:txBody>
                    <a:bodyPr/>
                    <a:lstStyle/>
                    <a:p>
                      <a:pPr marL="0" lvl="0" indent="0" algn="l" rtl="0">
                        <a:lnSpc>
                          <a:spcPct val="115000"/>
                        </a:lnSpc>
                        <a:spcBef>
                          <a:spcPts val="0"/>
                        </a:spcBef>
                        <a:spcAft>
                          <a:spcPts val="1000"/>
                        </a:spcAft>
                        <a:buNone/>
                      </a:pPr>
                      <a:r>
                        <a:rPr lang="en-US" sz="1600">
                          <a:solidFill>
                            <a:schemeClr val="dk1"/>
                          </a:solidFill>
                          <a:latin typeface="Lato"/>
                          <a:ea typeface="Lato"/>
                          <a:cs typeface="Lato"/>
                          <a:sym typeface="Lato"/>
                        </a:rPr>
                        <a:t>Startup Founders </a:t>
                      </a:r>
                      <a:endParaRPr sz="1600" u="none" strike="noStrike" cap="none">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Clr>
                          <a:schemeClr val="dk1"/>
                        </a:buClr>
                        <a:buSzPts val="1100"/>
                        <a:buFont typeface="Arial"/>
                        <a:buNone/>
                      </a:pPr>
                      <a:r>
                        <a:rPr lang="en-US" sz="1600">
                          <a:solidFill>
                            <a:schemeClr val="dk1"/>
                          </a:solidFill>
                          <a:latin typeface="Lato"/>
                          <a:ea typeface="Lato"/>
                          <a:cs typeface="Lato"/>
                          <a:sym typeface="Lato"/>
                        </a:rPr>
                        <a:t>Need funding, co-working space, and technology infrastructure. Mentorship from experienced entrepreneurs and industry experts. Networking opportunities with potential investors, partners, and customers.</a:t>
                      </a:r>
                      <a:endParaRPr sz="1600">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Clr>
                          <a:schemeClr val="dk1"/>
                        </a:buClr>
                        <a:buSzPts val="1100"/>
                        <a:buFont typeface="Arial"/>
                        <a:buNone/>
                      </a:pPr>
                      <a:r>
                        <a:rPr lang="en-US" sz="1600" dirty="0">
                          <a:solidFill>
                            <a:schemeClr val="dk1"/>
                          </a:solidFill>
                          <a:latin typeface="Lato"/>
                          <a:ea typeface="Lato"/>
                          <a:cs typeface="Lato"/>
                          <a:sym typeface="Lato"/>
                        </a:rPr>
                        <a:t>Communicate the hub's support for startups in underserved sectors relevant to the region. Position the hub as a launchpad for scaling startups and connecting them with the right networks.</a:t>
                      </a:r>
                      <a:endParaRPr sz="1600" u="none" strike="noStrike" cap="none" dirty="0">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300"/>
                        <a:buFont typeface="Arial"/>
                        <a:buNone/>
                      </a:pPr>
                      <a:r>
                        <a:rPr lang="en-US" sz="1600" dirty="0">
                          <a:latin typeface="Lato"/>
                          <a:ea typeface="Lato"/>
                          <a:cs typeface="Lato"/>
                          <a:sym typeface="Lato"/>
                        </a:rPr>
                        <a:t>Events</a:t>
                      </a:r>
                      <a:r>
                        <a:rPr lang="en-US" sz="1600" u="none" strike="noStrike" cap="none" dirty="0">
                          <a:latin typeface="Lato"/>
                          <a:ea typeface="Lato"/>
                          <a:cs typeface="Lato"/>
                          <a:sym typeface="Lato"/>
                        </a:rPr>
                        <a:t>, </a:t>
                      </a:r>
                      <a:r>
                        <a:rPr lang="en-US" sz="1600" u="none" strike="noStrike" cap="none" dirty="0">
                          <a:solidFill>
                            <a:srgbClr val="000000"/>
                          </a:solidFill>
                          <a:latin typeface="Lato"/>
                          <a:ea typeface="Lato"/>
                          <a:cs typeface="Lato"/>
                          <a:sym typeface="Lato"/>
                        </a:rPr>
                        <a:t>Articles, news reports</a:t>
                      </a:r>
                      <a:r>
                        <a:rPr lang="en-US" sz="1600" dirty="0">
                          <a:latin typeface="Lato"/>
                          <a:ea typeface="Lato"/>
                          <a:cs typeface="Lato"/>
                          <a:sym typeface="Lato"/>
                        </a:rPr>
                        <a:t>, b</a:t>
                      </a:r>
                      <a:r>
                        <a:rPr lang="en-US" sz="1600" dirty="0">
                          <a:solidFill>
                            <a:schemeClr val="dk1"/>
                          </a:solidFill>
                          <a:latin typeface="Lato"/>
                          <a:ea typeface="Lato"/>
                          <a:cs typeface="Lato"/>
                          <a:sym typeface="Lato"/>
                        </a:rPr>
                        <a:t>ootcamps and workshops, Ads</a:t>
                      </a:r>
                      <a:endParaRPr sz="1600" dirty="0">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r h="1208475">
                <a:tc>
                  <a:txBody>
                    <a:bodyPr/>
                    <a:lstStyle/>
                    <a:p>
                      <a:pPr marL="0" lvl="0" indent="0" algn="l" rtl="0">
                        <a:lnSpc>
                          <a:spcPct val="115000"/>
                        </a:lnSpc>
                        <a:spcBef>
                          <a:spcPts val="0"/>
                        </a:spcBef>
                        <a:spcAft>
                          <a:spcPts val="1000"/>
                        </a:spcAft>
                        <a:buNone/>
                      </a:pPr>
                      <a:r>
                        <a:rPr lang="en-US" sz="1600">
                          <a:solidFill>
                            <a:schemeClr val="dk1"/>
                          </a:solidFill>
                          <a:latin typeface="Lato"/>
                          <a:ea typeface="Lato"/>
                          <a:cs typeface="Lato"/>
                          <a:sym typeface="Lato"/>
                        </a:rPr>
                        <a:t>Investors</a:t>
                      </a:r>
                      <a:endParaRPr sz="1600" u="none" strike="noStrike" cap="none">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None/>
                      </a:pPr>
                      <a:r>
                        <a:rPr lang="en-US" sz="1600">
                          <a:solidFill>
                            <a:schemeClr val="dk1"/>
                          </a:solidFill>
                          <a:latin typeface="Lato"/>
                          <a:ea typeface="Lato"/>
                          <a:cs typeface="Lato"/>
                          <a:sym typeface="Lato"/>
                        </a:rPr>
                        <a:t>High-potential startups with strong growth potential, access to a deal flow of investable ventures, and a supportive ecosystem for startups.</a:t>
                      </a:r>
                      <a:endParaRPr sz="1600">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Clr>
                          <a:schemeClr val="dk1"/>
                        </a:buClr>
                        <a:buSzPts val="1100"/>
                        <a:buFont typeface="Arial"/>
                        <a:buNone/>
                      </a:pPr>
                      <a:r>
                        <a:rPr lang="en-US" sz="1600">
                          <a:solidFill>
                            <a:schemeClr val="dk1"/>
                          </a:solidFill>
                          <a:latin typeface="Lato"/>
                          <a:ea typeface="Lato"/>
                          <a:cs typeface="Lato"/>
                          <a:sym typeface="Lato"/>
                        </a:rPr>
                        <a:t>Share data on the success rates of startups supported by the hub to demonstrate a strong track record. Position the hub as a reliable source for identifying and investing in promising </a:t>
                      </a:r>
                      <a:endParaRPr sz="1600" u="none" strike="noStrike" cap="none">
                        <a:solidFill>
                          <a:srgbClr val="000000"/>
                        </a:solidFill>
                        <a:latin typeface="Lato"/>
                        <a:ea typeface="Lato"/>
                        <a:cs typeface="Lato"/>
                        <a:sym typeface="Lato"/>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800"/>
                        <a:buFont typeface="Arial"/>
                        <a:buNone/>
                      </a:pPr>
                      <a:r>
                        <a:rPr lang="en-US" sz="1600" dirty="0">
                          <a:latin typeface="Lato"/>
                          <a:ea typeface="Lato"/>
                          <a:cs typeface="Lato"/>
                          <a:sym typeface="Lato"/>
                        </a:rPr>
                        <a:t>S</a:t>
                      </a:r>
                      <a:r>
                        <a:rPr lang="en-US" sz="1600" u="none" strike="noStrike" cap="none" dirty="0">
                          <a:solidFill>
                            <a:srgbClr val="000000"/>
                          </a:solidFill>
                          <a:latin typeface="Lato"/>
                          <a:ea typeface="Lato"/>
                          <a:cs typeface="Lato"/>
                          <a:sym typeface="Lato"/>
                        </a:rPr>
                        <a:t>eminars, webinars, articles, news reports. </a:t>
                      </a:r>
                      <a:r>
                        <a:rPr lang="en-US" sz="1600" dirty="0">
                          <a:solidFill>
                            <a:schemeClr val="dk1"/>
                          </a:solidFill>
                          <a:latin typeface="Lato"/>
                          <a:ea typeface="Lato"/>
                          <a:cs typeface="Lato"/>
                          <a:sym typeface="Lato"/>
                        </a:rPr>
                        <a:t> conferences and workshops, Ads, one-on-one engagements</a:t>
                      </a:r>
                      <a:endParaRPr sz="1600" u="none" strike="noStrike" cap="none" dirty="0">
                        <a:latin typeface="Lato"/>
                        <a:ea typeface="Lato"/>
                        <a:cs typeface="Lato"/>
                        <a:sym typeface="Lato"/>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pSp>
        <p:nvGrpSpPr>
          <p:cNvPr id="293" name="Google Shape;293;p32"/>
          <p:cNvGrpSpPr/>
          <p:nvPr/>
        </p:nvGrpSpPr>
        <p:grpSpPr>
          <a:xfrm>
            <a:off x="9910844" y="5045076"/>
            <a:ext cx="2311056" cy="1847888"/>
            <a:chOff x="9283128" y="4713378"/>
            <a:chExt cx="2938779" cy="2331720"/>
          </a:xfrm>
        </p:grpSpPr>
        <p:sp>
          <p:nvSpPr>
            <p:cNvPr id="294" name="Google Shape;294;p32"/>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5" name="Google Shape;295;p32"/>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6" name="Google Shape;296;p32"/>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97" name="Google Shape;297;p32"/>
          <p:cNvGrpSpPr/>
          <p:nvPr/>
        </p:nvGrpSpPr>
        <p:grpSpPr>
          <a:xfrm>
            <a:off x="593050" y="6292875"/>
            <a:ext cx="11495400" cy="415590"/>
            <a:chOff x="593050" y="6292875"/>
            <a:chExt cx="11495400" cy="415590"/>
          </a:xfrm>
        </p:grpSpPr>
        <p:sp>
          <p:nvSpPr>
            <p:cNvPr id="298" name="Google Shape;298;p32"/>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299" name="Google Shape;299;p32"/>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300" name="Google Shape;300;p32"/>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graphicFrame>
        <p:nvGraphicFramePr>
          <p:cNvPr id="301" name="Google Shape;301;p32"/>
          <p:cNvGraphicFramePr/>
          <p:nvPr/>
        </p:nvGraphicFramePr>
        <p:xfrm>
          <a:off x="265326" y="572000"/>
          <a:ext cx="11661350" cy="5650661"/>
        </p:xfrm>
        <a:graphic>
          <a:graphicData uri="http://schemas.openxmlformats.org/drawingml/2006/table">
            <a:tbl>
              <a:tblPr>
                <a:noFill/>
                <a:tableStyleId>{F959C07E-A9D0-494F-B3B5-55F0E27E85FE}</a:tableStyleId>
              </a:tblPr>
              <a:tblGrid>
                <a:gridCol w="1729975">
                  <a:extLst>
                    <a:ext uri="{9D8B030D-6E8A-4147-A177-3AD203B41FA5}">
                      <a16:colId xmlns:a16="http://schemas.microsoft.com/office/drawing/2014/main" val="20000"/>
                    </a:ext>
                  </a:extLst>
                </a:gridCol>
                <a:gridCol w="3567575">
                  <a:extLst>
                    <a:ext uri="{9D8B030D-6E8A-4147-A177-3AD203B41FA5}">
                      <a16:colId xmlns:a16="http://schemas.microsoft.com/office/drawing/2014/main" val="20001"/>
                    </a:ext>
                  </a:extLst>
                </a:gridCol>
                <a:gridCol w="4026000">
                  <a:extLst>
                    <a:ext uri="{9D8B030D-6E8A-4147-A177-3AD203B41FA5}">
                      <a16:colId xmlns:a16="http://schemas.microsoft.com/office/drawing/2014/main" val="20002"/>
                    </a:ext>
                  </a:extLst>
                </a:gridCol>
                <a:gridCol w="2337800">
                  <a:extLst>
                    <a:ext uri="{9D8B030D-6E8A-4147-A177-3AD203B41FA5}">
                      <a16:colId xmlns:a16="http://schemas.microsoft.com/office/drawing/2014/main" val="20003"/>
                    </a:ext>
                  </a:extLst>
                </a:gridCol>
              </a:tblGrid>
              <a:tr h="699625">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Lato"/>
                          <a:ea typeface="Lato"/>
                          <a:cs typeface="Lato"/>
                          <a:sym typeface="Lato"/>
                        </a:rPr>
                        <a:t>STAKEHOLDER</a:t>
                      </a:r>
                      <a:endParaRPr sz="1600" b="1" u="none" strike="noStrike" cap="none">
                        <a:latin typeface="Lato"/>
                        <a:ea typeface="Lato"/>
                        <a:cs typeface="Lato"/>
                        <a:sym typeface="Lato"/>
                      </a:endParaRPr>
                    </a:p>
                  </a:txBody>
                  <a:tcPr marL="91425" marR="91425" marT="91425" marB="91425">
                    <a:solidFill>
                      <a:srgbClr val="F3F3F3"/>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Lato"/>
                          <a:ea typeface="Lato"/>
                          <a:cs typeface="Lato"/>
                          <a:sym typeface="Lato"/>
                        </a:rPr>
                        <a:t>NEED</a:t>
                      </a:r>
                      <a:endParaRPr sz="1600" b="1" u="none" strike="noStrike" cap="none">
                        <a:latin typeface="Lato"/>
                        <a:ea typeface="Lato"/>
                        <a:cs typeface="Lato"/>
                        <a:sym typeface="Lato"/>
                      </a:endParaRPr>
                    </a:p>
                  </a:txBody>
                  <a:tcPr marL="91425" marR="91425" marT="91425" marB="91425">
                    <a:solidFill>
                      <a:srgbClr val="F3F3F3"/>
                    </a:solidFill>
                  </a:tcPr>
                </a:tc>
                <a:tc>
                  <a:txBody>
                    <a:bodyPr/>
                    <a:lstStyle/>
                    <a:p>
                      <a:pPr marL="0" marR="0" lvl="0" indent="0" algn="l" rtl="0">
                        <a:lnSpc>
                          <a:spcPct val="100000"/>
                        </a:lnSpc>
                        <a:spcBef>
                          <a:spcPts val="0"/>
                        </a:spcBef>
                        <a:spcAft>
                          <a:spcPts val="0"/>
                        </a:spcAft>
                        <a:buNone/>
                      </a:pPr>
                      <a:r>
                        <a:rPr lang="en-US" sz="1600" b="1">
                          <a:latin typeface="Lato"/>
                          <a:ea typeface="Lato"/>
                          <a:cs typeface="Lato"/>
                          <a:sym typeface="Lato"/>
                        </a:rPr>
                        <a:t>MESSAGING</a:t>
                      </a:r>
                      <a:endParaRPr sz="1600" b="1">
                        <a:latin typeface="Lato"/>
                        <a:ea typeface="Lato"/>
                        <a:cs typeface="Lato"/>
                        <a:sym typeface="Lato"/>
                      </a:endParaRPr>
                    </a:p>
                  </a:txBody>
                  <a:tcPr marL="91425" marR="91425" marT="91425" marB="91425">
                    <a:solidFill>
                      <a:srgbClr val="F3F3F3"/>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600" b="1">
                          <a:latin typeface="Lato"/>
                          <a:ea typeface="Lato"/>
                          <a:cs typeface="Lato"/>
                          <a:sym typeface="Lato"/>
                        </a:rPr>
                        <a:t>HOW THEY CAN BE REACHED</a:t>
                      </a:r>
                      <a:endParaRPr sz="1600" b="1" u="none" strike="noStrike" cap="none">
                        <a:latin typeface="Lato"/>
                        <a:ea typeface="Lato"/>
                        <a:cs typeface="Lato"/>
                        <a:sym typeface="Lato"/>
                      </a:endParaRPr>
                    </a:p>
                  </a:txBody>
                  <a:tcPr marL="91425" marR="91425" marT="91425" marB="91425">
                    <a:solidFill>
                      <a:srgbClr val="F3F3F3"/>
                    </a:solidFill>
                  </a:tcPr>
                </a:tc>
                <a:extLst>
                  <a:ext uri="{0D108BD9-81ED-4DB2-BD59-A6C34878D82A}">
                    <a16:rowId xmlns:a16="http://schemas.microsoft.com/office/drawing/2014/main" val="10000"/>
                  </a:ext>
                </a:extLst>
              </a:tr>
              <a:tr h="1208475">
                <a:tc>
                  <a:txBody>
                    <a:bodyPr/>
                    <a:lstStyle/>
                    <a:p>
                      <a:pPr marL="0" lvl="0" indent="0" algn="l" rtl="0">
                        <a:lnSpc>
                          <a:spcPct val="115000"/>
                        </a:lnSpc>
                        <a:spcBef>
                          <a:spcPts val="0"/>
                        </a:spcBef>
                        <a:spcAft>
                          <a:spcPts val="1000"/>
                        </a:spcAft>
                        <a:buNone/>
                      </a:pPr>
                      <a:r>
                        <a:rPr lang="en-US" sz="1600">
                          <a:solidFill>
                            <a:schemeClr val="dk1"/>
                          </a:solidFill>
                          <a:latin typeface="Lato"/>
                          <a:ea typeface="Lato"/>
                          <a:cs typeface="Lato"/>
                          <a:sym typeface="Lato"/>
                        </a:rPr>
                        <a:t>Higher Institutions </a:t>
                      </a:r>
                      <a:endParaRPr sz="1600" u="none" strike="noStrike" cap="none">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None/>
                      </a:pPr>
                      <a:r>
                        <a:rPr lang="en-US" sz="1600">
                          <a:solidFill>
                            <a:schemeClr val="dk1"/>
                          </a:solidFill>
                          <a:latin typeface="Lato"/>
                          <a:ea typeface="Lato"/>
                          <a:cs typeface="Lato"/>
                          <a:sym typeface="Lato"/>
                        </a:rPr>
                        <a:t>Evidence-based solutions for social and economic challenges, alignment with regional development goals, job creation, and positive social impact.</a:t>
                      </a:r>
                      <a:endParaRPr sz="1600">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Clr>
                          <a:schemeClr val="dk1"/>
                        </a:buClr>
                        <a:buSzPts val="1100"/>
                        <a:buFont typeface="Arial"/>
                        <a:buNone/>
                      </a:pPr>
                      <a:r>
                        <a:rPr lang="en-US" sz="1600">
                          <a:solidFill>
                            <a:schemeClr val="dk1"/>
                          </a:solidFill>
                          <a:latin typeface="Lato"/>
                          <a:ea typeface="Lato"/>
                          <a:cs typeface="Lato"/>
                          <a:sym typeface="Lato"/>
                        </a:rPr>
                        <a:t>Communicate the hub's focus on  connecting startups with economic and societal challenges, emphasize opportunities for research, co-creation and collaboration with startups, and highlight the talent pool available through the hub's programs.</a:t>
                      </a:r>
                      <a:endParaRPr sz="1600" u="none" strike="noStrike" cap="none">
                        <a:latin typeface="Lato"/>
                        <a:ea typeface="Lato"/>
                        <a:cs typeface="Lato"/>
                        <a:sym typeface="Lato"/>
                      </a:endParaRPr>
                    </a:p>
                  </a:txBody>
                  <a:tcPr marL="91425" marR="91425" marT="91425" marB="91425"/>
                </a:tc>
                <a:tc>
                  <a:txBody>
                    <a:bodyPr/>
                    <a:lstStyle/>
                    <a:p>
                      <a:pPr marL="0" lvl="0" indent="0" algn="l" rtl="0">
                        <a:spcBef>
                          <a:spcPts val="0"/>
                        </a:spcBef>
                        <a:spcAft>
                          <a:spcPts val="0"/>
                        </a:spcAft>
                        <a:buClr>
                          <a:schemeClr val="dk1"/>
                        </a:buClr>
                        <a:buSzPts val="800"/>
                        <a:buFont typeface="Arial"/>
                        <a:buNone/>
                      </a:pPr>
                      <a:r>
                        <a:rPr lang="en-US" sz="1600">
                          <a:solidFill>
                            <a:schemeClr val="dk1"/>
                          </a:solidFill>
                          <a:latin typeface="Lato"/>
                          <a:ea typeface="Lato"/>
                          <a:cs typeface="Lato"/>
                          <a:sym typeface="Lato"/>
                        </a:rPr>
                        <a:t>Articles, news reports, seminars, workshops, conferences, Ads</a:t>
                      </a:r>
                      <a:endParaRPr sz="1600" u="none" strike="noStrike" cap="none">
                        <a:latin typeface="Lato"/>
                        <a:ea typeface="Lato"/>
                        <a:cs typeface="Lato"/>
                        <a:sym typeface="Lato"/>
                      </a:endParaRPr>
                    </a:p>
                  </a:txBody>
                  <a:tcPr marL="91425" marR="91425" marT="91425" marB="91425"/>
                </a:tc>
                <a:extLst>
                  <a:ext uri="{0D108BD9-81ED-4DB2-BD59-A6C34878D82A}">
                    <a16:rowId xmlns:a16="http://schemas.microsoft.com/office/drawing/2014/main" val="10001"/>
                  </a:ext>
                </a:extLst>
              </a:tr>
              <a:tr h="1208475">
                <a:tc>
                  <a:txBody>
                    <a:bodyPr/>
                    <a:lstStyle/>
                    <a:p>
                      <a:pPr marL="0" lvl="0" indent="0" algn="l" rtl="0">
                        <a:lnSpc>
                          <a:spcPct val="115000"/>
                        </a:lnSpc>
                        <a:spcBef>
                          <a:spcPts val="0"/>
                        </a:spcBef>
                        <a:spcAft>
                          <a:spcPts val="1000"/>
                        </a:spcAft>
                        <a:buNone/>
                      </a:pPr>
                      <a:r>
                        <a:rPr lang="en-US" sz="1600">
                          <a:solidFill>
                            <a:schemeClr val="dk1"/>
                          </a:solidFill>
                          <a:latin typeface="Lato"/>
                          <a:ea typeface="Lato"/>
                          <a:cs typeface="Lato"/>
                          <a:sym typeface="Lato"/>
                        </a:rPr>
                        <a:t>Corporate &amp; Public Sector Partners</a:t>
                      </a:r>
                      <a:endParaRPr sz="1600">
                        <a:solidFill>
                          <a:schemeClr val="dk1"/>
                        </a:solidFill>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1200"/>
                        </a:spcAft>
                        <a:buNone/>
                      </a:pPr>
                      <a:r>
                        <a:rPr lang="en-US" sz="1600">
                          <a:solidFill>
                            <a:schemeClr val="dk1"/>
                          </a:solidFill>
                          <a:latin typeface="Lato"/>
                          <a:ea typeface="Lato"/>
                          <a:cs typeface="Lato"/>
                          <a:sym typeface="Lato"/>
                        </a:rPr>
                        <a:t>Access to cutting-edge solutions, opportunities to collaborate with innovative startups, talent acquisition pipelines, and positive brand association with innovation.</a:t>
                      </a:r>
                      <a:endParaRPr sz="1600">
                        <a:latin typeface="Lato"/>
                        <a:ea typeface="Lato"/>
                        <a:cs typeface="Lato"/>
                        <a:sym typeface="Lato"/>
                      </a:endParaRPr>
                    </a:p>
                  </a:txBody>
                  <a:tcPr marL="91425" marR="91425" marT="91425" marB="91425"/>
                </a:tc>
                <a:tc>
                  <a:txBody>
                    <a:bodyPr/>
                    <a:lstStyle/>
                    <a:p>
                      <a:pPr marL="0" lvl="0" indent="0" algn="l" rtl="0">
                        <a:lnSpc>
                          <a:spcPct val="115000"/>
                        </a:lnSpc>
                        <a:spcBef>
                          <a:spcPts val="1200"/>
                        </a:spcBef>
                        <a:spcAft>
                          <a:spcPts val="0"/>
                        </a:spcAft>
                        <a:buClr>
                          <a:schemeClr val="dk1"/>
                        </a:buClr>
                        <a:buSzPts val="1100"/>
                        <a:buFont typeface="Arial"/>
                        <a:buNone/>
                      </a:pPr>
                      <a:r>
                        <a:rPr lang="en-US" sz="1600">
                          <a:solidFill>
                            <a:schemeClr val="dk1"/>
                          </a:solidFill>
                          <a:latin typeface="Lato"/>
                          <a:ea typeface="Lato"/>
                          <a:cs typeface="Lato"/>
                          <a:sym typeface="Lato"/>
                        </a:rPr>
                        <a:t>Communicate the hub's focus on  connecting startups with industry challenges, emphasize opportunities for co-creation and collaboration with startups, and highlight the talent pool available through the hub's programs. Showcase the hub's commitment to building a diverse and skilled talent pool.</a:t>
                      </a:r>
                      <a:endParaRPr sz="1600">
                        <a:solidFill>
                          <a:schemeClr val="dk1"/>
                        </a:solidFill>
                        <a:latin typeface="Lato"/>
                        <a:ea typeface="Lato"/>
                        <a:cs typeface="Lato"/>
                        <a:sym typeface="Lato"/>
                      </a:endParaRPr>
                    </a:p>
                    <a:p>
                      <a:pPr marL="0" lvl="0" indent="0" algn="l" rtl="0">
                        <a:lnSpc>
                          <a:spcPct val="115000"/>
                        </a:lnSpc>
                        <a:spcBef>
                          <a:spcPts val="1200"/>
                        </a:spcBef>
                        <a:spcAft>
                          <a:spcPts val="1200"/>
                        </a:spcAft>
                        <a:buNone/>
                      </a:pPr>
                      <a:endParaRPr sz="1600">
                        <a:solidFill>
                          <a:schemeClr val="dk1"/>
                        </a:solidFill>
                        <a:latin typeface="Lato"/>
                        <a:ea typeface="Lato"/>
                        <a:cs typeface="Lato"/>
                        <a:sym typeface="Lato"/>
                      </a:endParaRPr>
                    </a:p>
                  </a:txBody>
                  <a:tcPr marL="91425" marR="91425" marT="91425" marB="91425"/>
                </a:tc>
                <a:tc>
                  <a:txBody>
                    <a:bodyPr/>
                    <a:lstStyle/>
                    <a:p>
                      <a:pPr marL="0" lvl="0" indent="0" algn="l" rtl="0">
                        <a:spcBef>
                          <a:spcPts val="0"/>
                        </a:spcBef>
                        <a:spcAft>
                          <a:spcPts val="0"/>
                        </a:spcAft>
                        <a:buClr>
                          <a:schemeClr val="dk1"/>
                        </a:buClr>
                        <a:buSzPts val="800"/>
                        <a:buFont typeface="Arial"/>
                        <a:buNone/>
                      </a:pPr>
                      <a:r>
                        <a:rPr lang="en-US" sz="1600">
                          <a:solidFill>
                            <a:schemeClr val="dk1"/>
                          </a:solidFill>
                          <a:latin typeface="Lato"/>
                          <a:ea typeface="Lato"/>
                          <a:cs typeface="Lato"/>
                          <a:sym typeface="Lato"/>
                        </a:rPr>
                        <a:t>Seminars, webinars, articles, news reports.  conferences and workshops, Ads, one-on-one engagements</a:t>
                      </a:r>
                      <a:endParaRPr sz="1600" u="none" strike="noStrike" cap="none">
                        <a:solidFill>
                          <a:srgbClr val="000000"/>
                        </a:solidFill>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grpSp>
        <p:nvGrpSpPr>
          <p:cNvPr id="306" name="Google Shape;306;p33"/>
          <p:cNvGrpSpPr/>
          <p:nvPr/>
        </p:nvGrpSpPr>
        <p:grpSpPr>
          <a:xfrm>
            <a:off x="9910844" y="5045076"/>
            <a:ext cx="2311056" cy="1847888"/>
            <a:chOff x="9283128" y="4713378"/>
            <a:chExt cx="2938779" cy="2331720"/>
          </a:xfrm>
        </p:grpSpPr>
        <p:sp>
          <p:nvSpPr>
            <p:cNvPr id="307" name="Google Shape;307;p33"/>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8" name="Google Shape;308;p33"/>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9" name="Google Shape;309;p33"/>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310" name="Google Shape;310;p33"/>
          <p:cNvGrpSpPr/>
          <p:nvPr/>
        </p:nvGrpSpPr>
        <p:grpSpPr>
          <a:xfrm>
            <a:off x="593050" y="6292875"/>
            <a:ext cx="11495400" cy="415590"/>
            <a:chOff x="593050" y="6292875"/>
            <a:chExt cx="11495400" cy="415590"/>
          </a:xfrm>
        </p:grpSpPr>
        <p:sp>
          <p:nvSpPr>
            <p:cNvPr id="311" name="Google Shape;311;p33"/>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312" name="Google Shape;312;p33"/>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313" name="Google Shape;313;p33"/>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314" name="Google Shape;314;p33"/>
          <p:cNvSpPr txBox="1"/>
          <p:nvPr/>
        </p:nvSpPr>
        <p:spPr>
          <a:xfrm>
            <a:off x="540300" y="1551825"/>
            <a:ext cx="11009400" cy="1213200"/>
          </a:xfrm>
          <a:prstGeom prst="rect">
            <a:avLst/>
          </a:prstGeom>
          <a:solidFill>
            <a:srgbClr val="EEEEEE"/>
          </a:solidFill>
          <a:ln w="9525" cap="flat" cmpd="sng">
            <a:solidFill>
              <a:srgbClr val="274E13"/>
            </a:solidFill>
            <a:prstDash val="solid"/>
            <a:round/>
            <a:headEnd type="none" w="sm" len="sm"/>
            <a:tailEnd type="none" w="sm" len="sm"/>
          </a:ln>
          <a:effectLst>
            <a:outerShdw blurRad="414338" dist="152400" dir="1920000" algn="bl" rotWithShape="0">
              <a:srgbClr val="D9D9D9">
                <a:alpha val="75000"/>
              </a:srgbClr>
            </a:outerShdw>
          </a:effectLst>
        </p:spPr>
        <p:txBody>
          <a:bodyPr spcFirstLastPara="1" wrap="square" lIns="91425" tIns="91425" rIns="91425" bIns="91425" anchor="t" anchorCtr="0">
            <a:noAutofit/>
          </a:bodyPr>
          <a:lstStyle/>
          <a:p>
            <a:pPr marL="0" lvl="0" indent="0" algn="ctr" rtl="0">
              <a:spcBef>
                <a:spcPts val="0"/>
              </a:spcBef>
              <a:spcAft>
                <a:spcPts val="0"/>
              </a:spcAft>
              <a:buNone/>
            </a:pPr>
            <a:r>
              <a:rPr lang="en-US" sz="1600">
                <a:solidFill>
                  <a:schemeClr val="dk1"/>
                </a:solidFill>
                <a:latin typeface="Lato"/>
                <a:ea typeface="Lato"/>
                <a:cs typeface="Lato"/>
                <a:sym typeface="Lato"/>
              </a:rPr>
              <a:t>To become an indispensable force within the lives of our target audiences, empowering them to achieve their entrepreneurial dreams and aspirations through consistent support, resource access, and meaningful engagement.</a:t>
            </a:r>
            <a:endParaRPr sz="1600">
              <a:solidFill>
                <a:schemeClr val="dk1"/>
              </a:solidFill>
              <a:latin typeface="Lato"/>
              <a:ea typeface="Lato"/>
              <a:cs typeface="Lato"/>
              <a:sym typeface="Lato"/>
            </a:endParaRPr>
          </a:p>
        </p:txBody>
      </p:sp>
      <p:sp>
        <p:nvSpPr>
          <p:cNvPr id="315" name="Google Shape;315;p33"/>
          <p:cNvSpPr txBox="1"/>
          <p:nvPr/>
        </p:nvSpPr>
        <p:spPr>
          <a:xfrm>
            <a:off x="540300" y="3144651"/>
            <a:ext cx="2877000" cy="29847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Differentiation</a:t>
            </a:r>
            <a:endParaRPr sz="1600" b="1">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r>
              <a:rPr lang="en-US" sz="1600" i="1">
                <a:solidFill>
                  <a:schemeClr val="dk1"/>
                </a:solidFill>
                <a:latin typeface="Lato"/>
                <a:ea typeface="Lato"/>
                <a:cs typeface="Lato"/>
                <a:sym typeface="Lato"/>
              </a:rPr>
              <a:t>Do what competitors don’t do</a:t>
            </a:r>
            <a:r>
              <a:rPr lang="en-US" sz="1600">
                <a:solidFill>
                  <a:schemeClr val="dk1"/>
                </a:solidFill>
                <a:latin typeface="Lato"/>
                <a:ea typeface="Lato"/>
                <a:cs typeface="Lato"/>
                <a:sym typeface="Lato"/>
              </a:rPr>
              <a:t>: Cultivate a community where we engage with target audiences on a deeper level, understanding and supporting their entrepreneurial dreams and aspirations.</a:t>
            </a:r>
            <a:endParaRPr sz="1600">
              <a:solidFill>
                <a:schemeClr val="dk1"/>
              </a:solidFill>
              <a:latin typeface="Lato"/>
              <a:ea typeface="Lato"/>
              <a:cs typeface="Lato"/>
              <a:sym typeface="Lato"/>
            </a:endParaRPr>
          </a:p>
        </p:txBody>
      </p:sp>
      <p:sp>
        <p:nvSpPr>
          <p:cNvPr id="316" name="Google Shape;316;p33"/>
          <p:cNvSpPr txBox="1"/>
          <p:nvPr/>
        </p:nvSpPr>
        <p:spPr>
          <a:xfrm>
            <a:off x="4547516" y="3144651"/>
            <a:ext cx="2877000" cy="29847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Reputation</a:t>
            </a:r>
            <a:endParaRPr sz="1600" b="1">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r>
              <a:rPr lang="en-US" sz="1600">
                <a:solidFill>
                  <a:schemeClr val="dk1"/>
                </a:solidFill>
                <a:latin typeface="Lato"/>
                <a:ea typeface="Lato"/>
                <a:cs typeface="Lato"/>
                <a:sym typeface="Lato"/>
              </a:rPr>
              <a:t>Establish authenticity from the very beginning: A face behind the brand and Positioning as a highly reputable platform</a:t>
            </a:r>
            <a:endParaRPr sz="1600">
              <a:solidFill>
                <a:schemeClr val="dk1"/>
              </a:solidFill>
              <a:latin typeface="Lato"/>
              <a:ea typeface="Lato"/>
              <a:cs typeface="Lato"/>
              <a:sym typeface="Lato"/>
            </a:endParaRPr>
          </a:p>
        </p:txBody>
      </p:sp>
      <p:sp>
        <p:nvSpPr>
          <p:cNvPr id="317" name="Google Shape;317;p33"/>
          <p:cNvSpPr txBox="1"/>
          <p:nvPr/>
        </p:nvSpPr>
        <p:spPr>
          <a:xfrm>
            <a:off x="8554732" y="3144651"/>
            <a:ext cx="2877000" cy="29847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Relevance</a:t>
            </a:r>
            <a:endParaRPr sz="1600" b="1">
              <a:solidFill>
                <a:schemeClr val="dk1"/>
              </a:solidFill>
              <a:latin typeface="Lato"/>
              <a:ea typeface="Lato"/>
              <a:cs typeface="Lato"/>
              <a:sym typeface="Lato"/>
            </a:endParaRPr>
          </a:p>
          <a:p>
            <a:pPr marL="0" lvl="0" indent="0" algn="l" rtl="0">
              <a:lnSpc>
                <a:spcPct val="115000"/>
              </a:lnSpc>
              <a:spcBef>
                <a:spcPts val="1200"/>
              </a:spcBef>
              <a:spcAft>
                <a:spcPts val="1200"/>
              </a:spcAft>
              <a:buNone/>
            </a:pPr>
            <a:r>
              <a:rPr lang="en-US" sz="1500">
                <a:solidFill>
                  <a:schemeClr val="dk1"/>
                </a:solidFill>
                <a:latin typeface="Lato"/>
                <a:ea typeface="Lato"/>
                <a:cs typeface="Lato"/>
                <a:sym typeface="Lato"/>
              </a:rPr>
              <a:t>Position the hub as a solution driven organisation. We will focus on communicating the efforts and impact of the Ilorin Innovation Hub in a way that clearly shows their achievements in doing this</a:t>
            </a:r>
            <a:endParaRPr sz="1700">
              <a:solidFill>
                <a:schemeClr val="dk1"/>
              </a:solidFill>
              <a:latin typeface="Lato"/>
              <a:ea typeface="Lato"/>
              <a:cs typeface="Lato"/>
              <a:sym typeface="Lato"/>
            </a:endParaRPr>
          </a:p>
        </p:txBody>
      </p:sp>
      <p:sp>
        <p:nvSpPr>
          <p:cNvPr id="318" name="Google Shape;318;p33"/>
          <p:cNvSpPr txBox="1"/>
          <p:nvPr/>
        </p:nvSpPr>
        <p:spPr>
          <a:xfrm>
            <a:off x="146200" y="239250"/>
            <a:ext cx="74244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200">
                <a:solidFill>
                  <a:schemeClr val="dk1"/>
                </a:solidFill>
                <a:latin typeface="Lato"/>
                <a:ea typeface="Lato"/>
                <a:cs typeface="Lato"/>
                <a:sym typeface="Lato"/>
              </a:rPr>
              <a:t>STRATEGY</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grpSp>
        <p:nvGrpSpPr>
          <p:cNvPr id="323" name="Google Shape;323;p34"/>
          <p:cNvGrpSpPr/>
          <p:nvPr/>
        </p:nvGrpSpPr>
        <p:grpSpPr>
          <a:xfrm>
            <a:off x="9910844" y="5045076"/>
            <a:ext cx="2311056" cy="1847888"/>
            <a:chOff x="9283128" y="4713378"/>
            <a:chExt cx="2938779" cy="2331720"/>
          </a:xfrm>
        </p:grpSpPr>
        <p:sp>
          <p:nvSpPr>
            <p:cNvPr id="324" name="Google Shape;324;p34"/>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5" name="Google Shape;325;p34"/>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6" name="Google Shape;326;p34"/>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327" name="Google Shape;327;p34"/>
          <p:cNvGrpSpPr/>
          <p:nvPr/>
        </p:nvGrpSpPr>
        <p:grpSpPr>
          <a:xfrm>
            <a:off x="593050" y="6292875"/>
            <a:ext cx="11495400" cy="415590"/>
            <a:chOff x="593050" y="6292875"/>
            <a:chExt cx="11495400" cy="415590"/>
          </a:xfrm>
        </p:grpSpPr>
        <p:sp>
          <p:nvSpPr>
            <p:cNvPr id="328" name="Google Shape;328;p34"/>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329" name="Google Shape;329;p34"/>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330" name="Google Shape;330;p34"/>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331" name="Google Shape;331;p34"/>
          <p:cNvSpPr txBox="1"/>
          <p:nvPr/>
        </p:nvSpPr>
        <p:spPr>
          <a:xfrm>
            <a:off x="732900" y="455200"/>
            <a:ext cx="23109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THEME</a:t>
            </a:r>
            <a:endParaRPr sz="2000">
              <a:solidFill>
                <a:schemeClr val="dk1"/>
              </a:solidFill>
              <a:latin typeface="Lato"/>
              <a:ea typeface="Lato"/>
              <a:cs typeface="Lato"/>
              <a:sym typeface="Lato"/>
            </a:endParaRPr>
          </a:p>
        </p:txBody>
      </p:sp>
      <p:sp>
        <p:nvSpPr>
          <p:cNvPr id="332" name="Google Shape;332;p34"/>
          <p:cNvSpPr txBox="1"/>
          <p:nvPr/>
        </p:nvSpPr>
        <p:spPr>
          <a:xfrm>
            <a:off x="891150" y="2004450"/>
            <a:ext cx="45978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Innovation   </a:t>
            </a:r>
            <a:r>
              <a:rPr lang="en-US" sz="2000" b="1">
                <a:solidFill>
                  <a:schemeClr val="dk1"/>
                </a:solidFill>
                <a:latin typeface="Lato"/>
                <a:ea typeface="Lato"/>
                <a:cs typeface="Lato"/>
                <a:sym typeface="Lato"/>
              </a:rPr>
              <a:t>|   </a:t>
            </a:r>
            <a:r>
              <a:rPr lang="en-US" sz="1800">
                <a:solidFill>
                  <a:schemeClr val="dk1"/>
                </a:solidFill>
                <a:latin typeface="Lato"/>
                <a:ea typeface="Lato"/>
                <a:cs typeface="Lato"/>
                <a:sym typeface="Lato"/>
              </a:rPr>
              <a:t>for People &amp; Economy</a:t>
            </a:r>
            <a:endParaRPr sz="1800">
              <a:solidFill>
                <a:schemeClr val="dk1"/>
              </a:solidFill>
              <a:latin typeface="Lato"/>
              <a:ea typeface="Lato"/>
              <a:cs typeface="Lato"/>
              <a:sym typeface="Lato"/>
            </a:endParaRPr>
          </a:p>
        </p:txBody>
      </p:sp>
      <p:sp>
        <p:nvSpPr>
          <p:cNvPr id="333" name="Google Shape;333;p34"/>
          <p:cNvSpPr/>
          <p:nvPr/>
        </p:nvSpPr>
        <p:spPr>
          <a:xfrm>
            <a:off x="448150" y="2049650"/>
            <a:ext cx="426300" cy="415500"/>
          </a:xfrm>
          <a:prstGeom prst="ellipse">
            <a:avLst/>
          </a:prstGeom>
          <a:noFill/>
          <a:ln w="19050" cap="flat" cmpd="sng">
            <a:solidFill>
              <a:srgbClr val="FF002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rgbClr val="274E13"/>
                </a:solidFill>
              </a:rPr>
              <a:t>1</a:t>
            </a:r>
            <a:endParaRPr b="1">
              <a:solidFill>
                <a:srgbClr val="274E13"/>
              </a:solidFill>
            </a:endParaRPr>
          </a:p>
        </p:txBody>
      </p:sp>
      <p:sp>
        <p:nvSpPr>
          <p:cNvPr id="334" name="Google Shape;334;p34"/>
          <p:cNvSpPr/>
          <p:nvPr/>
        </p:nvSpPr>
        <p:spPr>
          <a:xfrm>
            <a:off x="448150" y="3221250"/>
            <a:ext cx="426300" cy="415500"/>
          </a:xfrm>
          <a:prstGeom prst="ellipse">
            <a:avLst/>
          </a:prstGeom>
          <a:noFill/>
          <a:ln w="19050" cap="flat" cmpd="sng">
            <a:solidFill>
              <a:srgbClr val="FF002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a:solidFill>
                  <a:srgbClr val="274E13"/>
                </a:solidFill>
              </a:rPr>
              <a:t>2</a:t>
            </a:r>
            <a:endParaRPr b="1">
              <a:solidFill>
                <a:srgbClr val="274E13"/>
              </a:solidFill>
            </a:endParaRPr>
          </a:p>
        </p:txBody>
      </p:sp>
      <p:sp>
        <p:nvSpPr>
          <p:cNvPr id="335" name="Google Shape;335;p34"/>
          <p:cNvSpPr txBox="1"/>
          <p:nvPr/>
        </p:nvSpPr>
        <p:spPr>
          <a:xfrm>
            <a:off x="874450" y="3221250"/>
            <a:ext cx="4597800" cy="57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Making Innovation Work</a:t>
            </a:r>
            <a:endParaRPr sz="1800">
              <a:solidFill>
                <a:schemeClr val="dk1"/>
              </a:solidFill>
              <a:latin typeface="Lato"/>
              <a:ea typeface="Lato"/>
              <a:cs typeface="Lato"/>
              <a:sym typeface="Lato"/>
            </a:endParaRPr>
          </a:p>
        </p:txBody>
      </p:sp>
      <p:sp>
        <p:nvSpPr>
          <p:cNvPr id="336" name="Google Shape;336;p34"/>
          <p:cNvSpPr txBox="1"/>
          <p:nvPr/>
        </p:nvSpPr>
        <p:spPr>
          <a:xfrm>
            <a:off x="9461050" y="455200"/>
            <a:ext cx="23109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Core Message</a:t>
            </a:r>
            <a:endParaRPr sz="2000">
              <a:solidFill>
                <a:schemeClr val="dk1"/>
              </a:solidFill>
              <a:latin typeface="Lato"/>
              <a:ea typeface="Lato"/>
              <a:cs typeface="Lato"/>
              <a:sym typeface="Lato"/>
            </a:endParaRPr>
          </a:p>
        </p:txBody>
      </p:sp>
      <p:sp>
        <p:nvSpPr>
          <p:cNvPr id="337" name="Google Shape;337;p34"/>
          <p:cNvSpPr txBox="1"/>
          <p:nvPr/>
        </p:nvSpPr>
        <p:spPr>
          <a:xfrm>
            <a:off x="6703025" y="1801850"/>
            <a:ext cx="5068800" cy="2389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Ilorin Innovation Hub is home to new ideas, helping to nurture and bringing them to  reality</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A centre for solving real problems that will lead to growth and development</a:t>
            </a:r>
            <a:endParaRPr sz="1800">
              <a:solidFill>
                <a:schemeClr val="dk1"/>
              </a:solidFill>
              <a:latin typeface="Lato"/>
              <a:ea typeface="Lato"/>
              <a:cs typeface="Lato"/>
              <a:sym typeface="Lato"/>
            </a:endParaRPr>
          </a:p>
        </p:txBody>
      </p:sp>
      <p:sp>
        <p:nvSpPr>
          <p:cNvPr id="338" name="Google Shape;338;p34"/>
          <p:cNvSpPr txBox="1"/>
          <p:nvPr/>
        </p:nvSpPr>
        <p:spPr>
          <a:xfrm>
            <a:off x="6703025" y="4371813"/>
            <a:ext cx="5068800" cy="17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Message Pillars</a:t>
            </a:r>
            <a:endParaRPr sz="18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800">
                <a:solidFill>
                  <a:schemeClr val="dk1"/>
                </a:solidFill>
                <a:latin typeface="Lato"/>
                <a:ea typeface="Lato"/>
                <a:cs typeface="Lato"/>
                <a:sym typeface="Lato"/>
              </a:rPr>
              <a:t>Innovation &amp; Entrepreneurship</a:t>
            </a:r>
            <a:endParaRPr sz="18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800">
                <a:solidFill>
                  <a:schemeClr val="dk1"/>
                </a:solidFill>
                <a:latin typeface="Lato"/>
                <a:ea typeface="Lato"/>
                <a:cs typeface="Lato"/>
                <a:sym typeface="Lato"/>
              </a:rPr>
              <a:t>Youth Empowerment</a:t>
            </a:r>
            <a:endParaRPr sz="18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800">
                <a:solidFill>
                  <a:schemeClr val="dk1"/>
                </a:solidFill>
                <a:latin typeface="Lato"/>
                <a:ea typeface="Lato"/>
                <a:cs typeface="Lato"/>
                <a:sym typeface="Lato"/>
              </a:rPr>
              <a:t>Tech &amp; Economic Development</a:t>
            </a:r>
            <a:endParaRPr sz="18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800">
                <a:solidFill>
                  <a:schemeClr val="dk1"/>
                </a:solidFill>
                <a:latin typeface="Lato"/>
                <a:ea typeface="Lato"/>
                <a:cs typeface="Lato"/>
                <a:sym typeface="Lato"/>
              </a:rPr>
              <a:t>Ilorin Hub Impact</a:t>
            </a:r>
            <a:endParaRPr sz="1800">
              <a:solidFill>
                <a:schemeClr val="dk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grpSp>
        <p:nvGrpSpPr>
          <p:cNvPr id="343" name="Google Shape;343;p35"/>
          <p:cNvGrpSpPr/>
          <p:nvPr/>
        </p:nvGrpSpPr>
        <p:grpSpPr>
          <a:xfrm>
            <a:off x="9910844" y="5045076"/>
            <a:ext cx="2311056" cy="1847888"/>
            <a:chOff x="9283128" y="4713378"/>
            <a:chExt cx="2938779" cy="2331720"/>
          </a:xfrm>
        </p:grpSpPr>
        <p:sp>
          <p:nvSpPr>
            <p:cNvPr id="344" name="Google Shape;344;p35"/>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5" name="Google Shape;345;p35"/>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6" name="Google Shape;346;p35"/>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347" name="Google Shape;347;p35"/>
          <p:cNvGrpSpPr/>
          <p:nvPr/>
        </p:nvGrpSpPr>
        <p:grpSpPr>
          <a:xfrm>
            <a:off x="593050" y="6292875"/>
            <a:ext cx="11495400" cy="415590"/>
            <a:chOff x="593050" y="6292875"/>
            <a:chExt cx="11495400" cy="415590"/>
          </a:xfrm>
        </p:grpSpPr>
        <p:sp>
          <p:nvSpPr>
            <p:cNvPr id="348" name="Google Shape;348;p35"/>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349" name="Google Shape;349;p35"/>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350" name="Google Shape;350;p35"/>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351" name="Google Shape;351;p35"/>
          <p:cNvSpPr txBox="1"/>
          <p:nvPr/>
        </p:nvSpPr>
        <p:spPr>
          <a:xfrm>
            <a:off x="420725" y="1762400"/>
            <a:ext cx="2877000" cy="22803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Differentiation</a:t>
            </a:r>
            <a:endParaRPr sz="1600" b="1">
              <a:solidFill>
                <a:schemeClr val="dk1"/>
              </a:solidFill>
              <a:latin typeface="Lato"/>
              <a:ea typeface="Lato"/>
              <a:cs typeface="Lato"/>
              <a:sym typeface="Lato"/>
            </a:endParaRPr>
          </a:p>
          <a:p>
            <a:pPr marL="0" lvl="0" indent="0" algn="l" rtl="0">
              <a:spcBef>
                <a:spcPts val="0"/>
              </a:spcBef>
              <a:spcAft>
                <a:spcPts val="0"/>
              </a:spcAft>
              <a:buNone/>
            </a:pPr>
            <a:endParaRPr sz="1600" b="1">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Build a tech community/alumni community</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p:txBody>
      </p:sp>
      <p:sp>
        <p:nvSpPr>
          <p:cNvPr id="352" name="Google Shape;352;p35"/>
          <p:cNvSpPr txBox="1"/>
          <p:nvPr/>
        </p:nvSpPr>
        <p:spPr>
          <a:xfrm>
            <a:off x="4328238" y="1762400"/>
            <a:ext cx="2877000" cy="22803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Reputation</a:t>
            </a:r>
            <a:endParaRPr sz="1600" b="1">
              <a:solidFill>
                <a:schemeClr val="dk1"/>
              </a:solidFill>
              <a:latin typeface="Lato"/>
              <a:ea typeface="Lato"/>
              <a:cs typeface="Lato"/>
              <a:sym typeface="Lato"/>
            </a:endParaRPr>
          </a:p>
          <a:p>
            <a:pPr marL="0" lvl="0" indent="0" algn="l" rtl="0">
              <a:spcBef>
                <a:spcPts val="0"/>
              </a:spcBef>
              <a:spcAft>
                <a:spcPts val="0"/>
              </a:spcAft>
              <a:buNone/>
            </a:pPr>
            <a:endParaRPr sz="1600" b="1">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Executive profiling</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Influencer leveraging &amp; social media engagements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Thought Leadership</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Events &amp; conferences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b="1">
              <a:solidFill>
                <a:schemeClr val="dk1"/>
              </a:solidFill>
              <a:latin typeface="Lato"/>
              <a:ea typeface="Lato"/>
              <a:cs typeface="Lato"/>
              <a:sym typeface="Lato"/>
            </a:endParaRPr>
          </a:p>
          <a:p>
            <a:pPr marL="0" lvl="0" indent="0" algn="l" rtl="0">
              <a:spcBef>
                <a:spcPts val="0"/>
              </a:spcBef>
              <a:spcAft>
                <a:spcPts val="0"/>
              </a:spcAft>
              <a:buNone/>
            </a:pPr>
            <a:endParaRPr sz="1600" b="1">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p:txBody>
      </p:sp>
      <p:sp>
        <p:nvSpPr>
          <p:cNvPr id="353" name="Google Shape;353;p35"/>
          <p:cNvSpPr txBox="1"/>
          <p:nvPr/>
        </p:nvSpPr>
        <p:spPr>
          <a:xfrm>
            <a:off x="8235775" y="1762400"/>
            <a:ext cx="2877000" cy="2280300"/>
          </a:xfrm>
          <a:prstGeom prst="rect">
            <a:avLst/>
          </a:prstGeom>
          <a:noFill/>
          <a:ln w="9525"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Relevance</a:t>
            </a:r>
            <a:endParaRPr sz="1600" b="1">
              <a:solidFill>
                <a:schemeClr val="dk1"/>
              </a:solidFill>
              <a:latin typeface="Lato"/>
              <a:ea typeface="Lato"/>
              <a:cs typeface="Lato"/>
              <a:sym typeface="Lato"/>
            </a:endParaRPr>
          </a:p>
          <a:p>
            <a:pPr marL="0" lvl="0" indent="0" algn="l" rtl="0">
              <a:spcBef>
                <a:spcPts val="0"/>
              </a:spcBef>
              <a:spcAft>
                <a:spcPts val="0"/>
              </a:spcAft>
              <a:buNone/>
            </a:pPr>
            <a:endParaRPr sz="1600" b="1">
              <a:solidFill>
                <a:schemeClr val="dk1"/>
              </a:solidFill>
              <a:latin typeface="Lato"/>
              <a:ea typeface="Lato"/>
              <a:cs typeface="Lato"/>
              <a:sym typeface="Lato"/>
            </a:endParaRPr>
          </a:p>
          <a:p>
            <a:pPr marL="457200" lvl="0" indent="-323850" algn="l" rtl="0">
              <a:lnSpc>
                <a:spcPct val="115000"/>
              </a:lnSpc>
              <a:spcBef>
                <a:spcPts val="1200"/>
              </a:spcBef>
              <a:spcAft>
                <a:spcPts val="0"/>
              </a:spcAft>
              <a:buClr>
                <a:schemeClr val="dk1"/>
              </a:buClr>
              <a:buSzPts val="1500"/>
              <a:buFont typeface="Lato"/>
              <a:buChar char="●"/>
            </a:pPr>
            <a:r>
              <a:rPr lang="en-US" sz="1500">
                <a:solidFill>
                  <a:schemeClr val="dk1"/>
                </a:solidFill>
                <a:latin typeface="Lato"/>
                <a:ea typeface="Lato"/>
                <a:cs typeface="Lato"/>
                <a:sym typeface="Lato"/>
              </a:rPr>
              <a:t> Use home grown solutions to address local issues</a:t>
            </a:r>
            <a:endParaRPr sz="1600" b="1">
              <a:solidFill>
                <a:schemeClr val="dk1"/>
              </a:solidFill>
              <a:latin typeface="Lato"/>
              <a:ea typeface="Lato"/>
              <a:cs typeface="Lato"/>
              <a:sym typeface="Lato"/>
            </a:endParaRPr>
          </a:p>
          <a:p>
            <a:pPr marL="0" lvl="0" indent="0" algn="l" rtl="0">
              <a:spcBef>
                <a:spcPts val="1200"/>
              </a:spcBef>
              <a:spcAft>
                <a:spcPts val="0"/>
              </a:spcAft>
              <a:buNone/>
            </a:pPr>
            <a:endParaRPr sz="1600" b="1">
              <a:solidFill>
                <a:schemeClr val="dk1"/>
              </a:solidFill>
              <a:latin typeface="Lato"/>
              <a:ea typeface="Lato"/>
              <a:cs typeface="Lato"/>
              <a:sym typeface="Lato"/>
            </a:endParaRPr>
          </a:p>
        </p:txBody>
      </p:sp>
      <p:sp>
        <p:nvSpPr>
          <p:cNvPr id="354" name="Google Shape;354;p35"/>
          <p:cNvSpPr txBox="1"/>
          <p:nvPr/>
        </p:nvSpPr>
        <p:spPr>
          <a:xfrm>
            <a:off x="146200" y="239250"/>
            <a:ext cx="7424400" cy="4893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200">
                <a:solidFill>
                  <a:schemeClr val="dk1"/>
                </a:solidFill>
                <a:latin typeface="Lato"/>
                <a:ea typeface="Lato"/>
                <a:cs typeface="Lato"/>
                <a:sym typeface="Lato"/>
              </a:rPr>
              <a:t>ACHIEVING THE STRATEGY</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grpSp>
        <p:nvGrpSpPr>
          <p:cNvPr id="359" name="Google Shape;359;p36"/>
          <p:cNvGrpSpPr/>
          <p:nvPr/>
        </p:nvGrpSpPr>
        <p:grpSpPr>
          <a:xfrm>
            <a:off x="9910844" y="5045076"/>
            <a:ext cx="2311056" cy="1847888"/>
            <a:chOff x="9283128" y="4713378"/>
            <a:chExt cx="2938779" cy="2331720"/>
          </a:xfrm>
        </p:grpSpPr>
        <p:sp>
          <p:nvSpPr>
            <p:cNvPr id="360" name="Google Shape;360;p36"/>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1" name="Google Shape;361;p36"/>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2" name="Google Shape;362;p36"/>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63" name="Google Shape;363;p36"/>
          <p:cNvSpPr txBox="1">
            <a:spLocks noGrp="1"/>
          </p:cNvSpPr>
          <p:nvPr>
            <p:ph type="title"/>
          </p:nvPr>
        </p:nvSpPr>
        <p:spPr>
          <a:xfrm>
            <a:off x="669250" y="307095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500">
                <a:latin typeface="Lato"/>
                <a:ea typeface="Lato"/>
                <a:cs typeface="Lato"/>
                <a:sym typeface="Lato"/>
              </a:rPr>
              <a:t>PR IMPLEMENTATION</a:t>
            </a:r>
            <a:endParaRPr>
              <a:solidFill>
                <a:srgbClr val="DC4540"/>
              </a:solidFill>
              <a:latin typeface="Lato Black"/>
              <a:ea typeface="Lato Black"/>
              <a:cs typeface="Lato Black"/>
              <a:sym typeface="Lato Black"/>
            </a:endParaRPr>
          </a:p>
        </p:txBody>
      </p:sp>
      <p:grpSp>
        <p:nvGrpSpPr>
          <p:cNvPr id="364" name="Google Shape;364;p36"/>
          <p:cNvGrpSpPr/>
          <p:nvPr/>
        </p:nvGrpSpPr>
        <p:grpSpPr>
          <a:xfrm>
            <a:off x="593050" y="6292875"/>
            <a:ext cx="11495400" cy="415590"/>
            <a:chOff x="593050" y="6292875"/>
            <a:chExt cx="11495400" cy="415590"/>
          </a:xfrm>
        </p:grpSpPr>
        <p:sp>
          <p:nvSpPr>
            <p:cNvPr id="365" name="Google Shape;365;p36"/>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366" name="Google Shape;366;p36"/>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367" name="Google Shape;367;p36"/>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grpSp>
        <p:nvGrpSpPr>
          <p:cNvPr id="372" name="Google Shape;372;p37"/>
          <p:cNvGrpSpPr/>
          <p:nvPr/>
        </p:nvGrpSpPr>
        <p:grpSpPr>
          <a:xfrm>
            <a:off x="9910844" y="5045076"/>
            <a:ext cx="2311056" cy="1847888"/>
            <a:chOff x="9283128" y="4713378"/>
            <a:chExt cx="2938779" cy="2331720"/>
          </a:xfrm>
        </p:grpSpPr>
        <p:sp>
          <p:nvSpPr>
            <p:cNvPr id="373" name="Google Shape;373;p37"/>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4" name="Google Shape;374;p37"/>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75" name="Google Shape;375;p37"/>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376" name="Google Shape;376;p37"/>
          <p:cNvGrpSpPr/>
          <p:nvPr/>
        </p:nvGrpSpPr>
        <p:grpSpPr>
          <a:xfrm>
            <a:off x="593050" y="6292875"/>
            <a:ext cx="11495400" cy="415590"/>
            <a:chOff x="593050" y="6292875"/>
            <a:chExt cx="11495400" cy="415590"/>
          </a:xfrm>
        </p:grpSpPr>
        <p:sp>
          <p:nvSpPr>
            <p:cNvPr id="377" name="Google Shape;377;p37"/>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378" name="Google Shape;378;p37"/>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379" name="Google Shape;379;p37"/>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380" name="Google Shape;380;p37"/>
          <p:cNvSpPr txBox="1"/>
          <p:nvPr/>
        </p:nvSpPr>
        <p:spPr>
          <a:xfrm>
            <a:off x="1847550" y="1863125"/>
            <a:ext cx="7655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500">
                <a:solidFill>
                  <a:schemeClr val="dk1"/>
                </a:solidFill>
                <a:latin typeface="Lato"/>
                <a:ea typeface="Lato"/>
                <a:cs typeface="Lato"/>
                <a:sym typeface="Lato"/>
              </a:rPr>
              <a:t>PRE-LAUNCH PHASE</a:t>
            </a:r>
            <a:endParaRPr sz="2500">
              <a:solidFill>
                <a:schemeClr val="dk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grpSp>
        <p:nvGrpSpPr>
          <p:cNvPr id="385" name="Google Shape;385;p38"/>
          <p:cNvGrpSpPr/>
          <p:nvPr/>
        </p:nvGrpSpPr>
        <p:grpSpPr>
          <a:xfrm>
            <a:off x="9910844" y="5045076"/>
            <a:ext cx="2311056" cy="1847888"/>
            <a:chOff x="9283128" y="4713378"/>
            <a:chExt cx="2938779" cy="2331720"/>
          </a:xfrm>
        </p:grpSpPr>
        <p:sp>
          <p:nvSpPr>
            <p:cNvPr id="386" name="Google Shape;386;p38"/>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7" name="Google Shape;387;p38"/>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88" name="Google Shape;388;p38"/>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389" name="Google Shape;389;p38"/>
          <p:cNvGrpSpPr/>
          <p:nvPr/>
        </p:nvGrpSpPr>
        <p:grpSpPr>
          <a:xfrm>
            <a:off x="301262" y="1665702"/>
            <a:ext cx="11589474" cy="4085599"/>
            <a:chOff x="5831" y="62244"/>
            <a:chExt cx="11830822" cy="5623674"/>
          </a:xfrm>
        </p:grpSpPr>
        <p:sp>
          <p:nvSpPr>
            <p:cNvPr id="390" name="Google Shape;390;p38"/>
            <p:cNvSpPr/>
            <p:nvPr/>
          </p:nvSpPr>
          <p:spPr>
            <a:xfrm>
              <a:off x="5831" y="62245"/>
              <a:ext cx="2651700" cy="1268700"/>
            </a:xfrm>
            <a:prstGeom prst="roundRect">
              <a:avLst>
                <a:gd name="adj" fmla="val 10000"/>
              </a:avLst>
            </a:prstGeom>
            <a:noFill/>
            <a:ln w="2540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391" name="Google Shape;391;p38"/>
            <p:cNvSpPr txBox="1"/>
            <p:nvPr/>
          </p:nvSpPr>
          <p:spPr>
            <a:xfrm>
              <a:off x="5831" y="62244"/>
              <a:ext cx="2651700" cy="1060800"/>
            </a:xfrm>
            <a:prstGeom prst="rect">
              <a:avLst/>
            </a:prstGeom>
            <a:noFill/>
            <a:ln>
              <a:noFill/>
            </a:ln>
          </p:spPr>
          <p:txBody>
            <a:bodyPr spcFirstLastPara="1" wrap="square" lIns="142225" tIns="142225" rIns="142225" bIns="76200" anchor="t" anchorCtr="0">
              <a:noAutofit/>
            </a:bodyPr>
            <a:lstStyle/>
            <a:p>
              <a:pPr marL="0" marR="0" lvl="0" indent="0" algn="l" rtl="0">
                <a:lnSpc>
                  <a:spcPct val="90000"/>
                </a:lnSpc>
                <a:spcBef>
                  <a:spcPts val="0"/>
                </a:spcBef>
                <a:spcAft>
                  <a:spcPts val="0"/>
                </a:spcAft>
                <a:buClr>
                  <a:srgbClr val="000000"/>
                </a:buClr>
                <a:buSzPts val="2000"/>
                <a:buFont typeface="Arial"/>
                <a:buNone/>
              </a:pPr>
              <a:r>
                <a:rPr lang="en-US" sz="1800">
                  <a:solidFill>
                    <a:schemeClr val="dk1"/>
                  </a:solidFill>
                  <a:latin typeface="Lato"/>
                  <a:ea typeface="Lato"/>
                  <a:cs typeface="Lato"/>
                  <a:sym typeface="Lato"/>
                </a:rPr>
                <a:t>Pre-Launch Phase</a:t>
              </a:r>
              <a:r>
                <a:rPr lang="en-US" sz="1800" i="0" u="none" strike="noStrike" cap="none">
                  <a:solidFill>
                    <a:schemeClr val="dk1"/>
                  </a:solidFill>
                  <a:latin typeface="Lato"/>
                  <a:ea typeface="Lato"/>
                  <a:cs typeface="Lato"/>
                  <a:sym typeface="Lato"/>
                </a:rPr>
                <a:t>: </a:t>
              </a:r>
              <a:r>
                <a:rPr lang="en-US" sz="1800">
                  <a:solidFill>
                    <a:schemeClr val="dk1"/>
                  </a:solidFill>
                  <a:latin typeface="Lato"/>
                  <a:ea typeface="Lato"/>
                  <a:cs typeface="Lato"/>
                  <a:sym typeface="Lato"/>
                </a:rPr>
                <a:t>April</a:t>
              </a:r>
              <a:r>
                <a:rPr lang="en-US" sz="1800" i="0" u="none" strike="noStrike" cap="none">
                  <a:solidFill>
                    <a:schemeClr val="dk1"/>
                  </a:solidFill>
                  <a:latin typeface="Lato"/>
                  <a:ea typeface="Lato"/>
                  <a:cs typeface="Lato"/>
                  <a:sym typeface="Lato"/>
                </a:rPr>
                <a:t>- </a:t>
              </a:r>
              <a:r>
                <a:rPr lang="en-US" sz="1800">
                  <a:solidFill>
                    <a:schemeClr val="dk1"/>
                  </a:solidFill>
                  <a:latin typeface="Lato"/>
                  <a:ea typeface="Lato"/>
                  <a:cs typeface="Lato"/>
                  <a:sym typeface="Lato"/>
                </a:rPr>
                <a:t>June</a:t>
              </a:r>
              <a:r>
                <a:rPr lang="en-US" sz="1800" i="0" u="none" strike="noStrike" cap="none">
                  <a:solidFill>
                    <a:schemeClr val="dk1"/>
                  </a:solidFill>
                  <a:latin typeface="Lato"/>
                  <a:ea typeface="Lato"/>
                  <a:cs typeface="Lato"/>
                  <a:sym typeface="Lato"/>
                </a:rPr>
                <a:t> 202</a:t>
              </a:r>
              <a:r>
                <a:rPr lang="en-US" sz="1800">
                  <a:solidFill>
                    <a:schemeClr val="dk1"/>
                  </a:solidFill>
                  <a:latin typeface="Lato"/>
                  <a:ea typeface="Lato"/>
                  <a:cs typeface="Lato"/>
                  <a:sym typeface="Lato"/>
                </a:rPr>
                <a:t>4</a:t>
              </a:r>
              <a:endParaRPr sz="1800">
                <a:solidFill>
                  <a:schemeClr val="dk1"/>
                </a:solidFill>
                <a:latin typeface="Lato"/>
                <a:ea typeface="Lato"/>
                <a:cs typeface="Lato"/>
                <a:sym typeface="Lato"/>
              </a:endParaRPr>
            </a:p>
          </p:txBody>
        </p:sp>
        <p:sp>
          <p:nvSpPr>
            <p:cNvPr id="392" name="Google Shape;392;p38"/>
            <p:cNvSpPr/>
            <p:nvPr/>
          </p:nvSpPr>
          <p:spPr>
            <a:xfrm>
              <a:off x="548953" y="1122918"/>
              <a:ext cx="2947200" cy="4563000"/>
            </a:xfrm>
            <a:prstGeom prst="roundRect">
              <a:avLst>
                <a:gd name="adj" fmla="val 10000"/>
              </a:avLst>
            </a:prstGeom>
            <a:solidFill>
              <a:schemeClr val="lt1"/>
            </a:solidFill>
            <a:ln w="2540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393" name="Google Shape;393;p38"/>
            <p:cNvSpPr txBox="1"/>
            <p:nvPr/>
          </p:nvSpPr>
          <p:spPr>
            <a:xfrm>
              <a:off x="696610" y="1200576"/>
              <a:ext cx="2496300" cy="4071000"/>
            </a:xfrm>
            <a:prstGeom prst="rect">
              <a:avLst/>
            </a:prstGeom>
            <a:noFill/>
            <a:ln>
              <a:noFill/>
            </a:ln>
          </p:spPr>
          <p:txBody>
            <a:bodyPr spcFirstLastPara="1" wrap="square" lIns="113775" tIns="113775" rIns="113775" bIns="113775" anchor="t" anchorCtr="0">
              <a:noAutofit/>
            </a:bodyPr>
            <a:lstStyle/>
            <a:p>
              <a:pPr marL="171450" marR="0" lvl="1" indent="-171450" algn="l" rtl="0">
                <a:lnSpc>
                  <a:spcPct val="90000"/>
                </a:lnSpc>
                <a:spcBef>
                  <a:spcPts val="0"/>
                </a:spcBef>
                <a:spcAft>
                  <a:spcPts val="0"/>
                </a:spcAft>
                <a:buClr>
                  <a:schemeClr val="dk1"/>
                </a:buClr>
                <a:buSzPts val="1600"/>
                <a:buFont typeface="Lato"/>
                <a:buChar char="•"/>
              </a:pPr>
              <a:r>
                <a:rPr lang="en-US" sz="1600" i="0" u="none" strike="noStrike" cap="none">
                  <a:solidFill>
                    <a:schemeClr val="dk1"/>
                  </a:solidFill>
                  <a:latin typeface="Lato"/>
                  <a:ea typeface="Lato"/>
                  <a:cs typeface="Lato"/>
                  <a:sym typeface="Lato"/>
                </a:rPr>
                <a:t>Spokespersons Media Training</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Building media Loyalty group</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Agenda setting</a:t>
              </a:r>
              <a:endParaRPr sz="1600">
                <a:solidFill>
                  <a:schemeClr val="dk1"/>
                </a:solidFill>
                <a:latin typeface="Lato"/>
                <a:ea typeface="Lato"/>
                <a:cs typeface="Lato"/>
                <a:sym typeface="Lato"/>
              </a:endParaRPr>
            </a:p>
            <a:p>
              <a:pPr marL="171450" marR="0" lvl="1" indent="-171450" algn="l" rtl="0">
                <a:lnSpc>
                  <a:spcPct val="90000"/>
                </a:lnSpc>
                <a:spcBef>
                  <a:spcPts val="240"/>
                </a:spcBef>
                <a:spcAft>
                  <a:spcPts val="0"/>
                </a:spcAft>
                <a:buClr>
                  <a:schemeClr val="dk1"/>
                </a:buClr>
                <a:buSzPts val="1600"/>
                <a:buFont typeface="Lato"/>
                <a:buChar char="•"/>
              </a:pPr>
              <a:r>
                <a:rPr lang="en-US" sz="1600" i="0" u="none" strike="noStrike" cap="none">
                  <a:solidFill>
                    <a:schemeClr val="dk1"/>
                  </a:solidFill>
                  <a:latin typeface="Lato"/>
                  <a:ea typeface="Lato"/>
                  <a:cs typeface="Lato"/>
                  <a:sym typeface="Lato"/>
                </a:rPr>
                <a:t>Executive profiling</a:t>
              </a:r>
              <a:endParaRPr sz="1600">
                <a:solidFill>
                  <a:schemeClr val="dk1"/>
                </a:solidFill>
                <a:latin typeface="Lato"/>
                <a:ea typeface="Lato"/>
                <a:cs typeface="Lato"/>
                <a:sym typeface="Lato"/>
              </a:endParaRPr>
            </a:p>
            <a:p>
              <a:pPr marL="171450" marR="0" lvl="1" indent="-171450" algn="l" rtl="0">
                <a:lnSpc>
                  <a:spcPct val="90000"/>
                </a:lnSpc>
                <a:spcBef>
                  <a:spcPts val="240"/>
                </a:spcBef>
                <a:spcAft>
                  <a:spcPts val="0"/>
                </a:spcAft>
                <a:buClr>
                  <a:schemeClr val="dk1"/>
                </a:buClr>
                <a:buSzPts val="1600"/>
                <a:buFont typeface="Lato"/>
                <a:buChar char="•"/>
              </a:pPr>
              <a:r>
                <a:rPr lang="en-US" sz="1600">
                  <a:solidFill>
                    <a:schemeClr val="dk1"/>
                  </a:solidFill>
                  <a:latin typeface="Lato"/>
                  <a:ea typeface="Lato"/>
                  <a:cs typeface="Lato"/>
                  <a:sym typeface="Lato"/>
                </a:rPr>
                <a:t>Influencer engagement</a:t>
              </a:r>
              <a:endParaRPr sz="1600">
                <a:solidFill>
                  <a:schemeClr val="dk1"/>
                </a:solidFill>
                <a:latin typeface="Lato"/>
                <a:ea typeface="Lato"/>
                <a:cs typeface="Lato"/>
                <a:sym typeface="Lato"/>
              </a:endParaRPr>
            </a:p>
          </p:txBody>
        </p:sp>
        <p:sp>
          <p:nvSpPr>
            <p:cNvPr id="394" name="Google Shape;394;p38"/>
            <p:cNvSpPr/>
            <p:nvPr/>
          </p:nvSpPr>
          <p:spPr>
            <a:xfrm>
              <a:off x="4265488" y="62245"/>
              <a:ext cx="2651700" cy="1268700"/>
            </a:xfrm>
            <a:prstGeom prst="roundRect">
              <a:avLst>
                <a:gd name="adj" fmla="val 10000"/>
              </a:avLst>
            </a:prstGeom>
            <a:solidFill>
              <a:schemeClr val="lt1"/>
            </a:solidFill>
            <a:ln w="2540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395" name="Google Shape;395;p38"/>
            <p:cNvSpPr txBox="1"/>
            <p:nvPr/>
          </p:nvSpPr>
          <p:spPr>
            <a:xfrm>
              <a:off x="4265479" y="62244"/>
              <a:ext cx="2651700" cy="1060800"/>
            </a:xfrm>
            <a:prstGeom prst="rect">
              <a:avLst/>
            </a:prstGeom>
            <a:noFill/>
            <a:ln>
              <a:noFill/>
            </a:ln>
          </p:spPr>
          <p:txBody>
            <a:bodyPr spcFirstLastPara="1" wrap="square" lIns="142225" tIns="142225" rIns="142225" bIns="76200" anchor="t" anchorCtr="0">
              <a:noAutofit/>
            </a:bodyPr>
            <a:lstStyle/>
            <a:p>
              <a:pPr marL="0" marR="0" lvl="0" indent="0" algn="l" rtl="0">
                <a:lnSpc>
                  <a:spcPct val="90000"/>
                </a:lnSpc>
                <a:spcBef>
                  <a:spcPts val="0"/>
                </a:spcBef>
                <a:spcAft>
                  <a:spcPts val="0"/>
                </a:spcAft>
                <a:buClr>
                  <a:srgbClr val="000000"/>
                </a:buClr>
                <a:buSzPts val="2000"/>
                <a:buFont typeface="Arial"/>
                <a:buNone/>
              </a:pPr>
              <a:r>
                <a:rPr lang="en-US" sz="1800">
                  <a:solidFill>
                    <a:schemeClr val="dk1"/>
                  </a:solidFill>
                  <a:latin typeface="Lato"/>
                  <a:ea typeface="Lato"/>
                  <a:cs typeface="Lato"/>
                  <a:sym typeface="Lato"/>
                </a:rPr>
                <a:t>Launch Phase</a:t>
              </a:r>
              <a:r>
                <a:rPr lang="en-US" sz="1800" i="0" u="none" strike="noStrike" cap="none">
                  <a:solidFill>
                    <a:schemeClr val="dk1"/>
                  </a:solidFill>
                  <a:latin typeface="Lato"/>
                  <a:ea typeface="Lato"/>
                  <a:cs typeface="Lato"/>
                  <a:sym typeface="Lato"/>
                </a:rPr>
                <a:t>: </a:t>
              </a:r>
              <a:r>
                <a:rPr lang="en-US" sz="1800">
                  <a:solidFill>
                    <a:schemeClr val="dk1"/>
                  </a:solidFill>
                  <a:latin typeface="Lato"/>
                  <a:ea typeface="Lato"/>
                  <a:cs typeface="Lato"/>
                  <a:sym typeface="Lato"/>
                </a:rPr>
                <a:t>July</a:t>
              </a:r>
              <a:r>
                <a:rPr lang="en-US" sz="1800" i="0" u="none" strike="noStrike" cap="none">
                  <a:solidFill>
                    <a:schemeClr val="dk1"/>
                  </a:solidFill>
                  <a:latin typeface="Lato"/>
                  <a:ea typeface="Lato"/>
                  <a:cs typeface="Lato"/>
                  <a:sym typeface="Lato"/>
                </a:rPr>
                <a:t> - </a:t>
              </a:r>
              <a:r>
                <a:rPr lang="en-US" sz="1800">
                  <a:solidFill>
                    <a:schemeClr val="dk1"/>
                  </a:solidFill>
                  <a:latin typeface="Lato"/>
                  <a:ea typeface="Lato"/>
                  <a:cs typeface="Lato"/>
                  <a:sym typeface="Lato"/>
                </a:rPr>
                <a:t>Aug</a:t>
              </a:r>
              <a:r>
                <a:rPr lang="en-US" sz="1800" i="0" u="none" strike="noStrike" cap="none">
                  <a:solidFill>
                    <a:schemeClr val="dk1"/>
                  </a:solidFill>
                  <a:latin typeface="Lato"/>
                  <a:ea typeface="Lato"/>
                  <a:cs typeface="Lato"/>
                  <a:sym typeface="Lato"/>
                </a:rPr>
                <a:t> </a:t>
              </a:r>
              <a:r>
                <a:rPr lang="en-US" sz="1800">
                  <a:solidFill>
                    <a:schemeClr val="dk1"/>
                  </a:solidFill>
                  <a:latin typeface="Lato"/>
                  <a:ea typeface="Lato"/>
                  <a:cs typeface="Lato"/>
                  <a:sym typeface="Lato"/>
                </a:rPr>
                <a:t>20</a:t>
              </a:r>
              <a:r>
                <a:rPr lang="en-US" sz="1800" i="0" u="none" strike="noStrike" cap="none">
                  <a:solidFill>
                    <a:schemeClr val="dk1"/>
                  </a:solidFill>
                  <a:latin typeface="Lato"/>
                  <a:ea typeface="Lato"/>
                  <a:cs typeface="Lato"/>
                  <a:sym typeface="Lato"/>
                </a:rPr>
                <a:t>24</a:t>
              </a:r>
              <a:endParaRPr sz="1800">
                <a:solidFill>
                  <a:schemeClr val="dk1"/>
                </a:solidFill>
                <a:latin typeface="Lato"/>
                <a:ea typeface="Lato"/>
                <a:cs typeface="Lato"/>
                <a:sym typeface="Lato"/>
              </a:endParaRPr>
            </a:p>
          </p:txBody>
        </p:sp>
        <p:sp>
          <p:nvSpPr>
            <p:cNvPr id="396" name="Google Shape;396;p38"/>
            <p:cNvSpPr/>
            <p:nvPr/>
          </p:nvSpPr>
          <p:spPr>
            <a:xfrm>
              <a:off x="4808604" y="1122918"/>
              <a:ext cx="2947200" cy="4563000"/>
            </a:xfrm>
            <a:prstGeom prst="roundRect">
              <a:avLst>
                <a:gd name="adj" fmla="val 10000"/>
              </a:avLst>
            </a:prstGeom>
            <a:solidFill>
              <a:schemeClr val="lt1"/>
            </a:solidFill>
            <a:ln w="2540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397" name="Google Shape;397;p38"/>
            <p:cNvSpPr txBox="1"/>
            <p:nvPr/>
          </p:nvSpPr>
          <p:spPr>
            <a:xfrm>
              <a:off x="4886253" y="1200593"/>
              <a:ext cx="2768400" cy="4407600"/>
            </a:xfrm>
            <a:prstGeom prst="rect">
              <a:avLst/>
            </a:prstGeom>
            <a:noFill/>
            <a:ln>
              <a:noFill/>
            </a:ln>
          </p:spPr>
          <p:txBody>
            <a:bodyPr spcFirstLastPara="1" wrap="square" lIns="113775" tIns="113775" rIns="113775" bIns="113775" anchor="t" anchorCtr="0">
              <a:noAutofit/>
            </a:bodyPr>
            <a:lstStyle/>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Launch event</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Stakeholders Outreach</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Strategic Content Development</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Editorial content series</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Thought Leadership</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Radio/TV appearances</a:t>
              </a:r>
              <a:endParaRPr sz="1600">
                <a:solidFill>
                  <a:schemeClr val="dk1"/>
                </a:solidFill>
                <a:latin typeface="Lato"/>
                <a:ea typeface="Lato"/>
                <a:cs typeface="Lato"/>
                <a:sym typeface="Lato"/>
              </a:endParaRPr>
            </a:p>
            <a:p>
              <a:pPr marL="171450" marR="0" lvl="1" indent="-17145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Social Media amplification</a:t>
              </a:r>
              <a:endParaRPr sz="1600">
                <a:solidFill>
                  <a:schemeClr val="dk1"/>
                </a:solidFill>
                <a:latin typeface="Lato"/>
                <a:ea typeface="Lato"/>
                <a:cs typeface="Lato"/>
                <a:sym typeface="Lato"/>
              </a:endParaRPr>
            </a:p>
          </p:txBody>
        </p:sp>
        <p:sp>
          <p:nvSpPr>
            <p:cNvPr id="398" name="Google Shape;398;p38"/>
            <p:cNvSpPr/>
            <p:nvPr/>
          </p:nvSpPr>
          <p:spPr>
            <a:xfrm>
              <a:off x="8525119" y="62245"/>
              <a:ext cx="2651700" cy="1268700"/>
            </a:xfrm>
            <a:prstGeom prst="roundRect">
              <a:avLst>
                <a:gd name="adj" fmla="val 10000"/>
              </a:avLst>
            </a:prstGeom>
            <a:noFill/>
            <a:ln w="2540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399" name="Google Shape;399;p38"/>
            <p:cNvSpPr txBox="1"/>
            <p:nvPr/>
          </p:nvSpPr>
          <p:spPr>
            <a:xfrm>
              <a:off x="8525127" y="62244"/>
              <a:ext cx="2651700" cy="1060800"/>
            </a:xfrm>
            <a:prstGeom prst="rect">
              <a:avLst/>
            </a:prstGeom>
            <a:noFill/>
            <a:ln>
              <a:noFill/>
            </a:ln>
          </p:spPr>
          <p:txBody>
            <a:bodyPr spcFirstLastPara="1" wrap="square" lIns="142225" tIns="142225" rIns="142225" bIns="76200" anchor="t" anchorCtr="0">
              <a:noAutofit/>
            </a:bodyPr>
            <a:lstStyle/>
            <a:p>
              <a:pPr marL="0" marR="0" lvl="0" indent="0" algn="l" rtl="0">
                <a:lnSpc>
                  <a:spcPct val="90000"/>
                </a:lnSpc>
                <a:spcBef>
                  <a:spcPts val="0"/>
                </a:spcBef>
                <a:spcAft>
                  <a:spcPts val="0"/>
                </a:spcAft>
                <a:buClr>
                  <a:srgbClr val="000000"/>
                </a:buClr>
                <a:buSzPts val="2000"/>
                <a:buFont typeface="Arial"/>
                <a:buNone/>
              </a:pPr>
              <a:r>
                <a:rPr lang="en-US" sz="1800">
                  <a:solidFill>
                    <a:schemeClr val="dk1"/>
                  </a:solidFill>
                  <a:latin typeface="Lato"/>
                  <a:ea typeface="Lato"/>
                  <a:cs typeface="Lato"/>
                  <a:sym typeface="Lato"/>
                </a:rPr>
                <a:t>Sustenance </a:t>
              </a:r>
              <a:r>
                <a:rPr lang="en-US" sz="1800" i="0" u="none" strike="noStrike" cap="none">
                  <a:solidFill>
                    <a:schemeClr val="dk1"/>
                  </a:solidFill>
                  <a:latin typeface="Lato"/>
                  <a:ea typeface="Lato"/>
                  <a:cs typeface="Lato"/>
                  <a:sym typeface="Lato"/>
                </a:rPr>
                <a:t>Phase: </a:t>
              </a:r>
              <a:r>
                <a:rPr lang="en-US" sz="1800">
                  <a:solidFill>
                    <a:schemeClr val="dk1"/>
                  </a:solidFill>
                  <a:latin typeface="Lato"/>
                  <a:ea typeface="Lato"/>
                  <a:cs typeface="Lato"/>
                  <a:sym typeface="Lato"/>
                </a:rPr>
                <a:t>Jan</a:t>
              </a:r>
              <a:r>
                <a:rPr lang="en-US" sz="1800" i="0" u="none" strike="noStrike" cap="none">
                  <a:solidFill>
                    <a:schemeClr val="dk1"/>
                  </a:solidFill>
                  <a:latin typeface="Lato"/>
                  <a:ea typeface="Lato"/>
                  <a:cs typeface="Lato"/>
                  <a:sym typeface="Lato"/>
                </a:rPr>
                <a:t> ’2</a:t>
              </a:r>
              <a:r>
                <a:rPr lang="en-US" sz="1800">
                  <a:solidFill>
                    <a:schemeClr val="dk1"/>
                  </a:solidFill>
                  <a:latin typeface="Lato"/>
                  <a:ea typeface="Lato"/>
                  <a:cs typeface="Lato"/>
                  <a:sym typeface="Lato"/>
                </a:rPr>
                <a:t>5</a:t>
              </a:r>
              <a:r>
                <a:rPr lang="en-US" sz="1800" i="0" u="none" strike="noStrike" cap="none">
                  <a:solidFill>
                    <a:schemeClr val="dk1"/>
                  </a:solidFill>
                  <a:latin typeface="Lato"/>
                  <a:ea typeface="Lato"/>
                  <a:cs typeface="Lato"/>
                  <a:sym typeface="Lato"/>
                </a:rPr>
                <a:t> onwards</a:t>
              </a:r>
              <a:endParaRPr sz="1800">
                <a:solidFill>
                  <a:schemeClr val="dk1"/>
                </a:solidFill>
                <a:latin typeface="Lato"/>
                <a:ea typeface="Lato"/>
                <a:cs typeface="Lato"/>
                <a:sym typeface="Lato"/>
              </a:endParaRPr>
            </a:p>
          </p:txBody>
        </p:sp>
        <p:sp>
          <p:nvSpPr>
            <p:cNvPr id="400" name="Google Shape;400;p38"/>
            <p:cNvSpPr/>
            <p:nvPr/>
          </p:nvSpPr>
          <p:spPr>
            <a:xfrm>
              <a:off x="9068253" y="1122918"/>
              <a:ext cx="2768400" cy="4563000"/>
            </a:xfrm>
            <a:prstGeom prst="roundRect">
              <a:avLst>
                <a:gd name="adj" fmla="val 10000"/>
              </a:avLst>
            </a:prstGeom>
            <a:solidFill>
              <a:schemeClr val="lt1"/>
            </a:solidFill>
            <a:ln w="25400" cap="flat" cmpd="sng">
              <a:solidFill>
                <a:srgbClr val="274E1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401" name="Google Shape;401;p38"/>
            <p:cNvSpPr txBox="1"/>
            <p:nvPr/>
          </p:nvSpPr>
          <p:spPr>
            <a:xfrm>
              <a:off x="9145912" y="1200588"/>
              <a:ext cx="2496300" cy="4407600"/>
            </a:xfrm>
            <a:prstGeom prst="rect">
              <a:avLst/>
            </a:prstGeom>
            <a:noFill/>
            <a:ln>
              <a:noFill/>
            </a:ln>
          </p:spPr>
          <p:txBody>
            <a:bodyPr spcFirstLastPara="1" wrap="square" lIns="113775" tIns="113775" rIns="113775" bIns="11377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Building Profile and Reputational Stature:</a:t>
              </a:r>
              <a:endParaRPr sz="1600">
                <a:solidFill>
                  <a:schemeClr val="dk1"/>
                </a:solidFill>
                <a:latin typeface="Lato"/>
                <a:ea typeface="Lato"/>
                <a:cs typeface="Lato"/>
                <a:sym typeface="Lato"/>
              </a:endParaRPr>
            </a:p>
            <a:p>
              <a:pPr marL="457200" lvl="0" indent="-33020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Building a community series</a:t>
              </a:r>
              <a:endParaRPr sz="1600">
                <a:solidFill>
                  <a:schemeClr val="dk1"/>
                </a:solidFill>
                <a:latin typeface="Lato"/>
                <a:ea typeface="Lato"/>
                <a:cs typeface="Lato"/>
                <a:sym typeface="Lato"/>
              </a:endParaRPr>
            </a:p>
            <a:p>
              <a:pPr marL="457200" marR="0" lvl="0" indent="-330200" algn="l" rtl="0">
                <a:lnSpc>
                  <a:spcPct val="90000"/>
                </a:lnSpc>
                <a:spcBef>
                  <a:spcPts val="0"/>
                </a:spcBef>
                <a:spcAft>
                  <a:spcPts val="0"/>
                </a:spcAft>
                <a:buClr>
                  <a:schemeClr val="dk1"/>
                </a:buClr>
                <a:buSzPts val="1600"/>
                <a:buFont typeface="Lato"/>
                <a:buChar char="●"/>
              </a:pPr>
              <a:r>
                <a:rPr lang="en-US" sz="1600" i="0" u="none" strike="noStrike" cap="none">
                  <a:solidFill>
                    <a:schemeClr val="dk1"/>
                  </a:solidFill>
                  <a:latin typeface="Lato"/>
                  <a:ea typeface="Lato"/>
                  <a:cs typeface="Lato"/>
                  <a:sym typeface="Lato"/>
                </a:rPr>
                <a:t>Special reports</a:t>
              </a:r>
              <a:endParaRPr sz="1600">
                <a:solidFill>
                  <a:schemeClr val="dk1"/>
                </a:solidFill>
                <a:latin typeface="Lato"/>
                <a:ea typeface="Lato"/>
                <a:cs typeface="Lato"/>
                <a:sym typeface="Lato"/>
              </a:endParaRPr>
            </a:p>
            <a:p>
              <a:pPr marL="457200" marR="0" lvl="0" indent="-33020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CSR Engagements</a:t>
              </a:r>
              <a:endParaRPr sz="1600">
                <a:solidFill>
                  <a:schemeClr val="dk1"/>
                </a:solidFill>
                <a:latin typeface="Lato"/>
                <a:ea typeface="Lato"/>
                <a:cs typeface="Lato"/>
                <a:sym typeface="Lato"/>
              </a:endParaRPr>
            </a:p>
            <a:p>
              <a:pPr marL="457200" marR="0" lvl="0" indent="-330200" algn="l" rtl="0">
                <a:lnSpc>
                  <a:spcPct val="90000"/>
                </a:lnSpc>
                <a:spcBef>
                  <a:spcPts val="0"/>
                </a:spcBef>
                <a:spcAft>
                  <a:spcPts val="0"/>
                </a:spcAft>
                <a:buClr>
                  <a:schemeClr val="dk1"/>
                </a:buClr>
                <a:buSzPts val="1600"/>
                <a:buFont typeface="Lato"/>
                <a:buChar char="●"/>
              </a:pPr>
              <a:r>
                <a:rPr lang="en-US" sz="1600" i="0" u="none" strike="noStrike" cap="none">
                  <a:solidFill>
                    <a:schemeClr val="dk1"/>
                  </a:solidFill>
                  <a:latin typeface="Lato"/>
                  <a:ea typeface="Lato"/>
                  <a:cs typeface="Lato"/>
                  <a:sym typeface="Lato"/>
                </a:rPr>
                <a:t>BI-annual Event &amp; Conference</a:t>
              </a:r>
              <a:endParaRPr sz="1600" i="0" u="none" strike="noStrike" cap="none">
                <a:solidFill>
                  <a:schemeClr val="dk1"/>
                </a:solidFill>
                <a:latin typeface="Lato"/>
                <a:ea typeface="Lato"/>
                <a:cs typeface="Lato"/>
                <a:sym typeface="Lato"/>
              </a:endParaRPr>
            </a:p>
            <a:p>
              <a:pPr marL="457200" marR="0" lvl="0" indent="-33020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Third Person Media</a:t>
              </a:r>
              <a:endParaRPr sz="1600">
                <a:solidFill>
                  <a:schemeClr val="dk1"/>
                </a:solidFill>
                <a:latin typeface="Lato"/>
                <a:ea typeface="Lato"/>
                <a:cs typeface="Lato"/>
                <a:sym typeface="Lato"/>
              </a:endParaRPr>
            </a:p>
            <a:p>
              <a:pPr marL="457200" marR="0" lvl="0" indent="-330200" algn="l" rtl="0">
                <a:lnSpc>
                  <a:spcPct val="9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Milestone leveraging</a:t>
              </a:r>
              <a:endParaRPr sz="1600">
                <a:solidFill>
                  <a:schemeClr val="dk1"/>
                </a:solidFill>
                <a:latin typeface="Lato"/>
                <a:ea typeface="Lato"/>
                <a:cs typeface="Lato"/>
                <a:sym typeface="Lato"/>
              </a:endParaRPr>
            </a:p>
          </p:txBody>
        </p:sp>
      </p:grpSp>
      <p:sp>
        <p:nvSpPr>
          <p:cNvPr id="402" name="Google Shape;402;p38"/>
          <p:cNvSpPr txBox="1">
            <a:spLocks noGrp="1"/>
          </p:cNvSpPr>
          <p:nvPr>
            <p:ph type="title"/>
          </p:nvPr>
        </p:nvSpPr>
        <p:spPr>
          <a:xfrm>
            <a:off x="0" y="333325"/>
            <a:ext cx="10403700" cy="415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ROLL OUT</a:t>
            </a:r>
            <a:endParaRPr sz="3400">
              <a:solidFill>
                <a:srgbClr val="DC4540"/>
              </a:solidFill>
              <a:latin typeface="Lato"/>
              <a:ea typeface="Lato"/>
              <a:cs typeface="Lato"/>
              <a:sym typeface="Lato"/>
            </a:endParaRPr>
          </a:p>
        </p:txBody>
      </p:sp>
      <p:grpSp>
        <p:nvGrpSpPr>
          <p:cNvPr id="403" name="Google Shape;403;p38"/>
          <p:cNvGrpSpPr/>
          <p:nvPr/>
        </p:nvGrpSpPr>
        <p:grpSpPr>
          <a:xfrm>
            <a:off x="593050" y="6292875"/>
            <a:ext cx="11495400" cy="415590"/>
            <a:chOff x="593050" y="6292875"/>
            <a:chExt cx="11495400" cy="415590"/>
          </a:xfrm>
        </p:grpSpPr>
        <p:sp>
          <p:nvSpPr>
            <p:cNvPr id="404" name="Google Shape;404;p38"/>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405" name="Google Shape;405;p38"/>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406" name="Google Shape;406;p38"/>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407" name="Google Shape;407;p38"/>
          <p:cNvSpPr/>
          <p:nvPr/>
        </p:nvSpPr>
        <p:spPr>
          <a:xfrm>
            <a:off x="3448400" y="1795225"/>
            <a:ext cx="645900" cy="4155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 name="Google Shape;408;p38"/>
          <p:cNvSpPr/>
          <p:nvPr/>
        </p:nvSpPr>
        <p:spPr>
          <a:xfrm>
            <a:off x="7694925" y="1795225"/>
            <a:ext cx="645900" cy="4155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grpSp>
        <p:nvGrpSpPr>
          <p:cNvPr id="413" name="Google Shape;413;p39"/>
          <p:cNvGrpSpPr/>
          <p:nvPr/>
        </p:nvGrpSpPr>
        <p:grpSpPr>
          <a:xfrm>
            <a:off x="9910844" y="5045076"/>
            <a:ext cx="2311056" cy="1847888"/>
            <a:chOff x="9283128" y="4713378"/>
            <a:chExt cx="2938779" cy="2331720"/>
          </a:xfrm>
        </p:grpSpPr>
        <p:sp>
          <p:nvSpPr>
            <p:cNvPr id="414" name="Google Shape;414;p39"/>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5" name="Google Shape;415;p39"/>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6" name="Google Shape;416;p39"/>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417" name="Google Shape;417;p39"/>
          <p:cNvGrpSpPr/>
          <p:nvPr/>
        </p:nvGrpSpPr>
        <p:grpSpPr>
          <a:xfrm>
            <a:off x="593050" y="6292875"/>
            <a:ext cx="11495400" cy="415590"/>
            <a:chOff x="593050" y="6292875"/>
            <a:chExt cx="11495400" cy="415590"/>
          </a:xfrm>
        </p:grpSpPr>
        <p:sp>
          <p:nvSpPr>
            <p:cNvPr id="418" name="Google Shape;418;p39"/>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419" name="Google Shape;419;p39"/>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420" name="Google Shape;420;p39"/>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421" name="Google Shape;421;p39"/>
          <p:cNvSpPr txBox="1">
            <a:spLocks noGrp="1"/>
          </p:cNvSpPr>
          <p:nvPr>
            <p:ph type="ctrTitle" idx="4294967295"/>
          </p:nvPr>
        </p:nvSpPr>
        <p:spPr>
          <a:xfrm>
            <a:off x="206056" y="110123"/>
            <a:ext cx="6105300" cy="484500"/>
          </a:xfrm>
          <a:prstGeom prst="rect">
            <a:avLst/>
          </a:prstGeom>
          <a:noFill/>
          <a:ln>
            <a:noFill/>
          </a:ln>
        </p:spPr>
        <p:txBody>
          <a:bodyPr spcFirstLastPara="1" wrap="square" lIns="68575" tIns="34275" rIns="68575" bIns="34275" anchor="b" anchorCtr="0">
            <a:noAutofit/>
          </a:bodyPr>
          <a:lstStyle/>
          <a:p>
            <a:pPr marL="0" marR="0" lvl="0" indent="0" algn="l" rtl="0">
              <a:lnSpc>
                <a:spcPct val="90000"/>
              </a:lnSpc>
              <a:spcBef>
                <a:spcPts val="0"/>
              </a:spcBef>
              <a:spcAft>
                <a:spcPts val="0"/>
              </a:spcAft>
              <a:buClr>
                <a:srgbClr val="FF002B"/>
              </a:buClr>
              <a:buSzPts val="1100"/>
              <a:buFont typeface="Calibri"/>
              <a:buNone/>
            </a:pPr>
            <a:r>
              <a:rPr lang="en-US" sz="2200" i="0" u="none" strike="noStrike" cap="none">
                <a:latin typeface="Lato"/>
                <a:ea typeface="Lato"/>
                <a:cs typeface="Lato"/>
                <a:sym typeface="Lato"/>
              </a:rPr>
              <a:t>SPOKESPERSONS MEDIA TRAINING </a:t>
            </a:r>
            <a:endParaRPr sz="2200" i="0" u="none" strike="noStrike" cap="none">
              <a:latin typeface="Lato"/>
              <a:ea typeface="Lato"/>
              <a:cs typeface="Lato"/>
              <a:sym typeface="Lato"/>
            </a:endParaRPr>
          </a:p>
        </p:txBody>
      </p:sp>
      <p:sp>
        <p:nvSpPr>
          <p:cNvPr id="422" name="Google Shape;422;p39"/>
          <p:cNvSpPr txBox="1">
            <a:spLocks noGrp="1"/>
          </p:cNvSpPr>
          <p:nvPr>
            <p:ph type="body" idx="4294967295"/>
          </p:nvPr>
        </p:nvSpPr>
        <p:spPr>
          <a:xfrm>
            <a:off x="206056" y="594623"/>
            <a:ext cx="11555400" cy="10755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Clr>
                <a:schemeClr val="dk1"/>
              </a:buClr>
              <a:buSzPts val="1100"/>
              <a:buNone/>
            </a:pPr>
            <a:r>
              <a:rPr lang="en-US" sz="1600" dirty="0">
                <a:solidFill>
                  <a:schemeClr val="dk1"/>
                </a:solidFill>
                <a:latin typeface="Lato"/>
                <a:ea typeface="Lato"/>
                <a:cs typeface="Lato"/>
                <a:sym typeface="Lato"/>
              </a:rPr>
              <a:t>The objective is to empower Top Executives and other </a:t>
            </a:r>
            <a:r>
              <a:rPr lang="en-US" sz="1600" dirty="0" err="1">
                <a:solidFill>
                  <a:schemeClr val="dk1"/>
                </a:solidFill>
                <a:latin typeface="Lato"/>
                <a:ea typeface="Lato"/>
                <a:cs typeface="Lato"/>
                <a:sym typeface="Lato"/>
              </a:rPr>
              <a:t>authorised</a:t>
            </a:r>
            <a:r>
              <a:rPr lang="en-US" sz="1600" dirty="0">
                <a:solidFill>
                  <a:schemeClr val="dk1"/>
                </a:solidFill>
                <a:latin typeface="Lato"/>
                <a:ea typeface="Lato"/>
                <a:cs typeface="Lato"/>
                <a:sym typeface="Lato"/>
              </a:rPr>
              <a:t> spokespersons with the basic skills required to handle various media related situations when engaged by the media</a:t>
            </a:r>
            <a:endParaRPr sz="1600" dirty="0">
              <a:solidFill>
                <a:schemeClr val="dk1"/>
              </a:solidFill>
              <a:latin typeface="Lato"/>
              <a:ea typeface="Lato"/>
              <a:cs typeface="Lato"/>
              <a:sym typeface="Lato"/>
            </a:endParaRPr>
          </a:p>
          <a:p>
            <a:pPr marL="609584" lvl="0" indent="-440255" algn="l" rtl="0">
              <a:lnSpc>
                <a:spcPct val="90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This is will be a few hours session encompassing discussions on media nuances and simulated interview session on various media engagement scenarios</a:t>
            </a:r>
            <a:endParaRPr sz="1600" dirty="0">
              <a:solidFill>
                <a:schemeClr val="dk1"/>
              </a:solidFill>
              <a:latin typeface="Lato"/>
              <a:ea typeface="Lato"/>
              <a:cs typeface="Lato"/>
              <a:sym typeface="Lato"/>
            </a:endParaRPr>
          </a:p>
        </p:txBody>
      </p:sp>
      <p:sp>
        <p:nvSpPr>
          <p:cNvPr id="423" name="Google Shape;423;p39"/>
          <p:cNvSpPr txBox="1">
            <a:spLocks noGrp="1"/>
          </p:cNvSpPr>
          <p:nvPr>
            <p:ph type="body" idx="4294967295"/>
          </p:nvPr>
        </p:nvSpPr>
        <p:spPr>
          <a:xfrm>
            <a:off x="528425" y="1698600"/>
            <a:ext cx="3036000" cy="7830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90000"/>
              </a:lnSpc>
              <a:spcBef>
                <a:spcPts val="800"/>
              </a:spcBef>
              <a:spcAft>
                <a:spcPts val="0"/>
              </a:spcAft>
              <a:buClr>
                <a:schemeClr val="dk1"/>
              </a:buClr>
              <a:buSzPts val="1300"/>
              <a:buNone/>
            </a:pPr>
            <a:r>
              <a:rPr lang="en-US" sz="1500" b="1">
                <a:solidFill>
                  <a:schemeClr val="dk1"/>
                </a:solidFill>
                <a:latin typeface="Lato"/>
                <a:ea typeface="Lato"/>
                <a:cs typeface="Lato"/>
                <a:sym typeface="Lato"/>
              </a:rPr>
              <a:t>Training Overview</a:t>
            </a:r>
            <a:endParaRPr sz="1500" b="1">
              <a:solidFill>
                <a:schemeClr val="dk1"/>
              </a:solidFill>
              <a:latin typeface="Lato"/>
              <a:ea typeface="Lato"/>
              <a:cs typeface="Lato"/>
              <a:sym typeface="Lato"/>
            </a:endParaRPr>
          </a:p>
          <a:p>
            <a:pPr marL="0" lvl="0" indent="0" algn="l" rtl="0">
              <a:lnSpc>
                <a:spcPct val="90000"/>
              </a:lnSpc>
              <a:spcBef>
                <a:spcPts val="800"/>
              </a:spcBef>
              <a:spcAft>
                <a:spcPts val="0"/>
              </a:spcAft>
              <a:buClr>
                <a:schemeClr val="dk1"/>
              </a:buClr>
              <a:buSzPts val="1100"/>
              <a:buNone/>
            </a:pPr>
            <a:r>
              <a:rPr lang="en-US" sz="1500">
                <a:solidFill>
                  <a:schemeClr val="dk1"/>
                </a:solidFill>
                <a:latin typeface="Lato"/>
                <a:ea typeface="Lato"/>
                <a:cs typeface="Lato"/>
                <a:sym typeface="Lato"/>
              </a:rPr>
              <a:t>Date:   </a:t>
            </a:r>
            <a:r>
              <a:rPr lang="en-US" sz="1500" b="1">
                <a:solidFill>
                  <a:schemeClr val="dk1"/>
                </a:solidFill>
                <a:latin typeface="Lato"/>
                <a:ea typeface="Lato"/>
                <a:cs typeface="Lato"/>
                <a:sym typeface="Lato"/>
              </a:rPr>
              <a:t>|</a:t>
            </a:r>
            <a:r>
              <a:rPr lang="en-US" sz="1500">
                <a:solidFill>
                  <a:schemeClr val="dk1"/>
                </a:solidFill>
                <a:latin typeface="Lato"/>
                <a:ea typeface="Lato"/>
                <a:cs typeface="Lato"/>
                <a:sym typeface="Lato"/>
              </a:rPr>
              <a:t>   Time: </a:t>
            </a:r>
            <a:endParaRPr sz="1500">
              <a:solidFill>
                <a:schemeClr val="dk1"/>
              </a:solidFill>
              <a:latin typeface="Lato"/>
              <a:ea typeface="Lato"/>
              <a:cs typeface="Lato"/>
              <a:sym typeface="Lato"/>
            </a:endParaRPr>
          </a:p>
        </p:txBody>
      </p:sp>
      <p:sp>
        <p:nvSpPr>
          <p:cNvPr id="424" name="Google Shape;424;p39"/>
          <p:cNvSpPr txBox="1">
            <a:spLocks noGrp="1"/>
          </p:cNvSpPr>
          <p:nvPr>
            <p:ph type="body" idx="4294967295"/>
          </p:nvPr>
        </p:nvSpPr>
        <p:spPr>
          <a:xfrm>
            <a:off x="528476" y="2554787"/>
            <a:ext cx="3036000" cy="37380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800"/>
              <a:buFont typeface="Arial"/>
              <a:buNone/>
            </a:pPr>
            <a:r>
              <a:rPr lang="en-US" sz="1500" b="1" u="sng">
                <a:solidFill>
                  <a:schemeClr val="dk1"/>
                </a:solidFill>
                <a:latin typeface="Lato"/>
                <a:ea typeface="Lato"/>
                <a:cs typeface="Lato"/>
                <a:sym typeface="Lato"/>
              </a:rPr>
              <a:t>Section 1: Media Photo Shoot</a:t>
            </a:r>
            <a:endParaRPr sz="1500" b="1" u="sng">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Media Portrait Photo </a:t>
            </a:r>
            <a:endParaRPr sz="1500">
              <a:solidFill>
                <a:schemeClr val="dk1"/>
              </a:solidFill>
              <a:latin typeface="Lato"/>
              <a:ea typeface="Lato"/>
              <a:cs typeface="Lato"/>
              <a:sym typeface="Lato"/>
            </a:endParaRPr>
          </a:p>
          <a:p>
            <a:pPr marL="685800" lvl="1" indent="-260350" algn="l" rtl="0">
              <a:lnSpc>
                <a:spcPct val="100000"/>
              </a:lnSpc>
              <a:spcBef>
                <a:spcPts val="0"/>
              </a:spcBef>
              <a:spcAft>
                <a:spcPts val="0"/>
              </a:spcAft>
              <a:buClr>
                <a:schemeClr val="dk1"/>
              </a:buClr>
              <a:buSzPts val="1500"/>
              <a:buFont typeface="Lato"/>
              <a:buAutoNum type="alphaLcPeriod"/>
            </a:pPr>
            <a:r>
              <a:rPr lang="en-US" sz="1500">
                <a:solidFill>
                  <a:schemeClr val="dk1"/>
                </a:solidFill>
                <a:latin typeface="Lato"/>
                <a:ea typeface="Lato"/>
                <a:cs typeface="Lato"/>
                <a:sym typeface="Lato"/>
              </a:rPr>
              <a:t>Full official and Casual official </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Interview mode Photographs </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Media Photo &amp; Photo news nuances</a:t>
            </a:r>
            <a:endParaRPr sz="1500">
              <a:solidFill>
                <a:schemeClr val="dk1"/>
              </a:solidFill>
              <a:latin typeface="Lato"/>
              <a:ea typeface="Lato"/>
              <a:cs typeface="Lato"/>
              <a:sym typeface="Lato"/>
            </a:endParaRPr>
          </a:p>
        </p:txBody>
      </p:sp>
      <p:sp>
        <p:nvSpPr>
          <p:cNvPr id="425" name="Google Shape;425;p39"/>
          <p:cNvSpPr txBox="1">
            <a:spLocks noGrp="1"/>
          </p:cNvSpPr>
          <p:nvPr>
            <p:ph type="body" idx="4294967295"/>
          </p:nvPr>
        </p:nvSpPr>
        <p:spPr>
          <a:xfrm>
            <a:off x="3968740" y="2554787"/>
            <a:ext cx="3705900" cy="37380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1100"/>
              <a:buNone/>
            </a:pPr>
            <a:r>
              <a:rPr lang="en-US" sz="1500" b="1" u="sng">
                <a:solidFill>
                  <a:schemeClr val="dk1"/>
                </a:solidFill>
                <a:latin typeface="Lato"/>
                <a:ea typeface="Lato"/>
                <a:cs typeface="Lato"/>
                <a:sym typeface="Lato"/>
              </a:rPr>
              <a:t>Section 2 (Module a -Discussion) </a:t>
            </a:r>
            <a:endParaRPr sz="1500" b="1" u="sng">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The Nigerian Media: </a:t>
            </a:r>
            <a:endParaRPr sz="1500">
              <a:solidFill>
                <a:schemeClr val="dk1"/>
              </a:solidFill>
              <a:latin typeface="Lato"/>
              <a:ea typeface="Lato"/>
              <a:cs typeface="Lato"/>
              <a:sym typeface="Lato"/>
            </a:endParaRPr>
          </a:p>
          <a:p>
            <a:pPr marL="685800" lvl="1" indent="-260350" algn="l" rtl="0">
              <a:lnSpc>
                <a:spcPct val="100000"/>
              </a:lnSpc>
              <a:spcBef>
                <a:spcPts val="0"/>
              </a:spcBef>
              <a:spcAft>
                <a:spcPts val="0"/>
              </a:spcAft>
              <a:buClr>
                <a:schemeClr val="dk1"/>
              </a:buClr>
              <a:buSzPts val="1500"/>
              <a:buFont typeface="Lato"/>
              <a:buAutoNum type="alphaLcPeriod"/>
            </a:pPr>
            <a:r>
              <a:rPr lang="en-US" sz="1500">
                <a:solidFill>
                  <a:schemeClr val="dk1"/>
                </a:solidFill>
                <a:latin typeface="Lato"/>
                <a:ea typeface="Lato"/>
                <a:cs typeface="Lato"/>
                <a:sym typeface="Lato"/>
              </a:rPr>
              <a:t>The Overview and Landscape</a:t>
            </a:r>
            <a:endParaRPr sz="1500">
              <a:solidFill>
                <a:schemeClr val="dk1"/>
              </a:solidFill>
              <a:latin typeface="Lato"/>
              <a:ea typeface="Lato"/>
              <a:cs typeface="Lato"/>
              <a:sym typeface="Lato"/>
            </a:endParaRPr>
          </a:p>
          <a:p>
            <a:pPr marL="685800" lvl="1" indent="-260350" algn="l" rtl="0">
              <a:lnSpc>
                <a:spcPct val="100000"/>
              </a:lnSpc>
              <a:spcBef>
                <a:spcPts val="0"/>
              </a:spcBef>
              <a:spcAft>
                <a:spcPts val="0"/>
              </a:spcAft>
              <a:buClr>
                <a:schemeClr val="dk1"/>
              </a:buClr>
              <a:buSzPts val="1500"/>
              <a:buFont typeface="Lato"/>
              <a:buAutoNum type="alphaLcPeriod"/>
            </a:pPr>
            <a:r>
              <a:rPr lang="en-US" sz="1500">
                <a:solidFill>
                  <a:schemeClr val="dk1"/>
                </a:solidFill>
                <a:latin typeface="Lato"/>
                <a:ea typeface="Lato"/>
                <a:cs typeface="Lato"/>
                <a:sym typeface="Lato"/>
              </a:rPr>
              <a:t>Media nuances</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Spokespersons role in media engagements</a:t>
            </a:r>
            <a:endParaRPr sz="1500">
              <a:solidFill>
                <a:schemeClr val="dk1"/>
              </a:solidFill>
              <a:latin typeface="Lato"/>
              <a:ea typeface="Lato"/>
              <a:cs typeface="Lato"/>
              <a:sym typeface="Lato"/>
            </a:endParaRPr>
          </a:p>
          <a:p>
            <a:pPr marL="0" lvl="0" indent="0" algn="l" rtl="0">
              <a:lnSpc>
                <a:spcPct val="100000"/>
              </a:lnSpc>
              <a:spcBef>
                <a:spcPts val="0"/>
              </a:spcBef>
              <a:spcAft>
                <a:spcPts val="0"/>
              </a:spcAft>
              <a:buClr>
                <a:schemeClr val="dk1"/>
              </a:buClr>
              <a:buSzPts val="1100"/>
              <a:buNone/>
            </a:pPr>
            <a:r>
              <a:rPr lang="en-US" sz="1500" b="1" u="sng">
                <a:solidFill>
                  <a:schemeClr val="dk1"/>
                </a:solidFill>
                <a:latin typeface="Lato"/>
                <a:ea typeface="Lato"/>
                <a:cs typeface="Lato"/>
                <a:sym typeface="Lato"/>
              </a:rPr>
              <a:t>Section 2 (Module b -Discussion) </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Having successful media engagements</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Steering the discussion in media engagements</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Dealing with difficult journalists and questions</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Interview preparation and discussions</a:t>
            </a:r>
            <a:endParaRPr sz="1500">
              <a:solidFill>
                <a:schemeClr val="dk1"/>
              </a:solidFill>
              <a:latin typeface="Lato"/>
              <a:ea typeface="Lato"/>
              <a:cs typeface="Lato"/>
              <a:sym typeface="Lato"/>
            </a:endParaRPr>
          </a:p>
        </p:txBody>
      </p:sp>
      <p:sp>
        <p:nvSpPr>
          <p:cNvPr id="426" name="Google Shape;426;p39"/>
          <p:cNvSpPr txBox="1">
            <a:spLocks noGrp="1"/>
          </p:cNvSpPr>
          <p:nvPr>
            <p:ph type="body" idx="4294967295"/>
          </p:nvPr>
        </p:nvSpPr>
        <p:spPr>
          <a:xfrm>
            <a:off x="8189275" y="2554787"/>
            <a:ext cx="3705900" cy="37380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1100"/>
              <a:buNone/>
            </a:pPr>
            <a:r>
              <a:rPr lang="en-US" sz="1500" b="1" u="sng">
                <a:solidFill>
                  <a:schemeClr val="dk1"/>
                </a:solidFill>
                <a:latin typeface="Lato"/>
                <a:ea typeface="Lato"/>
                <a:cs typeface="Lato"/>
                <a:sym typeface="Lato"/>
              </a:rPr>
              <a:t>Section 3: Role Play</a:t>
            </a:r>
            <a:endParaRPr sz="1500" b="1" u="sng">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Introduction and backgrounder </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Realistic simulated interviews</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Playback and evaluation of the interview</a:t>
            </a:r>
            <a:endParaRPr sz="1500" b="1">
              <a:solidFill>
                <a:schemeClr val="dk1"/>
              </a:solidFill>
              <a:latin typeface="Lato"/>
              <a:ea typeface="Lato"/>
              <a:cs typeface="Lato"/>
              <a:sym typeface="Lato"/>
            </a:endParaRPr>
          </a:p>
          <a:p>
            <a:pPr marL="0" lvl="0" indent="0" algn="l" rtl="0">
              <a:lnSpc>
                <a:spcPct val="100000"/>
              </a:lnSpc>
              <a:spcBef>
                <a:spcPts val="0"/>
              </a:spcBef>
              <a:spcAft>
                <a:spcPts val="0"/>
              </a:spcAft>
              <a:buClr>
                <a:schemeClr val="dk1"/>
              </a:buClr>
              <a:buSzPts val="1100"/>
              <a:buNone/>
            </a:pPr>
            <a:endParaRPr sz="1500" b="1">
              <a:solidFill>
                <a:schemeClr val="dk1"/>
              </a:solidFill>
              <a:latin typeface="Lato"/>
              <a:ea typeface="Lato"/>
              <a:cs typeface="Lato"/>
              <a:sym typeface="Lato"/>
            </a:endParaRPr>
          </a:p>
          <a:p>
            <a:pPr marL="0" lvl="0" indent="0" algn="l" rtl="0">
              <a:lnSpc>
                <a:spcPct val="100000"/>
              </a:lnSpc>
              <a:spcBef>
                <a:spcPts val="0"/>
              </a:spcBef>
              <a:spcAft>
                <a:spcPts val="0"/>
              </a:spcAft>
              <a:buClr>
                <a:schemeClr val="dk1"/>
              </a:buClr>
              <a:buSzPts val="1100"/>
              <a:buNone/>
            </a:pPr>
            <a:r>
              <a:rPr lang="en-US" sz="1500" b="1">
                <a:solidFill>
                  <a:schemeClr val="dk1"/>
                </a:solidFill>
                <a:latin typeface="Lato"/>
                <a:ea typeface="Lato"/>
                <a:cs typeface="Lato"/>
                <a:sym typeface="Lato"/>
              </a:rPr>
              <a:t>Role Play Set/Prop and Video Coverage:</a:t>
            </a:r>
            <a:r>
              <a:rPr lang="en-US" sz="1500">
                <a:solidFill>
                  <a:schemeClr val="dk1"/>
                </a:solidFill>
                <a:latin typeface="Lato"/>
                <a:ea typeface="Lato"/>
                <a:cs typeface="Lato"/>
                <a:sym typeface="Lato"/>
              </a:rPr>
              <a:t> </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The role play is a simulation of</a:t>
            </a:r>
            <a:endParaRPr sz="1500">
              <a:solidFill>
                <a:schemeClr val="dk1"/>
              </a:solidFill>
              <a:latin typeface="Lato"/>
              <a:ea typeface="Lato"/>
              <a:cs typeface="Lato"/>
              <a:sym typeface="Lato"/>
            </a:endParaRPr>
          </a:p>
          <a:p>
            <a:pPr marL="685800" lvl="1" indent="-260350" algn="l" rtl="0">
              <a:lnSpc>
                <a:spcPct val="100000"/>
              </a:lnSpc>
              <a:spcBef>
                <a:spcPts val="0"/>
              </a:spcBef>
              <a:spcAft>
                <a:spcPts val="0"/>
              </a:spcAft>
              <a:buClr>
                <a:schemeClr val="dk1"/>
              </a:buClr>
              <a:buSzPts val="1500"/>
              <a:buFont typeface="Lato"/>
              <a:buAutoNum type="alphaLcPeriod"/>
            </a:pPr>
            <a:r>
              <a:rPr lang="en-US" sz="1500">
                <a:solidFill>
                  <a:schemeClr val="dk1"/>
                </a:solidFill>
                <a:latin typeface="Lato"/>
                <a:ea typeface="Lato"/>
                <a:cs typeface="Lato"/>
                <a:sym typeface="Lato"/>
              </a:rPr>
              <a:t>Print Journalist Interview </a:t>
            </a:r>
            <a:endParaRPr sz="1500">
              <a:solidFill>
                <a:schemeClr val="dk1"/>
              </a:solidFill>
              <a:latin typeface="Lato"/>
              <a:ea typeface="Lato"/>
              <a:cs typeface="Lato"/>
              <a:sym typeface="Lato"/>
            </a:endParaRPr>
          </a:p>
          <a:p>
            <a:pPr marL="685800" lvl="1" indent="-260350" algn="l" rtl="0">
              <a:lnSpc>
                <a:spcPct val="100000"/>
              </a:lnSpc>
              <a:spcBef>
                <a:spcPts val="0"/>
              </a:spcBef>
              <a:spcAft>
                <a:spcPts val="0"/>
              </a:spcAft>
              <a:buClr>
                <a:schemeClr val="dk1"/>
              </a:buClr>
              <a:buSzPts val="1500"/>
              <a:buFont typeface="Lato"/>
              <a:buAutoNum type="alphaLcPeriod"/>
            </a:pPr>
            <a:r>
              <a:rPr lang="en-US" sz="1500">
                <a:solidFill>
                  <a:schemeClr val="dk1"/>
                </a:solidFill>
                <a:latin typeface="Lato"/>
                <a:ea typeface="Lato"/>
                <a:cs typeface="Lato"/>
                <a:sym typeface="Lato"/>
              </a:rPr>
              <a:t>Real life simulation TV or Radio interview. </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The setup will mimic a typical TV/Radio Studio</a:t>
            </a:r>
            <a:endParaRPr sz="1500">
              <a:solidFill>
                <a:schemeClr val="dk1"/>
              </a:solidFill>
              <a:latin typeface="Lato"/>
              <a:ea typeface="Lato"/>
              <a:cs typeface="Lato"/>
              <a:sym typeface="Lato"/>
            </a:endParaRPr>
          </a:p>
          <a:p>
            <a:pPr marL="342900" lvl="0" indent="-260350" algn="l" rtl="0">
              <a:lnSpc>
                <a:spcPct val="100000"/>
              </a:lnSpc>
              <a:spcBef>
                <a:spcPts val="0"/>
              </a:spcBef>
              <a:spcAft>
                <a:spcPts val="0"/>
              </a:spcAft>
              <a:buClr>
                <a:schemeClr val="dk1"/>
              </a:buClr>
              <a:buSzPts val="1500"/>
              <a:buFont typeface="Lato"/>
              <a:buAutoNum type="arabicPeriod"/>
            </a:pPr>
            <a:r>
              <a:rPr lang="en-US" sz="1500">
                <a:solidFill>
                  <a:schemeClr val="dk1"/>
                </a:solidFill>
                <a:latin typeface="Lato"/>
                <a:ea typeface="Lato"/>
                <a:cs typeface="Lato"/>
                <a:sym typeface="Lato"/>
              </a:rPr>
              <a:t>Video coverage of the interviews for replay and review</a:t>
            </a:r>
            <a:endParaRPr sz="1500" b="1" u="sng">
              <a:solidFill>
                <a:schemeClr val="dk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grpSp>
        <p:nvGrpSpPr>
          <p:cNvPr id="431" name="Google Shape;431;p40"/>
          <p:cNvGrpSpPr/>
          <p:nvPr/>
        </p:nvGrpSpPr>
        <p:grpSpPr>
          <a:xfrm>
            <a:off x="9910844" y="5045076"/>
            <a:ext cx="2311056" cy="1847888"/>
            <a:chOff x="9283128" y="4713378"/>
            <a:chExt cx="2938779" cy="2331720"/>
          </a:xfrm>
        </p:grpSpPr>
        <p:sp>
          <p:nvSpPr>
            <p:cNvPr id="432" name="Google Shape;432;p40"/>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33" name="Google Shape;433;p40"/>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34" name="Google Shape;434;p40"/>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435" name="Google Shape;435;p40"/>
          <p:cNvGrpSpPr/>
          <p:nvPr/>
        </p:nvGrpSpPr>
        <p:grpSpPr>
          <a:xfrm>
            <a:off x="593050" y="6292875"/>
            <a:ext cx="11495400" cy="415590"/>
            <a:chOff x="593050" y="6292875"/>
            <a:chExt cx="11495400" cy="415590"/>
          </a:xfrm>
        </p:grpSpPr>
        <p:sp>
          <p:nvSpPr>
            <p:cNvPr id="436" name="Google Shape;436;p40"/>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437" name="Google Shape;437;p40"/>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438" name="Google Shape;438;p40"/>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439" name="Google Shape;439;p40"/>
          <p:cNvSpPr txBox="1"/>
          <p:nvPr/>
        </p:nvSpPr>
        <p:spPr>
          <a:xfrm>
            <a:off x="249491" y="248348"/>
            <a:ext cx="5979600" cy="4854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rgbClr val="FF002B"/>
              </a:buClr>
              <a:buSzPts val="1100"/>
              <a:buFont typeface="Lato"/>
              <a:buNone/>
            </a:pPr>
            <a:r>
              <a:rPr lang="en-US" sz="2200">
                <a:solidFill>
                  <a:schemeClr val="dk1"/>
                </a:solidFill>
                <a:latin typeface="Lato"/>
                <a:ea typeface="Lato"/>
                <a:cs typeface="Lato"/>
                <a:sym typeface="Lato"/>
              </a:rPr>
              <a:t>MEDIA LOYALTY GROUP</a:t>
            </a:r>
            <a:endParaRPr sz="2000">
              <a:solidFill>
                <a:srgbClr val="000000"/>
              </a:solidFill>
              <a:latin typeface="Lato"/>
              <a:ea typeface="Lato"/>
              <a:cs typeface="Lato"/>
              <a:sym typeface="Lato"/>
            </a:endParaRPr>
          </a:p>
        </p:txBody>
      </p:sp>
      <p:sp>
        <p:nvSpPr>
          <p:cNvPr id="440" name="Google Shape;440;p40"/>
          <p:cNvSpPr txBox="1"/>
          <p:nvPr/>
        </p:nvSpPr>
        <p:spPr>
          <a:xfrm>
            <a:off x="249500" y="1199625"/>
            <a:ext cx="7950900" cy="41457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None/>
            </a:pPr>
            <a:r>
              <a:rPr lang="en-US" sz="1800">
                <a:solidFill>
                  <a:srgbClr val="000000"/>
                </a:solidFill>
                <a:latin typeface="Lato"/>
                <a:ea typeface="Lato"/>
                <a:cs typeface="Lato"/>
                <a:sym typeface="Lato"/>
              </a:rPr>
              <a:t>One-on-one briefing with media members before, during and after the launch</a:t>
            </a:r>
            <a:endParaRPr sz="1800">
              <a:solidFill>
                <a:srgbClr val="000000"/>
              </a:solidFill>
              <a:latin typeface="Lato"/>
              <a:ea typeface="Lato"/>
              <a:cs typeface="Lato"/>
              <a:sym typeface="Lato"/>
            </a:endParaRPr>
          </a:p>
          <a:p>
            <a:pPr marL="457200" lvl="0" indent="-349250" algn="l" rtl="0">
              <a:lnSpc>
                <a:spcPct val="90000"/>
              </a:lnSpc>
              <a:spcBef>
                <a:spcPts val="800"/>
              </a:spcBef>
              <a:spcAft>
                <a:spcPts val="0"/>
              </a:spcAft>
              <a:buClr>
                <a:srgbClr val="000000"/>
              </a:buClr>
              <a:buSzPts val="1500"/>
              <a:buFont typeface="Lato"/>
              <a:buChar char="•"/>
            </a:pPr>
            <a:r>
              <a:rPr lang="en-US" sz="1800">
                <a:solidFill>
                  <a:srgbClr val="000000"/>
                </a:solidFill>
                <a:latin typeface="Lato"/>
                <a:ea typeface="Lato"/>
                <a:cs typeface="Lato"/>
                <a:sym typeface="Lato"/>
              </a:rPr>
              <a:t>Co opt media members from the launch into a media loyalty group</a:t>
            </a:r>
            <a:endParaRPr sz="1800">
              <a:solidFill>
                <a:srgbClr val="000000"/>
              </a:solidFill>
              <a:latin typeface="Lato"/>
              <a:ea typeface="Lato"/>
              <a:cs typeface="Lato"/>
              <a:sym typeface="Lato"/>
            </a:endParaRPr>
          </a:p>
          <a:p>
            <a:pPr marL="457200" lvl="0" indent="-349250" algn="l" rtl="0">
              <a:lnSpc>
                <a:spcPct val="90000"/>
              </a:lnSpc>
              <a:spcBef>
                <a:spcPts val="800"/>
              </a:spcBef>
              <a:spcAft>
                <a:spcPts val="0"/>
              </a:spcAft>
              <a:buClr>
                <a:srgbClr val="000000"/>
              </a:buClr>
              <a:buSzPts val="1500"/>
              <a:buFont typeface="Lato"/>
              <a:buChar char="•"/>
            </a:pPr>
            <a:r>
              <a:rPr lang="en-US" sz="1800">
                <a:solidFill>
                  <a:srgbClr val="000000"/>
                </a:solidFill>
                <a:latin typeface="Lato"/>
                <a:ea typeface="Lato"/>
                <a:cs typeface="Lato"/>
                <a:sym typeface="Lato"/>
              </a:rPr>
              <a:t>Regular interaction with members </a:t>
            </a:r>
            <a:endParaRPr sz="1800">
              <a:latin typeface="Lato"/>
              <a:ea typeface="Lato"/>
              <a:cs typeface="Lato"/>
              <a:sym typeface="Lato"/>
            </a:endParaRPr>
          </a:p>
          <a:p>
            <a:pPr marL="457200" lvl="0" indent="-349250" algn="l" rtl="0">
              <a:lnSpc>
                <a:spcPct val="90000"/>
              </a:lnSpc>
              <a:spcBef>
                <a:spcPts val="800"/>
              </a:spcBef>
              <a:spcAft>
                <a:spcPts val="0"/>
              </a:spcAft>
              <a:buClr>
                <a:srgbClr val="000000"/>
              </a:buClr>
              <a:buSzPts val="1500"/>
              <a:buFont typeface="Lato"/>
              <a:buChar char="•"/>
            </a:pPr>
            <a:r>
              <a:rPr lang="en-US" sz="1800">
                <a:solidFill>
                  <a:srgbClr val="000000"/>
                </a:solidFill>
                <a:latin typeface="Lato"/>
                <a:ea typeface="Lato"/>
                <a:cs typeface="Lato"/>
                <a:sym typeface="Lato"/>
              </a:rPr>
              <a:t>Provide frequent updates and engagement on developments on </a:t>
            </a:r>
            <a:r>
              <a:rPr lang="en-US" sz="1800">
                <a:latin typeface="Lato"/>
                <a:ea typeface="Lato"/>
                <a:cs typeface="Lato"/>
                <a:sym typeface="Lato"/>
              </a:rPr>
              <a:t>the hub</a:t>
            </a:r>
            <a:endParaRPr sz="1800">
              <a:solidFill>
                <a:srgbClr val="000000"/>
              </a:solidFill>
              <a:latin typeface="Lato"/>
              <a:ea typeface="Lato"/>
              <a:cs typeface="Lato"/>
              <a:sym typeface="Lato"/>
            </a:endParaRPr>
          </a:p>
          <a:p>
            <a:pPr marL="457200" lvl="0" indent="-349250" algn="l" rtl="0">
              <a:lnSpc>
                <a:spcPct val="90000"/>
              </a:lnSpc>
              <a:spcBef>
                <a:spcPts val="800"/>
              </a:spcBef>
              <a:spcAft>
                <a:spcPts val="0"/>
              </a:spcAft>
              <a:buClr>
                <a:srgbClr val="000000"/>
              </a:buClr>
              <a:buSzPts val="1500"/>
              <a:buFont typeface="Lato"/>
              <a:buChar char="•"/>
            </a:pPr>
            <a:r>
              <a:rPr lang="en-US" sz="1800">
                <a:solidFill>
                  <a:srgbClr val="000000"/>
                </a:solidFill>
                <a:latin typeface="Lato"/>
                <a:ea typeface="Lato"/>
                <a:cs typeface="Lato"/>
                <a:sym typeface="Lato"/>
              </a:rPr>
              <a:t>Proactively assist with management of negative reportage</a:t>
            </a:r>
            <a:endParaRPr sz="1800">
              <a:solidFill>
                <a:srgbClr val="000000"/>
              </a:solidFill>
              <a:latin typeface="Lato"/>
              <a:ea typeface="Lato"/>
              <a:cs typeface="Lato"/>
              <a:sym typeface="Lato"/>
            </a:endParaRPr>
          </a:p>
          <a:p>
            <a:pPr marL="457200" lvl="0" indent="-349250" algn="l" rtl="0">
              <a:lnSpc>
                <a:spcPct val="90000"/>
              </a:lnSpc>
              <a:spcBef>
                <a:spcPts val="800"/>
              </a:spcBef>
              <a:spcAft>
                <a:spcPts val="0"/>
              </a:spcAft>
              <a:buClr>
                <a:srgbClr val="000000"/>
              </a:buClr>
              <a:buSzPts val="1500"/>
              <a:buFont typeface="Lato"/>
              <a:buChar char="•"/>
            </a:pPr>
            <a:r>
              <a:rPr lang="en-US" sz="1800">
                <a:solidFill>
                  <a:srgbClr val="000000"/>
                </a:solidFill>
                <a:latin typeface="Lato"/>
                <a:ea typeface="Lato"/>
                <a:cs typeface="Lato"/>
                <a:sym typeface="Lato"/>
              </a:rPr>
              <a:t>Counter to negative stories when existent</a:t>
            </a:r>
            <a:endParaRPr sz="1800">
              <a:solidFill>
                <a:srgbClr val="000000"/>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grpSp>
        <p:nvGrpSpPr>
          <p:cNvPr id="445" name="Google Shape;445;p41"/>
          <p:cNvGrpSpPr/>
          <p:nvPr/>
        </p:nvGrpSpPr>
        <p:grpSpPr>
          <a:xfrm>
            <a:off x="9910844" y="5045076"/>
            <a:ext cx="2311056" cy="1847888"/>
            <a:chOff x="9283128" y="4713378"/>
            <a:chExt cx="2938779" cy="2331720"/>
          </a:xfrm>
        </p:grpSpPr>
        <p:sp>
          <p:nvSpPr>
            <p:cNvPr id="446" name="Google Shape;446;p41"/>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7" name="Google Shape;447;p41"/>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8" name="Google Shape;448;p41"/>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49" name="Google Shape;449;p41"/>
          <p:cNvSpPr txBox="1">
            <a:spLocks noGrp="1"/>
          </p:cNvSpPr>
          <p:nvPr>
            <p:ph type="title"/>
          </p:nvPr>
        </p:nvSpPr>
        <p:spPr>
          <a:xfrm>
            <a:off x="59650" y="194200"/>
            <a:ext cx="10403700" cy="549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TARGET MEDIA SUPPORT GROUP</a:t>
            </a:r>
            <a:endParaRPr sz="2200">
              <a:solidFill>
                <a:srgbClr val="DC4540"/>
              </a:solidFill>
              <a:latin typeface="Lato Black"/>
              <a:ea typeface="Lato Black"/>
              <a:cs typeface="Lato Black"/>
              <a:sym typeface="Lato Black"/>
            </a:endParaRPr>
          </a:p>
        </p:txBody>
      </p:sp>
      <p:sp>
        <p:nvSpPr>
          <p:cNvPr id="450" name="Google Shape;450;p41"/>
          <p:cNvSpPr txBox="1">
            <a:spLocks noGrp="1"/>
          </p:cNvSpPr>
          <p:nvPr>
            <p:ph type="body" idx="1"/>
          </p:nvPr>
        </p:nvSpPr>
        <p:spPr>
          <a:xfrm>
            <a:off x="8148850" y="1125150"/>
            <a:ext cx="2674500" cy="46077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800" b="1">
                <a:solidFill>
                  <a:schemeClr val="dk1"/>
                </a:solidFill>
                <a:latin typeface="Lato"/>
                <a:ea typeface="Lato"/>
                <a:cs typeface="Lato"/>
                <a:sym typeface="Lato"/>
              </a:rPr>
              <a:t>Blogs and News Sites</a:t>
            </a:r>
            <a:endParaRPr sz="1800" b="1">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Tech Economy</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Tech Point</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Tech Cabal</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PM News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PM Express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The Cable</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Premium Times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Legit</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a:solidFill>
                  <a:schemeClr val="dk1"/>
                </a:solidFill>
                <a:latin typeface="Lato"/>
                <a:ea typeface="Lato"/>
                <a:cs typeface="Lato"/>
                <a:sym typeface="Lato"/>
              </a:rPr>
              <a:t>Bellanaija</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Nairametrics</a:t>
            </a:r>
            <a:endParaRPr sz="1800">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1800">
              <a:solidFill>
                <a:schemeClr val="dk1"/>
              </a:solidFill>
              <a:latin typeface="Lato"/>
              <a:ea typeface="Lato"/>
              <a:cs typeface="Lato"/>
              <a:sym typeface="Lato"/>
            </a:endParaRPr>
          </a:p>
        </p:txBody>
      </p:sp>
      <p:sp>
        <p:nvSpPr>
          <p:cNvPr id="451" name="Google Shape;451;p41"/>
          <p:cNvSpPr txBox="1">
            <a:spLocks noGrp="1"/>
          </p:cNvSpPr>
          <p:nvPr>
            <p:ph type="body" idx="1"/>
          </p:nvPr>
        </p:nvSpPr>
        <p:spPr>
          <a:xfrm>
            <a:off x="2581750" y="1217800"/>
            <a:ext cx="2674500" cy="46077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800" b="1" dirty="0">
                <a:solidFill>
                  <a:schemeClr val="dk1"/>
                </a:solidFill>
                <a:latin typeface="Lato"/>
                <a:ea typeface="Lato"/>
                <a:cs typeface="Lato"/>
                <a:sym typeface="Lato"/>
              </a:rPr>
              <a:t>Television</a:t>
            </a:r>
            <a:endParaRPr sz="1800" b="1" dirty="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Channels TV</a:t>
            </a:r>
            <a:endParaRPr sz="1800" dirty="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TVC</a:t>
            </a:r>
            <a:endParaRPr sz="1800" dirty="0">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1800" dirty="0">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US" sz="1800" b="1" dirty="0">
                <a:solidFill>
                  <a:schemeClr val="dk1"/>
                </a:solidFill>
                <a:latin typeface="Lato"/>
                <a:ea typeface="Lato"/>
                <a:cs typeface="Lato"/>
                <a:sym typeface="Lato"/>
              </a:rPr>
              <a:t>Social media</a:t>
            </a:r>
            <a:endParaRPr sz="1800" b="1" dirty="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dirty="0">
                <a:solidFill>
                  <a:schemeClr val="dk1"/>
                </a:solidFill>
                <a:latin typeface="Lato"/>
                <a:ea typeface="Lato"/>
                <a:cs typeface="Lato"/>
                <a:sym typeface="Lato"/>
              </a:rPr>
              <a:t>X (formerly Twitter)</a:t>
            </a:r>
            <a:endParaRPr sz="1800" dirty="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dirty="0">
                <a:solidFill>
                  <a:schemeClr val="dk1"/>
                </a:solidFill>
                <a:latin typeface="Lato"/>
                <a:ea typeface="Lato"/>
                <a:cs typeface="Lato"/>
                <a:sym typeface="Lato"/>
              </a:rPr>
              <a:t>Facebook</a:t>
            </a:r>
          </a:p>
          <a:p>
            <a:pPr marL="457200" lvl="0" indent="-342900" algn="l" rtl="0">
              <a:lnSpc>
                <a:spcPct val="115000"/>
              </a:lnSpc>
              <a:spcBef>
                <a:spcPts val="0"/>
              </a:spcBef>
              <a:spcAft>
                <a:spcPts val="0"/>
              </a:spcAft>
              <a:buSzPts val="1800"/>
              <a:buFont typeface="Lato"/>
              <a:buChar char="•"/>
            </a:pPr>
            <a:r>
              <a:rPr lang="en-US" sz="1800" dirty="0">
                <a:solidFill>
                  <a:schemeClr val="dk1"/>
                </a:solidFill>
                <a:latin typeface="Lato"/>
                <a:ea typeface="Lato"/>
                <a:cs typeface="Lato"/>
                <a:sym typeface="Lato"/>
              </a:rPr>
              <a:t>Instagram</a:t>
            </a:r>
          </a:p>
          <a:p>
            <a:pPr marL="457200" lvl="0" indent="-342900" algn="l" rtl="0">
              <a:lnSpc>
                <a:spcPct val="115000"/>
              </a:lnSpc>
              <a:spcBef>
                <a:spcPts val="0"/>
              </a:spcBef>
              <a:spcAft>
                <a:spcPts val="0"/>
              </a:spcAft>
              <a:buSzPts val="1800"/>
              <a:buFont typeface="Lato"/>
              <a:buChar char="•"/>
            </a:pPr>
            <a:r>
              <a:rPr lang="en-US" sz="1800" dirty="0" err="1">
                <a:solidFill>
                  <a:schemeClr val="dk1"/>
                </a:solidFill>
                <a:latin typeface="Lato"/>
                <a:ea typeface="Lato"/>
                <a:cs typeface="Lato"/>
                <a:sym typeface="Lato"/>
              </a:rPr>
              <a:t>Linkedin</a:t>
            </a:r>
            <a:endParaRPr lang="en-US" sz="1800" dirty="0">
              <a:solidFill>
                <a:schemeClr val="dk1"/>
              </a:solidFill>
              <a:latin typeface="Lato"/>
              <a:ea typeface="Lato"/>
              <a:cs typeface="Lato"/>
              <a:sym typeface="Lato"/>
            </a:endParaRPr>
          </a:p>
          <a:p>
            <a:pPr marL="457200" lvl="0" indent="-342900" algn="l" rtl="0">
              <a:lnSpc>
                <a:spcPct val="115000"/>
              </a:lnSpc>
              <a:spcBef>
                <a:spcPts val="0"/>
              </a:spcBef>
              <a:spcAft>
                <a:spcPts val="0"/>
              </a:spcAft>
              <a:buSzPts val="1800"/>
              <a:buFont typeface="Lato"/>
              <a:buChar char="•"/>
            </a:pPr>
            <a:r>
              <a:rPr lang="en-US" sz="1800" dirty="0">
                <a:solidFill>
                  <a:schemeClr val="dk1"/>
                </a:solidFill>
                <a:latin typeface="Lato"/>
                <a:ea typeface="Lato"/>
                <a:cs typeface="Lato"/>
                <a:sym typeface="Lato"/>
              </a:rPr>
              <a:t>Tik Tok</a:t>
            </a:r>
          </a:p>
          <a:p>
            <a:pPr marL="457200" lvl="0" indent="-342900" algn="l" rtl="0">
              <a:lnSpc>
                <a:spcPct val="115000"/>
              </a:lnSpc>
              <a:spcBef>
                <a:spcPts val="0"/>
              </a:spcBef>
              <a:spcAft>
                <a:spcPts val="0"/>
              </a:spcAft>
              <a:buSzPts val="1800"/>
              <a:buFont typeface="Lato"/>
              <a:buChar char="•"/>
            </a:pPr>
            <a:r>
              <a:rPr lang="en-US" sz="1800" dirty="0">
                <a:solidFill>
                  <a:schemeClr val="dk1"/>
                </a:solidFill>
                <a:latin typeface="Lato"/>
                <a:ea typeface="Lato"/>
                <a:cs typeface="Lato"/>
                <a:sym typeface="Lato"/>
              </a:rPr>
              <a:t>YouTube</a:t>
            </a:r>
            <a:endParaRPr sz="1800" dirty="0">
              <a:solidFill>
                <a:schemeClr val="dk1"/>
              </a:solidFill>
              <a:latin typeface="Lato"/>
              <a:ea typeface="Lato"/>
              <a:cs typeface="Lato"/>
              <a:sym typeface="Lato"/>
            </a:endParaRPr>
          </a:p>
        </p:txBody>
      </p:sp>
      <p:sp>
        <p:nvSpPr>
          <p:cNvPr id="452" name="Google Shape;452;p41"/>
          <p:cNvSpPr txBox="1">
            <a:spLocks noGrp="1"/>
          </p:cNvSpPr>
          <p:nvPr>
            <p:ph type="body" idx="1"/>
          </p:nvPr>
        </p:nvSpPr>
        <p:spPr>
          <a:xfrm>
            <a:off x="5256250" y="1125150"/>
            <a:ext cx="2674500" cy="46077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800" b="1">
                <a:solidFill>
                  <a:schemeClr val="dk1"/>
                </a:solidFill>
                <a:latin typeface="Lato"/>
                <a:ea typeface="Lato"/>
                <a:cs typeface="Lato"/>
                <a:sym typeface="Lato"/>
              </a:rPr>
              <a:t>Newspapers (print and online)</a:t>
            </a:r>
            <a:endParaRPr sz="1800" b="1">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Guardian</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Punch</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Businessday</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Thisday</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Daily Independent</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Vanguard</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Tribune</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Leadership</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Daily Trust</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Sun</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The Nation</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New Telegraph</a:t>
            </a:r>
            <a:endParaRPr sz="1800">
              <a:solidFill>
                <a:schemeClr val="dk1"/>
              </a:solidFill>
              <a:latin typeface="Lato"/>
              <a:ea typeface="Lato"/>
              <a:cs typeface="Lato"/>
              <a:sym typeface="Lato"/>
            </a:endParaRPr>
          </a:p>
        </p:txBody>
      </p:sp>
      <p:grpSp>
        <p:nvGrpSpPr>
          <p:cNvPr id="453" name="Google Shape;453;p41"/>
          <p:cNvGrpSpPr/>
          <p:nvPr/>
        </p:nvGrpSpPr>
        <p:grpSpPr>
          <a:xfrm>
            <a:off x="593050" y="6292875"/>
            <a:ext cx="11495400" cy="415590"/>
            <a:chOff x="593050" y="6292875"/>
            <a:chExt cx="11495400" cy="415590"/>
          </a:xfrm>
        </p:grpSpPr>
        <p:sp>
          <p:nvSpPr>
            <p:cNvPr id="454" name="Google Shape;454;p41"/>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455" name="Google Shape;455;p41"/>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456" name="Google Shape;456;p41"/>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457" name="Google Shape;457;p41"/>
          <p:cNvSpPr txBox="1"/>
          <p:nvPr/>
        </p:nvSpPr>
        <p:spPr>
          <a:xfrm>
            <a:off x="152400" y="1143000"/>
            <a:ext cx="1960800" cy="3455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700" b="1">
                <a:solidFill>
                  <a:schemeClr val="dk1"/>
                </a:solidFill>
                <a:latin typeface="Lato"/>
                <a:ea typeface="Lato"/>
                <a:cs typeface="Lato"/>
                <a:sym typeface="Lato"/>
              </a:rPr>
              <a:t>Radio</a:t>
            </a:r>
            <a:endParaRPr sz="1700" b="1">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Lagos Talks</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Nigeria Info</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Wazobia FM</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Inspiration FM</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Brekete FM</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Yes FM</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Bond FM</a:t>
            </a:r>
            <a:endParaRPr sz="1700">
              <a:solidFill>
                <a:schemeClr val="dk1"/>
              </a:solidFill>
              <a:latin typeface="Lato"/>
              <a:ea typeface="Lato"/>
              <a:cs typeface="Lato"/>
              <a:sym typeface="Lato"/>
            </a:endParaRPr>
          </a:p>
          <a:p>
            <a:pPr marL="457200" lvl="0" indent="-336550" algn="l" rtl="0">
              <a:lnSpc>
                <a:spcPct val="115000"/>
              </a:lnSpc>
              <a:spcBef>
                <a:spcPts val="0"/>
              </a:spcBef>
              <a:spcAft>
                <a:spcPts val="0"/>
              </a:spcAft>
              <a:buClr>
                <a:schemeClr val="dk1"/>
              </a:buClr>
              <a:buSzPts val="1700"/>
              <a:buFont typeface="Lato"/>
              <a:buChar char="•"/>
            </a:pPr>
            <a:r>
              <a:rPr lang="en-US" sz="1700">
                <a:solidFill>
                  <a:schemeClr val="dk1"/>
                </a:solidFill>
                <a:latin typeface="Lato"/>
                <a:ea typeface="Lato"/>
                <a:cs typeface="Lato"/>
                <a:sym typeface="Lato"/>
              </a:rPr>
              <a:t>Lagos Traffic Radio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grpSp>
        <p:nvGrpSpPr>
          <p:cNvPr id="462" name="Google Shape;462;p42"/>
          <p:cNvGrpSpPr/>
          <p:nvPr/>
        </p:nvGrpSpPr>
        <p:grpSpPr>
          <a:xfrm>
            <a:off x="9910844" y="5045076"/>
            <a:ext cx="2311056" cy="1847888"/>
            <a:chOff x="9283128" y="4713378"/>
            <a:chExt cx="2938779" cy="2331720"/>
          </a:xfrm>
        </p:grpSpPr>
        <p:sp>
          <p:nvSpPr>
            <p:cNvPr id="463" name="Google Shape;463;p42"/>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64" name="Google Shape;464;p42"/>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65" name="Google Shape;465;p42"/>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466" name="Google Shape;466;p42"/>
          <p:cNvGrpSpPr/>
          <p:nvPr/>
        </p:nvGrpSpPr>
        <p:grpSpPr>
          <a:xfrm>
            <a:off x="593050" y="6292875"/>
            <a:ext cx="11495400" cy="415590"/>
            <a:chOff x="593050" y="6292875"/>
            <a:chExt cx="11495400" cy="415590"/>
          </a:xfrm>
        </p:grpSpPr>
        <p:sp>
          <p:nvSpPr>
            <p:cNvPr id="467" name="Google Shape;467;p42"/>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468" name="Google Shape;468;p42"/>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469" name="Google Shape;469;p42"/>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470" name="Google Shape;470;p42"/>
          <p:cNvSpPr txBox="1"/>
          <p:nvPr/>
        </p:nvSpPr>
        <p:spPr>
          <a:xfrm>
            <a:off x="231941" y="248323"/>
            <a:ext cx="5979600" cy="4854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None/>
            </a:pPr>
            <a:r>
              <a:rPr lang="en-US" sz="2200">
                <a:solidFill>
                  <a:srgbClr val="000000"/>
                </a:solidFill>
                <a:latin typeface="Lato"/>
                <a:ea typeface="Lato"/>
                <a:cs typeface="Lato"/>
                <a:sym typeface="Lato"/>
              </a:rPr>
              <a:t>AGENDA SETTING</a:t>
            </a:r>
            <a:endParaRPr sz="2200">
              <a:solidFill>
                <a:srgbClr val="000000"/>
              </a:solidFill>
              <a:latin typeface="Lato"/>
              <a:ea typeface="Lato"/>
              <a:cs typeface="Lato"/>
              <a:sym typeface="Lato"/>
            </a:endParaRPr>
          </a:p>
        </p:txBody>
      </p:sp>
      <p:sp>
        <p:nvSpPr>
          <p:cNvPr id="471" name="Google Shape;471;p42"/>
          <p:cNvSpPr txBox="1"/>
          <p:nvPr/>
        </p:nvSpPr>
        <p:spPr>
          <a:xfrm>
            <a:off x="231950" y="1019518"/>
            <a:ext cx="11317800" cy="6072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None/>
            </a:pPr>
            <a:r>
              <a:rPr lang="en-US" sz="1800">
                <a:solidFill>
                  <a:srgbClr val="000000"/>
                </a:solidFill>
                <a:latin typeface="Lato"/>
                <a:ea typeface="Lato"/>
                <a:cs typeface="Lato"/>
                <a:sym typeface="Lato"/>
              </a:rPr>
              <a:t>Set the tone of the campaign by starting discussions around the </a:t>
            </a:r>
            <a:r>
              <a:rPr lang="en-US" sz="1800">
                <a:latin typeface="Lato"/>
                <a:ea typeface="Lato"/>
                <a:cs typeface="Lato"/>
                <a:sym typeface="Lato"/>
              </a:rPr>
              <a:t>hub, the importance of innovation hubs and the challenges the hub hopes to solve</a:t>
            </a:r>
            <a:endParaRPr sz="1800">
              <a:solidFill>
                <a:srgbClr val="000000"/>
              </a:solidFill>
              <a:latin typeface="Lato"/>
              <a:ea typeface="Lato"/>
              <a:cs typeface="Lato"/>
              <a:sym typeface="Lato"/>
            </a:endParaRPr>
          </a:p>
        </p:txBody>
      </p:sp>
      <p:sp>
        <p:nvSpPr>
          <p:cNvPr id="472" name="Google Shape;472;p42"/>
          <p:cNvSpPr txBox="1"/>
          <p:nvPr/>
        </p:nvSpPr>
        <p:spPr>
          <a:xfrm>
            <a:off x="357500" y="1730949"/>
            <a:ext cx="2846100" cy="38784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90000"/>
              </a:lnSpc>
              <a:spcBef>
                <a:spcPts val="800"/>
              </a:spcBef>
              <a:spcAft>
                <a:spcPts val="0"/>
              </a:spcAft>
              <a:buNone/>
            </a:pPr>
            <a:r>
              <a:rPr lang="en-US" sz="1800">
                <a:solidFill>
                  <a:srgbClr val="000000"/>
                </a:solidFill>
                <a:latin typeface="Lato"/>
                <a:ea typeface="Lato"/>
                <a:cs typeface="Lato"/>
                <a:sym typeface="Lato"/>
              </a:rPr>
              <a:t>Content Direction</a:t>
            </a:r>
            <a:endParaRPr sz="1800">
              <a:solidFill>
                <a:srgbClr val="000000"/>
              </a:solidFill>
              <a:latin typeface="Lato"/>
              <a:ea typeface="Lato"/>
              <a:cs typeface="Lato"/>
              <a:sym typeface="Lato"/>
            </a:endParaRPr>
          </a:p>
          <a:p>
            <a:pPr marL="342900" lvl="0" indent="-279400" algn="l" rtl="0">
              <a:lnSpc>
                <a:spcPct val="90000"/>
              </a:lnSpc>
              <a:spcBef>
                <a:spcPts val="0"/>
              </a:spcBef>
              <a:spcAft>
                <a:spcPts val="0"/>
              </a:spcAft>
              <a:buClr>
                <a:srgbClr val="000000"/>
              </a:buClr>
              <a:buSzPts val="1800"/>
              <a:buFont typeface="Lato"/>
              <a:buChar char="•"/>
            </a:pPr>
            <a:r>
              <a:rPr lang="en-US" sz="1800">
                <a:latin typeface="Lato"/>
                <a:ea typeface="Lato"/>
                <a:cs typeface="Lato"/>
                <a:sym typeface="Lato"/>
              </a:rPr>
              <a:t>highlight the hubs focus on supporting startups in underserved sectors</a:t>
            </a:r>
            <a:endParaRPr sz="1800">
              <a:latin typeface="Lato"/>
              <a:ea typeface="Lato"/>
              <a:cs typeface="Lato"/>
              <a:sym typeface="Lato"/>
            </a:endParaRPr>
          </a:p>
          <a:p>
            <a:pPr marL="342900" lvl="0" indent="-279400" algn="l" rtl="0">
              <a:lnSpc>
                <a:spcPct val="90000"/>
              </a:lnSpc>
              <a:spcBef>
                <a:spcPts val="0"/>
              </a:spcBef>
              <a:spcAft>
                <a:spcPts val="0"/>
              </a:spcAft>
              <a:buClr>
                <a:srgbClr val="000000"/>
              </a:buClr>
              <a:buSzPts val="1800"/>
              <a:buFont typeface="Lato"/>
              <a:buChar char="•"/>
            </a:pPr>
            <a:r>
              <a:rPr lang="en-US" sz="1800">
                <a:latin typeface="Lato"/>
                <a:ea typeface="Lato"/>
                <a:cs typeface="Lato"/>
                <a:sym typeface="Lato"/>
              </a:rPr>
              <a:t>Emphasise its aim in connecting startups, universities, investors, etc </a:t>
            </a:r>
            <a:endParaRPr sz="1800">
              <a:latin typeface="Lato"/>
              <a:ea typeface="Lato"/>
              <a:cs typeface="Lato"/>
              <a:sym typeface="Lato"/>
            </a:endParaRPr>
          </a:p>
          <a:p>
            <a:pPr marL="0" lvl="0" indent="0" algn="l" rtl="0">
              <a:lnSpc>
                <a:spcPct val="90000"/>
              </a:lnSpc>
              <a:spcBef>
                <a:spcPts val="0"/>
              </a:spcBef>
              <a:spcAft>
                <a:spcPts val="0"/>
              </a:spcAft>
              <a:buNone/>
            </a:pPr>
            <a:endParaRPr sz="1800">
              <a:latin typeface="Lato"/>
              <a:ea typeface="Lato"/>
              <a:cs typeface="Lato"/>
              <a:sym typeface="Lato"/>
            </a:endParaRPr>
          </a:p>
        </p:txBody>
      </p:sp>
      <p:sp>
        <p:nvSpPr>
          <p:cNvPr id="473" name="Google Shape;473;p42"/>
          <p:cNvSpPr txBox="1"/>
          <p:nvPr/>
        </p:nvSpPr>
        <p:spPr>
          <a:xfrm>
            <a:off x="3609441" y="1730949"/>
            <a:ext cx="3393600" cy="38784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90000"/>
              </a:lnSpc>
              <a:spcBef>
                <a:spcPts val="800"/>
              </a:spcBef>
              <a:spcAft>
                <a:spcPts val="0"/>
              </a:spcAft>
              <a:buNone/>
            </a:pPr>
            <a:r>
              <a:rPr lang="en-US" sz="1800">
                <a:solidFill>
                  <a:srgbClr val="000000"/>
                </a:solidFill>
                <a:latin typeface="Lato"/>
                <a:ea typeface="Lato"/>
                <a:cs typeface="Lato"/>
                <a:sym typeface="Lato"/>
              </a:rPr>
              <a:t>Tools</a:t>
            </a:r>
            <a:endParaRPr sz="1800">
              <a:solidFill>
                <a:srgbClr val="000000"/>
              </a:solidFill>
              <a:latin typeface="Lato"/>
              <a:ea typeface="Lato"/>
              <a:cs typeface="Lato"/>
              <a:sym typeface="Lato"/>
            </a:endParaRPr>
          </a:p>
          <a:p>
            <a:pPr marL="342900" lvl="0" indent="-279400" algn="l" rtl="0">
              <a:lnSpc>
                <a:spcPct val="90000"/>
              </a:lnSpc>
              <a:spcBef>
                <a:spcPts val="800"/>
              </a:spcBef>
              <a:spcAft>
                <a:spcPts val="0"/>
              </a:spcAft>
              <a:buClr>
                <a:srgbClr val="000000"/>
              </a:buClr>
              <a:buSzPts val="1800"/>
              <a:buFont typeface="Lato"/>
              <a:buChar char="•"/>
            </a:pPr>
            <a:r>
              <a:rPr lang="en-US" sz="1800">
                <a:solidFill>
                  <a:srgbClr val="000000"/>
                </a:solidFill>
                <a:latin typeface="Lato"/>
                <a:ea typeface="Lato"/>
                <a:cs typeface="Lato"/>
                <a:sym typeface="Lato"/>
              </a:rPr>
              <a:t>Interviews with top tier media to provide in-depth discussions</a:t>
            </a:r>
            <a:endParaRPr sz="1800">
              <a:solidFill>
                <a:srgbClr val="000000"/>
              </a:solidFill>
              <a:latin typeface="Lato"/>
              <a:ea typeface="Lato"/>
              <a:cs typeface="Lato"/>
              <a:sym typeface="Lato"/>
            </a:endParaRPr>
          </a:p>
          <a:p>
            <a:pPr marL="342900" lvl="0" indent="-279400" algn="l" rtl="0">
              <a:lnSpc>
                <a:spcPct val="90000"/>
              </a:lnSpc>
              <a:spcBef>
                <a:spcPts val="800"/>
              </a:spcBef>
              <a:spcAft>
                <a:spcPts val="0"/>
              </a:spcAft>
              <a:buClr>
                <a:srgbClr val="000000"/>
              </a:buClr>
              <a:buSzPts val="1800"/>
              <a:buFont typeface="Lato"/>
              <a:buChar char="•"/>
            </a:pPr>
            <a:r>
              <a:rPr lang="en-US" sz="1800">
                <a:solidFill>
                  <a:srgbClr val="000000"/>
                </a:solidFill>
                <a:latin typeface="Lato"/>
                <a:ea typeface="Lato"/>
                <a:cs typeface="Lato"/>
                <a:sym typeface="Lato"/>
              </a:rPr>
              <a:t>Articles, which will be generated internally and shared with select media to leverage the interview discussions</a:t>
            </a:r>
            <a:endParaRPr sz="1800">
              <a:solidFill>
                <a:srgbClr val="000000"/>
              </a:solidFill>
              <a:latin typeface="Lato"/>
              <a:ea typeface="Lato"/>
              <a:cs typeface="Lato"/>
              <a:sym typeface="Lato"/>
            </a:endParaRPr>
          </a:p>
          <a:p>
            <a:pPr marL="342900" lvl="0" indent="-279400" algn="l" rtl="0">
              <a:lnSpc>
                <a:spcPct val="90000"/>
              </a:lnSpc>
              <a:spcBef>
                <a:spcPts val="800"/>
              </a:spcBef>
              <a:spcAft>
                <a:spcPts val="800"/>
              </a:spcAft>
              <a:buClr>
                <a:srgbClr val="000000"/>
              </a:buClr>
              <a:buSzPts val="1800"/>
              <a:buFont typeface="Lato"/>
              <a:buChar char="•"/>
            </a:pPr>
            <a:r>
              <a:rPr lang="en-US" sz="1800">
                <a:solidFill>
                  <a:srgbClr val="000000"/>
                </a:solidFill>
                <a:latin typeface="Lato"/>
                <a:ea typeface="Lato"/>
                <a:cs typeface="Lato"/>
                <a:sym typeface="Lato"/>
              </a:rPr>
              <a:t>News stories to leverage the interviews and extend the reach of the discussions through national newspapers</a:t>
            </a:r>
            <a:endParaRPr sz="1800">
              <a:solidFill>
                <a:srgbClr val="000000"/>
              </a:solidFill>
              <a:latin typeface="Lato"/>
              <a:ea typeface="Lato"/>
              <a:cs typeface="Lato"/>
              <a:sym typeface="Lato"/>
            </a:endParaRPr>
          </a:p>
        </p:txBody>
      </p:sp>
      <p:sp>
        <p:nvSpPr>
          <p:cNvPr id="474" name="Google Shape;474;p42"/>
          <p:cNvSpPr txBox="1"/>
          <p:nvPr/>
        </p:nvSpPr>
        <p:spPr>
          <a:xfrm>
            <a:off x="7447829" y="1730949"/>
            <a:ext cx="4041000" cy="3878400"/>
          </a:xfrm>
          <a:prstGeom prst="rect">
            <a:avLst/>
          </a:prstGeom>
          <a:noFill/>
          <a:ln w="9525" cap="flat" cmpd="sng">
            <a:solidFill>
              <a:srgbClr val="274E13"/>
            </a:solidFill>
            <a:prstDash val="solid"/>
            <a:round/>
            <a:headEnd type="none" w="sm" len="sm"/>
            <a:tailEnd type="none" w="sm" len="sm"/>
          </a:ln>
        </p:spPr>
        <p:txBody>
          <a:bodyPr spcFirstLastPara="1" wrap="square" lIns="68575" tIns="34275" rIns="68575" bIns="34275" anchor="t" anchorCtr="0">
            <a:noAutofit/>
          </a:bodyPr>
          <a:lstStyle/>
          <a:p>
            <a:pPr marL="0" lvl="0" indent="0" algn="l" rtl="0">
              <a:lnSpc>
                <a:spcPct val="90000"/>
              </a:lnSpc>
              <a:spcBef>
                <a:spcPts val="800"/>
              </a:spcBef>
              <a:spcAft>
                <a:spcPts val="0"/>
              </a:spcAft>
              <a:buNone/>
            </a:pPr>
            <a:r>
              <a:rPr lang="en-US" sz="1800">
                <a:solidFill>
                  <a:srgbClr val="000000"/>
                </a:solidFill>
                <a:latin typeface="Lato"/>
                <a:ea typeface="Lato"/>
                <a:cs typeface="Lato"/>
                <a:sym typeface="Lato"/>
              </a:rPr>
              <a:t>Platforms</a:t>
            </a:r>
            <a:endParaRPr sz="1800">
              <a:solidFill>
                <a:srgbClr val="000000"/>
              </a:solidFill>
              <a:latin typeface="Lato"/>
              <a:ea typeface="Lato"/>
              <a:cs typeface="Lato"/>
              <a:sym typeface="Lato"/>
            </a:endParaRPr>
          </a:p>
          <a:p>
            <a:pPr marL="342900" lvl="0" indent="-279400" algn="l" rtl="0">
              <a:lnSpc>
                <a:spcPct val="90000"/>
              </a:lnSpc>
              <a:spcBef>
                <a:spcPts val="800"/>
              </a:spcBef>
              <a:spcAft>
                <a:spcPts val="0"/>
              </a:spcAft>
              <a:buClr>
                <a:srgbClr val="000000"/>
              </a:buClr>
              <a:buSzPts val="1800"/>
              <a:buFont typeface="Lato"/>
              <a:buChar char="•"/>
            </a:pPr>
            <a:r>
              <a:rPr lang="en-US" sz="1800">
                <a:solidFill>
                  <a:srgbClr val="000000"/>
                </a:solidFill>
                <a:latin typeface="Lato"/>
                <a:ea typeface="Lato"/>
                <a:cs typeface="Lato"/>
                <a:sym typeface="Lato"/>
              </a:rPr>
              <a:t>Interviews</a:t>
            </a:r>
            <a:endParaRPr sz="1800">
              <a:solidFill>
                <a:srgbClr val="000000"/>
              </a:solidFill>
              <a:latin typeface="Lato"/>
              <a:ea typeface="Lato"/>
              <a:cs typeface="Lato"/>
              <a:sym typeface="Lato"/>
            </a:endParaRPr>
          </a:p>
          <a:p>
            <a:pPr marL="685800" lvl="1"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Businessday</a:t>
            </a:r>
            <a:endParaRPr sz="1800">
              <a:solidFill>
                <a:srgbClr val="000000"/>
              </a:solidFill>
              <a:latin typeface="Lato"/>
              <a:ea typeface="Lato"/>
              <a:cs typeface="Lato"/>
              <a:sym typeface="Lato"/>
            </a:endParaRPr>
          </a:p>
          <a:p>
            <a:pPr marL="685800" lvl="1"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Guardian</a:t>
            </a:r>
            <a:endParaRPr sz="1800">
              <a:solidFill>
                <a:srgbClr val="000000"/>
              </a:solidFill>
              <a:latin typeface="Lato"/>
              <a:ea typeface="Lato"/>
              <a:cs typeface="Lato"/>
              <a:sym typeface="Lato"/>
            </a:endParaRPr>
          </a:p>
          <a:p>
            <a:pPr marL="685800" lvl="1"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Business Insider Africa</a:t>
            </a:r>
            <a:endParaRPr sz="1800">
              <a:solidFill>
                <a:srgbClr val="000000"/>
              </a:solidFill>
              <a:latin typeface="Lato"/>
              <a:ea typeface="Lato"/>
              <a:cs typeface="Lato"/>
              <a:sym typeface="Lato"/>
            </a:endParaRPr>
          </a:p>
          <a:p>
            <a:pPr marL="685800" lvl="1"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Arise TV</a:t>
            </a:r>
            <a:endParaRPr sz="1800">
              <a:solidFill>
                <a:srgbClr val="000000"/>
              </a:solidFill>
              <a:latin typeface="Lato"/>
              <a:ea typeface="Lato"/>
              <a:cs typeface="Lato"/>
              <a:sym typeface="Lato"/>
            </a:endParaRPr>
          </a:p>
          <a:p>
            <a:pPr marL="342900" lvl="0"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Articles (generated from interviews)</a:t>
            </a:r>
            <a:endParaRPr sz="1800">
              <a:solidFill>
                <a:srgbClr val="000000"/>
              </a:solidFill>
              <a:latin typeface="Lato"/>
              <a:ea typeface="Lato"/>
              <a:cs typeface="Lato"/>
              <a:sym typeface="Lato"/>
            </a:endParaRPr>
          </a:p>
          <a:p>
            <a:pPr marL="685800" lvl="1" indent="-279400" algn="l" rtl="0">
              <a:lnSpc>
                <a:spcPct val="90000"/>
              </a:lnSpc>
              <a:spcBef>
                <a:spcPts val="0"/>
              </a:spcBef>
              <a:spcAft>
                <a:spcPts val="0"/>
              </a:spcAft>
              <a:buClr>
                <a:srgbClr val="000000"/>
              </a:buClr>
              <a:buSzPts val="1800"/>
              <a:buFont typeface="Lato"/>
              <a:buChar char="•"/>
            </a:pPr>
            <a:r>
              <a:rPr lang="en-US" sz="1800">
                <a:solidFill>
                  <a:srgbClr val="000000"/>
                </a:solidFill>
                <a:highlight>
                  <a:srgbClr val="FFFFFF"/>
                </a:highlight>
                <a:latin typeface="Lato"/>
                <a:ea typeface="Lato"/>
                <a:cs typeface="Lato"/>
                <a:sym typeface="Lato"/>
              </a:rPr>
              <a:t>Nairametrics, The Cable, TechCabal, Legit &amp; BellaNaija</a:t>
            </a:r>
            <a:endParaRPr sz="1800">
              <a:solidFill>
                <a:srgbClr val="000000"/>
              </a:solidFill>
              <a:latin typeface="Lato"/>
              <a:ea typeface="Lato"/>
              <a:cs typeface="Lato"/>
              <a:sym typeface="Lato"/>
            </a:endParaRPr>
          </a:p>
          <a:p>
            <a:pPr marL="342900" lvl="0"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News stories (generated from interviews)</a:t>
            </a:r>
            <a:endParaRPr sz="1800">
              <a:solidFill>
                <a:srgbClr val="000000"/>
              </a:solidFill>
              <a:latin typeface="Lato"/>
              <a:ea typeface="Lato"/>
              <a:cs typeface="Lato"/>
              <a:sym typeface="Lato"/>
            </a:endParaRPr>
          </a:p>
          <a:p>
            <a:pPr marL="685800" lvl="1" indent="-279400" algn="l" rtl="0">
              <a:lnSpc>
                <a:spcPct val="90000"/>
              </a:lnSpc>
              <a:spcBef>
                <a:spcPts val="0"/>
              </a:spcBef>
              <a:spcAft>
                <a:spcPts val="0"/>
              </a:spcAft>
              <a:buClr>
                <a:srgbClr val="000000"/>
              </a:buClr>
              <a:buSzPts val="1800"/>
              <a:buFont typeface="Lato"/>
              <a:buChar char="•"/>
            </a:pPr>
            <a:r>
              <a:rPr lang="en-US" sz="1800">
                <a:solidFill>
                  <a:srgbClr val="000000"/>
                </a:solidFill>
                <a:latin typeface="Lato"/>
                <a:ea typeface="Lato"/>
                <a:cs typeface="Lato"/>
                <a:sym typeface="Lato"/>
              </a:rPr>
              <a:t>National newspapers (print &amp; online)</a:t>
            </a:r>
            <a:endParaRPr sz="1800">
              <a:solidFill>
                <a:srgbClr val="000000"/>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grpSp>
        <p:nvGrpSpPr>
          <p:cNvPr id="479" name="Google Shape;479;p43"/>
          <p:cNvGrpSpPr/>
          <p:nvPr/>
        </p:nvGrpSpPr>
        <p:grpSpPr>
          <a:xfrm>
            <a:off x="9910844" y="5045076"/>
            <a:ext cx="2311056" cy="1847888"/>
            <a:chOff x="9283128" y="4713378"/>
            <a:chExt cx="2938779" cy="2331720"/>
          </a:xfrm>
        </p:grpSpPr>
        <p:sp>
          <p:nvSpPr>
            <p:cNvPr id="480" name="Google Shape;480;p43"/>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1" name="Google Shape;481;p43"/>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82" name="Google Shape;482;p43"/>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483" name="Google Shape;483;p43"/>
          <p:cNvGrpSpPr/>
          <p:nvPr/>
        </p:nvGrpSpPr>
        <p:grpSpPr>
          <a:xfrm>
            <a:off x="593050" y="6292875"/>
            <a:ext cx="11495400" cy="415590"/>
            <a:chOff x="593050" y="6292875"/>
            <a:chExt cx="11495400" cy="415590"/>
          </a:xfrm>
        </p:grpSpPr>
        <p:sp>
          <p:nvSpPr>
            <p:cNvPr id="484" name="Google Shape;484;p43"/>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485" name="Google Shape;485;p43"/>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486" name="Google Shape;486;p43"/>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487" name="Google Shape;487;p43"/>
          <p:cNvSpPr txBox="1"/>
          <p:nvPr/>
        </p:nvSpPr>
        <p:spPr>
          <a:xfrm>
            <a:off x="311700" y="292625"/>
            <a:ext cx="5073900" cy="7179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US" sz="2200">
                <a:solidFill>
                  <a:schemeClr val="dk1"/>
                </a:solidFill>
                <a:latin typeface="Lato"/>
                <a:ea typeface="Lato"/>
                <a:cs typeface="Lato"/>
                <a:sym typeface="Lato"/>
              </a:rPr>
              <a:t>EXECUTIVE PROFILING</a:t>
            </a:r>
            <a:endParaRPr sz="2200">
              <a:solidFill>
                <a:schemeClr val="dk1"/>
              </a:solidFill>
              <a:latin typeface="Lato"/>
              <a:ea typeface="Lato"/>
              <a:cs typeface="Lato"/>
              <a:sym typeface="Lato"/>
            </a:endParaRPr>
          </a:p>
        </p:txBody>
      </p:sp>
      <p:sp>
        <p:nvSpPr>
          <p:cNvPr id="488" name="Google Shape;488;p43"/>
          <p:cNvSpPr txBox="1"/>
          <p:nvPr/>
        </p:nvSpPr>
        <p:spPr>
          <a:xfrm>
            <a:off x="311700" y="1275025"/>
            <a:ext cx="5422800" cy="428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800">
                <a:solidFill>
                  <a:schemeClr val="dk1"/>
                </a:solidFill>
                <a:latin typeface="Lato"/>
                <a:ea typeface="Lato"/>
                <a:cs typeface="Lato"/>
                <a:sym typeface="Lato"/>
              </a:rPr>
              <a:t>Project the leadership behind the hub and leverage their strength to build credibility and trust</a:t>
            </a:r>
            <a:endParaRPr sz="1800">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Profiling articles which will focus on their pedigree and vision for the hub</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Interviews on their perspectives on innovation trends within the industry</a:t>
            </a:r>
            <a:endParaRPr sz="1800">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Interviews to be in Channels TV, TVC</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Articles in tier one publications - Thisday, Guardian, Businessday</a:t>
            </a:r>
            <a:endParaRPr sz="1800">
              <a:solidFill>
                <a:schemeClr val="dk1"/>
              </a:solidFill>
              <a:latin typeface="Lato"/>
              <a:ea typeface="Lato"/>
              <a:cs typeface="Lato"/>
              <a:sym typeface="Lato"/>
            </a:endParaRPr>
          </a:p>
        </p:txBody>
      </p:sp>
      <p:sp>
        <p:nvSpPr>
          <p:cNvPr id="489" name="Google Shape;489;p43"/>
          <p:cNvSpPr txBox="1"/>
          <p:nvPr/>
        </p:nvSpPr>
        <p:spPr>
          <a:xfrm>
            <a:off x="6543375" y="292625"/>
            <a:ext cx="5422800" cy="7179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US" sz="2200">
                <a:solidFill>
                  <a:schemeClr val="dk1"/>
                </a:solidFill>
                <a:latin typeface="Lato"/>
                <a:ea typeface="Lato"/>
                <a:cs typeface="Lato"/>
                <a:sym typeface="Lato"/>
              </a:rPr>
              <a:t>INFLUENCER LEVERAGING</a:t>
            </a:r>
            <a:endParaRPr sz="2200">
              <a:solidFill>
                <a:schemeClr val="dk1"/>
              </a:solidFill>
              <a:latin typeface="Lato"/>
              <a:ea typeface="Lato"/>
              <a:cs typeface="Lato"/>
              <a:sym typeface="Lato"/>
            </a:endParaRPr>
          </a:p>
        </p:txBody>
      </p:sp>
      <p:sp>
        <p:nvSpPr>
          <p:cNvPr id="490" name="Google Shape;490;p43"/>
          <p:cNvSpPr txBox="1"/>
          <p:nvPr/>
        </p:nvSpPr>
        <p:spPr>
          <a:xfrm>
            <a:off x="6543375" y="1275029"/>
            <a:ext cx="5422800" cy="428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800">
                <a:solidFill>
                  <a:schemeClr val="dk1"/>
                </a:solidFill>
                <a:latin typeface="Lato"/>
                <a:ea typeface="Lato"/>
                <a:cs typeface="Lato"/>
                <a:sym typeface="Lato"/>
              </a:rPr>
              <a:t>Leverage one famous tech influencer to further create awareness around the hub.</a:t>
            </a:r>
            <a:endParaRPr sz="1800">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Live stream tour of the facilities</a:t>
            </a:r>
            <a:endParaRPr sz="1800">
              <a:solidFill>
                <a:schemeClr val="dk1"/>
              </a:solidFill>
              <a:latin typeface="Lato"/>
              <a:ea typeface="Lato"/>
              <a:cs typeface="Lato"/>
              <a:sym typeface="Lato"/>
            </a:endParaRPr>
          </a:p>
          <a:p>
            <a:pPr marL="457200" lvl="0" indent="-3429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Emphasise the different offerings and objectives of the hub, etc</a:t>
            </a:r>
            <a:endParaRPr sz="1800">
              <a:solidFill>
                <a:schemeClr val="dk1"/>
              </a:solidFill>
              <a:latin typeface="Lato"/>
              <a:ea typeface="Lato"/>
              <a:cs typeface="Lato"/>
              <a:sym typeface="Lato"/>
            </a:endParaRPr>
          </a:p>
          <a:p>
            <a:pPr marL="0" lvl="0" indent="0" algn="l" rtl="0">
              <a:lnSpc>
                <a:spcPct val="115000"/>
              </a:lnSpc>
              <a:spcBef>
                <a:spcPts val="0"/>
              </a:spcBef>
              <a:spcAft>
                <a:spcPts val="0"/>
              </a:spcAft>
              <a:buNone/>
            </a:pPr>
            <a:endParaRPr sz="1800">
              <a:solidFill>
                <a:schemeClr val="dk1"/>
              </a:solidFill>
              <a:latin typeface="Lato"/>
              <a:ea typeface="Lato"/>
              <a:cs typeface="Lato"/>
              <a:sym typeface="Lato"/>
            </a:endParaRPr>
          </a:p>
          <a:p>
            <a:pPr marL="0" lvl="0" indent="0" algn="l" rtl="0">
              <a:lnSpc>
                <a:spcPct val="115000"/>
              </a:lnSpc>
              <a:spcBef>
                <a:spcPts val="0"/>
              </a:spcBef>
              <a:spcAft>
                <a:spcPts val="0"/>
              </a:spcAft>
              <a:buNone/>
            </a:pPr>
            <a:r>
              <a:rPr lang="en-US" sz="1800">
                <a:solidFill>
                  <a:schemeClr val="dk1"/>
                </a:solidFill>
                <a:latin typeface="Lato"/>
                <a:ea typeface="Lato"/>
                <a:cs typeface="Lato"/>
                <a:sym typeface="Lato"/>
              </a:rPr>
              <a:t>This will be used to start a social media campaign to draw attention to the hub and its upcoming launch</a:t>
            </a:r>
            <a:endParaRPr sz="1800">
              <a:solidFill>
                <a:schemeClr val="dk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grpSp>
        <p:nvGrpSpPr>
          <p:cNvPr id="495" name="Google Shape;495;p44"/>
          <p:cNvGrpSpPr/>
          <p:nvPr/>
        </p:nvGrpSpPr>
        <p:grpSpPr>
          <a:xfrm>
            <a:off x="9910844" y="5045076"/>
            <a:ext cx="2311056" cy="1847888"/>
            <a:chOff x="9283128" y="4713378"/>
            <a:chExt cx="2938779" cy="2331720"/>
          </a:xfrm>
        </p:grpSpPr>
        <p:sp>
          <p:nvSpPr>
            <p:cNvPr id="496" name="Google Shape;496;p44"/>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7" name="Google Shape;497;p44"/>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98" name="Google Shape;498;p44"/>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499" name="Google Shape;499;p44"/>
          <p:cNvGrpSpPr/>
          <p:nvPr/>
        </p:nvGrpSpPr>
        <p:grpSpPr>
          <a:xfrm>
            <a:off x="593050" y="6292875"/>
            <a:ext cx="11495400" cy="415590"/>
            <a:chOff x="593050" y="6292875"/>
            <a:chExt cx="11495400" cy="415590"/>
          </a:xfrm>
        </p:grpSpPr>
        <p:sp>
          <p:nvSpPr>
            <p:cNvPr id="500" name="Google Shape;500;p44"/>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01" name="Google Shape;501;p44"/>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02" name="Google Shape;502;p44"/>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03" name="Google Shape;503;p44"/>
          <p:cNvSpPr txBox="1"/>
          <p:nvPr/>
        </p:nvSpPr>
        <p:spPr>
          <a:xfrm>
            <a:off x="1847550" y="1863125"/>
            <a:ext cx="7655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500">
                <a:solidFill>
                  <a:schemeClr val="dk1"/>
                </a:solidFill>
                <a:latin typeface="Lato"/>
                <a:ea typeface="Lato"/>
                <a:cs typeface="Lato"/>
                <a:sym typeface="Lato"/>
              </a:rPr>
              <a:t>LAUNCH PHASE</a:t>
            </a:r>
            <a:endParaRPr sz="2500">
              <a:solidFill>
                <a:schemeClr val="dk1"/>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grpSp>
        <p:nvGrpSpPr>
          <p:cNvPr id="508" name="Google Shape;508;p45"/>
          <p:cNvGrpSpPr/>
          <p:nvPr/>
        </p:nvGrpSpPr>
        <p:grpSpPr>
          <a:xfrm>
            <a:off x="9910844" y="5045076"/>
            <a:ext cx="2311056" cy="1847888"/>
            <a:chOff x="9283128" y="4713378"/>
            <a:chExt cx="2938779" cy="2331720"/>
          </a:xfrm>
        </p:grpSpPr>
        <p:sp>
          <p:nvSpPr>
            <p:cNvPr id="509" name="Google Shape;509;p45"/>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0" name="Google Shape;510;p45"/>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11" name="Google Shape;511;p45"/>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12" name="Google Shape;512;p45"/>
          <p:cNvGrpSpPr/>
          <p:nvPr/>
        </p:nvGrpSpPr>
        <p:grpSpPr>
          <a:xfrm>
            <a:off x="593050" y="6292875"/>
            <a:ext cx="11495400" cy="415590"/>
            <a:chOff x="593050" y="6292875"/>
            <a:chExt cx="11495400" cy="415590"/>
          </a:xfrm>
        </p:grpSpPr>
        <p:sp>
          <p:nvSpPr>
            <p:cNvPr id="513" name="Google Shape;513;p45"/>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14" name="Google Shape;514;p45"/>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15" name="Google Shape;515;p45"/>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16" name="Google Shape;516;p45"/>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LAUNCH EVENT</a:t>
            </a:r>
            <a:endParaRPr sz="2000">
              <a:solidFill>
                <a:schemeClr val="dk1"/>
              </a:solidFill>
              <a:latin typeface="Lato"/>
              <a:ea typeface="Lato"/>
              <a:cs typeface="Lato"/>
              <a:sym typeface="Lato"/>
            </a:endParaRPr>
          </a:p>
        </p:txBody>
      </p:sp>
      <p:sp>
        <p:nvSpPr>
          <p:cNvPr id="517" name="Google Shape;517;p45"/>
          <p:cNvSpPr txBox="1"/>
          <p:nvPr/>
        </p:nvSpPr>
        <p:spPr>
          <a:xfrm>
            <a:off x="4180187" y="1520125"/>
            <a:ext cx="3883200" cy="4446600"/>
          </a:xfrm>
          <a:prstGeom prst="rect">
            <a:avLst/>
          </a:prstGeom>
          <a:noFill/>
          <a:ln w="19050"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Event Style</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 panel discussion will be incorporated into the event, where select stakeholders in the industry and government will discuss the import of growing capacity in innovation and tech skills for rapid advancement and the role the Hub will play in the mix</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 facility tour of the Hub will be incorporated into the launch event to give the guests an experiential feel of the Hub</a:t>
            </a:r>
            <a:endParaRPr sz="1600">
              <a:solidFill>
                <a:schemeClr val="dk1"/>
              </a:solidFill>
              <a:latin typeface="Lato"/>
              <a:ea typeface="Lato"/>
              <a:cs typeface="Lato"/>
              <a:sym typeface="Lato"/>
            </a:endParaRPr>
          </a:p>
        </p:txBody>
      </p:sp>
      <p:sp>
        <p:nvSpPr>
          <p:cNvPr id="518" name="Google Shape;518;p45"/>
          <p:cNvSpPr txBox="1"/>
          <p:nvPr/>
        </p:nvSpPr>
        <p:spPr>
          <a:xfrm>
            <a:off x="297050" y="1520125"/>
            <a:ext cx="3883200" cy="4446600"/>
          </a:xfrm>
          <a:prstGeom prst="rect">
            <a:avLst/>
          </a:prstGeom>
          <a:noFill/>
          <a:ln w="19050"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The Event</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600">
                <a:solidFill>
                  <a:schemeClr val="dk1"/>
                </a:solidFill>
                <a:latin typeface="Lato"/>
                <a:ea typeface="Lato"/>
                <a:cs typeface="Lato"/>
                <a:sym typeface="Lato"/>
              </a:rPr>
              <a:t>A major stakeholder launch event that would take place at the Ilorin Innovation Hub</a:t>
            </a:r>
            <a:endParaRPr sz="16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600">
                <a:solidFill>
                  <a:schemeClr val="dk1"/>
                </a:solidFill>
                <a:latin typeface="Lato"/>
                <a:ea typeface="Lato"/>
                <a:cs typeface="Lato"/>
                <a:sym typeface="Lato"/>
              </a:rPr>
              <a:t>The event will have key stakeholders in attendance, drawn from Tech organisations, industry trade organisations, investment partners, government, students, graduates and tech enthusiasts</a:t>
            </a:r>
            <a:endParaRPr sz="16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600">
                <a:solidFill>
                  <a:schemeClr val="dk1"/>
                </a:solidFill>
                <a:latin typeface="Lato"/>
                <a:ea typeface="Lato"/>
                <a:cs typeface="Lato"/>
                <a:sym typeface="Lato"/>
              </a:rPr>
              <a:t>The event will be used as an opportunity to advance the discussion on the import of growing capacity in innovation and tech skills for rapid advancement </a:t>
            </a:r>
            <a:endParaRPr sz="1600">
              <a:solidFill>
                <a:schemeClr val="dk1"/>
              </a:solidFill>
              <a:latin typeface="Lato"/>
              <a:ea typeface="Lato"/>
              <a:cs typeface="Lato"/>
              <a:sym typeface="Lato"/>
            </a:endParaRPr>
          </a:p>
        </p:txBody>
      </p:sp>
      <p:sp>
        <p:nvSpPr>
          <p:cNvPr id="519" name="Google Shape;519;p45"/>
          <p:cNvSpPr txBox="1"/>
          <p:nvPr/>
        </p:nvSpPr>
        <p:spPr>
          <a:xfrm>
            <a:off x="8063325" y="1520125"/>
            <a:ext cx="3883200" cy="4446600"/>
          </a:xfrm>
          <a:prstGeom prst="rect">
            <a:avLst/>
          </a:prstGeom>
          <a:noFill/>
          <a:ln w="19050" cap="flat" cmpd="sng">
            <a:solidFill>
              <a:srgbClr val="274E13"/>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Agenda</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Welcome and introduction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Tea / breakfast</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 description of the features of the Hub</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Panel discussion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Symbolic launch of the Hub by the Kwara State Governor</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Facility tour of the Hub</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Launch</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Departure</a:t>
            </a:r>
            <a:endParaRPr sz="1600">
              <a:solidFill>
                <a:schemeClr val="dk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grpSp>
        <p:nvGrpSpPr>
          <p:cNvPr id="524" name="Google Shape;524;p46"/>
          <p:cNvGrpSpPr/>
          <p:nvPr/>
        </p:nvGrpSpPr>
        <p:grpSpPr>
          <a:xfrm>
            <a:off x="9910844" y="5045076"/>
            <a:ext cx="2311056" cy="1847888"/>
            <a:chOff x="9283128" y="4713378"/>
            <a:chExt cx="2938779" cy="2331720"/>
          </a:xfrm>
        </p:grpSpPr>
        <p:sp>
          <p:nvSpPr>
            <p:cNvPr id="525" name="Google Shape;525;p46"/>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6" name="Google Shape;526;p46"/>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27" name="Google Shape;527;p46"/>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28" name="Google Shape;528;p46"/>
          <p:cNvGrpSpPr/>
          <p:nvPr/>
        </p:nvGrpSpPr>
        <p:grpSpPr>
          <a:xfrm>
            <a:off x="593050" y="6292875"/>
            <a:ext cx="11495400" cy="415590"/>
            <a:chOff x="593050" y="6292875"/>
            <a:chExt cx="11495400" cy="415590"/>
          </a:xfrm>
        </p:grpSpPr>
        <p:sp>
          <p:nvSpPr>
            <p:cNvPr id="529" name="Google Shape;529;p46"/>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30" name="Google Shape;530;p46"/>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31" name="Google Shape;531;p46"/>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32" name="Google Shape;532;p46"/>
          <p:cNvSpPr txBox="1"/>
          <p:nvPr/>
        </p:nvSpPr>
        <p:spPr>
          <a:xfrm>
            <a:off x="5458773" y="338725"/>
            <a:ext cx="5932500" cy="4854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chemeClr val="dk1"/>
              </a:buClr>
              <a:buSzPts val="1100"/>
              <a:buFont typeface="Arial"/>
              <a:buNone/>
            </a:pPr>
            <a:r>
              <a:rPr lang="en-US" sz="2200">
                <a:solidFill>
                  <a:schemeClr val="dk1"/>
                </a:solidFill>
                <a:latin typeface="Lato"/>
                <a:ea typeface="Lato"/>
                <a:cs typeface="Lato"/>
                <a:sym typeface="Lato"/>
              </a:rPr>
              <a:t>STRATEGIC CONTENT DEVELOPMENT</a:t>
            </a:r>
            <a:endParaRPr sz="1200">
              <a:solidFill>
                <a:srgbClr val="000000"/>
              </a:solidFill>
              <a:latin typeface="Lato"/>
              <a:ea typeface="Lato"/>
              <a:cs typeface="Lato"/>
              <a:sym typeface="Lato"/>
            </a:endParaRPr>
          </a:p>
        </p:txBody>
      </p:sp>
      <p:sp>
        <p:nvSpPr>
          <p:cNvPr id="533" name="Google Shape;533;p46"/>
          <p:cNvSpPr txBox="1"/>
          <p:nvPr/>
        </p:nvSpPr>
        <p:spPr>
          <a:xfrm>
            <a:off x="5437325" y="1275825"/>
            <a:ext cx="6405900" cy="4729800"/>
          </a:xfrm>
          <a:prstGeom prst="rect">
            <a:avLst/>
          </a:prstGeom>
          <a:noFill/>
          <a:ln>
            <a:noFill/>
          </a:ln>
        </p:spPr>
        <p:txBody>
          <a:bodyPr spcFirstLastPara="1" wrap="square" lIns="68575" tIns="34275" rIns="68575" bIns="34275" anchor="t" anchorCtr="0">
            <a:noAutofit/>
          </a:bodyPr>
          <a:lstStyle/>
          <a:p>
            <a:pPr marL="0" lvl="0" indent="0" algn="just" rtl="0">
              <a:lnSpc>
                <a:spcPct val="90000"/>
              </a:lnSpc>
              <a:spcBef>
                <a:spcPts val="0"/>
              </a:spcBef>
              <a:spcAft>
                <a:spcPts val="0"/>
              </a:spcAft>
              <a:buClr>
                <a:schemeClr val="dk1"/>
              </a:buClr>
              <a:buSzPts val="1100"/>
              <a:buFont typeface="Arial"/>
              <a:buNone/>
            </a:pPr>
            <a:r>
              <a:rPr lang="en-US" sz="1600" dirty="0">
                <a:solidFill>
                  <a:schemeClr val="dk1"/>
                </a:solidFill>
                <a:latin typeface="Lato"/>
                <a:ea typeface="Lato"/>
                <a:cs typeface="Lato"/>
                <a:sym typeface="Lato"/>
              </a:rPr>
              <a:t>A series of feature articles will be developed and deployed by the media support group. </a:t>
            </a:r>
            <a:endParaRPr sz="1600" dirty="0">
              <a:solidFill>
                <a:schemeClr val="dk1"/>
              </a:solidFill>
              <a:latin typeface="Lato"/>
              <a:ea typeface="Lato"/>
              <a:cs typeface="Lato"/>
              <a:sym typeface="Lato"/>
            </a:endParaRPr>
          </a:p>
          <a:p>
            <a:pPr marL="0" lvl="0" indent="0" algn="just" rtl="0">
              <a:lnSpc>
                <a:spcPct val="90000"/>
              </a:lnSpc>
              <a:spcBef>
                <a:spcPts val="0"/>
              </a:spcBef>
              <a:spcAft>
                <a:spcPts val="0"/>
              </a:spcAft>
              <a:buClr>
                <a:schemeClr val="dk1"/>
              </a:buClr>
              <a:buSzPts val="1100"/>
              <a:buFont typeface="Arial"/>
              <a:buNone/>
            </a:pPr>
            <a:endParaRPr sz="1600" dirty="0">
              <a:solidFill>
                <a:schemeClr val="dk1"/>
              </a:solidFill>
              <a:latin typeface="Lato"/>
              <a:ea typeface="Lato"/>
              <a:cs typeface="Lato"/>
              <a:sym typeface="Lato"/>
            </a:endParaRPr>
          </a:p>
          <a:p>
            <a:pPr marL="0" lvl="0" indent="0" algn="just" rtl="0">
              <a:lnSpc>
                <a:spcPct val="90000"/>
              </a:lnSpc>
              <a:spcBef>
                <a:spcPts val="0"/>
              </a:spcBef>
              <a:spcAft>
                <a:spcPts val="0"/>
              </a:spcAft>
              <a:buClr>
                <a:schemeClr val="dk1"/>
              </a:buClr>
              <a:buSzPts val="1100"/>
              <a:buFont typeface="Arial"/>
              <a:buNone/>
            </a:pPr>
            <a:r>
              <a:rPr lang="en-US" sz="1600" dirty="0" err="1">
                <a:solidFill>
                  <a:schemeClr val="dk1"/>
                </a:solidFill>
                <a:latin typeface="Lato"/>
                <a:ea typeface="Lato"/>
                <a:cs typeface="Lato"/>
                <a:sym typeface="Lato"/>
              </a:rPr>
              <a:t>Analysing</a:t>
            </a:r>
            <a:r>
              <a:rPr lang="en-US" sz="1600" dirty="0">
                <a:solidFill>
                  <a:schemeClr val="dk1"/>
                </a:solidFill>
                <a:latin typeface="Lato"/>
                <a:ea typeface="Lato"/>
                <a:cs typeface="Lato"/>
                <a:sym typeface="Lato"/>
              </a:rPr>
              <a:t> the activities of the hub and its impact in the community and beyond, for example:</a:t>
            </a:r>
            <a:endParaRPr sz="1600" dirty="0">
              <a:solidFill>
                <a:schemeClr val="dk1"/>
              </a:solidFill>
              <a:latin typeface="Lato"/>
              <a:ea typeface="Lato"/>
              <a:cs typeface="Lato"/>
              <a:sym typeface="Lato"/>
            </a:endParaRPr>
          </a:p>
          <a:p>
            <a:pPr marL="457200" lvl="0" indent="-330200" algn="just" rtl="0">
              <a:lnSpc>
                <a:spcPct val="90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Total number of Startups reached</a:t>
            </a:r>
            <a:endParaRPr sz="1600" dirty="0">
              <a:solidFill>
                <a:schemeClr val="dk1"/>
              </a:solidFill>
              <a:latin typeface="Lato"/>
              <a:ea typeface="Lato"/>
              <a:cs typeface="Lato"/>
              <a:sym typeface="Lato"/>
            </a:endParaRPr>
          </a:p>
          <a:p>
            <a:pPr marL="457200" lvl="0" indent="-330200" algn="just" rtl="0">
              <a:lnSpc>
                <a:spcPct val="90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Impact on job creation, entrepreneurship with the region and beyond</a:t>
            </a:r>
            <a:endParaRPr sz="1600" dirty="0">
              <a:solidFill>
                <a:schemeClr val="dk1"/>
              </a:solidFill>
              <a:latin typeface="Lato"/>
              <a:ea typeface="Lato"/>
              <a:cs typeface="Lato"/>
              <a:sym typeface="Lato"/>
            </a:endParaRPr>
          </a:p>
          <a:p>
            <a:pPr marL="457200" lvl="0" indent="-330200" algn="just" rtl="0">
              <a:lnSpc>
                <a:spcPct val="90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The Programmes, speakers on each program, collaborations </a:t>
            </a:r>
            <a:r>
              <a:rPr lang="en-US" sz="1600" dirty="0" err="1">
                <a:solidFill>
                  <a:schemeClr val="dk1"/>
                </a:solidFill>
                <a:latin typeface="Lato"/>
                <a:ea typeface="Lato"/>
                <a:cs typeface="Lato"/>
                <a:sym typeface="Lato"/>
              </a:rPr>
              <a:t>etc</a:t>
            </a:r>
            <a:endParaRPr lang="en-US" sz="1600" dirty="0">
              <a:solidFill>
                <a:schemeClr val="dk1"/>
              </a:solidFill>
              <a:latin typeface="Lato"/>
              <a:ea typeface="Lato"/>
              <a:cs typeface="Lato"/>
              <a:sym typeface="Lato"/>
            </a:endParaRPr>
          </a:p>
          <a:p>
            <a:pPr marL="457200" lvl="0" indent="-330200" algn="just" rtl="0">
              <a:lnSpc>
                <a:spcPct val="90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Workspace/startup/community member features</a:t>
            </a:r>
            <a:endParaRPr sz="1600" dirty="0">
              <a:solidFill>
                <a:schemeClr val="dk1"/>
              </a:solidFill>
              <a:latin typeface="Lato"/>
              <a:ea typeface="Lato"/>
              <a:cs typeface="Lato"/>
              <a:sym typeface="Lato"/>
            </a:endParaRPr>
          </a:p>
          <a:p>
            <a:pPr marL="0" lvl="0" indent="0" algn="just" rtl="0">
              <a:lnSpc>
                <a:spcPct val="90000"/>
              </a:lnSpc>
              <a:spcBef>
                <a:spcPts val="0"/>
              </a:spcBef>
              <a:spcAft>
                <a:spcPts val="0"/>
              </a:spcAft>
              <a:buClr>
                <a:schemeClr val="dk1"/>
              </a:buClr>
              <a:buSzPts val="1100"/>
              <a:buFont typeface="Arial"/>
              <a:buNone/>
            </a:pPr>
            <a:endParaRPr sz="1600" dirty="0">
              <a:solidFill>
                <a:schemeClr val="dk1"/>
              </a:solidFill>
              <a:latin typeface="Lato"/>
              <a:ea typeface="Lato"/>
              <a:cs typeface="Lato"/>
              <a:sym typeface="Lato"/>
            </a:endParaRPr>
          </a:p>
          <a:p>
            <a:pPr marL="0" lvl="0" indent="0" algn="just" rtl="0">
              <a:lnSpc>
                <a:spcPct val="90000"/>
              </a:lnSpc>
              <a:spcBef>
                <a:spcPts val="0"/>
              </a:spcBef>
              <a:spcAft>
                <a:spcPts val="0"/>
              </a:spcAft>
              <a:buClr>
                <a:schemeClr val="dk1"/>
              </a:buClr>
              <a:buSzPts val="1100"/>
              <a:buFont typeface="Arial"/>
              <a:buNone/>
            </a:pPr>
            <a:r>
              <a:rPr lang="en-US" sz="1600" dirty="0">
                <a:solidFill>
                  <a:schemeClr val="dk1"/>
                </a:solidFill>
                <a:latin typeface="Lato"/>
                <a:ea typeface="Lato"/>
                <a:cs typeface="Lato"/>
                <a:sym typeface="Lato"/>
              </a:rPr>
              <a:t>Articles will be used to develop news stories in print and online mainstream newspapers and online blogs, to be be published in;</a:t>
            </a:r>
            <a:endParaRPr sz="1600" dirty="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Print and online mainstream media - Guardian, BusinessDay, Leadership, Tribune, The Nation</a:t>
            </a:r>
            <a:endParaRPr sz="1600" dirty="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News sites and blogs - PM Express, The Cable, Premium Times, PM News, </a:t>
            </a:r>
            <a:endParaRPr sz="1600" dirty="0">
              <a:solidFill>
                <a:schemeClr val="dk1"/>
              </a:solidFill>
              <a:latin typeface="Lato"/>
              <a:ea typeface="Lato"/>
              <a:cs typeface="Lato"/>
              <a:sym typeface="Lato"/>
            </a:endParaRPr>
          </a:p>
          <a:p>
            <a:pPr marL="0" lvl="0" indent="0" algn="l" rtl="0">
              <a:lnSpc>
                <a:spcPct val="115000"/>
              </a:lnSpc>
              <a:spcBef>
                <a:spcPts val="0"/>
              </a:spcBef>
              <a:spcAft>
                <a:spcPts val="0"/>
              </a:spcAft>
              <a:buClr>
                <a:schemeClr val="dk1"/>
              </a:buClr>
              <a:buSzPts val="1100"/>
              <a:buFont typeface="Arial"/>
              <a:buNone/>
            </a:pPr>
            <a:endParaRPr sz="1600" dirty="0">
              <a:solidFill>
                <a:schemeClr val="dk1"/>
              </a:solidFill>
              <a:latin typeface="Lato"/>
              <a:ea typeface="Lato"/>
              <a:cs typeface="Lato"/>
              <a:sym typeface="Lato"/>
            </a:endParaRPr>
          </a:p>
          <a:p>
            <a:pPr marL="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Lato"/>
                <a:ea typeface="Lato"/>
                <a:cs typeface="Lato"/>
                <a:sym typeface="Lato"/>
              </a:rPr>
              <a:t>Contents will be further leveraged as news reports and published in online blogs (tier 1, 2, 3) </a:t>
            </a:r>
            <a:endParaRPr sz="1600" dirty="0">
              <a:solidFill>
                <a:schemeClr val="dk1"/>
              </a:solidFill>
              <a:latin typeface="Lato"/>
              <a:ea typeface="Lato"/>
              <a:cs typeface="Lato"/>
              <a:sym typeface="Lato"/>
            </a:endParaRPr>
          </a:p>
        </p:txBody>
      </p:sp>
      <p:sp>
        <p:nvSpPr>
          <p:cNvPr id="534" name="Google Shape;534;p46"/>
          <p:cNvSpPr txBox="1"/>
          <p:nvPr/>
        </p:nvSpPr>
        <p:spPr>
          <a:xfrm>
            <a:off x="126580" y="338725"/>
            <a:ext cx="4655100" cy="4854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chemeClr val="dk1"/>
              </a:buClr>
              <a:buSzPts val="1100"/>
              <a:buFont typeface="Arial"/>
              <a:buNone/>
            </a:pPr>
            <a:r>
              <a:rPr lang="en-US" sz="2200">
                <a:solidFill>
                  <a:schemeClr val="dk1"/>
                </a:solidFill>
                <a:latin typeface="Lato"/>
                <a:ea typeface="Lato"/>
                <a:cs typeface="Lato"/>
                <a:sym typeface="Lato"/>
              </a:rPr>
              <a:t>MEDIA LEVERAGING</a:t>
            </a:r>
            <a:endParaRPr sz="1200">
              <a:solidFill>
                <a:srgbClr val="000000"/>
              </a:solidFill>
              <a:latin typeface="Lato"/>
              <a:ea typeface="Lato"/>
              <a:cs typeface="Lato"/>
              <a:sym typeface="Lato"/>
            </a:endParaRPr>
          </a:p>
        </p:txBody>
      </p:sp>
      <p:sp>
        <p:nvSpPr>
          <p:cNvPr id="535" name="Google Shape;535;p46"/>
          <p:cNvSpPr txBox="1"/>
          <p:nvPr/>
        </p:nvSpPr>
        <p:spPr>
          <a:xfrm>
            <a:off x="126575" y="1275825"/>
            <a:ext cx="5026500" cy="4729800"/>
          </a:xfrm>
          <a:prstGeom prst="rect">
            <a:avLst/>
          </a:prstGeom>
          <a:noFill/>
          <a:ln>
            <a:noFill/>
          </a:ln>
        </p:spPr>
        <p:txBody>
          <a:bodyPr spcFirstLastPara="1" wrap="square" lIns="68575" tIns="34275" rIns="68575" bIns="34275" anchor="t" anchorCtr="0">
            <a:noAutofit/>
          </a:bodyPr>
          <a:lstStyle/>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Media leveraging of the event will commence immediately.</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media attendance will include national newspapers for online publication, TV coverage, radio coverage, live posts by a team social media influencers</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Output will include:</a:t>
            </a:r>
            <a:endParaRPr sz="1600">
              <a:solidFill>
                <a:schemeClr val="dk1"/>
              </a:solidFill>
              <a:latin typeface="Lato"/>
              <a:ea typeface="Lato"/>
              <a:cs typeface="Lato"/>
              <a:sym typeface="Lato"/>
            </a:endParaRPr>
          </a:p>
          <a:p>
            <a:pPr marL="914400" lvl="1"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Online news publication</a:t>
            </a:r>
            <a:endParaRPr sz="1600">
              <a:solidFill>
                <a:schemeClr val="dk1"/>
              </a:solidFill>
              <a:latin typeface="Lato"/>
              <a:ea typeface="Lato"/>
              <a:cs typeface="Lato"/>
              <a:sym typeface="Lato"/>
            </a:endParaRPr>
          </a:p>
          <a:p>
            <a:pPr marL="914400" lvl="1"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Social media advocacy</a:t>
            </a:r>
            <a:endParaRPr sz="1600">
              <a:solidFill>
                <a:schemeClr val="dk1"/>
              </a:solidFill>
              <a:latin typeface="Lato"/>
              <a:ea typeface="Lato"/>
              <a:cs typeface="Lato"/>
              <a:sym typeface="Lato"/>
            </a:endParaRPr>
          </a:p>
          <a:p>
            <a:pPr marL="914400" lvl="1"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Feature articles</a:t>
            </a:r>
            <a:endParaRPr sz="1600">
              <a:solidFill>
                <a:schemeClr val="dk1"/>
              </a:solidFill>
              <a:latin typeface="Lato"/>
              <a:ea typeface="Lato"/>
              <a:cs typeface="Lato"/>
              <a:sym typeface="Lato"/>
            </a:endParaRPr>
          </a:p>
          <a:p>
            <a:pPr marL="914400" lvl="1"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Radio news broadcast</a:t>
            </a:r>
            <a:endParaRPr sz="1600">
              <a:solidFill>
                <a:schemeClr val="dk1"/>
              </a:solidFill>
              <a:latin typeface="Lato"/>
              <a:ea typeface="Lato"/>
              <a:cs typeface="Lato"/>
              <a:sym typeface="Lato"/>
            </a:endParaRPr>
          </a:p>
          <a:p>
            <a:pPr marL="914400" lvl="1"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Tv news broadcast</a:t>
            </a:r>
            <a:endParaRPr sz="1600">
              <a:solidFill>
                <a:schemeClr val="dk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grpSp>
        <p:nvGrpSpPr>
          <p:cNvPr id="540" name="Google Shape;540;p47"/>
          <p:cNvGrpSpPr/>
          <p:nvPr/>
        </p:nvGrpSpPr>
        <p:grpSpPr>
          <a:xfrm>
            <a:off x="9910844" y="5045076"/>
            <a:ext cx="2311056" cy="1847888"/>
            <a:chOff x="9283128" y="4713378"/>
            <a:chExt cx="2938779" cy="2331720"/>
          </a:xfrm>
        </p:grpSpPr>
        <p:sp>
          <p:nvSpPr>
            <p:cNvPr id="541" name="Google Shape;541;p47"/>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2" name="Google Shape;542;p47"/>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3" name="Google Shape;543;p47"/>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544" name="Google Shape;544;p47"/>
          <p:cNvSpPr txBox="1">
            <a:spLocks noGrp="1"/>
          </p:cNvSpPr>
          <p:nvPr>
            <p:ph type="title"/>
          </p:nvPr>
        </p:nvSpPr>
        <p:spPr>
          <a:xfrm>
            <a:off x="516850" y="422800"/>
            <a:ext cx="10403700" cy="71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4400"/>
              <a:buFont typeface="Calibri"/>
              <a:buNone/>
            </a:pPr>
            <a:r>
              <a:rPr lang="en-US" sz="2200">
                <a:latin typeface="Lato"/>
                <a:ea typeface="Lato"/>
                <a:cs typeface="Lato"/>
                <a:sym typeface="Lato"/>
              </a:rPr>
              <a:t>RADIO/TV APPEARANCES </a:t>
            </a:r>
            <a:endParaRPr sz="3400">
              <a:solidFill>
                <a:srgbClr val="DC4540"/>
              </a:solidFill>
              <a:latin typeface="Lato Black"/>
              <a:ea typeface="Lato Black"/>
              <a:cs typeface="Lato Black"/>
              <a:sym typeface="Lato Black"/>
            </a:endParaRPr>
          </a:p>
        </p:txBody>
      </p:sp>
      <p:grpSp>
        <p:nvGrpSpPr>
          <p:cNvPr id="545" name="Google Shape;545;p47"/>
          <p:cNvGrpSpPr/>
          <p:nvPr/>
        </p:nvGrpSpPr>
        <p:grpSpPr>
          <a:xfrm>
            <a:off x="593050" y="6292875"/>
            <a:ext cx="11495400" cy="415590"/>
            <a:chOff x="593050" y="6292875"/>
            <a:chExt cx="11495400" cy="415590"/>
          </a:xfrm>
        </p:grpSpPr>
        <p:sp>
          <p:nvSpPr>
            <p:cNvPr id="546" name="Google Shape;546;p47"/>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47" name="Google Shape;547;p47"/>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48" name="Google Shape;548;p47"/>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49" name="Google Shape;549;p47"/>
          <p:cNvSpPr txBox="1"/>
          <p:nvPr/>
        </p:nvSpPr>
        <p:spPr>
          <a:xfrm>
            <a:off x="579625" y="1280425"/>
            <a:ext cx="11023500" cy="606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US" sz="1600">
                <a:solidFill>
                  <a:srgbClr val="000000"/>
                </a:solidFill>
                <a:latin typeface="Lato"/>
                <a:ea typeface="Lato"/>
                <a:cs typeface="Lato"/>
                <a:sym typeface="Lato"/>
              </a:rPr>
              <a:t>Organise radio and </a:t>
            </a:r>
            <a:r>
              <a:rPr lang="en-US" sz="1600">
                <a:latin typeface="Lato"/>
                <a:ea typeface="Lato"/>
                <a:cs typeface="Lato"/>
                <a:sym typeface="Lato"/>
              </a:rPr>
              <a:t>TV</a:t>
            </a:r>
            <a:r>
              <a:rPr lang="en-US" sz="1600">
                <a:solidFill>
                  <a:srgbClr val="000000"/>
                </a:solidFill>
                <a:latin typeface="Lato"/>
                <a:ea typeface="Lato"/>
                <a:cs typeface="Lato"/>
                <a:sym typeface="Lato"/>
              </a:rPr>
              <a:t> appearances for </a:t>
            </a:r>
            <a:r>
              <a:rPr lang="en-US" sz="1600">
                <a:latin typeface="Lato"/>
                <a:ea typeface="Lato"/>
                <a:cs typeface="Lato"/>
                <a:sym typeface="Lato"/>
              </a:rPr>
              <a:t>media spokesperson</a:t>
            </a:r>
            <a:r>
              <a:rPr lang="en-US" sz="1600">
                <a:solidFill>
                  <a:srgbClr val="000000"/>
                </a:solidFill>
                <a:latin typeface="Lato"/>
                <a:ea typeface="Lato"/>
                <a:cs typeface="Lato"/>
                <a:sym typeface="Lato"/>
              </a:rPr>
              <a:t> to further amplify the message and maintain public awareness.</a:t>
            </a:r>
            <a:endParaRPr sz="1600">
              <a:solidFill>
                <a:srgbClr val="000000"/>
              </a:solidFill>
              <a:latin typeface="Lato"/>
              <a:ea typeface="Lato"/>
              <a:cs typeface="Lato"/>
              <a:sym typeface="Lato"/>
            </a:endParaRPr>
          </a:p>
        </p:txBody>
      </p:sp>
      <p:graphicFrame>
        <p:nvGraphicFramePr>
          <p:cNvPr id="550" name="Google Shape;550;p47"/>
          <p:cNvGraphicFramePr/>
          <p:nvPr>
            <p:extLst>
              <p:ext uri="{D42A27DB-BD31-4B8C-83A1-F6EECF244321}">
                <p14:modId xmlns:p14="http://schemas.microsoft.com/office/powerpoint/2010/main" val="1828181041"/>
              </p:ext>
            </p:extLst>
          </p:nvPr>
        </p:nvGraphicFramePr>
        <p:xfrm>
          <a:off x="935050" y="2028825"/>
          <a:ext cx="10403700" cy="2850679"/>
        </p:xfrm>
        <a:graphic>
          <a:graphicData uri="http://schemas.openxmlformats.org/drawingml/2006/table">
            <a:tbl>
              <a:tblPr>
                <a:noFill/>
                <a:tableStyleId>{FB587A9B-5581-4698-A67C-3324757FB292}</a:tableStyleId>
              </a:tblPr>
              <a:tblGrid>
                <a:gridCol w="5201850">
                  <a:extLst>
                    <a:ext uri="{9D8B030D-6E8A-4147-A177-3AD203B41FA5}">
                      <a16:colId xmlns:a16="http://schemas.microsoft.com/office/drawing/2014/main" val="20000"/>
                    </a:ext>
                  </a:extLst>
                </a:gridCol>
                <a:gridCol w="52018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en-US" b="1">
                          <a:latin typeface="Lato"/>
                          <a:ea typeface="Lato"/>
                          <a:cs typeface="Lato"/>
                          <a:sym typeface="Lato"/>
                        </a:rPr>
                        <a:t>Content direction</a:t>
                      </a:r>
                      <a:endParaRPr b="1" u="none" strike="noStrike" cap="none">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b="1" u="none" strike="noStrike" cap="none">
                          <a:latin typeface="Lato"/>
                          <a:ea typeface="Lato"/>
                          <a:cs typeface="Lato"/>
                          <a:sym typeface="Lato"/>
                        </a:rPr>
                        <a:t>Platform</a:t>
                      </a:r>
                      <a:endParaRPr b="1" u="none" strike="noStrike" cap="none">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a:latin typeface="Lato"/>
                          <a:ea typeface="Lato"/>
                          <a:cs typeface="Lato"/>
                          <a:sym typeface="Lato"/>
                        </a:rPr>
                        <a:t>Radio:</a:t>
                      </a:r>
                      <a:endParaRPr>
                        <a:latin typeface="Lato"/>
                        <a:ea typeface="Lato"/>
                        <a:cs typeface="Lato"/>
                        <a:sym typeface="Lato"/>
                      </a:endParaRPr>
                    </a:p>
                    <a:p>
                      <a:pPr marL="0" lvl="0" indent="0" algn="l" rtl="0">
                        <a:spcBef>
                          <a:spcPts val="0"/>
                        </a:spcBef>
                        <a:spcAft>
                          <a:spcPts val="0"/>
                        </a:spcAft>
                        <a:buNone/>
                      </a:pPr>
                      <a:r>
                        <a:rPr lang="en-US">
                          <a:latin typeface="Lato"/>
                          <a:ea typeface="Lato"/>
                          <a:cs typeface="Lato"/>
                          <a:sym typeface="Lato"/>
                        </a:rPr>
                        <a:t>Monthly appearances to shed more light on the activities going on around the hub </a:t>
                      </a:r>
                      <a:endParaRPr>
                        <a:latin typeface="Lato"/>
                        <a:ea typeface="Lato"/>
                        <a:cs typeface="Lato"/>
                        <a:sym typeface="Lato"/>
                      </a:endParaRPr>
                    </a:p>
                  </a:txBody>
                  <a:tcPr marL="91425" marR="91425" marT="91425" marB="91425">
                    <a:lnT w="9525" cap="flat" cmpd="sng">
                      <a:solidFill>
                        <a:srgbClr val="9E9E9E"/>
                      </a:solidFill>
                      <a:prstDash val="solid"/>
                      <a:round/>
                      <a:headEnd type="none" w="sm" len="sm"/>
                      <a:tailEnd type="none" w="sm" len="sm"/>
                    </a:lnT>
                  </a:tcPr>
                </a:tc>
                <a:tc>
                  <a:txBody>
                    <a:bodyPr/>
                    <a:lstStyle/>
                    <a:p>
                      <a:pPr marL="457200" lvl="0" indent="-317500" algn="l" rtl="0">
                        <a:lnSpc>
                          <a:spcPct val="115000"/>
                        </a:lnSpc>
                        <a:spcBef>
                          <a:spcPts val="0"/>
                        </a:spcBef>
                        <a:spcAft>
                          <a:spcPts val="0"/>
                        </a:spcAft>
                        <a:buClr>
                          <a:srgbClr val="000000"/>
                        </a:buClr>
                        <a:buSzPts val="1400"/>
                        <a:buFont typeface="Lato"/>
                        <a:buChar char="•"/>
                      </a:pPr>
                      <a:r>
                        <a:rPr lang="en-US" dirty="0">
                          <a:latin typeface="Lato"/>
                          <a:ea typeface="Lato"/>
                          <a:cs typeface="Lato"/>
                          <a:sym typeface="Lato"/>
                        </a:rPr>
                        <a:t>Royal FM</a:t>
                      </a:r>
                    </a:p>
                    <a:p>
                      <a:pPr marL="457200" lvl="0" indent="-317500" algn="l" rtl="0">
                        <a:lnSpc>
                          <a:spcPct val="115000"/>
                        </a:lnSpc>
                        <a:spcBef>
                          <a:spcPts val="0"/>
                        </a:spcBef>
                        <a:spcAft>
                          <a:spcPts val="0"/>
                        </a:spcAft>
                        <a:buClr>
                          <a:srgbClr val="000000"/>
                        </a:buClr>
                        <a:buSzPts val="1400"/>
                        <a:buFont typeface="Lato"/>
                        <a:buChar char="•"/>
                      </a:pPr>
                      <a:r>
                        <a:rPr lang="en-US" dirty="0" err="1">
                          <a:latin typeface="Lato"/>
                          <a:ea typeface="Lato"/>
                          <a:cs typeface="Lato"/>
                          <a:sym typeface="Lato"/>
                        </a:rPr>
                        <a:t>Unilorin</a:t>
                      </a:r>
                      <a:r>
                        <a:rPr lang="en-US" dirty="0">
                          <a:latin typeface="Lato"/>
                          <a:ea typeface="Lato"/>
                          <a:cs typeface="Lato"/>
                          <a:sym typeface="Lato"/>
                        </a:rPr>
                        <a:t> FM</a:t>
                      </a:r>
                      <a:endParaRPr dirty="0">
                        <a:latin typeface="Lato"/>
                        <a:ea typeface="Lato"/>
                        <a:cs typeface="Lato"/>
                        <a:sym typeface="Lato"/>
                      </a:endParaRPr>
                    </a:p>
                    <a:p>
                      <a:pPr marL="457200" lvl="0" indent="-317500" algn="l" rtl="0">
                        <a:lnSpc>
                          <a:spcPct val="115000"/>
                        </a:lnSpc>
                        <a:spcBef>
                          <a:spcPts val="0"/>
                        </a:spcBef>
                        <a:spcAft>
                          <a:spcPts val="0"/>
                        </a:spcAft>
                        <a:buClr>
                          <a:srgbClr val="000000"/>
                        </a:buClr>
                        <a:buSzPts val="1400"/>
                        <a:buFont typeface="Lato"/>
                        <a:buChar char="•"/>
                      </a:pPr>
                      <a:r>
                        <a:rPr lang="en-US" dirty="0">
                          <a:latin typeface="Lato"/>
                          <a:ea typeface="Lato"/>
                          <a:cs typeface="Lato"/>
                          <a:sym typeface="Lato"/>
                        </a:rPr>
                        <a:t>Diamond FM</a:t>
                      </a:r>
                    </a:p>
                    <a:p>
                      <a:pPr marL="457200" lvl="0" indent="-317500" algn="l" rtl="0">
                        <a:lnSpc>
                          <a:spcPct val="115000"/>
                        </a:lnSpc>
                        <a:spcBef>
                          <a:spcPts val="0"/>
                        </a:spcBef>
                        <a:spcAft>
                          <a:spcPts val="0"/>
                        </a:spcAft>
                        <a:buClr>
                          <a:srgbClr val="000000"/>
                        </a:buClr>
                        <a:buSzPts val="1400"/>
                        <a:buFont typeface="Lato"/>
                        <a:buChar char="•"/>
                      </a:pPr>
                      <a:r>
                        <a:rPr lang="en-US" dirty="0">
                          <a:latin typeface="Lato"/>
                          <a:ea typeface="Lato"/>
                          <a:cs typeface="Lato"/>
                          <a:sym typeface="Lato"/>
                        </a:rPr>
                        <a:t>Kwara Radio</a:t>
                      </a:r>
                      <a:endParaRPr dirty="0">
                        <a:latin typeface="Lato"/>
                        <a:ea typeface="Lato"/>
                        <a:cs typeface="Lato"/>
                        <a:sym typeface="Lato"/>
                      </a:endParaRPr>
                    </a:p>
                    <a:p>
                      <a:pPr marL="457200" lvl="0" indent="-317500" algn="l" rtl="0">
                        <a:lnSpc>
                          <a:spcPct val="115000"/>
                        </a:lnSpc>
                        <a:spcBef>
                          <a:spcPts val="0"/>
                        </a:spcBef>
                        <a:spcAft>
                          <a:spcPts val="0"/>
                        </a:spcAft>
                        <a:buClr>
                          <a:srgbClr val="000000"/>
                        </a:buClr>
                        <a:buSzPts val="1400"/>
                        <a:buFont typeface="Lato"/>
                        <a:buChar char="•"/>
                      </a:pPr>
                      <a:r>
                        <a:rPr lang="en-US" dirty="0">
                          <a:solidFill>
                            <a:srgbClr val="000000"/>
                          </a:solidFill>
                          <a:latin typeface="Lato"/>
                          <a:ea typeface="Lato"/>
                          <a:cs typeface="Lato"/>
                          <a:sym typeface="Lato"/>
                        </a:rPr>
                        <a:t>Lagos Talks</a:t>
                      </a:r>
                      <a:endParaRPr dirty="0">
                        <a:solidFill>
                          <a:srgbClr val="000000"/>
                        </a:solidFill>
                        <a:latin typeface="Lato"/>
                        <a:ea typeface="Lato"/>
                        <a:cs typeface="Lato"/>
                        <a:sym typeface="Lato"/>
                      </a:endParaRPr>
                    </a:p>
                    <a:p>
                      <a:pPr marL="457200" lvl="0" indent="-317500" algn="l" rtl="0">
                        <a:lnSpc>
                          <a:spcPct val="115000"/>
                        </a:lnSpc>
                        <a:spcBef>
                          <a:spcPts val="0"/>
                        </a:spcBef>
                        <a:spcAft>
                          <a:spcPts val="0"/>
                        </a:spcAft>
                        <a:buClr>
                          <a:srgbClr val="000000"/>
                        </a:buClr>
                        <a:buSzPts val="1400"/>
                        <a:buFont typeface="Lato"/>
                        <a:buChar char="•"/>
                      </a:pPr>
                      <a:r>
                        <a:rPr lang="en-US" dirty="0">
                          <a:solidFill>
                            <a:srgbClr val="000000"/>
                          </a:solidFill>
                          <a:latin typeface="Lato"/>
                          <a:ea typeface="Lato"/>
                          <a:cs typeface="Lato"/>
                          <a:sym typeface="Lato"/>
                        </a:rPr>
                        <a:t>Nigeria Info</a:t>
                      </a:r>
                      <a:endParaRPr dirty="0">
                        <a:solidFill>
                          <a:srgbClr val="000000"/>
                        </a:solidFill>
                        <a:latin typeface="Lato"/>
                        <a:ea typeface="Lato"/>
                        <a:cs typeface="Lato"/>
                        <a:sym typeface="Lato"/>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a:latin typeface="Lato"/>
                          <a:ea typeface="Lato"/>
                          <a:cs typeface="Lato"/>
                          <a:sym typeface="Lato"/>
                        </a:rPr>
                        <a:t>TV:</a:t>
                      </a:r>
                      <a:endParaRPr>
                        <a:latin typeface="Lato"/>
                        <a:ea typeface="Lato"/>
                        <a:cs typeface="Lato"/>
                        <a:sym typeface="Lato"/>
                      </a:endParaRPr>
                    </a:p>
                    <a:p>
                      <a:pPr marL="0" lvl="0" indent="0" algn="l" rtl="0">
                        <a:spcBef>
                          <a:spcPts val="0"/>
                        </a:spcBef>
                        <a:spcAft>
                          <a:spcPts val="0"/>
                        </a:spcAft>
                        <a:buNone/>
                      </a:pPr>
                      <a:r>
                        <a:rPr lang="en-US">
                          <a:latin typeface="Lato"/>
                          <a:ea typeface="Lato"/>
                          <a:cs typeface="Lato"/>
                          <a:sym typeface="Lato"/>
                        </a:rPr>
                        <a:t>Interviews and discussions highlighting the hub’s aims and present achievements</a:t>
                      </a:r>
                      <a:endParaRPr>
                        <a:latin typeface="Lato"/>
                        <a:ea typeface="Lato"/>
                        <a:cs typeface="Lato"/>
                        <a:sym typeface="Lato"/>
                      </a:endParaRPr>
                    </a:p>
                  </a:txBody>
                  <a:tcPr marL="91425" marR="91425" marT="91425" marB="91425"/>
                </a:tc>
                <a:tc>
                  <a:txBody>
                    <a:bodyPr/>
                    <a:lstStyle/>
                    <a:p>
                      <a:pPr marL="457200" lvl="0" indent="-317500" algn="l" rtl="0">
                        <a:lnSpc>
                          <a:spcPct val="115000"/>
                        </a:lnSpc>
                        <a:spcBef>
                          <a:spcPts val="0"/>
                        </a:spcBef>
                        <a:spcAft>
                          <a:spcPts val="0"/>
                        </a:spcAft>
                        <a:buClr>
                          <a:schemeClr val="dk1"/>
                        </a:buClr>
                        <a:buSzPts val="1400"/>
                        <a:buFont typeface="Lato"/>
                        <a:buChar char="•"/>
                      </a:pPr>
                      <a:r>
                        <a:rPr lang="en-US" dirty="0">
                          <a:solidFill>
                            <a:schemeClr val="dk1"/>
                          </a:solidFill>
                          <a:latin typeface="Lato"/>
                          <a:ea typeface="Lato"/>
                          <a:cs typeface="Lato"/>
                          <a:sym typeface="Lato"/>
                        </a:rPr>
                        <a:t>Channels TV</a:t>
                      </a:r>
                      <a:endParaRPr dirty="0">
                        <a:solidFill>
                          <a:schemeClr val="dk1"/>
                        </a:solidFill>
                        <a:latin typeface="Lato"/>
                        <a:ea typeface="Lato"/>
                        <a:cs typeface="Lato"/>
                        <a:sym typeface="Lato"/>
                      </a:endParaRPr>
                    </a:p>
                    <a:p>
                      <a:pPr marL="457200" lvl="0" indent="-317500" algn="l" rtl="0">
                        <a:lnSpc>
                          <a:spcPct val="115000"/>
                        </a:lnSpc>
                        <a:spcBef>
                          <a:spcPts val="0"/>
                        </a:spcBef>
                        <a:spcAft>
                          <a:spcPts val="0"/>
                        </a:spcAft>
                        <a:buClr>
                          <a:schemeClr val="dk1"/>
                        </a:buClr>
                        <a:buSzPts val="1400"/>
                        <a:buFont typeface="Lato"/>
                        <a:buChar char="•"/>
                      </a:pPr>
                      <a:r>
                        <a:rPr lang="en-US" dirty="0">
                          <a:solidFill>
                            <a:schemeClr val="dk1"/>
                          </a:solidFill>
                          <a:latin typeface="Lato"/>
                          <a:ea typeface="Lato"/>
                          <a:cs typeface="Lato"/>
                          <a:sym typeface="Lato"/>
                        </a:rPr>
                        <a:t>TVC</a:t>
                      </a:r>
                      <a:endParaRPr dirty="0">
                        <a:latin typeface="Lato"/>
                        <a:ea typeface="Lato"/>
                        <a:cs typeface="Lato"/>
                        <a:sym typeface="Lato"/>
                      </a:endParaRPr>
                    </a:p>
                  </a:txBody>
                  <a:tcPr marL="91425" marR="91425" marT="91425" marB="91425"/>
                </a:tc>
                <a:extLst>
                  <a:ext uri="{0D108BD9-81ED-4DB2-BD59-A6C34878D82A}">
                    <a16:rowId xmlns:a16="http://schemas.microsoft.com/office/drawing/2014/main" val="10002"/>
                  </a:ext>
                </a:extLst>
              </a:tr>
            </a:tbl>
          </a:graphicData>
        </a:graphic>
      </p:graphicFrame>
      <p:sp>
        <p:nvSpPr>
          <p:cNvPr id="551" name="Google Shape;551;p47"/>
          <p:cNvSpPr txBox="1"/>
          <p:nvPr/>
        </p:nvSpPr>
        <p:spPr>
          <a:xfrm>
            <a:off x="935050" y="5016575"/>
            <a:ext cx="98799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600">
                <a:latin typeface="Lato"/>
                <a:ea typeface="Lato"/>
                <a:cs typeface="Lato"/>
                <a:sym typeface="Lato"/>
              </a:rPr>
              <a:t>N</a:t>
            </a:r>
            <a:r>
              <a:rPr lang="en-US" sz="1600">
                <a:solidFill>
                  <a:srgbClr val="000000"/>
                </a:solidFill>
                <a:latin typeface="Lato"/>
                <a:ea typeface="Lato"/>
                <a:cs typeface="Lato"/>
                <a:sym typeface="Lato"/>
              </a:rPr>
              <a:t>ews reports will be issued to highlight the  discussions across various media platforms: Punch, Sun, New Telegraph, Daily Trust, Daily independent.</a:t>
            </a:r>
            <a:endParaRPr sz="1600">
              <a:solidFill>
                <a:srgbClr val="000000"/>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grpSp>
        <p:nvGrpSpPr>
          <p:cNvPr id="556" name="Google Shape;556;p48"/>
          <p:cNvGrpSpPr/>
          <p:nvPr/>
        </p:nvGrpSpPr>
        <p:grpSpPr>
          <a:xfrm>
            <a:off x="9910844" y="5045076"/>
            <a:ext cx="2311056" cy="1847888"/>
            <a:chOff x="9283128" y="4713378"/>
            <a:chExt cx="2938779" cy="2331720"/>
          </a:xfrm>
        </p:grpSpPr>
        <p:sp>
          <p:nvSpPr>
            <p:cNvPr id="557" name="Google Shape;557;p48"/>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8" name="Google Shape;558;p48"/>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59" name="Google Shape;559;p48"/>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60" name="Google Shape;560;p48"/>
          <p:cNvGrpSpPr/>
          <p:nvPr/>
        </p:nvGrpSpPr>
        <p:grpSpPr>
          <a:xfrm>
            <a:off x="593050" y="6292875"/>
            <a:ext cx="11495400" cy="415590"/>
            <a:chOff x="593050" y="6292875"/>
            <a:chExt cx="11495400" cy="415590"/>
          </a:xfrm>
        </p:grpSpPr>
        <p:sp>
          <p:nvSpPr>
            <p:cNvPr id="561" name="Google Shape;561;p48"/>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62" name="Google Shape;562;p48"/>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63" name="Google Shape;563;p48"/>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64" name="Google Shape;564;p48"/>
          <p:cNvSpPr txBox="1"/>
          <p:nvPr/>
        </p:nvSpPr>
        <p:spPr>
          <a:xfrm>
            <a:off x="630491" y="301523"/>
            <a:ext cx="5979600" cy="485400"/>
          </a:xfrm>
          <a:prstGeom prst="rect">
            <a:avLst/>
          </a:prstGeom>
          <a:noFill/>
          <a:ln>
            <a:noFill/>
          </a:ln>
        </p:spPr>
        <p:txBody>
          <a:bodyPr spcFirstLastPara="1" wrap="square" lIns="68575" tIns="34275" rIns="68575" bIns="34275" anchor="b" anchorCtr="0">
            <a:noAutofit/>
          </a:bodyPr>
          <a:lstStyle/>
          <a:p>
            <a:pPr marL="0" lvl="0" indent="0" algn="l" rtl="0">
              <a:spcBef>
                <a:spcPts val="0"/>
              </a:spcBef>
              <a:spcAft>
                <a:spcPts val="0"/>
              </a:spcAft>
              <a:buClr>
                <a:schemeClr val="dk1"/>
              </a:buClr>
              <a:buSzPts val="1100"/>
              <a:buFont typeface="Arial"/>
              <a:buNone/>
            </a:pPr>
            <a:r>
              <a:rPr lang="en-US" sz="2200">
                <a:solidFill>
                  <a:schemeClr val="dk1"/>
                </a:solidFill>
                <a:latin typeface="Lato"/>
                <a:ea typeface="Lato"/>
                <a:cs typeface="Lato"/>
                <a:sym typeface="Lato"/>
              </a:rPr>
              <a:t>THOUGHT LEADERSHIP</a:t>
            </a:r>
            <a:endParaRPr sz="1900" b="1">
              <a:solidFill>
                <a:srgbClr val="000000"/>
              </a:solidFill>
              <a:latin typeface="Lato"/>
              <a:ea typeface="Lato"/>
              <a:cs typeface="Lato"/>
              <a:sym typeface="Lato"/>
            </a:endParaRPr>
          </a:p>
        </p:txBody>
      </p:sp>
      <p:sp>
        <p:nvSpPr>
          <p:cNvPr id="565" name="Google Shape;565;p48"/>
          <p:cNvSpPr txBox="1"/>
          <p:nvPr/>
        </p:nvSpPr>
        <p:spPr>
          <a:xfrm>
            <a:off x="706700" y="1199625"/>
            <a:ext cx="10090800" cy="4145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US" sz="1600" dirty="0">
                <a:solidFill>
                  <a:schemeClr val="dk1"/>
                </a:solidFill>
                <a:latin typeface="Lato"/>
                <a:ea typeface="Lato"/>
                <a:cs typeface="Lato"/>
                <a:sym typeface="Lato"/>
              </a:rPr>
              <a:t>Leverage the leadership  team to drive conversations around pertinent industry issues and topics of interest to stakeholders, enhance</a:t>
            </a:r>
            <a:r>
              <a:rPr lang="en-US" sz="1500" dirty="0">
                <a:solidFill>
                  <a:schemeClr val="dk1"/>
                </a:solidFill>
                <a:latin typeface="Lato"/>
                <a:ea typeface="Lato"/>
                <a:cs typeface="Lato"/>
                <a:sym typeface="Lato"/>
              </a:rPr>
              <a:t> visibility amongst both local and international business communities.</a:t>
            </a:r>
            <a:endParaRPr sz="1500" dirty="0">
              <a:solidFill>
                <a:schemeClr val="dk1"/>
              </a:solidFill>
              <a:latin typeface="Lato"/>
              <a:ea typeface="Lato"/>
              <a:cs typeface="Lato"/>
              <a:sym typeface="Lato"/>
            </a:endParaRPr>
          </a:p>
          <a:p>
            <a:pPr marL="457200" lvl="0" indent="-323850" algn="l" rtl="0">
              <a:spcBef>
                <a:spcPts val="0"/>
              </a:spcBef>
              <a:spcAft>
                <a:spcPts val="0"/>
              </a:spcAft>
              <a:buClr>
                <a:schemeClr val="dk1"/>
              </a:buClr>
              <a:buSzPts val="1500"/>
              <a:buFont typeface="Lato"/>
              <a:buChar char="●"/>
            </a:pPr>
            <a:r>
              <a:rPr lang="en-US" sz="1500" dirty="0">
                <a:solidFill>
                  <a:schemeClr val="dk1"/>
                </a:solidFill>
                <a:latin typeface="Lato"/>
                <a:ea typeface="Lato"/>
                <a:cs typeface="Lato"/>
                <a:sym typeface="Lato"/>
              </a:rPr>
              <a:t>Lead Industry conversations.</a:t>
            </a:r>
            <a:endParaRPr sz="1500" dirty="0">
              <a:solidFill>
                <a:schemeClr val="dk1"/>
              </a:solidFill>
              <a:latin typeface="Lato"/>
              <a:ea typeface="Lato"/>
              <a:cs typeface="Lato"/>
              <a:sym typeface="Lato"/>
            </a:endParaRPr>
          </a:p>
          <a:p>
            <a:pPr marL="457200" lvl="0" indent="-323850" algn="l" rtl="0">
              <a:spcBef>
                <a:spcPts val="0"/>
              </a:spcBef>
              <a:spcAft>
                <a:spcPts val="0"/>
              </a:spcAft>
              <a:buClr>
                <a:schemeClr val="dk1"/>
              </a:buClr>
              <a:buSzPts val="1500"/>
              <a:buFont typeface="Lato"/>
              <a:buChar char="●"/>
            </a:pPr>
            <a:r>
              <a:rPr lang="en-US" sz="1500" dirty="0">
                <a:solidFill>
                  <a:schemeClr val="dk1"/>
                </a:solidFill>
                <a:latin typeface="Lato"/>
                <a:ea typeface="Lato"/>
                <a:cs typeface="Lato"/>
                <a:sym typeface="Lato"/>
              </a:rPr>
              <a:t>Accept pro bono speaking. engagements and opportunities on areas of expertise and public interest</a:t>
            </a:r>
            <a:endParaRPr sz="1500" dirty="0">
              <a:solidFill>
                <a:schemeClr val="dk1"/>
              </a:solidFill>
              <a:latin typeface="Lato"/>
              <a:ea typeface="Lato"/>
              <a:cs typeface="Lato"/>
              <a:sym typeface="Lato"/>
            </a:endParaRPr>
          </a:p>
          <a:p>
            <a:pPr marL="457200" lvl="0" indent="-323850" algn="l" rtl="0">
              <a:spcBef>
                <a:spcPts val="0"/>
              </a:spcBef>
              <a:spcAft>
                <a:spcPts val="0"/>
              </a:spcAft>
              <a:buClr>
                <a:schemeClr val="dk1"/>
              </a:buClr>
              <a:buSzPts val="1500"/>
              <a:buFont typeface="Lato"/>
              <a:buChar char="●"/>
            </a:pPr>
            <a:r>
              <a:rPr lang="en-US" sz="1500" dirty="0">
                <a:solidFill>
                  <a:schemeClr val="dk1"/>
                </a:solidFill>
                <a:latin typeface="Lato"/>
                <a:ea typeface="Lato"/>
                <a:cs typeface="Lato"/>
                <a:sym typeface="Lato"/>
              </a:rPr>
              <a:t>Agency will provide ample publicity to these and other activities.</a:t>
            </a:r>
            <a:endParaRPr sz="1600" dirty="0">
              <a:solidFill>
                <a:schemeClr val="dk1"/>
              </a:solidFill>
              <a:latin typeface="Lato"/>
              <a:ea typeface="Lato"/>
              <a:cs typeface="Lato"/>
              <a:sym typeface="Lato"/>
            </a:endParaRPr>
          </a:p>
          <a:p>
            <a:pPr marL="285750" lvl="0" indent="-184150" algn="l" rtl="0">
              <a:spcBef>
                <a:spcPts val="0"/>
              </a:spcBef>
              <a:spcAft>
                <a:spcPts val="0"/>
              </a:spcAft>
              <a:buNone/>
            </a:pPr>
            <a:endParaRPr sz="1600" dirty="0">
              <a:solidFill>
                <a:schemeClr val="dk1"/>
              </a:solidFill>
              <a:latin typeface="Lato"/>
              <a:ea typeface="Lato"/>
              <a:cs typeface="Lato"/>
              <a:sym typeface="Lato"/>
            </a:endParaRPr>
          </a:p>
          <a:p>
            <a:pPr marL="0" lvl="0" indent="0" algn="l" rtl="0">
              <a:spcBef>
                <a:spcPts val="0"/>
              </a:spcBef>
              <a:spcAft>
                <a:spcPts val="0"/>
              </a:spcAft>
              <a:buNone/>
            </a:pPr>
            <a:r>
              <a:rPr lang="en-US" sz="1600" dirty="0">
                <a:solidFill>
                  <a:schemeClr val="dk1"/>
                </a:solidFill>
                <a:latin typeface="Lato"/>
                <a:ea typeface="Lato"/>
                <a:cs typeface="Lato"/>
                <a:sym typeface="Lato"/>
              </a:rPr>
              <a:t>Activities  will be done via interaction with the media and stakeholders in the business sphere.</a:t>
            </a:r>
            <a:endParaRPr sz="1600" dirty="0">
              <a:solidFill>
                <a:schemeClr val="dk1"/>
              </a:solidFill>
              <a:latin typeface="Lato"/>
              <a:ea typeface="Lato"/>
              <a:cs typeface="Lato"/>
              <a:sym typeface="Lato"/>
            </a:endParaRPr>
          </a:p>
          <a:p>
            <a:pPr marL="742950" lvl="0" indent="-184150" algn="l" rtl="0">
              <a:spcBef>
                <a:spcPts val="0"/>
              </a:spcBef>
              <a:spcAft>
                <a:spcPts val="0"/>
              </a:spcAft>
              <a:buNone/>
            </a:pP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Leverage thought leadership opportunities further in the media via stories publications and social media.</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Interviews</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Event speaking opportunities</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Op eds</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Collaborative webinars</a:t>
            </a:r>
            <a:endParaRPr sz="1600" dirty="0">
              <a:solidFill>
                <a:schemeClr val="dk1"/>
              </a:solidFill>
              <a:latin typeface="Lato"/>
              <a:ea typeface="Lato"/>
              <a:cs typeface="Lato"/>
              <a:sym typeface="Lato"/>
            </a:endParaRPr>
          </a:p>
          <a:p>
            <a:pPr marL="0" lvl="0" indent="0" algn="l" rtl="0">
              <a:spcBef>
                <a:spcPts val="0"/>
              </a:spcBef>
              <a:spcAft>
                <a:spcPts val="0"/>
              </a:spcAft>
              <a:buClr>
                <a:schemeClr val="dk1"/>
              </a:buClr>
              <a:buSzPts val="1600"/>
              <a:buFont typeface="Arial"/>
              <a:buNone/>
            </a:pPr>
            <a:endParaRPr sz="1600" dirty="0">
              <a:solidFill>
                <a:schemeClr val="dk1"/>
              </a:solidFill>
              <a:latin typeface="Lato"/>
              <a:ea typeface="Lato"/>
              <a:cs typeface="Lato"/>
              <a:sym typeface="Lato"/>
            </a:endParaRPr>
          </a:p>
          <a:p>
            <a:pPr marL="0" lvl="0" indent="0" algn="just" rtl="0">
              <a:spcBef>
                <a:spcPts val="0"/>
              </a:spcBef>
              <a:spcAft>
                <a:spcPts val="0"/>
              </a:spcAft>
              <a:buClr>
                <a:schemeClr val="dk1"/>
              </a:buClr>
              <a:buSzPts val="1100"/>
              <a:buFont typeface="Arial"/>
              <a:buNone/>
            </a:pPr>
            <a:r>
              <a:rPr lang="en-US" sz="1600" dirty="0">
                <a:solidFill>
                  <a:schemeClr val="dk1"/>
                </a:solidFill>
                <a:latin typeface="Lato"/>
                <a:ea typeface="Lato"/>
                <a:cs typeface="Lato"/>
                <a:sym typeface="Lato"/>
              </a:rPr>
              <a:t>Media Targets: Tech, Business, </a:t>
            </a:r>
            <a:endParaRPr sz="1600" dirty="0">
              <a:solidFill>
                <a:schemeClr val="dk1"/>
              </a:solidFill>
              <a:latin typeface="Lato"/>
              <a:ea typeface="Lato"/>
              <a:cs typeface="Lato"/>
              <a:sym typeface="Lato"/>
            </a:endParaRPr>
          </a:p>
          <a:p>
            <a:pPr marL="0" lvl="0" indent="0" algn="just" rtl="0">
              <a:spcBef>
                <a:spcPts val="0"/>
              </a:spcBef>
              <a:spcAft>
                <a:spcPts val="0"/>
              </a:spcAft>
              <a:buClr>
                <a:schemeClr val="dk1"/>
              </a:buClr>
              <a:buSzPts val="1100"/>
              <a:buFont typeface="Arial"/>
              <a:buNone/>
            </a:pPr>
            <a:endParaRPr sz="1600" dirty="0">
              <a:solidFill>
                <a:schemeClr val="dk1"/>
              </a:solidFill>
              <a:latin typeface="Lato"/>
              <a:ea typeface="Lato"/>
              <a:cs typeface="Lato"/>
              <a:sym typeface="Lato"/>
            </a:endParaRPr>
          </a:p>
          <a:p>
            <a:pPr marL="457200" lvl="0" indent="-330200" algn="just"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Print: BusinessDay, Guardian, </a:t>
            </a:r>
            <a:r>
              <a:rPr lang="en-US" sz="1600" dirty="0" err="1">
                <a:solidFill>
                  <a:schemeClr val="dk1"/>
                </a:solidFill>
                <a:latin typeface="Lato"/>
                <a:ea typeface="Lato"/>
                <a:cs typeface="Lato"/>
                <a:sym typeface="Lato"/>
              </a:rPr>
              <a:t>Thisday</a:t>
            </a:r>
            <a:r>
              <a:rPr lang="en-US" sz="1600" dirty="0">
                <a:solidFill>
                  <a:schemeClr val="dk1"/>
                </a:solidFill>
                <a:latin typeface="Lato"/>
                <a:ea typeface="Lato"/>
                <a:cs typeface="Lato"/>
                <a:sym typeface="Lato"/>
              </a:rPr>
              <a:t>, Daily Trust, Punch, Tribune and Leadership, </a:t>
            </a:r>
            <a:endParaRPr sz="1600" dirty="0">
              <a:solidFill>
                <a:schemeClr val="dk1"/>
              </a:solidFill>
              <a:latin typeface="Lato"/>
              <a:ea typeface="Lato"/>
              <a:cs typeface="Lato"/>
              <a:sym typeface="Lato"/>
            </a:endParaRPr>
          </a:p>
          <a:p>
            <a:pPr marL="457200" lvl="0" indent="-330200" algn="just"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Electronics: Channels, TVC</a:t>
            </a:r>
            <a:endParaRPr sz="1600" dirty="0">
              <a:solidFill>
                <a:schemeClr val="dk1"/>
              </a:solidFill>
              <a:latin typeface="Lato"/>
              <a:ea typeface="Lato"/>
              <a:cs typeface="Lato"/>
              <a:sym typeface="Lato"/>
            </a:endParaRPr>
          </a:p>
          <a:p>
            <a:pPr marL="457200" lvl="0" indent="-330200" algn="just"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Online blogs and sites: Tech Cabal</a:t>
            </a:r>
            <a:endParaRPr sz="1600" dirty="0">
              <a:solidFill>
                <a:schemeClr val="dk1"/>
              </a:solidFill>
              <a:latin typeface="Lato"/>
              <a:ea typeface="Lato"/>
              <a:cs typeface="Lato"/>
              <a:sym typeface="Lato"/>
            </a:endParaRPr>
          </a:p>
          <a:p>
            <a:pPr marL="0" lvl="0" indent="0" algn="l" rtl="0">
              <a:spcBef>
                <a:spcPts val="0"/>
              </a:spcBef>
              <a:spcAft>
                <a:spcPts val="0"/>
              </a:spcAft>
              <a:buNone/>
            </a:pPr>
            <a:endParaRPr sz="1700" dirty="0">
              <a:solidFill>
                <a:schemeClr val="dk1"/>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grpSp>
        <p:nvGrpSpPr>
          <p:cNvPr id="570" name="Google Shape;570;p49"/>
          <p:cNvGrpSpPr/>
          <p:nvPr/>
        </p:nvGrpSpPr>
        <p:grpSpPr>
          <a:xfrm>
            <a:off x="9910844" y="5045076"/>
            <a:ext cx="2311056" cy="1847888"/>
            <a:chOff x="9283128" y="4713378"/>
            <a:chExt cx="2938779" cy="2331720"/>
          </a:xfrm>
        </p:grpSpPr>
        <p:sp>
          <p:nvSpPr>
            <p:cNvPr id="571" name="Google Shape;571;p49"/>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2" name="Google Shape;572;p49"/>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3" name="Google Shape;573;p49"/>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74" name="Google Shape;574;p49"/>
          <p:cNvGrpSpPr/>
          <p:nvPr/>
        </p:nvGrpSpPr>
        <p:grpSpPr>
          <a:xfrm>
            <a:off x="593050" y="6292875"/>
            <a:ext cx="11495400" cy="415590"/>
            <a:chOff x="593050" y="6292875"/>
            <a:chExt cx="11495400" cy="415590"/>
          </a:xfrm>
        </p:grpSpPr>
        <p:sp>
          <p:nvSpPr>
            <p:cNvPr id="575" name="Google Shape;575;p49"/>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76" name="Google Shape;576;p49"/>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77" name="Google Shape;577;p49"/>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78" name="Google Shape;578;p49"/>
          <p:cNvSpPr txBox="1"/>
          <p:nvPr/>
        </p:nvSpPr>
        <p:spPr>
          <a:xfrm>
            <a:off x="1914000" y="1623900"/>
            <a:ext cx="7655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500">
                <a:solidFill>
                  <a:schemeClr val="dk1"/>
                </a:solidFill>
                <a:latin typeface="Lato"/>
                <a:ea typeface="Lato"/>
                <a:cs typeface="Lato"/>
                <a:sym typeface="Lato"/>
              </a:rPr>
              <a:t>SUSTENANCE PHASE</a:t>
            </a:r>
            <a:endParaRPr sz="2500">
              <a:solidFill>
                <a:schemeClr val="dk1"/>
              </a:solidFill>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grpSp>
        <p:nvGrpSpPr>
          <p:cNvPr id="583" name="Google Shape;583;p50"/>
          <p:cNvGrpSpPr/>
          <p:nvPr/>
        </p:nvGrpSpPr>
        <p:grpSpPr>
          <a:xfrm>
            <a:off x="9910844" y="5045076"/>
            <a:ext cx="2311056" cy="1847888"/>
            <a:chOff x="9283128" y="4713378"/>
            <a:chExt cx="2938779" cy="2331720"/>
          </a:xfrm>
        </p:grpSpPr>
        <p:sp>
          <p:nvSpPr>
            <p:cNvPr id="584" name="Google Shape;584;p50"/>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5" name="Google Shape;585;p50"/>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6" name="Google Shape;586;p50"/>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87" name="Google Shape;587;p50"/>
          <p:cNvGrpSpPr/>
          <p:nvPr/>
        </p:nvGrpSpPr>
        <p:grpSpPr>
          <a:xfrm>
            <a:off x="593050" y="6292875"/>
            <a:ext cx="11495400" cy="415590"/>
            <a:chOff x="593050" y="6292875"/>
            <a:chExt cx="11495400" cy="415590"/>
          </a:xfrm>
        </p:grpSpPr>
        <p:sp>
          <p:nvSpPr>
            <p:cNvPr id="588" name="Google Shape;588;p50"/>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589" name="Google Shape;589;p50"/>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590" name="Google Shape;590;p50"/>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591" name="Google Shape;591;p50"/>
          <p:cNvSpPr txBox="1"/>
          <p:nvPr/>
        </p:nvSpPr>
        <p:spPr>
          <a:xfrm>
            <a:off x="586102" y="567325"/>
            <a:ext cx="7417800" cy="485400"/>
          </a:xfrm>
          <a:prstGeom prst="rect">
            <a:avLst/>
          </a:prstGeom>
          <a:noFill/>
          <a:ln>
            <a:noFill/>
          </a:ln>
        </p:spPr>
        <p:txBody>
          <a:bodyPr spcFirstLastPara="1" wrap="square" lIns="68575" tIns="34275" rIns="68575" bIns="34275" anchor="b" anchorCtr="0">
            <a:noAutofit/>
          </a:bodyPr>
          <a:lstStyle/>
          <a:p>
            <a:pPr marL="0" lvl="0" indent="0" algn="l" rtl="0">
              <a:spcBef>
                <a:spcPts val="0"/>
              </a:spcBef>
              <a:spcAft>
                <a:spcPts val="0"/>
              </a:spcAft>
              <a:buNone/>
            </a:pPr>
            <a:r>
              <a:rPr lang="en-US" sz="2200">
                <a:solidFill>
                  <a:schemeClr val="dk1"/>
                </a:solidFill>
                <a:latin typeface="Lato"/>
                <a:ea typeface="Lato"/>
                <a:cs typeface="Lato"/>
                <a:sym typeface="Lato"/>
              </a:rPr>
              <a:t>BUILDING PROFILE AND REPUTATIONAL STATURE</a:t>
            </a:r>
            <a:endParaRPr sz="1900">
              <a:solidFill>
                <a:srgbClr val="000000"/>
              </a:solidFill>
              <a:latin typeface="Lato"/>
              <a:ea typeface="Lato"/>
              <a:cs typeface="Lato"/>
              <a:sym typeface="Lato"/>
            </a:endParaRPr>
          </a:p>
        </p:txBody>
      </p:sp>
      <p:sp>
        <p:nvSpPr>
          <p:cNvPr id="592" name="Google Shape;592;p50"/>
          <p:cNvSpPr txBox="1"/>
          <p:nvPr/>
        </p:nvSpPr>
        <p:spPr>
          <a:xfrm>
            <a:off x="593050" y="1199625"/>
            <a:ext cx="10643100" cy="4145700"/>
          </a:xfrm>
          <a:prstGeom prst="rect">
            <a:avLst/>
          </a:prstGeom>
          <a:noFill/>
          <a:ln>
            <a:noFill/>
          </a:ln>
        </p:spPr>
        <p:txBody>
          <a:bodyPr spcFirstLastPara="1" wrap="square" lIns="68575" tIns="34275" rIns="68575" bIns="34275" anchor="t" anchorCtr="0">
            <a:noAutofit/>
          </a:bodyPr>
          <a:lstStyle/>
          <a:p>
            <a:pPr marL="0" lvl="0" indent="0" algn="l" rtl="0">
              <a:lnSpc>
                <a:spcPct val="120000"/>
              </a:lnSpc>
              <a:spcBef>
                <a:spcPts val="0"/>
              </a:spcBef>
              <a:spcAft>
                <a:spcPts val="0"/>
              </a:spcAft>
              <a:buNone/>
            </a:pPr>
            <a:r>
              <a:rPr lang="en-US" sz="1600">
                <a:solidFill>
                  <a:schemeClr val="dk1"/>
                </a:solidFill>
                <a:latin typeface="Lato"/>
                <a:ea typeface="Lato"/>
                <a:cs typeface="Lato"/>
                <a:sym typeface="Lato"/>
              </a:rPr>
              <a:t>This is needed to boost the confidence of prospects, partners and key stakeholders in the leadership of the brand  </a:t>
            </a:r>
            <a:endParaRPr sz="1600">
              <a:solidFill>
                <a:schemeClr val="dk1"/>
              </a:solidFill>
              <a:latin typeface="Lato"/>
              <a:ea typeface="Lato"/>
              <a:cs typeface="Lato"/>
              <a:sym typeface="Lato"/>
            </a:endParaRPr>
          </a:p>
          <a:p>
            <a:pPr marL="0" lvl="0" indent="0" algn="l" rtl="0">
              <a:lnSpc>
                <a:spcPct val="120000"/>
              </a:lnSpc>
              <a:spcBef>
                <a:spcPts val="0"/>
              </a:spcBef>
              <a:spcAft>
                <a:spcPts val="0"/>
              </a:spcAft>
              <a:buNone/>
            </a:pPr>
            <a:endParaRPr sz="1600">
              <a:solidFill>
                <a:schemeClr val="dk1"/>
              </a:solidFill>
              <a:latin typeface="Lato"/>
              <a:ea typeface="Lato"/>
              <a:cs typeface="Lato"/>
              <a:sym typeface="Lato"/>
            </a:endParaRPr>
          </a:p>
          <a:p>
            <a:pPr marL="0" lvl="0" indent="0" algn="l" rtl="0">
              <a:lnSpc>
                <a:spcPct val="120000"/>
              </a:lnSpc>
              <a:spcBef>
                <a:spcPts val="0"/>
              </a:spcBef>
              <a:spcAft>
                <a:spcPts val="0"/>
              </a:spcAft>
              <a:buNone/>
            </a:pPr>
            <a:r>
              <a:rPr lang="en-US" sz="1600" b="1">
                <a:solidFill>
                  <a:schemeClr val="dk1"/>
                </a:solidFill>
                <a:latin typeface="Lato"/>
                <a:ea typeface="Lato"/>
                <a:cs typeface="Lato"/>
                <a:sym typeface="Lato"/>
              </a:rPr>
              <a:t>Long Term Outlook</a:t>
            </a:r>
            <a:endParaRPr sz="1600" b="1">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Be media-friendly and accessible</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Lead conversations around tech/innovation industry issues in the media</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Position as Thought-Leader across key sectors by sharing knowledge via special reports</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Lead discussion and set agenda in areas </a:t>
            </a:r>
            <a:endParaRPr sz="1600">
              <a:solidFill>
                <a:schemeClr val="dk1"/>
              </a:solidFill>
              <a:latin typeface="Lato"/>
              <a:ea typeface="Lato"/>
              <a:cs typeface="Lato"/>
              <a:sym typeface="Lato"/>
            </a:endParaRPr>
          </a:p>
          <a:p>
            <a:pPr marL="0" lvl="0" indent="0" algn="l" rtl="0">
              <a:lnSpc>
                <a:spcPct val="120000"/>
              </a:lnSpc>
              <a:spcBef>
                <a:spcPts val="0"/>
              </a:spcBef>
              <a:spcAft>
                <a:spcPts val="0"/>
              </a:spcAft>
              <a:buNone/>
            </a:pPr>
            <a:r>
              <a:rPr lang="en-US" sz="1600" b="1">
                <a:solidFill>
                  <a:schemeClr val="dk1"/>
                </a:solidFill>
                <a:latin typeface="Lato"/>
                <a:ea typeface="Lato"/>
                <a:cs typeface="Lato"/>
                <a:sym typeface="Lato"/>
              </a:rPr>
              <a:t>Activities</a:t>
            </a:r>
            <a:r>
              <a:rPr lang="en-US" sz="1600">
                <a:solidFill>
                  <a:schemeClr val="dk1"/>
                </a:solidFill>
                <a:latin typeface="Lato"/>
                <a:ea typeface="Lato"/>
                <a:cs typeface="Lato"/>
                <a:sym typeface="Lato"/>
              </a:rPr>
              <a:t>:</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Special reports</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Events and conferences</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CSR engagements</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Third party media </a:t>
            </a:r>
            <a:endParaRPr sz="1600">
              <a:solidFill>
                <a:schemeClr val="dk1"/>
              </a:solidFill>
              <a:latin typeface="Lato"/>
              <a:ea typeface="Lato"/>
              <a:cs typeface="Lato"/>
              <a:sym typeface="Lato"/>
            </a:endParaRPr>
          </a:p>
          <a:p>
            <a:pPr marL="457200" lvl="0" indent="-330200" algn="l" rtl="0">
              <a:lnSpc>
                <a:spcPct val="120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Milestone leveraging</a:t>
            </a:r>
            <a:endParaRPr>
              <a:solidFill>
                <a:schemeClr val="dk1"/>
              </a:solidFill>
              <a:latin typeface="Lato"/>
              <a:ea typeface="Lato"/>
              <a:cs typeface="Lato"/>
              <a:sym typeface="La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grpSp>
        <p:nvGrpSpPr>
          <p:cNvPr id="597" name="Google Shape;597;p51"/>
          <p:cNvGrpSpPr/>
          <p:nvPr/>
        </p:nvGrpSpPr>
        <p:grpSpPr>
          <a:xfrm>
            <a:off x="9910844" y="5045076"/>
            <a:ext cx="2311056" cy="1847888"/>
            <a:chOff x="9283128" y="4713378"/>
            <a:chExt cx="2938779" cy="2331720"/>
          </a:xfrm>
        </p:grpSpPr>
        <p:sp>
          <p:nvSpPr>
            <p:cNvPr id="598" name="Google Shape;598;p51"/>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9" name="Google Shape;599;p51"/>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0" name="Google Shape;600;p51"/>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01" name="Google Shape;601;p51"/>
          <p:cNvGrpSpPr/>
          <p:nvPr/>
        </p:nvGrpSpPr>
        <p:grpSpPr>
          <a:xfrm>
            <a:off x="593050" y="6292875"/>
            <a:ext cx="11495400" cy="415590"/>
            <a:chOff x="593050" y="6292875"/>
            <a:chExt cx="11495400" cy="415590"/>
          </a:xfrm>
        </p:grpSpPr>
        <p:sp>
          <p:nvSpPr>
            <p:cNvPr id="602" name="Google Shape;602;p51"/>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03" name="Google Shape;603;p51"/>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04" name="Google Shape;604;p51"/>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05" name="Google Shape;605;p51"/>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CONNECTING WITH YOUTHS</a:t>
            </a:r>
            <a:endParaRPr sz="2000">
              <a:solidFill>
                <a:schemeClr val="dk1"/>
              </a:solidFill>
              <a:latin typeface="Lato"/>
              <a:ea typeface="Lato"/>
              <a:cs typeface="Lato"/>
              <a:sym typeface="Lato"/>
            </a:endParaRPr>
          </a:p>
        </p:txBody>
      </p:sp>
      <p:sp>
        <p:nvSpPr>
          <p:cNvPr id="606" name="Google Shape;606;p51"/>
          <p:cNvSpPr txBox="1"/>
          <p:nvPr/>
        </p:nvSpPr>
        <p:spPr>
          <a:xfrm>
            <a:off x="891150" y="1394850"/>
            <a:ext cx="4391100" cy="48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Connecting via Wifi </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Set up a 2-hour free-wifi access in public places including universities, Ilorin Mall, Major Motor Parks (student populated) and Gov office. </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We will promote this “free Wifi” initiative on key Radio Stations in and around Ilorin metropolitan. </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To access the 2-hour free-wifi, the banner/page showing information on the Hub will appear for 30” seconds</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This will be used to create more awareness about the Hub. </a:t>
            </a:r>
            <a:endParaRPr sz="1800">
              <a:solidFill>
                <a:schemeClr val="dk1"/>
              </a:solidFill>
              <a:latin typeface="Lato"/>
              <a:ea typeface="Lato"/>
              <a:cs typeface="Lato"/>
              <a:sym typeface="La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grpSp>
        <p:nvGrpSpPr>
          <p:cNvPr id="611" name="Google Shape;611;p52"/>
          <p:cNvGrpSpPr/>
          <p:nvPr/>
        </p:nvGrpSpPr>
        <p:grpSpPr>
          <a:xfrm>
            <a:off x="9910844" y="5045076"/>
            <a:ext cx="2311056" cy="1847888"/>
            <a:chOff x="9283128" y="4713378"/>
            <a:chExt cx="2938779" cy="2331720"/>
          </a:xfrm>
        </p:grpSpPr>
        <p:sp>
          <p:nvSpPr>
            <p:cNvPr id="612" name="Google Shape;612;p52"/>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3" name="Google Shape;613;p52"/>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4" name="Google Shape;614;p52"/>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15" name="Google Shape;615;p52"/>
          <p:cNvGrpSpPr/>
          <p:nvPr/>
        </p:nvGrpSpPr>
        <p:grpSpPr>
          <a:xfrm>
            <a:off x="593050" y="6292875"/>
            <a:ext cx="11495400" cy="415590"/>
            <a:chOff x="593050" y="6292875"/>
            <a:chExt cx="11495400" cy="415590"/>
          </a:xfrm>
        </p:grpSpPr>
        <p:sp>
          <p:nvSpPr>
            <p:cNvPr id="616" name="Google Shape;616;p52"/>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17" name="Google Shape;617;p52"/>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18" name="Google Shape;618;p52"/>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19" name="Google Shape;619;p52"/>
          <p:cNvSpPr txBox="1"/>
          <p:nvPr/>
        </p:nvSpPr>
        <p:spPr>
          <a:xfrm>
            <a:off x="346176" y="567322"/>
            <a:ext cx="6326100" cy="5115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None/>
            </a:pPr>
            <a:r>
              <a:rPr lang="en-US" sz="2200">
                <a:latin typeface="Lato"/>
                <a:ea typeface="Lato"/>
                <a:cs typeface="Lato"/>
                <a:sym typeface="Lato"/>
              </a:rPr>
              <a:t>SPECIAL REPORTS</a:t>
            </a:r>
            <a:endParaRPr sz="3200">
              <a:solidFill>
                <a:srgbClr val="000000"/>
              </a:solidFill>
              <a:latin typeface="Calibri"/>
              <a:ea typeface="Calibri"/>
              <a:cs typeface="Calibri"/>
              <a:sym typeface="Calibri"/>
            </a:endParaRPr>
          </a:p>
        </p:txBody>
      </p:sp>
      <p:sp>
        <p:nvSpPr>
          <p:cNvPr id="620" name="Google Shape;620;p52"/>
          <p:cNvSpPr txBox="1"/>
          <p:nvPr/>
        </p:nvSpPr>
        <p:spPr>
          <a:xfrm>
            <a:off x="557275" y="1701233"/>
            <a:ext cx="11205000" cy="3857700"/>
          </a:xfrm>
          <a:prstGeom prst="rect">
            <a:avLst/>
          </a:prstGeom>
          <a:noFill/>
          <a:ln>
            <a:noFill/>
          </a:ln>
        </p:spPr>
        <p:txBody>
          <a:bodyPr spcFirstLastPara="1" wrap="square" lIns="91425" tIns="91425" rIns="91425" bIns="91425" anchor="t" anchorCtr="0">
            <a:noAutofit/>
          </a:bodyPr>
          <a:lstStyle/>
          <a:p>
            <a:pPr marL="177800" lvl="0" indent="-2032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Agency will work with the team to put together a Quarterly report that evaluates some key areas</a:t>
            </a:r>
            <a:endParaRPr sz="1800">
              <a:solidFill>
                <a:schemeClr val="dk1"/>
              </a:solidFill>
              <a:latin typeface="Lato"/>
              <a:ea typeface="Lato"/>
              <a:cs typeface="Lato"/>
              <a:sym typeface="Lato"/>
            </a:endParaRPr>
          </a:p>
          <a:p>
            <a:pPr marL="177800" lvl="0" indent="-203200" algn="l"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The report  will  be chronicling  data  on  trends, perceptions, challenges and prospects within the identified market sectors.</a:t>
            </a:r>
            <a:endParaRPr sz="1800">
              <a:solidFill>
                <a:schemeClr val="dk1"/>
              </a:solidFill>
              <a:latin typeface="Lato"/>
              <a:ea typeface="Lato"/>
              <a:cs typeface="Lato"/>
              <a:sym typeface="Lato"/>
            </a:endParaRPr>
          </a:p>
          <a:p>
            <a:pPr marL="177800" lvl="0" indent="-203200" algn="just"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Agency will generate content from the report to highlight untapped areas of opportunities for media publications with reference to Ilorin innovation hub</a:t>
            </a:r>
            <a:endParaRPr sz="1800">
              <a:solidFill>
                <a:schemeClr val="dk1"/>
              </a:solidFill>
              <a:latin typeface="Lato"/>
              <a:ea typeface="Lato"/>
              <a:cs typeface="Lato"/>
              <a:sym typeface="Lato"/>
            </a:endParaRPr>
          </a:p>
          <a:p>
            <a:pPr marL="177800" lvl="0" indent="-203200" algn="just" rtl="0">
              <a:lnSpc>
                <a:spcPct val="115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Releasing quarterly data/infographics on market intelligence gathered through research.</a:t>
            </a:r>
            <a:endParaRPr sz="1800">
              <a:solidFill>
                <a:schemeClr val="dk1"/>
              </a:solidFill>
              <a:latin typeface="Lato"/>
              <a:ea typeface="Lato"/>
              <a:cs typeface="Lato"/>
              <a:sym typeface="Lato"/>
            </a:endParaRPr>
          </a:p>
          <a:p>
            <a:pPr marL="0" lvl="0" indent="0" algn="just" rtl="0">
              <a:lnSpc>
                <a:spcPct val="115000"/>
              </a:lnSpc>
              <a:spcBef>
                <a:spcPts val="0"/>
              </a:spcBef>
              <a:spcAft>
                <a:spcPts val="0"/>
              </a:spcAft>
              <a:buNone/>
            </a:pPr>
            <a:endParaRPr sz="1800">
              <a:solidFill>
                <a:schemeClr val="dk1"/>
              </a:solidFill>
              <a:latin typeface="Lato"/>
              <a:ea typeface="Lato"/>
              <a:cs typeface="Lato"/>
              <a:sym typeface="Lato"/>
            </a:endParaRPr>
          </a:p>
          <a:p>
            <a:pPr marL="0" lvl="0" indent="0" algn="just" rtl="0">
              <a:lnSpc>
                <a:spcPct val="115000"/>
              </a:lnSpc>
              <a:spcBef>
                <a:spcPts val="0"/>
              </a:spcBef>
              <a:spcAft>
                <a:spcPts val="0"/>
              </a:spcAft>
              <a:buNone/>
            </a:pPr>
            <a:r>
              <a:rPr lang="en-US" sz="1800">
                <a:solidFill>
                  <a:schemeClr val="dk1"/>
                </a:solidFill>
                <a:latin typeface="Lato"/>
                <a:ea typeface="Lato"/>
                <a:cs typeface="Lato"/>
                <a:sym typeface="Lato"/>
              </a:rPr>
              <a:t>To increase media output, the report distribution will be targeted at key media platforms across mainstream and online (Local &amp; International) </a:t>
            </a:r>
            <a:endParaRPr>
              <a:solidFill>
                <a:schemeClr val="dk1"/>
              </a:solidFill>
              <a:latin typeface="Lato"/>
              <a:ea typeface="Lato"/>
              <a:cs typeface="Lato"/>
              <a:sym typeface="La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grpSp>
        <p:nvGrpSpPr>
          <p:cNvPr id="625" name="Google Shape;625;p53"/>
          <p:cNvGrpSpPr/>
          <p:nvPr/>
        </p:nvGrpSpPr>
        <p:grpSpPr>
          <a:xfrm>
            <a:off x="9910844" y="5045076"/>
            <a:ext cx="2311056" cy="1847888"/>
            <a:chOff x="9283128" y="4713378"/>
            <a:chExt cx="2938779" cy="2331720"/>
          </a:xfrm>
        </p:grpSpPr>
        <p:sp>
          <p:nvSpPr>
            <p:cNvPr id="626" name="Google Shape;626;p53"/>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7" name="Google Shape;627;p53"/>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8" name="Google Shape;628;p53"/>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29" name="Google Shape;629;p53"/>
          <p:cNvGrpSpPr/>
          <p:nvPr/>
        </p:nvGrpSpPr>
        <p:grpSpPr>
          <a:xfrm>
            <a:off x="593050" y="6292875"/>
            <a:ext cx="11495400" cy="415590"/>
            <a:chOff x="593050" y="6292875"/>
            <a:chExt cx="11495400" cy="415590"/>
          </a:xfrm>
        </p:grpSpPr>
        <p:sp>
          <p:nvSpPr>
            <p:cNvPr id="630" name="Google Shape;630;p53"/>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31" name="Google Shape;631;p53"/>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32" name="Google Shape;632;p53"/>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33" name="Google Shape;633;p53"/>
          <p:cNvSpPr txBox="1"/>
          <p:nvPr/>
        </p:nvSpPr>
        <p:spPr>
          <a:xfrm>
            <a:off x="346176" y="567322"/>
            <a:ext cx="6326100" cy="5115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None/>
            </a:pPr>
            <a:r>
              <a:rPr lang="en-US" sz="2200">
                <a:latin typeface="Lato"/>
                <a:ea typeface="Lato"/>
                <a:cs typeface="Lato"/>
                <a:sym typeface="Lato"/>
              </a:rPr>
              <a:t>ANNUAL EVENT &amp; CONFERENCES</a:t>
            </a:r>
            <a:endParaRPr sz="3200">
              <a:solidFill>
                <a:srgbClr val="000000"/>
              </a:solidFill>
              <a:latin typeface="Calibri"/>
              <a:ea typeface="Calibri"/>
              <a:cs typeface="Calibri"/>
              <a:sym typeface="Calibri"/>
            </a:endParaRPr>
          </a:p>
        </p:txBody>
      </p:sp>
      <p:sp>
        <p:nvSpPr>
          <p:cNvPr id="634" name="Google Shape;634;p53"/>
          <p:cNvSpPr txBox="1"/>
          <p:nvPr/>
        </p:nvSpPr>
        <p:spPr>
          <a:xfrm>
            <a:off x="557275" y="2006033"/>
            <a:ext cx="11205000" cy="3857700"/>
          </a:xfrm>
          <a:prstGeom prst="rect">
            <a:avLst/>
          </a:prstGeom>
          <a:noFill/>
          <a:ln>
            <a:noFill/>
          </a:ln>
        </p:spPr>
        <p:txBody>
          <a:bodyPr spcFirstLastPara="1" wrap="square" lIns="91425" tIns="91425" rIns="91425" bIns="91425" anchor="t" anchorCtr="0">
            <a:noAutofit/>
          </a:bodyPr>
          <a:lstStyle/>
          <a:p>
            <a:pPr marL="457200" marR="0" lvl="0" indent="-349250" algn="l" rtl="0">
              <a:lnSpc>
                <a:spcPct val="115000"/>
              </a:lnSpc>
              <a:spcBef>
                <a:spcPts val="0"/>
              </a:spcBef>
              <a:spcAft>
                <a:spcPts val="0"/>
              </a:spcAft>
              <a:buClr>
                <a:schemeClr val="dk1"/>
              </a:buClr>
              <a:buSzPts val="1500"/>
              <a:buFont typeface="Lato"/>
              <a:buChar char="●"/>
            </a:pPr>
            <a:r>
              <a:rPr lang="en-US" sz="1800" dirty="0">
                <a:solidFill>
                  <a:schemeClr val="dk1"/>
                </a:solidFill>
                <a:latin typeface="Lato"/>
                <a:ea typeface="Lato"/>
                <a:cs typeface="Lato"/>
                <a:sym typeface="Lato"/>
              </a:rPr>
              <a:t>Host a bi-annual event to bring together industry experts, government, universities to collaborate and share ideas and educate the general public on topics within the context of reaching more people and creating collaboration and networking.</a:t>
            </a:r>
            <a:endParaRPr sz="1800" dirty="0">
              <a:solidFill>
                <a:schemeClr val="dk1"/>
              </a:solidFill>
              <a:latin typeface="Lato"/>
              <a:ea typeface="Lato"/>
              <a:cs typeface="Lato"/>
              <a:sym typeface="Lato"/>
            </a:endParaRPr>
          </a:p>
          <a:p>
            <a:pPr marL="457200" marR="0" lvl="0" indent="-349250" algn="l" rtl="0">
              <a:lnSpc>
                <a:spcPct val="115000"/>
              </a:lnSpc>
              <a:spcBef>
                <a:spcPts val="0"/>
              </a:spcBef>
              <a:spcAft>
                <a:spcPts val="0"/>
              </a:spcAft>
              <a:buClr>
                <a:schemeClr val="dk1"/>
              </a:buClr>
              <a:buSzPts val="1500"/>
              <a:buFont typeface="Lato"/>
              <a:buChar char="●"/>
            </a:pPr>
            <a:r>
              <a:rPr lang="en-US" sz="1800" dirty="0">
                <a:solidFill>
                  <a:schemeClr val="dk1"/>
                </a:solidFill>
                <a:latin typeface="Lato"/>
                <a:ea typeface="Lato"/>
                <a:cs typeface="Lato"/>
                <a:sym typeface="Lato"/>
              </a:rPr>
              <a:t>E-Government Hackathon in partnership with FMCIDE &amp; Devs in Government Community</a:t>
            </a:r>
            <a:endParaRPr sz="1800" dirty="0">
              <a:solidFill>
                <a:schemeClr val="dk1"/>
              </a:solidFill>
              <a:latin typeface="Lato"/>
              <a:ea typeface="Lato"/>
              <a:cs typeface="Lato"/>
              <a:sym typeface="Lato"/>
            </a:endParaRPr>
          </a:p>
          <a:p>
            <a:pPr marL="457200" marR="0" lvl="0" indent="-349250" algn="l" rtl="0">
              <a:lnSpc>
                <a:spcPct val="115000"/>
              </a:lnSpc>
              <a:spcBef>
                <a:spcPts val="0"/>
              </a:spcBef>
              <a:spcAft>
                <a:spcPts val="0"/>
              </a:spcAft>
              <a:buClr>
                <a:schemeClr val="dk1"/>
              </a:buClr>
              <a:buSzPts val="1500"/>
              <a:buFont typeface="Lato"/>
              <a:buChar char="●"/>
            </a:pPr>
            <a:r>
              <a:rPr lang="en-US" sz="1800" dirty="0">
                <a:solidFill>
                  <a:schemeClr val="dk1"/>
                </a:solidFill>
                <a:latin typeface="Lato"/>
                <a:ea typeface="Lato"/>
                <a:cs typeface="Lato"/>
                <a:sym typeface="Lato"/>
              </a:rPr>
              <a:t>A webinar version will take place simultaneously to reach more people</a:t>
            </a:r>
            <a:endParaRPr sz="1800" dirty="0">
              <a:solidFill>
                <a:schemeClr val="dk1"/>
              </a:solidFill>
              <a:latin typeface="Lato"/>
              <a:ea typeface="Lato"/>
              <a:cs typeface="Lato"/>
              <a:sym typeface="Lato"/>
            </a:endParaRPr>
          </a:p>
          <a:p>
            <a:pPr marL="0" marR="0" lvl="0" indent="0" algn="l" rtl="0">
              <a:lnSpc>
                <a:spcPct val="115000"/>
              </a:lnSpc>
              <a:spcBef>
                <a:spcPts val="0"/>
              </a:spcBef>
              <a:spcAft>
                <a:spcPts val="0"/>
              </a:spcAft>
              <a:buNone/>
            </a:pPr>
            <a:endParaRPr sz="1800" dirty="0">
              <a:solidFill>
                <a:schemeClr val="dk1"/>
              </a:solidFill>
              <a:latin typeface="Lato"/>
              <a:ea typeface="Lato"/>
              <a:cs typeface="Lato"/>
              <a:sym typeface="Lato"/>
            </a:endParaRPr>
          </a:p>
          <a:p>
            <a:pPr marL="457200" marR="0" lvl="0" indent="-342900" algn="l" rtl="0">
              <a:lnSpc>
                <a:spcPct val="115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Events will be milked for content in print and online newspapers and online blogs using:</a:t>
            </a:r>
            <a:endParaRPr sz="1800" dirty="0">
              <a:solidFill>
                <a:schemeClr val="dk1"/>
              </a:solidFill>
              <a:latin typeface="Lato"/>
              <a:ea typeface="Lato"/>
              <a:cs typeface="Lato"/>
              <a:sym typeface="Lato"/>
            </a:endParaRPr>
          </a:p>
          <a:p>
            <a:pPr marL="0" marR="0" lvl="0" indent="0" algn="l" rtl="0">
              <a:lnSpc>
                <a:spcPct val="115000"/>
              </a:lnSpc>
              <a:spcBef>
                <a:spcPts val="0"/>
              </a:spcBef>
              <a:spcAft>
                <a:spcPts val="0"/>
              </a:spcAft>
              <a:buNone/>
            </a:pPr>
            <a:r>
              <a:rPr lang="en-US" sz="1800" dirty="0">
                <a:solidFill>
                  <a:schemeClr val="dk1"/>
                </a:solidFill>
                <a:latin typeface="Lato"/>
                <a:ea typeface="Lato"/>
                <a:cs typeface="Lato"/>
                <a:sym typeface="Lato"/>
              </a:rPr>
              <a:t>Press releases</a:t>
            </a:r>
            <a:endParaRPr sz="1800" dirty="0">
              <a:solidFill>
                <a:schemeClr val="dk1"/>
              </a:solidFill>
              <a:latin typeface="Lato"/>
              <a:ea typeface="Lato"/>
              <a:cs typeface="Lato"/>
              <a:sym typeface="Lato"/>
            </a:endParaRPr>
          </a:p>
          <a:p>
            <a:pPr marL="0" marR="0" lvl="0" indent="0" algn="l" rtl="0">
              <a:lnSpc>
                <a:spcPct val="115000"/>
              </a:lnSpc>
              <a:spcBef>
                <a:spcPts val="0"/>
              </a:spcBef>
              <a:spcAft>
                <a:spcPts val="0"/>
              </a:spcAft>
              <a:buNone/>
            </a:pPr>
            <a:r>
              <a:rPr lang="en-US" sz="1800" dirty="0">
                <a:solidFill>
                  <a:schemeClr val="dk1"/>
                </a:solidFill>
                <a:latin typeface="Lato"/>
                <a:ea typeface="Lato"/>
                <a:cs typeface="Lato"/>
                <a:sym typeface="Lato"/>
              </a:rPr>
              <a:t>Feature articles</a:t>
            </a:r>
            <a:endParaRPr sz="1800" dirty="0">
              <a:solidFill>
                <a:schemeClr val="dk1"/>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grpSp>
        <p:nvGrpSpPr>
          <p:cNvPr id="639" name="Google Shape;639;p54"/>
          <p:cNvGrpSpPr/>
          <p:nvPr/>
        </p:nvGrpSpPr>
        <p:grpSpPr>
          <a:xfrm>
            <a:off x="9910844" y="5045076"/>
            <a:ext cx="2311056" cy="1847888"/>
            <a:chOff x="9283128" y="4713378"/>
            <a:chExt cx="2938779" cy="2331720"/>
          </a:xfrm>
        </p:grpSpPr>
        <p:sp>
          <p:nvSpPr>
            <p:cNvPr id="640" name="Google Shape;640;p54"/>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41" name="Google Shape;641;p54"/>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42" name="Google Shape;642;p54"/>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43" name="Google Shape;643;p54"/>
          <p:cNvGrpSpPr/>
          <p:nvPr/>
        </p:nvGrpSpPr>
        <p:grpSpPr>
          <a:xfrm>
            <a:off x="593050" y="6292875"/>
            <a:ext cx="11495400" cy="415590"/>
            <a:chOff x="593050" y="6292875"/>
            <a:chExt cx="11495400" cy="415590"/>
          </a:xfrm>
        </p:grpSpPr>
        <p:sp>
          <p:nvSpPr>
            <p:cNvPr id="644" name="Google Shape;644;p54"/>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45" name="Google Shape;645;p54"/>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46" name="Google Shape;646;p54"/>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47" name="Google Shape;647;p54"/>
          <p:cNvSpPr txBox="1"/>
          <p:nvPr/>
        </p:nvSpPr>
        <p:spPr>
          <a:xfrm>
            <a:off x="4180187" y="2053525"/>
            <a:ext cx="3883200" cy="40782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1800">
                <a:solidFill>
                  <a:schemeClr val="dk1"/>
                </a:solidFill>
                <a:latin typeface="Lato"/>
                <a:ea typeface="Lato"/>
                <a:cs typeface="Lato"/>
                <a:sym typeface="Lato"/>
              </a:rPr>
              <a:t>Leverage Media Loyalty Group to drive:</a:t>
            </a:r>
            <a:endParaRPr sz="1800">
              <a:solidFill>
                <a:schemeClr val="dk1"/>
              </a:solidFill>
              <a:latin typeface="Lato"/>
              <a:ea typeface="Lato"/>
              <a:cs typeface="Lato"/>
              <a:sym typeface="Lato"/>
            </a:endParaRPr>
          </a:p>
          <a:p>
            <a:pPr marL="0" lvl="0" indent="0" algn="l" rtl="0">
              <a:lnSpc>
                <a:spcPct val="90000"/>
              </a:lnSpc>
              <a:spcBef>
                <a:spcPts val="0"/>
              </a:spcBef>
              <a:spcAft>
                <a:spcPts val="0"/>
              </a:spcAft>
              <a:buNone/>
            </a:pPr>
            <a:endParaRPr sz="1800">
              <a:solidFill>
                <a:schemeClr val="dk1"/>
              </a:solidFill>
              <a:latin typeface="Lato"/>
              <a:ea typeface="Lato"/>
              <a:cs typeface="Lato"/>
              <a:sym typeface="Lato"/>
            </a:endParaRPr>
          </a:p>
          <a:p>
            <a:pPr marL="457200" lvl="0" indent="-342900" algn="l" rtl="0">
              <a:lnSpc>
                <a:spcPct val="90000"/>
              </a:lnSpc>
              <a:spcBef>
                <a:spcPts val="400"/>
              </a:spcBef>
              <a:spcAft>
                <a:spcPts val="0"/>
              </a:spcAft>
              <a:buClr>
                <a:schemeClr val="dk1"/>
              </a:buClr>
              <a:buSzPts val="1800"/>
              <a:buFont typeface="Lato"/>
              <a:buChar char="●"/>
            </a:pPr>
            <a:r>
              <a:rPr lang="en-US" sz="1800">
                <a:solidFill>
                  <a:schemeClr val="dk1"/>
                </a:solidFill>
                <a:latin typeface="Lato"/>
                <a:ea typeface="Lato"/>
                <a:cs typeface="Lato"/>
                <a:sym typeface="Lato"/>
              </a:rPr>
              <a:t>Stories on the impact of the hub’s services and activities on individuals, the community as well as socio-economic development</a:t>
            </a:r>
            <a:endParaRPr sz="1800">
              <a:solidFill>
                <a:schemeClr val="dk1"/>
              </a:solidFill>
              <a:latin typeface="Lato"/>
              <a:ea typeface="Lato"/>
              <a:cs typeface="Lato"/>
              <a:sym typeface="Lato"/>
            </a:endParaRPr>
          </a:p>
          <a:p>
            <a:pPr marL="457200" lvl="0" indent="-342900" algn="l" rtl="0">
              <a:lnSpc>
                <a:spcPct val="90000"/>
              </a:lnSpc>
              <a:spcBef>
                <a:spcPts val="400"/>
              </a:spcBef>
              <a:spcAft>
                <a:spcPts val="0"/>
              </a:spcAft>
              <a:buClr>
                <a:schemeClr val="dk1"/>
              </a:buClr>
              <a:buSzPts val="1800"/>
              <a:buFont typeface="Lato"/>
              <a:buChar char="●"/>
            </a:pPr>
            <a:r>
              <a:rPr lang="en-US" sz="1800">
                <a:solidFill>
                  <a:schemeClr val="dk1"/>
                </a:solidFill>
                <a:latin typeface="Lato"/>
                <a:ea typeface="Lato"/>
                <a:cs typeface="Lato"/>
                <a:sym typeface="Lato"/>
              </a:rPr>
              <a:t>Human angle success stories</a:t>
            </a:r>
            <a:endParaRPr sz="1600">
              <a:solidFill>
                <a:schemeClr val="dk1"/>
              </a:solidFill>
              <a:latin typeface="Lato"/>
              <a:ea typeface="Lato"/>
              <a:cs typeface="Lato"/>
              <a:sym typeface="Lato"/>
            </a:endParaRPr>
          </a:p>
        </p:txBody>
      </p:sp>
      <p:sp>
        <p:nvSpPr>
          <p:cNvPr id="648" name="Google Shape;648;p54"/>
          <p:cNvSpPr txBox="1"/>
          <p:nvPr/>
        </p:nvSpPr>
        <p:spPr>
          <a:xfrm>
            <a:off x="297050" y="2053525"/>
            <a:ext cx="3883200" cy="40782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1800" dirty="0">
                <a:solidFill>
                  <a:schemeClr val="dk1"/>
                </a:solidFill>
                <a:latin typeface="Lato"/>
                <a:ea typeface="Lato"/>
                <a:cs typeface="Lato"/>
                <a:sym typeface="Lato"/>
              </a:rPr>
              <a:t>Demonstrate commitment to the social and economic development of host community and Nigeria at large and command endearment towards the brand</a:t>
            </a:r>
            <a:endParaRPr sz="1800" dirty="0">
              <a:solidFill>
                <a:schemeClr val="dk1"/>
              </a:solidFill>
              <a:latin typeface="Lato"/>
              <a:ea typeface="Lato"/>
              <a:cs typeface="Lato"/>
              <a:sym typeface="Lato"/>
            </a:endParaRPr>
          </a:p>
          <a:p>
            <a:pPr marL="177800" lvl="0" indent="-190500" algn="l" rtl="0">
              <a:lnSpc>
                <a:spcPct val="90000"/>
              </a:lnSpc>
              <a:spcBef>
                <a:spcPts val="800"/>
              </a:spcBef>
              <a:spcAft>
                <a:spcPts val="0"/>
              </a:spcAft>
              <a:buClr>
                <a:schemeClr val="dk1"/>
              </a:buClr>
              <a:buSzPts val="1800"/>
              <a:buFont typeface="Lato"/>
              <a:buChar char="•"/>
            </a:pPr>
            <a:r>
              <a:rPr lang="en-US" sz="1800" dirty="0">
                <a:solidFill>
                  <a:schemeClr val="dk1"/>
                </a:solidFill>
                <a:latin typeface="Lato"/>
                <a:ea typeface="Lato"/>
                <a:cs typeface="Lato"/>
                <a:sym typeface="Lato"/>
              </a:rPr>
              <a:t>Programmes will be built around </a:t>
            </a:r>
            <a:r>
              <a:rPr lang="en-US" sz="1800" dirty="0" err="1">
                <a:solidFill>
                  <a:schemeClr val="dk1"/>
                </a:solidFill>
                <a:latin typeface="Lato"/>
                <a:ea typeface="Lato"/>
                <a:cs typeface="Lato"/>
                <a:sym typeface="Lato"/>
              </a:rPr>
              <a:t>AgriTech</a:t>
            </a:r>
            <a:r>
              <a:rPr lang="en-US" sz="1800" dirty="0">
                <a:solidFill>
                  <a:schemeClr val="dk1"/>
                </a:solidFill>
                <a:latin typeface="Lato"/>
                <a:ea typeface="Lato"/>
                <a:cs typeface="Lato"/>
                <a:sym typeface="Lato"/>
              </a:rPr>
              <a:t>, </a:t>
            </a:r>
            <a:r>
              <a:rPr lang="en-US" sz="1800" dirty="0" err="1">
                <a:solidFill>
                  <a:schemeClr val="dk1"/>
                </a:solidFill>
                <a:latin typeface="Lato"/>
                <a:ea typeface="Lato"/>
                <a:cs typeface="Lato"/>
                <a:sym typeface="Lato"/>
              </a:rPr>
              <a:t>EduTech</a:t>
            </a:r>
            <a:r>
              <a:rPr lang="en-US" sz="1800" dirty="0">
                <a:solidFill>
                  <a:schemeClr val="dk1"/>
                </a:solidFill>
                <a:latin typeface="Lato"/>
                <a:ea typeface="Lato"/>
                <a:cs typeface="Lato"/>
                <a:sym typeface="Lato"/>
              </a:rPr>
              <a:t>, </a:t>
            </a:r>
            <a:r>
              <a:rPr lang="en-US" sz="1800" dirty="0" err="1">
                <a:solidFill>
                  <a:schemeClr val="dk1"/>
                </a:solidFill>
                <a:latin typeface="Lato"/>
                <a:ea typeface="Lato"/>
                <a:cs typeface="Lato"/>
                <a:sym typeface="Lato"/>
              </a:rPr>
              <a:t>HealthTech</a:t>
            </a:r>
            <a:r>
              <a:rPr lang="en-US" sz="1800" dirty="0">
                <a:solidFill>
                  <a:schemeClr val="dk1"/>
                </a:solidFill>
                <a:latin typeface="Lato"/>
                <a:ea typeface="Lato"/>
                <a:cs typeface="Lato"/>
                <a:sym typeface="Lato"/>
              </a:rPr>
              <a:t> development:</a:t>
            </a:r>
            <a:endParaRPr sz="1800" dirty="0">
              <a:solidFill>
                <a:schemeClr val="dk1"/>
              </a:solidFill>
              <a:latin typeface="Lato"/>
              <a:ea typeface="Lato"/>
              <a:cs typeface="Lato"/>
              <a:sym typeface="Lato"/>
            </a:endParaRPr>
          </a:p>
          <a:p>
            <a:pPr marL="520700" lvl="1" indent="-190500" algn="l" rtl="0">
              <a:lnSpc>
                <a:spcPct val="90000"/>
              </a:lnSpc>
              <a:spcBef>
                <a:spcPts val="400"/>
              </a:spcBef>
              <a:spcAft>
                <a:spcPts val="0"/>
              </a:spcAft>
              <a:buClr>
                <a:schemeClr val="dk1"/>
              </a:buClr>
              <a:buSzPts val="1800"/>
              <a:buFont typeface="Lato"/>
              <a:buChar char="•"/>
            </a:pPr>
            <a:r>
              <a:rPr lang="en-US" sz="1800" dirty="0">
                <a:solidFill>
                  <a:schemeClr val="dk1"/>
                </a:solidFill>
                <a:latin typeface="Lato"/>
                <a:ea typeface="Lato"/>
                <a:cs typeface="Lato"/>
                <a:sym typeface="Lato"/>
              </a:rPr>
              <a:t>Capacity building programmes in technology</a:t>
            </a:r>
            <a:endParaRPr sz="1800" dirty="0">
              <a:solidFill>
                <a:schemeClr val="dk1"/>
              </a:solidFill>
              <a:latin typeface="Lato"/>
              <a:ea typeface="Lato"/>
              <a:cs typeface="Lato"/>
              <a:sym typeface="Lato"/>
            </a:endParaRPr>
          </a:p>
          <a:p>
            <a:pPr marL="520700" lvl="1" indent="-190500" algn="l" rtl="0">
              <a:lnSpc>
                <a:spcPct val="90000"/>
              </a:lnSpc>
              <a:spcBef>
                <a:spcPts val="400"/>
              </a:spcBef>
              <a:spcAft>
                <a:spcPts val="0"/>
              </a:spcAft>
              <a:buClr>
                <a:schemeClr val="dk1"/>
              </a:buClr>
              <a:buSzPts val="1800"/>
              <a:buFont typeface="Lato"/>
              <a:buChar char="•"/>
            </a:pPr>
            <a:r>
              <a:rPr lang="en-US" sz="1800" dirty="0">
                <a:solidFill>
                  <a:schemeClr val="dk1"/>
                </a:solidFill>
                <a:latin typeface="Lato"/>
                <a:ea typeface="Lato"/>
                <a:cs typeface="Lato"/>
                <a:sym typeface="Lato"/>
              </a:rPr>
              <a:t>Annual Hackathon</a:t>
            </a:r>
            <a:endParaRPr sz="1600" dirty="0">
              <a:solidFill>
                <a:schemeClr val="dk1"/>
              </a:solidFill>
              <a:latin typeface="Lato"/>
              <a:ea typeface="Lato"/>
              <a:cs typeface="Lato"/>
              <a:sym typeface="Lato"/>
            </a:endParaRPr>
          </a:p>
        </p:txBody>
      </p:sp>
      <p:sp>
        <p:nvSpPr>
          <p:cNvPr id="649" name="Google Shape;649;p54"/>
          <p:cNvSpPr txBox="1"/>
          <p:nvPr/>
        </p:nvSpPr>
        <p:spPr>
          <a:xfrm>
            <a:off x="4180186" y="1374150"/>
            <a:ext cx="23949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Third Party Media</a:t>
            </a:r>
            <a:endParaRPr sz="1600" b="1">
              <a:solidFill>
                <a:schemeClr val="dk1"/>
              </a:solidFill>
              <a:latin typeface="Lato"/>
              <a:ea typeface="Lato"/>
              <a:cs typeface="Lato"/>
              <a:sym typeface="Lato"/>
            </a:endParaRPr>
          </a:p>
        </p:txBody>
      </p:sp>
      <p:sp>
        <p:nvSpPr>
          <p:cNvPr id="650" name="Google Shape;650;p54"/>
          <p:cNvSpPr txBox="1"/>
          <p:nvPr/>
        </p:nvSpPr>
        <p:spPr>
          <a:xfrm>
            <a:off x="543273" y="1374150"/>
            <a:ext cx="31893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CSR Engagement</a:t>
            </a:r>
            <a:endParaRPr sz="1600" b="1">
              <a:solidFill>
                <a:schemeClr val="dk1"/>
              </a:solidFill>
              <a:latin typeface="Lato"/>
              <a:ea typeface="Lato"/>
              <a:cs typeface="Lato"/>
              <a:sym typeface="Lato"/>
            </a:endParaRPr>
          </a:p>
        </p:txBody>
      </p:sp>
      <p:sp>
        <p:nvSpPr>
          <p:cNvPr id="651" name="Google Shape;651;p54"/>
          <p:cNvSpPr txBox="1"/>
          <p:nvPr/>
        </p:nvSpPr>
        <p:spPr>
          <a:xfrm>
            <a:off x="8063325" y="2053525"/>
            <a:ext cx="3883200" cy="40782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1800" dirty="0">
                <a:solidFill>
                  <a:schemeClr val="dk1"/>
                </a:solidFill>
                <a:latin typeface="Lato"/>
                <a:ea typeface="Lato"/>
                <a:cs typeface="Lato"/>
                <a:sym typeface="Lato"/>
              </a:rPr>
              <a:t>Leverage the positive developments surrounding he hub in the media such as:</a:t>
            </a:r>
            <a:endParaRPr sz="1800" dirty="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New partnerships</a:t>
            </a:r>
            <a:endParaRPr sz="1800" dirty="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Awards</a:t>
            </a:r>
            <a:endParaRPr sz="1800" dirty="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This will be leveraged via:</a:t>
            </a:r>
            <a:endParaRPr sz="1800" dirty="0">
              <a:solidFill>
                <a:schemeClr val="dk1"/>
              </a:solidFill>
              <a:latin typeface="Lato"/>
              <a:ea typeface="Lato"/>
              <a:cs typeface="Lato"/>
              <a:sym typeface="Lato"/>
            </a:endParaRPr>
          </a:p>
          <a:p>
            <a:pPr marL="914400" lvl="1"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Press releases</a:t>
            </a:r>
            <a:endParaRPr sz="1800" dirty="0">
              <a:solidFill>
                <a:schemeClr val="dk1"/>
              </a:solidFill>
              <a:latin typeface="Lato"/>
              <a:ea typeface="Lato"/>
              <a:cs typeface="Lato"/>
              <a:sym typeface="Lato"/>
            </a:endParaRPr>
          </a:p>
          <a:p>
            <a:pPr marL="914400" lvl="1"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Feature articles</a:t>
            </a:r>
            <a:endParaRPr sz="1800" dirty="0">
              <a:solidFill>
                <a:schemeClr val="dk1"/>
              </a:solidFill>
              <a:latin typeface="Lato"/>
              <a:ea typeface="Lato"/>
              <a:cs typeface="Lato"/>
              <a:sym typeface="Lato"/>
            </a:endParaRPr>
          </a:p>
          <a:p>
            <a:pPr marL="914400" lvl="1"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Interviews</a:t>
            </a:r>
            <a:endParaRPr sz="1800" dirty="0">
              <a:solidFill>
                <a:schemeClr val="dk1"/>
              </a:solidFill>
              <a:latin typeface="Lato"/>
              <a:ea typeface="Lato"/>
              <a:cs typeface="Lato"/>
              <a:sym typeface="Lato"/>
            </a:endParaRPr>
          </a:p>
          <a:p>
            <a:pPr marL="914400" lvl="1"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Photo stories where applicable</a:t>
            </a:r>
            <a:endParaRPr sz="1600" dirty="0">
              <a:solidFill>
                <a:schemeClr val="dk1"/>
              </a:solidFill>
              <a:latin typeface="Lato"/>
              <a:ea typeface="Lato"/>
              <a:cs typeface="Lato"/>
              <a:sym typeface="Lato"/>
            </a:endParaRPr>
          </a:p>
        </p:txBody>
      </p:sp>
      <p:sp>
        <p:nvSpPr>
          <p:cNvPr id="652" name="Google Shape;652;p54"/>
          <p:cNvSpPr txBox="1"/>
          <p:nvPr/>
        </p:nvSpPr>
        <p:spPr>
          <a:xfrm>
            <a:off x="8063377" y="1374150"/>
            <a:ext cx="23949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chemeClr val="dk1"/>
                </a:solidFill>
                <a:latin typeface="Lato"/>
                <a:ea typeface="Lato"/>
                <a:cs typeface="Lato"/>
                <a:sym typeface="Lato"/>
              </a:rPr>
              <a:t>Milestone Leveraging</a:t>
            </a:r>
            <a:endParaRPr sz="1600" b="1">
              <a:solidFill>
                <a:schemeClr val="dk1"/>
              </a:solidFill>
              <a:latin typeface="Lato"/>
              <a:ea typeface="Lato"/>
              <a:cs typeface="Lato"/>
              <a:sym typeface="La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grpSp>
        <p:nvGrpSpPr>
          <p:cNvPr id="657" name="Google Shape;657;p55"/>
          <p:cNvGrpSpPr/>
          <p:nvPr/>
        </p:nvGrpSpPr>
        <p:grpSpPr>
          <a:xfrm>
            <a:off x="9910844" y="5045076"/>
            <a:ext cx="2311056" cy="1847888"/>
            <a:chOff x="9283128" y="4713378"/>
            <a:chExt cx="2938779" cy="2331720"/>
          </a:xfrm>
        </p:grpSpPr>
        <p:sp>
          <p:nvSpPr>
            <p:cNvPr id="658" name="Google Shape;658;p55"/>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9" name="Google Shape;659;p55"/>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0" name="Google Shape;660;p55"/>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61" name="Google Shape;661;p55"/>
          <p:cNvGrpSpPr/>
          <p:nvPr/>
        </p:nvGrpSpPr>
        <p:grpSpPr>
          <a:xfrm>
            <a:off x="593050" y="6292875"/>
            <a:ext cx="11495400" cy="415590"/>
            <a:chOff x="593050" y="6292875"/>
            <a:chExt cx="11495400" cy="415590"/>
          </a:xfrm>
        </p:grpSpPr>
        <p:sp>
          <p:nvSpPr>
            <p:cNvPr id="662" name="Google Shape;662;p55"/>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63" name="Google Shape;663;p55"/>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64" name="Google Shape;664;p55"/>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65" name="Google Shape;665;p55"/>
          <p:cNvSpPr txBox="1"/>
          <p:nvPr/>
        </p:nvSpPr>
        <p:spPr>
          <a:xfrm>
            <a:off x="311700" y="292625"/>
            <a:ext cx="10892400" cy="7179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US" sz="2200">
                <a:solidFill>
                  <a:schemeClr val="dk1"/>
                </a:solidFill>
                <a:latin typeface="Lato"/>
                <a:ea typeface="Lato"/>
                <a:cs typeface="Lato"/>
                <a:sym typeface="Lato"/>
              </a:rPr>
              <a:t>BUILDING A TECH COMMUNITY</a:t>
            </a:r>
            <a:endParaRPr sz="2200">
              <a:solidFill>
                <a:schemeClr val="dk1"/>
              </a:solidFill>
              <a:latin typeface="Lato"/>
              <a:ea typeface="Lato"/>
              <a:cs typeface="Lato"/>
              <a:sym typeface="Lato"/>
            </a:endParaRPr>
          </a:p>
        </p:txBody>
      </p:sp>
      <p:sp>
        <p:nvSpPr>
          <p:cNvPr id="666" name="Google Shape;666;p55"/>
          <p:cNvSpPr txBox="1"/>
          <p:nvPr/>
        </p:nvSpPr>
        <p:spPr>
          <a:xfrm>
            <a:off x="311700" y="1275031"/>
            <a:ext cx="10892400" cy="4282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67"/>
              </a:spcBef>
              <a:spcAft>
                <a:spcPts val="0"/>
              </a:spcAft>
              <a:buNone/>
            </a:pPr>
            <a:r>
              <a:rPr lang="en-US" sz="1800" dirty="0">
                <a:solidFill>
                  <a:schemeClr val="dk1"/>
                </a:solidFill>
                <a:latin typeface="Lato"/>
                <a:ea typeface="Lato"/>
                <a:cs typeface="Lato"/>
                <a:sym typeface="Lato"/>
              </a:rPr>
              <a:t>Start a community made up with members from across the key stakeholders. This will serve as a community loyalty group for the hub</a:t>
            </a:r>
            <a:endParaRPr sz="1800" b="1" dirty="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dirty="0">
                <a:solidFill>
                  <a:schemeClr val="dk1"/>
                </a:solidFill>
                <a:latin typeface="Lato"/>
                <a:ea typeface="Lato"/>
                <a:cs typeface="Lato"/>
                <a:sym typeface="Lato"/>
              </a:rPr>
              <a:t>It will serve as a place for sharing information and brainstorming for forward thinkers.</a:t>
            </a:r>
            <a:endParaRPr sz="1800" dirty="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dirty="0">
                <a:solidFill>
                  <a:schemeClr val="dk1"/>
                </a:solidFill>
                <a:latin typeface="Lato"/>
                <a:ea typeface="Lato"/>
                <a:cs typeface="Lato"/>
                <a:sym typeface="Lato"/>
              </a:rPr>
              <a:t>Regular interaction within this community will be used to;</a:t>
            </a:r>
            <a:endParaRPr sz="1800" dirty="0">
              <a:solidFill>
                <a:schemeClr val="dk1"/>
              </a:solidFill>
              <a:latin typeface="Lato"/>
              <a:ea typeface="Lato"/>
              <a:cs typeface="Lato"/>
              <a:sym typeface="Lato"/>
            </a:endParaRPr>
          </a:p>
          <a:p>
            <a:pPr marL="457200" lvl="0" indent="-342900" algn="l" rtl="0">
              <a:lnSpc>
                <a:spcPct val="90000"/>
              </a:lnSpc>
              <a:spcBef>
                <a:spcPts val="1067"/>
              </a:spcBef>
              <a:spcAft>
                <a:spcPts val="0"/>
              </a:spcAft>
              <a:buClr>
                <a:schemeClr val="dk1"/>
              </a:buClr>
              <a:buSzPts val="1800"/>
              <a:buFont typeface="Lato"/>
              <a:buChar char="●"/>
            </a:pPr>
            <a:r>
              <a:rPr lang="en-US" sz="1800" dirty="0">
                <a:solidFill>
                  <a:schemeClr val="dk1"/>
                </a:solidFill>
                <a:latin typeface="Lato"/>
                <a:ea typeface="Lato"/>
                <a:cs typeface="Lato"/>
                <a:sym typeface="Lato"/>
              </a:rPr>
              <a:t>Disperse important news beyond the circle of the community far reaching into the innovation ecosystem</a:t>
            </a:r>
            <a:endParaRPr sz="1800" dirty="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Exchange ideas on industry trends</a:t>
            </a:r>
            <a:endParaRPr sz="1800" dirty="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Proactively assist with attracting new members </a:t>
            </a:r>
            <a:endParaRPr sz="1800" dirty="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Build credibility and trust in Ilorin hub as the best source to learn and launch new ideas</a:t>
            </a:r>
          </a:p>
          <a:p>
            <a:pPr marL="457200" lvl="0" indent="-342900" algn="l" rtl="0">
              <a:lnSpc>
                <a:spcPct val="90000"/>
              </a:lnSpc>
              <a:spcBef>
                <a:spcPts val="0"/>
              </a:spcBef>
              <a:spcAft>
                <a:spcPts val="0"/>
              </a:spcAft>
              <a:buClr>
                <a:schemeClr val="dk1"/>
              </a:buClr>
              <a:buSzPts val="1800"/>
              <a:buFont typeface="Lato"/>
              <a:buChar char="●"/>
            </a:pPr>
            <a:r>
              <a:rPr lang="en-US" sz="1800" dirty="0">
                <a:solidFill>
                  <a:schemeClr val="dk1"/>
                </a:solidFill>
                <a:latin typeface="Lato"/>
                <a:ea typeface="Lato"/>
                <a:cs typeface="Lato"/>
                <a:sym typeface="Lato"/>
              </a:rPr>
              <a:t>Launch community platform with news, events, courses and social interaction</a:t>
            </a:r>
            <a:endParaRPr sz="1800" dirty="0">
              <a:solidFill>
                <a:schemeClr val="dk1"/>
              </a:solidFill>
              <a:latin typeface="Lato"/>
              <a:ea typeface="Lato"/>
              <a:cs typeface="Lato"/>
              <a:sym typeface="Lato"/>
            </a:endParaRPr>
          </a:p>
          <a:p>
            <a:pPr marL="0" lvl="0" indent="0" algn="l" rtl="0">
              <a:lnSpc>
                <a:spcPct val="90000"/>
              </a:lnSpc>
              <a:spcBef>
                <a:spcPts val="1067"/>
              </a:spcBef>
              <a:spcAft>
                <a:spcPts val="0"/>
              </a:spcAft>
              <a:buNone/>
            </a:pPr>
            <a:endParaRPr sz="1800" dirty="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dirty="0">
                <a:solidFill>
                  <a:schemeClr val="dk1"/>
                </a:solidFill>
                <a:latin typeface="Lato"/>
                <a:ea typeface="Lato"/>
                <a:cs typeface="Lato"/>
                <a:sym typeface="Lato"/>
              </a:rPr>
              <a:t>“BUILD A COMMUNITY SERIES” or “TECH-TRIBE” as a monthly article series</a:t>
            </a:r>
            <a:endParaRPr sz="1800" dirty="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dirty="0">
                <a:solidFill>
                  <a:schemeClr val="dk1"/>
                </a:solidFill>
                <a:latin typeface="Lato"/>
                <a:ea typeface="Lato"/>
                <a:cs typeface="Lato"/>
                <a:sym typeface="Lato"/>
              </a:rPr>
              <a:t>To give industry related news, pass info about opportunities for startups and young graduates, new areas of focus in the ecosystem</a:t>
            </a:r>
            <a:endParaRPr sz="1800" dirty="0">
              <a:solidFill>
                <a:schemeClr val="dk1"/>
              </a:solidFill>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grpSp>
        <p:nvGrpSpPr>
          <p:cNvPr id="671" name="Google Shape;671;p56"/>
          <p:cNvGrpSpPr/>
          <p:nvPr/>
        </p:nvGrpSpPr>
        <p:grpSpPr>
          <a:xfrm>
            <a:off x="9910844" y="5045076"/>
            <a:ext cx="2311056" cy="1847888"/>
            <a:chOff x="9283128" y="4713378"/>
            <a:chExt cx="2938779" cy="2331720"/>
          </a:xfrm>
        </p:grpSpPr>
        <p:sp>
          <p:nvSpPr>
            <p:cNvPr id="672" name="Google Shape;672;p56"/>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3" name="Google Shape;673;p56"/>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4" name="Google Shape;674;p56"/>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75" name="Google Shape;675;p56"/>
          <p:cNvGrpSpPr/>
          <p:nvPr/>
        </p:nvGrpSpPr>
        <p:grpSpPr>
          <a:xfrm>
            <a:off x="593050" y="6292875"/>
            <a:ext cx="11495400" cy="415590"/>
            <a:chOff x="593050" y="6292875"/>
            <a:chExt cx="11495400" cy="415590"/>
          </a:xfrm>
        </p:grpSpPr>
        <p:sp>
          <p:nvSpPr>
            <p:cNvPr id="676" name="Google Shape;676;p56"/>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77" name="Google Shape;677;p56"/>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78" name="Google Shape;678;p56"/>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79" name="Google Shape;679;p56"/>
          <p:cNvSpPr txBox="1"/>
          <p:nvPr/>
        </p:nvSpPr>
        <p:spPr>
          <a:xfrm>
            <a:off x="311700" y="292625"/>
            <a:ext cx="10892400" cy="7179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US" sz="2200">
                <a:solidFill>
                  <a:schemeClr val="dk1"/>
                </a:solidFill>
                <a:latin typeface="Lato"/>
                <a:ea typeface="Lato"/>
                <a:cs typeface="Lato"/>
                <a:sym typeface="Lato"/>
              </a:rPr>
              <a:t>BUILDING A TECH COMMUNITY</a:t>
            </a:r>
            <a:endParaRPr sz="2200">
              <a:solidFill>
                <a:schemeClr val="dk1"/>
              </a:solidFill>
              <a:latin typeface="Lato"/>
              <a:ea typeface="Lato"/>
              <a:cs typeface="Lato"/>
              <a:sym typeface="Lato"/>
            </a:endParaRPr>
          </a:p>
        </p:txBody>
      </p:sp>
      <p:sp>
        <p:nvSpPr>
          <p:cNvPr id="680" name="Google Shape;680;p56"/>
          <p:cNvSpPr txBox="1"/>
          <p:nvPr/>
        </p:nvSpPr>
        <p:spPr>
          <a:xfrm>
            <a:off x="311700" y="1275031"/>
            <a:ext cx="10892400" cy="4282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1067"/>
              </a:spcBef>
              <a:spcAft>
                <a:spcPts val="0"/>
              </a:spcAft>
              <a:buNone/>
            </a:pPr>
            <a:r>
              <a:rPr lang="en-US" sz="1800">
                <a:solidFill>
                  <a:schemeClr val="dk1"/>
                </a:solidFill>
                <a:latin typeface="Lato"/>
                <a:ea typeface="Lato"/>
                <a:cs typeface="Lato"/>
                <a:sym typeface="Lato"/>
              </a:rPr>
              <a:t>This community can spread out to reach university and secondary school students, eg:</a:t>
            </a:r>
            <a:endParaRPr sz="1800">
              <a:solidFill>
                <a:schemeClr val="dk1"/>
              </a:solidFill>
              <a:latin typeface="Lato"/>
              <a:ea typeface="Lato"/>
              <a:cs typeface="Lato"/>
              <a:sym typeface="Lato"/>
            </a:endParaRPr>
          </a:p>
          <a:p>
            <a:pPr marL="0" lvl="0" indent="0" algn="l" rtl="0">
              <a:lnSpc>
                <a:spcPct val="90000"/>
              </a:lnSpc>
              <a:spcBef>
                <a:spcPts val="1067"/>
              </a:spcBef>
              <a:spcAft>
                <a:spcPts val="0"/>
              </a:spcAft>
              <a:buNone/>
            </a:pPr>
            <a:endParaRPr sz="1800">
              <a:solidFill>
                <a:schemeClr val="dk1"/>
              </a:solidFill>
              <a:latin typeface="Lato"/>
              <a:ea typeface="Lato"/>
              <a:cs typeface="Lato"/>
              <a:sym typeface="Lato"/>
            </a:endParaRPr>
          </a:p>
          <a:p>
            <a:pPr marL="457200" lvl="0" indent="-342900" algn="l" rtl="0">
              <a:lnSpc>
                <a:spcPct val="90000"/>
              </a:lnSpc>
              <a:spcBef>
                <a:spcPts val="1067"/>
              </a:spcBef>
              <a:spcAft>
                <a:spcPts val="0"/>
              </a:spcAft>
              <a:buClr>
                <a:schemeClr val="dk1"/>
              </a:buClr>
              <a:buSzPts val="1800"/>
              <a:buFont typeface="Lato"/>
              <a:buChar char="●"/>
            </a:pPr>
            <a:r>
              <a:rPr lang="en-US" sz="1800">
                <a:solidFill>
                  <a:schemeClr val="dk1"/>
                </a:solidFill>
                <a:latin typeface="Lato"/>
                <a:ea typeface="Lato"/>
                <a:cs typeface="Lato"/>
                <a:sym typeface="Lato"/>
              </a:rPr>
              <a:t>Collaborate with secondary schools in the region to create a new school club (tech club) for youngsters with deep interest in tech, highlighting how they can pursue their goals even though they are still in secondary school.</a:t>
            </a:r>
            <a:endParaRPr sz="1800">
              <a:solidFill>
                <a:schemeClr val="dk1"/>
              </a:solidFill>
              <a:latin typeface="Lato"/>
              <a:ea typeface="Lato"/>
              <a:cs typeface="Lato"/>
              <a:sym typeface="Lato"/>
            </a:endParaRPr>
          </a:p>
          <a:p>
            <a:pPr marL="457200" lvl="0" indent="-342900" algn="l" rtl="0">
              <a:lnSpc>
                <a:spcPct val="90000"/>
              </a:lnSpc>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Periodic competitions and games can be sponsored by the hub to give these young ones a stage</a:t>
            </a:r>
            <a:endParaRPr sz="180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a:solidFill>
                  <a:schemeClr val="dk1"/>
                </a:solidFill>
                <a:latin typeface="Lato"/>
                <a:ea typeface="Lato"/>
                <a:cs typeface="Lato"/>
                <a:sym typeface="Lato"/>
              </a:rPr>
              <a:t>Collaboration with universities for  undergraduates to also form a school club (Tech_UG) to form an alumni community for sustainability.</a:t>
            </a:r>
            <a:endParaRPr sz="180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a:solidFill>
                  <a:schemeClr val="dk1"/>
                </a:solidFill>
                <a:latin typeface="Lato"/>
                <a:ea typeface="Lato"/>
                <a:cs typeface="Lato"/>
                <a:sym typeface="Lato"/>
              </a:rPr>
              <a:t>All these different groups will also use the TECH-TRIBE websites for information and discussions with likeminds.</a:t>
            </a:r>
            <a:endParaRPr sz="1800">
              <a:solidFill>
                <a:schemeClr val="dk1"/>
              </a:solidFill>
              <a:latin typeface="Lato"/>
              <a:ea typeface="Lato"/>
              <a:cs typeface="Lato"/>
              <a:sym typeface="Lato"/>
            </a:endParaRPr>
          </a:p>
          <a:p>
            <a:pPr marL="0" lvl="0" indent="0" algn="l" rtl="0">
              <a:lnSpc>
                <a:spcPct val="90000"/>
              </a:lnSpc>
              <a:spcBef>
                <a:spcPts val="1067"/>
              </a:spcBef>
              <a:spcAft>
                <a:spcPts val="0"/>
              </a:spcAft>
              <a:buNone/>
            </a:pPr>
            <a:r>
              <a:rPr lang="en-US" sz="1800">
                <a:solidFill>
                  <a:schemeClr val="dk1"/>
                </a:solidFill>
                <a:latin typeface="Lato"/>
                <a:ea typeface="Lato"/>
                <a:cs typeface="Lato"/>
                <a:sym typeface="Lato"/>
              </a:rPr>
              <a:t>Contents for the monthly series can be drawn from issues raised from the community websites</a:t>
            </a:r>
            <a:endParaRPr sz="1800">
              <a:solidFill>
                <a:schemeClr val="dk1"/>
              </a:solidFill>
              <a:latin typeface="Lato"/>
              <a:ea typeface="Lato"/>
              <a:cs typeface="Lato"/>
              <a:sym typeface="La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grpSp>
        <p:nvGrpSpPr>
          <p:cNvPr id="685" name="Google Shape;685;p57"/>
          <p:cNvGrpSpPr/>
          <p:nvPr/>
        </p:nvGrpSpPr>
        <p:grpSpPr>
          <a:xfrm>
            <a:off x="9910844" y="5045076"/>
            <a:ext cx="2311056" cy="1847888"/>
            <a:chOff x="9283128" y="4713378"/>
            <a:chExt cx="2938779" cy="2331720"/>
          </a:xfrm>
        </p:grpSpPr>
        <p:sp>
          <p:nvSpPr>
            <p:cNvPr id="686" name="Google Shape;686;p57"/>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7" name="Google Shape;687;p57"/>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8" name="Google Shape;688;p57"/>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689" name="Google Shape;689;p57"/>
          <p:cNvGrpSpPr/>
          <p:nvPr/>
        </p:nvGrpSpPr>
        <p:grpSpPr>
          <a:xfrm>
            <a:off x="593050" y="6292875"/>
            <a:ext cx="11495400" cy="415590"/>
            <a:chOff x="593050" y="6292875"/>
            <a:chExt cx="11495400" cy="415590"/>
          </a:xfrm>
        </p:grpSpPr>
        <p:sp>
          <p:nvSpPr>
            <p:cNvPr id="690" name="Google Shape;690;p57"/>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691" name="Google Shape;691;p57"/>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692" name="Google Shape;692;p57"/>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693" name="Google Shape;693;p57"/>
          <p:cNvSpPr txBox="1"/>
          <p:nvPr/>
        </p:nvSpPr>
        <p:spPr>
          <a:xfrm>
            <a:off x="239375" y="2301725"/>
            <a:ext cx="76554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1"/>
                </a:solidFill>
                <a:latin typeface="Lato"/>
                <a:ea typeface="Lato"/>
                <a:cs typeface="Lato"/>
                <a:sym typeface="Lato"/>
              </a:rPr>
              <a:t>MARKETING PLAN</a:t>
            </a:r>
            <a:endParaRPr sz="2200">
              <a:solidFill>
                <a:schemeClr val="dk1"/>
              </a:solidFill>
              <a:latin typeface="Lato"/>
              <a:ea typeface="Lato"/>
              <a:cs typeface="Lato"/>
              <a:sym typeface="La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grpSp>
        <p:nvGrpSpPr>
          <p:cNvPr id="698" name="Google Shape;698;p58"/>
          <p:cNvGrpSpPr/>
          <p:nvPr/>
        </p:nvGrpSpPr>
        <p:grpSpPr>
          <a:xfrm>
            <a:off x="9910844" y="5045076"/>
            <a:ext cx="2311056" cy="1847888"/>
            <a:chOff x="9283128" y="4713378"/>
            <a:chExt cx="2938779" cy="2331720"/>
          </a:xfrm>
        </p:grpSpPr>
        <p:sp>
          <p:nvSpPr>
            <p:cNvPr id="699" name="Google Shape;699;p58"/>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0" name="Google Shape;700;p58"/>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1" name="Google Shape;701;p58"/>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02" name="Google Shape;702;p58"/>
          <p:cNvGrpSpPr/>
          <p:nvPr/>
        </p:nvGrpSpPr>
        <p:grpSpPr>
          <a:xfrm>
            <a:off x="593050" y="6292875"/>
            <a:ext cx="11495400" cy="415590"/>
            <a:chOff x="593050" y="6292875"/>
            <a:chExt cx="11495400" cy="415590"/>
          </a:xfrm>
        </p:grpSpPr>
        <p:sp>
          <p:nvSpPr>
            <p:cNvPr id="703" name="Google Shape;703;p58"/>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704" name="Google Shape;704;p58"/>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705" name="Google Shape;705;p58"/>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706" name="Google Shape;706;p58"/>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MARKETING FRAMEWORK</a:t>
            </a:r>
            <a:endParaRPr sz="2000">
              <a:solidFill>
                <a:schemeClr val="dk1"/>
              </a:solidFill>
              <a:latin typeface="Lato"/>
              <a:ea typeface="Lato"/>
              <a:cs typeface="Lato"/>
              <a:sym typeface="Lato"/>
            </a:endParaRPr>
          </a:p>
        </p:txBody>
      </p:sp>
      <p:sp>
        <p:nvSpPr>
          <p:cNvPr id="707" name="Google Shape;707;p58"/>
          <p:cNvSpPr/>
          <p:nvPr/>
        </p:nvSpPr>
        <p:spPr>
          <a:xfrm rot="-2700000">
            <a:off x="5209327" y="2548352"/>
            <a:ext cx="1764939" cy="1761120"/>
          </a:xfrm>
          <a:prstGeom prst="ellipse">
            <a:avLst/>
          </a:prstGeom>
          <a:solidFill>
            <a:srgbClr val="65F0AC"/>
          </a:solidFill>
          <a:ln>
            <a:noFill/>
          </a:ln>
        </p:spPr>
        <p:txBody>
          <a:bodyPr spcFirstLastPara="1" wrap="square" lIns="121900" tIns="60925" rIns="121900" bIns="60925" anchor="ctr" anchorCtr="0">
            <a:noAutofit/>
          </a:bodyPr>
          <a:lstStyle/>
          <a:p>
            <a:pPr marL="0" lvl="0" indent="0" algn="l" rtl="0">
              <a:spcBef>
                <a:spcPts val="0"/>
              </a:spcBef>
              <a:spcAft>
                <a:spcPts val="0"/>
              </a:spcAft>
              <a:buNone/>
            </a:pPr>
            <a:endParaRPr/>
          </a:p>
        </p:txBody>
      </p:sp>
      <p:grpSp>
        <p:nvGrpSpPr>
          <p:cNvPr id="708" name="Google Shape;708;p58"/>
          <p:cNvGrpSpPr/>
          <p:nvPr/>
        </p:nvGrpSpPr>
        <p:grpSpPr>
          <a:xfrm>
            <a:off x="2556514" y="1938156"/>
            <a:ext cx="3656143" cy="3556840"/>
            <a:chOff x="1917433" y="1453653"/>
            <a:chExt cx="2742176" cy="2667697"/>
          </a:xfrm>
        </p:grpSpPr>
        <p:sp>
          <p:nvSpPr>
            <p:cNvPr id="709" name="Google Shape;709;p58"/>
            <p:cNvSpPr/>
            <p:nvPr/>
          </p:nvSpPr>
          <p:spPr>
            <a:xfrm rot="-2700000">
              <a:off x="2440767" y="1711670"/>
              <a:ext cx="1621029" cy="2151664"/>
            </a:xfrm>
            <a:custGeom>
              <a:avLst/>
              <a:gdLst/>
              <a:ahLst/>
              <a:cxnLst/>
              <a:rect l="l" t="t" r="r" b="b"/>
              <a:pathLst>
                <a:path w="250" h="332" extrusionOk="0">
                  <a:moveTo>
                    <a:pt x="32" y="286"/>
                  </a:moveTo>
                  <a:cubicBezTo>
                    <a:pt x="32" y="157"/>
                    <a:pt x="127" y="49"/>
                    <a:pt x="250" y="29"/>
                  </a:cubicBezTo>
                  <a:cubicBezTo>
                    <a:pt x="245" y="19"/>
                    <a:pt x="239" y="9"/>
                    <a:pt x="232" y="0"/>
                  </a:cubicBezTo>
                  <a:cubicBezTo>
                    <a:pt x="100" y="28"/>
                    <a:pt x="0" y="145"/>
                    <a:pt x="0" y="286"/>
                  </a:cubicBezTo>
                  <a:cubicBezTo>
                    <a:pt x="0" y="302"/>
                    <a:pt x="1" y="317"/>
                    <a:pt x="3" y="332"/>
                  </a:cubicBezTo>
                  <a:cubicBezTo>
                    <a:pt x="13" y="325"/>
                    <a:pt x="23" y="319"/>
                    <a:pt x="33" y="314"/>
                  </a:cubicBezTo>
                  <a:cubicBezTo>
                    <a:pt x="33" y="305"/>
                    <a:pt x="32" y="296"/>
                    <a:pt x="32" y="286"/>
                  </a:cubicBezTo>
                  <a:close/>
                </a:path>
              </a:pathLst>
            </a:custGeom>
            <a:solidFill>
              <a:srgbClr val="65F0AC"/>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10" name="Google Shape;710;p58"/>
            <p:cNvSpPr/>
            <p:nvPr/>
          </p:nvSpPr>
          <p:spPr>
            <a:xfrm rot="-2700000">
              <a:off x="2689034" y="1771298"/>
              <a:ext cx="1575643" cy="1769691"/>
            </a:xfrm>
            <a:custGeom>
              <a:avLst/>
              <a:gdLst/>
              <a:ahLst/>
              <a:cxnLst/>
              <a:rect l="l" t="t" r="r" b="b"/>
              <a:pathLst>
                <a:path w="254" h="285" extrusionOk="0">
                  <a:moveTo>
                    <a:pt x="200" y="153"/>
                  </a:moveTo>
                  <a:cubicBezTo>
                    <a:pt x="217" y="143"/>
                    <a:pt x="236" y="137"/>
                    <a:pt x="254" y="136"/>
                  </a:cubicBezTo>
                  <a:cubicBezTo>
                    <a:pt x="253" y="87"/>
                    <a:pt x="240" y="41"/>
                    <a:pt x="218" y="0"/>
                  </a:cubicBezTo>
                  <a:cubicBezTo>
                    <a:pt x="95" y="20"/>
                    <a:pt x="0" y="128"/>
                    <a:pt x="0" y="257"/>
                  </a:cubicBezTo>
                  <a:cubicBezTo>
                    <a:pt x="0" y="267"/>
                    <a:pt x="1" y="276"/>
                    <a:pt x="1" y="285"/>
                  </a:cubicBezTo>
                  <a:cubicBezTo>
                    <a:pt x="43" y="263"/>
                    <a:pt x="90" y="251"/>
                    <a:pt x="140" y="250"/>
                  </a:cubicBezTo>
                  <a:cubicBezTo>
                    <a:pt x="142" y="211"/>
                    <a:pt x="164" y="174"/>
                    <a:pt x="200" y="153"/>
                  </a:cubicBezTo>
                  <a:close/>
                </a:path>
              </a:pathLst>
            </a:custGeom>
            <a:solidFill>
              <a:srgbClr val="0B713F"/>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11" name="Google Shape;711;p58"/>
            <p:cNvSpPr txBox="1"/>
            <p:nvPr/>
          </p:nvSpPr>
          <p:spPr>
            <a:xfrm rot="-5400000">
              <a:off x="2686908" y="2290153"/>
              <a:ext cx="1496100" cy="5631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FFFFFF"/>
                  </a:solidFill>
                  <a:latin typeface="Lato"/>
                  <a:ea typeface="Lato"/>
                  <a:cs typeface="Lato"/>
                  <a:sym typeface="Lato"/>
                </a:rPr>
                <a:t>Digital Marketing</a:t>
              </a:r>
              <a:endParaRPr sz="1600">
                <a:solidFill>
                  <a:srgbClr val="FFFFFF"/>
                </a:solidFill>
                <a:latin typeface="Lato"/>
                <a:ea typeface="Lato"/>
                <a:cs typeface="Lato"/>
                <a:sym typeface="Lato"/>
              </a:endParaRPr>
            </a:p>
          </p:txBody>
        </p:sp>
      </p:grpSp>
      <p:grpSp>
        <p:nvGrpSpPr>
          <p:cNvPr id="712" name="Google Shape;712;p58"/>
          <p:cNvGrpSpPr/>
          <p:nvPr/>
        </p:nvGrpSpPr>
        <p:grpSpPr>
          <a:xfrm>
            <a:off x="4601766" y="3306380"/>
            <a:ext cx="3558742" cy="3660847"/>
            <a:chOff x="3451411" y="2479847"/>
            <a:chExt cx="2669123" cy="2745704"/>
          </a:xfrm>
        </p:grpSpPr>
        <p:sp>
          <p:nvSpPr>
            <p:cNvPr id="713" name="Google Shape;713;p58"/>
            <p:cNvSpPr/>
            <p:nvPr/>
          </p:nvSpPr>
          <p:spPr>
            <a:xfrm rot="-2700000">
              <a:off x="3709147" y="3080460"/>
              <a:ext cx="2153650" cy="1621060"/>
            </a:xfrm>
            <a:custGeom>
              <a:avLst/>
              <a:gdLst/>
              <a:ahLst/>
              <a:cxnLst/>
              <a:rect l="l" t="t" r="r" b="b"/>
              <a:pathLst>
                <a:path w="333" h="250" extrusionOk="0">
                  <a:moveTo>
                    <a:pt x="287" y="218"/>
                  </a:moveTo>
                  <a:cubicBezTo>
                    <a:pt x="157" y="218"/>
                    <a:pt x="50" y="124"/>
                    <a:pt x="30" y="0"/>
                  </a:cubicBezTo>
                  <a:cubicBezTo>
                    <a:pt x="19" y="5"/>
                    <a:pt x="10" y="11"/>
                    <a:pt x="0" y="18"/>
                  </a:cubicBezTo>
                  <a:cubicBezTo>
                    <a:pt x="28" y="151"/>
                    <a:pt x="146" y="250"/>
                    <a:pt x="287" y="250"/>
                  </a:cubicBezTo>
                  <a:cubicBezTo>
                    <a:pt x="302" y="250"/>
                    <a:pt x="318" y="249"/>
                    <a:pt x="333" y="247"/>
                  </a:cubicBezTo>
                  <a:cubicBezTo>
                    <a:pt x="326" y="237"/>
                    <a:pt x="320" y="227"/>
                    <a:pt x="315" y="217"/>
                  </a:cubicBezTo>
                  <a:cubicBezTo>
                    <a:pt x="306" y="218"/>
                    <a:pt x="296" y="218"/>
                    <a:pt x="287" y="218"/>
                  </a:cubicBezTo>
                  <a:close/>
                </a:path>
              </a:pathLst>
            </a:custGeom>
            <a:solidFill>
              <a:srgbClr val="65F0AC"/>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14" name="Google Shape;714;p58"/>
            <p:cNvSpPr/>
            <p:nvPr/>
          </p:nvSpPr>
          <p:spPr>
            <a:xfrm rot="-2700000">
              <a:off x="3773733" y="2873178"/>
              <a:ext cx="1764275" cy="1573502"/>
            </a:xfrm>
            <a:custGeom>
              <a:avLst/>
              <a:gdLst/>
              <a:ahLst/>
              <a:cxnLst/>
              <a:rect l="l" t="t" r="r" b="b"/>
              <a:pathLst>
                <a:path w="285" h="254" extrusionOk="0">
                  <a:moveTo>
                    <a:pt x="152" y="54"/>
                  </a:moveTo>
                  <a:cubicBezTo>
                    <a:pt x="142" y="37"/>
                    <a:pt x="137" y="19"/>
                    <a:pt x="136" y="0"/>
                  </a:cubicBezTo>
                  <a:cubicBezTo>
                    <a:pt x="86" y="1"/>
                    <a:pt x="40" y="14"/>
                    <a:pt x="0" y="36"/>
                  </a:cubicBezTo>
                  <a:cubicBezTo>
                    <a:pt x="20" y="160"/>
                    <a:pt x="127" y="254"/>
                    <a:pt x="257" y="254"/>
                  </a:cubicBezTo>
                  <a:cubicBezTo>
                    <a:pt x="266" y="254"/>
                    <a:pt x="276" y="254"/>
                    <a:pt x="285" y="253"/>
                  </a:cubicBezTo>
                  <a:cubicBezTo>
                    <a:pt x="263" y="211"/>
                    <a:pt x="251" y="164"/>
                    <a:pt x="250" y="115"/>
                  </a:cubicBezTo>
                  <a:cubicBezTo>
                    <a:pt x="210" y="112"/>
                    <a:pt x="173" y="91"/>
                    <a:pt x="152" y="54"/>
                  </a:cubicBezTo>
                  <a:close/>
                </a:path>
              </a:pathLst>
            </a:custGeom>
            <a:solidFill>
              <a:srgbClr val="0B7743"/>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15" name="Google Shape;715;p58"/>
            <p:cNvSpPr txBox="1"/>
            <p:nvPr/>
          </p:nvSpPr>
          <p:spPr>
            <a:xfrm>
              <a:off x="3823936" y="3427182"/>
              <a:ext cx="1496100" cy="5631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FFFFFF"/>
                  </a:solidFill>
                  <a:latin typeface="Lato"/>
                  <a:ea typeface="Lato"/>
                  <a:cs typeface="Lato"/>
                  <a:sym typeface="Lato"/>
                </a:rPr>
                <a:t>Initiatives and partnerships</a:t>
              </a:r>
              <a:endParaRPr sz="1600">
                <a:solidFill>
                  <a:srgbClr val="FFFFFF"/>
                </a:solidFill>
                <a:latin typeface="Lato"/>
                <a:ea typeface="Lato"/>
                <a:cs typeface="Lato"/>
                <a:sym typeface="Lato"/>
              </a:endParaRPr>
            </a:p>
          </p:txBody>
        </p:sp>
      </p:grpSp>
      <p:grpSp>
        <p:nvGrpSpPr>
          <p:cNvPr id="716" name="Google Shape;716;p58"/>
          <p:cNvGrpSpPr/>
          <p:nvPr/>
        </p:nvGrpSpPr>
        <p:grpSpPr>
          <a:xfrm>
            <a:off x="5975489" y="1362704"/>
            <a:ext cx="3659653" cy="3553196"/>
            <a:chOff x="4481729" y="1022053"/>
            <a:chExt cx="2744808" cy="2664963"/>
          </a:xfrm>
        </p:grpSpPr>
        <p:sp>
          <p:nvSpPr>
            <p:cNvPr id="717" name="Google Shape;717;p58"/>
            <p:cNvSpPr/>
            <p:nvPr/>
          </p:nvSpPr>
          <p:spPr>
            <a:xfrm rot="-2700000">
              <a:off x="5085474" y="1278703"/>
              <a:ext cx="1617163" cy="2151664"/>
            </a:xfrm>
            <a:custGeom>
              <a:avLst/>
              <a:gdLst/>
              <a:ahLst/>
              <a:cxnLst/>
              <a:rect l="l" t="t" r="r" b="b"/>
              <a:pathLst>
                <a:path w="250" h="332" extrusionOk="0">
                  <a:moveTo>
                    <a:pt x="218" y="45"/>
                  </a:moveTo>
                  <a:cubicBezTo>
                    <a:pt x="218" y="175"/>
                    <a:pt x="123" y="282"/>
                    <a:pt x="0" y="303"/>
                  </a:cubicBezTo>
                  <a:cubicBezTo>
                    <a:pt x="5" y="313"/>
                    <a:pt x="11" y="323"/>
                    <a:pt x="18" y="332"/>
                  </a:cubicBezTo>
                  <a:cubicBezTo>
                    <a:pt x="150" y="304"/>
                    <a:pt x="250" y="186"/>
                    <a:pt x="250" y="45"/>
                  </a:cubicBezTo>
                  <a:cubicBezTo>
                    <a:pt x="250" y="30"/>
                    <a:pt x="248" y="15"/>
                    <a:pt x="246" y="0"/>
                  </a:cubicBezTo>
                  <a:cubicBezTo>
                    <a:pt x="237" y="6"/>
                    <a:pt x="226" y="12"/>
                    <a:pt x="216" y="18"/>
                  </a:cubicBezTo>
                  <a:cubicBezTo>
                    <a:pt x="217" y="27"/>
                    <a:pt x="218" y="36"/>
                    <a:pt x="218" y="45"/>
                  </a:cubicBezTo>
                  <a:close/>
                </a:path>
              </a:pathLst>
            </a:custGeom>
            <a:solidFill>
              <a:srgbClr val="65F0AC"/>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18" name="Google Shape;718;p58"/>
            <p:cNvSpPr/>
            <p:nvPr/>
          </p:nvSpPr>
          <p:spPr>
            <a:xfrm rot="-2700000">
              <a:off x="4874704" y="1604373"/>
              <a:ext cx="1579339" cy="1765685"/>
            </a:xfrm>
            <a:custGeom>
              <a:avLst/>
              <a:gdLst/>
              <a:ahLst/>
              <a:cxnLst/>
              <a:rect l="l" t="t" r="r" b="b"/>
              <a:pathLst>
                <a:path w="254" h="285" extrusionOk="0">
                  <a:moveTo>
                    <a:pt x="53" y="133"/>
                  </a:moveTo>
                  <a:cubicBezTo>
                    <a:pt x="37" y="142"/>
                    <a:pt x="18" y="148"/>
                    <a:pt x="0" y="149"/>
                  </a:cubicBezTo>
                  <a:cubicBezTo>
                    <a:pt x="1" y="198"/>
                    <a:pt x="14" y="244"/>
                    <a:pt x="36" y="285"/>
                  </a:cubicBezTo>
                  <a:cubicBezTo>
                    <a:pt x="159" y="264"/>
                    <a:pt x="254" y="157"/>
                    <a:pt x="254" y="27"/>
                  </a:cubicBezTo>
                  <a:cubicBezTo>
                    <a:pt x="254" y="18"/>
                    <a:pt x="253" y="9"/>
                    <a:pt x="252" y="0"/>
                  </a:cubicBezTo>
                  <a:cubicBezTo>
                    <a:pt x="211" y="21"/>
                    <a:pt x="164" y="34"/>
                    <a:pt x="114" y="34"/>
                  </a:cubicBezTo>
                  <a:cubicBezTo>
                    <a:pt x="112" y="74"/>
                    <a:pt x="90" y="111"/>
                    <a:pt x="53" y="133"/>
                  </a:cubicBezTo>
                  <a:close/>
                </a:path>
              </a:pathLst>
            </a:custGeom>
            <a:solidFill>
              <a:srgbClr val="0C8148"/>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19" name="Google Shape;719;p58"/>
            <p:cNvSpPr txBox="1"/>
            <p:nvPr/>
          </p:nvSpPr>
          <p:spPr>
            <a:xfrm rot="5400000">
              <a:off x="4960966" y="2290154"/>
              <a:ext cx="1496100" cy="5631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FFFFFF"/>
                  </a:solidFill>
                  <a:latin typeface="Lato"/>
                  <a:ea typeface="Lato"/>
                  <a:cs typeface="Lato"/>
                  <a:sym typeface="Lato"/>
                </a:rPr>
                <a:t>Events</a:t>
              </a:r>
              <a:endParaRPr sz="1600">
                <a:solidFill>
                  <a:srgbClr val="FFFFFF"/>
                </a:solidFill>
                <a:latin typeface="Lato"/>
                <a:ea typeface="Lato"/>
                <a:cs typeface="Lato"/>
                <a:sym typeface="Lato"/>
              </a:endParaRPr>
            </a:p>
          </p:txBody>
        </p:sp>
      </p:grpSp>
      <p:grpSp>
        <p:nvGrpSpPr>
          <p:cNvPr id="720" name="Google Shape;720;p58"/>
          <p:cNvGrpSpPr/>
          <p:nvPr/>
        </p:nvGrpSpPr>
        <p:grpSpPr>
          <a:xfrm>
            <a:off x="4034795" y="-102246"/>
            <a:ext cx="3539946" cy="3653352"/>
            <a:chOff x="3026172" y="-76686"/>
            <a:chExt cx="2655026" cy="2740082"/>
          </a:xfrm>
        </p:grpSpPr>
        <p:sp>
          <p:nvSpPr>
            <p:cNvPr id="721" name="Google Shape;721;p58"/>
            <p:cNvSpPr/>
            <p:nvPr/>
          </p:nvSpPr>
          <p:spPr>
            <a:xfrm rot="-2700000">
              <a:off x="3282650" y="444474"/>
              <a:ext cx="2142068" cy="1612705"/>
            </a:xfrm>
            <a:custGeom>
              <a:avLst/>
              <a:gdLst/>
              <a:ahLst/>
              <a:cxnLst/>
              <a:rect l="l" t="t" r="r" b="b"/>
              <a:pathLst>
                <a:path w="331" h="249" extrusionOk="0">
                  <a:moveTo>
                    <a:pt x="45" y="32"/>
                  </a:moveTo>
                  <a:cubicBezTo>
                    <a:pt x="174" y="32"/>
                    <a:pt x="281" y="126"/>
                    <a:pt x="302" y="249"/>
                  </a:cubicBezTo>
                  <a:cubicBezTo>
                    <a:pt x="312" y="244"/>
                    <a:pt x="322" y="238"/>
                    <a:pt x="331" y="231"/>
                  </a:cubicBezTo>
                  <a:cubicBezTo>
                    <a:pt x="303" y="99"/>
                    <a:pt x="186" y="0"/>
                    <a:pt x="45" y="0"/>
                  </a:cubicBezTo>
                  <a:cubicBezTo>
                    <a:pt x="29" y="0"/>
                    <a:pt x="14" y="1"/>
                    <a:pt x="0" y="3"/>
                  </a:cubicBezTo>
                  <a:cubicBezTo>
                    <a:pt x="6" y="13"/>
                    <a:pt x="12" y="23"/>
                    <a:pt x="17" y="33"/>
                  </a:cubicBezTo>
                  <a:cubicBezTo>
                    <a:pt x="26" y="32"/>
                    <a:pt x="36" y="32"/>
                    <a:pt x="45" y="32"/>
                  </a:cubicBezTo>
                  <a:close/>
                </a:path>
              </a:pathLst>
            </a:custGeom>
            <a:solidFill>
              <a:srgbClr val="65F0AC"/>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22" name="Google Shape;722;p58"/>
            <p:cNvSpPr/>
            <p:nvPr/>
          </p:nvSpPr>
          <p:spPr>
            <a:xfrm rot="-2700000">
              <a:off x="3599956" y="695260"/>
              <a:ext cx="1767975" cy="1573496"/>
            </a:xfrm>
            <a:custGeom>
              <a:avLst/>
              <a:gdLst/>
              <a:ahLst/>
              <a:cxnLst/>
              <a:rect l="l" t="t" r="r" b="b"/>
              <a:pathLst>
                <a:path w="285" h="253" extrusionOk="0">
                  <a:moveTo>
                    <a:pt x="28" y="0"/>
                  </a:moveTo>
                  <a:cubicBezTo>
                    <a:pt x="19" y="0"/>
                    <a:pt x="9" y="0"/>
                    <a:pt x="0" y="1"/>
                  </a:cubicBezTo>
                  <a:cubicBezTo>
                    <a:pt x="22" y="43"/>
                    <a:pt x="34" y="90"/>
                    <a:pt x="35" y="140"/>
                  </a:cubicBezTo>
                  <a:cubicBezTo>
                    <a:pt x="74" y="142"/>
                    <a:pt x="112" y="163"/>
                    <a:pt x="133" y="200"/>
                  </a:cubicBezTo>
                  <a:cubicBezTo>
                    <a:pt x="143" y="217"/>
                    <a:pt x="148" y="235"/>
                    <a:pt x="149" y="253"/>
                  </a:cubicBezTo>
                  <a:cubicBezTo>
                    <a:pt x="198" y="252"/>
                    <a:pt x="244" y="239"/>
                    <a:pt x="285" y="217"/>
                  </a:cubicBezTo>
                  <a:cubicBezTo>
                    <a:pt x="264" y="94"/>
                    <a:pt x="157" y="0"/>
                    <a:pt x="28" y="0"/>
                  </a:cubicBezTo>
                  <a:close/>
                </a:path>
              </a:pathLst>
            </a:custGeom>
            <a:solidFill>
              <a:srgbClr val="085630"/>
            </a:solidFill>
            <a:ln w="9525" cap="flat" cmpd="sng">
              <a:solidFill>
                <a:srgbClr val="FFFFFF"/>
              </a:solidFill>
              <a:prstDash val="solid"/>
              <a:miter lim="8000"/>
              <a:headEnd type="none" w="sm" len="sm"/>
              <a:tailEnd type="none" w="sm" len="sm"/>
            </a:ln>
          </p:spPr>
          <p:txBody>
            <a:bodyPr spcFirstLastPara="1" wrap="square" lIns="121900" tIns="60925" rIns="121900" bIns="60925" anchor="t" anchorCtr="0">
              <a:noAutofit/>
            </a:bodyPr>
            <a:lstStyle/>
            <a:p>
              <a:pPr marL="0" lvl="0" indent="0" algn="l" rtl="0">
                <a:spcBef>
                  <a:spcPts val="0"/>
                </a:spcBef>
                <a:spcAft>
                  <a:spcPts val="0"/>
                </a:spcAft>
                <a:buNone/>
              </a:pPr>
              <a:endParaRPr/>
            </a:p>
          </p:txBody>
        </p:sp>
        <p:sp>
          <p:nvSpPr>
            <p:cNvPr id="723" name="Google Shape;723;p58"/>
            <p:cNvSpPr txBox="1"/>
            <p:nvPr/>
          </p:nvSpPr>
          <p:spPr>
            <a:xfrm>
              <a:off x="3823913" y="1153125"/>
              <a:ext cx="1496100" cy="5631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FFFFFF"/>
                  </a:solidFill>
                  <a:latin typeface="Lato"/>
                  <a:ea typeface="Lato"/>
                  <a:cs typeface="Lato"/>
                  <a:sym typeface="Lato"/>
                </a:rPr>
                <a:t>Ad Campaign</a:t>
              </a:r>
              <a:endParaRPr sz="1600">
                <a:solidFill>
                  <a:srgbClr val="FFFFFF"/>
                </a:solidFill>
                <a:latin typeface="Lato"/>
                <a:ea typeface="Lato"/>
                <a:cs typeface="Lato"/>
                <a:sym typeface="Lato"/>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59"/>
          <p:cNvSpPr/>
          <p:nvPr/>
        </p:nvSpPr>
        <p:spPr>
          <a:xfrm>
            <a:off x="0" y="2208700"/>
            <a:ext cx="8040900" cy="1275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29" name="Google Shape;729;p59"/>
          <p:cNvGrpSpPr/>
          <p:nvPr/>
        </p:nvGrpSpPr>
        <p:grpSpPr>
          <a:xfrm>
            <a:off x="9910844" y="5045076"/>
            <a:ext cx="2311056" cy="1847888"/>
            <a:chOff x="9283128" y="4713378"/>
            <a:chExt cx="2938779" cy="2331720"/>
          </a:xfrm>
        </p:grpSpPr>
        <p:sp>
          <p:nvSpPr>
            <p:cNvPr id="730" name="Google Shape;730;p59"/>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1" name="Google Shape;731;p59"/>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2" name="Google Shape;732;p59"/>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33" name="Google Shape;733;p59"/>
          <p:cNvGrpSpPr/>
          <p:nvPr/>
        </p:nvGrpSpPr>
        <p:grpSpPr>
          <a:xfrm>
            <a:off x="593050" y="6292875"/>
            <a:ext cx="11495400" cy="415590"/>
            <a:chOff x="593050" y="6292875"/>
            <a:chExt cx="11495400" cy="415590"/>
          </a:xfrm>
        </p:grpSpPr>
        <p:sp>
          <p:nvSpPr>
            <p:cNvPr id="734" name="Google Shape;734;p59"/>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735" name="Google Shape;735;p59"/>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736" name="Google Shape;736;p59"/>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737" name="Google Shape;737;p59"/>
          <p:cNvSpPr txBox="1"/>
          <p:nvPr/>
        </p:nvSpPr>
        <p:spPr>
          <a:xfrm>
            <a:off x="159625" y="2461200"/>
            <a:ext cx="7655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dk1"/>
                </a:solidFill>
                <a:latin typeface="Lato"/>
                <a:ea typeface="Lato"/>
                <a:cs typeface="Lato"/>
                <a:sym typeface="Lato"/>
              </a:rPr>
              <a:t>DIGITAL MARKETING</a:t>
            </a:r>
            <a:endParaRPr sz="2300">
              <a:solidFill>
                <a:schemeClr val="dk1"/>
              </a:solidFill>
              <a:latin typeface="Lato"/>
              <a:ea typeface="Lato"/>
              <a:cs typeface="Lato"/>
              <a:sym typeface="La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grpSp>
        <p:nvGrpSpPr>
          <p:cNvPr id="742" name="Google Shape;742;p60"/>
          <p:cNvGrpSpPr/>
          <p:nvPr/>
        </p:nvGrpSpPr>
        <p:grpSpPr>
          <a:xfrm>
            <a:off x="9910844" y="5045076"/>
            <a:ext cx="2311056" cy="1847888"/>
            <a:chOff x="9283128" y="4713378"/>
            <a:chExt cx="2938779" cy="2331720"/>
          </a:xfrm>
        </p:grpSpPr>
        <p:sp>
          <p:nvSpPr>
            <p:cNvPr id="743" name="Google Shape;743;p60"/>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4" name="Google Shape;744;p60"/>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5" name="Google Shape;745;p60"/>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46" name="Google Shape;746;p60"/>
          <p:cNvGrpSpPr/>
          <p:nvPr/>
        </p:nvGrpSpPr>
        <p:grpSpPr>
          <a:xfrm>
            <a:off x="593050" y="6292875"/>
            <a:ext cx="11495400" cy="415590"/>
            <a:chOff x="593050" y="6292875"/>
            <a:chExt cx="11495400" cy="415590"/>
          </a:xfrm>
        </p:grpSpPr>
        <p:sp>
          <p:nvSpPr>
            <p:cNvPr id="747" name="Google Shape;747;p60"/>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748" name="Google Shape;748;p60"/>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749" name="Google Shape;749;p60"/>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750" name="Google Shape;750;p60"/>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SNAPSHOT</a:t>
            </a:r>
            <a:endParaRPr sz="2000">
              <a:solidFill>
                <a:schemeClr val="dk1"/>
              </a:solidFill>
              <a:latin typeface="Lato"/>
              <a:ea typeface="Lato"/>
              <a:cs typeface="Lato"/>
              <a:sym typeface="Lato"/>
            </a:endParaRPr>
          </a:p>
        </p:txBody>
      </p:sp>
      <p:sp>
        <p:nvSpPr>
          <p:cNvPr id="751" name="Google Shape;751;p60"/>
          <p:cNvSpPr txBox="1"/>
          <p:nvPr/>
        </p:nvSpPr>
        <p:spPr>
          <a:xfrm>
            <a:off x="3489239" y="2233050"/>
            <a:ext cx="2887500" cy="19515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Engagement campaigns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Digital Ad Campaigns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Activities amplification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Storytelling</a:t>
            </a:r>
            <a:endParaRPr sz="1600">
              <a:solidFill>
                <a:schemeClr val="dk1"/>
              </a:solidFill>
              <a:latin typeface="Lato"/>
              <a:ea typeface="Lato"/>
              <a:cs typeface="Lato"/>
              <a:sym typeface="Lato"/>
            </a:endParaRPr>
          </a:p>
        </p:txBody>
      </p:sp>
      <p:sp>
        <p:nvSpPr>
          <p:cNvPr id="752" name="Google Shape;752;p60"/>
          <p:cNvSpPr txBox="1"/>
          <p:nvPr/>
        </p:nvSpPr>
        <p:spPr>
          <a:xfrm>
            <a:off x="601850" y="2233050"/>
            <a:ext cx="2887500" cy="19515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Innovation &amp; Entrepreneurship</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Youth Empowerment</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Tech &amp; Economic Development</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Ilorin Hub Impact</a:t>
            </a:r>
            <a:endParaRPr sz="1600">
              <a:solidFill>
                <a:schemeClr val="dk1"/>
              </a:solidFill>
              <a:latin typeface="Lato"/>
              <a:ea typeface="Lato"/>
              <a:cs typeface="Lato"/>
              <a:sym typeface="Lato"/>
            </a:endParaRPr>
          </a:p>
        </p:txBody>
      </p:sp>
      <p:sp>
        <p:nvSpPr>
          <p:cNvPr id="753" name="Google Shape;753;p60"/>
          <p:cNvSpPr txBox="1"/>
          <p:nvPr/>
        </p:nvSpPr>
        <p:spPr>
          <a:xfrm>
            <a:off x="3489223" y="1678950"/>
            <a:ext cx="28875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Framework</a:t>
            </a:r>
            <a:endParaRPr sz="1600">
              <a:solidFill>
                <a:schemeClr val="dk1"/>
              </a:solidFill>
              <a:latin typeface="Lato"/>
              <a:ea typeface="Lato"/>
              <a:cs typeface="Lato"/>
              <a:sym typeface="Lato"/>
            </a:endParaRPr>
          </a:p>
        </p:txBody>
      </p:sp>
      <p:sp>
        <p:nvSpPr>
          <p:cNvPr id="754" name="Google Shape;754;p60"/>
          <p:cNvSpPr txBox="1"/>
          <p:nvPr/>
        </p:nvSpPr>
        <p:spPr>
          <a:xfrm>
            <a:off x="601699" y="1678950"/>
            <a:ext cx="28875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Content Pillars</a:t>
            </a:r>
            <a:endParaRPr sz="1600">
              <a:solidFill>
                <a:schemeClr val="dk1"/>
              </a:solidFill>
              <a:latin typeface="Lato"/>
              <a:ea typeface="Lato"/>
              <a:cs typeface="Lato"/>
              <a:sym typeface="Lato"/>
            </a:endParaRPr>
          </a:p>
        </p:txBody>
      </p:sp>
      <p:sp>
        <p:nvSpPr>
          <p:cNvPr id="755" name="Google Shape;755;p60"/>
          <p:cNvSpPr txBox="1"/>
          <p:nvPr/>
        </p:nvSpPr>
        <p:spPr>
          <a:xfrm>
            <a:off x="6376752" y="2233050"/>
            <a:ext cx="2887500" cy="19515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Ilorin Hub platforms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Ads / Boosting</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Audience &amp; Platforms - Earned</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Third party advocacy / partnerships</a:t>
            </a:r>
            <a:endParaRPr sz="1600">
              <a:solidFill>
                <a:schemeClr val="dk1"/>
              </a:solidFill>
              <a:latin typeface="Lato"/>
              <a:ea typeface="Lato"/>
              <a:cs typeface="Lato"/>
              <a:sym typeface="Lato"/>
            </a:endParaRPr>
          </a:p>
        </p:txBody>
      </p:sp>
      <p:sp>
        <p:nvSpPr>
          <p:cNvPr id="756" name="Google Shape;756;p60"/>
          <p:cNvSpPr txBox="1"/>
          <p:nvPr/>
        </p:nvSpPr>
        <p:spPr>
          <a:xfrm>
            <a:off x="6376750" y="1678950"/>
            <a:ext cx="28875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Distribution</a:t>
            </a:r>
            <a:endParaRPr sz="1600">
              <a:solidFill>
                <a:schemeClr val="dk1"/>
              </a:solidFill>
              <a:latin typeface="Lato"/>
              <a:ea typeface="Lato"/>
              <a:cs typeface="Lato"/>
              <a:sym typeface="Lato"/>
            </a:endParaRPr>
          </a:p>
        </p:txBody>
      </p:sp>
      <p:sp>
        <p:nvSpPr>
          <p:cNvPr id="757" name="Google Shape;757;p60"/>
          <p:cNvSpPr txBox="1"/>
          <p:nvPr/>
        </p:nvSpPr>
        <p:spPr>
          <a:xfrm>
            <a:off x="9264247" y="2233050"/>
            <a:ext cx="2887500" cy="19515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LinkedIn</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Facebook</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Twitter</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Instagram</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Google</a:t>
            </a: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Tik Tok</a:t>
            </a:r>
          </a:p>
          <a:p>
            <a:pPr marL="457200" lvl="0" indent="-330200" algn="l" rtl="0">
              <a:spcBef>
                <a:spcPts val="0"/>
              </a:spcBef>
              <a:spcAft>
                <a:spcPts val="0"/>
              </a:spcAft>
              <a:buClr>
                <a:schemeClr val="dk1"/>
              </a:buClr>
              <a:buSzPts val="1600"/>
              <a:buFont typeface="Lato"/>
              <a:buChar char="●"/>
            </a:pPr>
            <a:r>
              <a:rPr lang="en-US" sz="1600" dirty="0" err="1">
                <a:solidFill>
                  <a:schemeClr val="dk1"/>
                </a:solidFill>
                <a:latin typeface="Lato"/>
                <a:ea typeface="Lato"/>
                <a:cs typeface="Lato"/>
                <a:sym typeface="Lato"/>
              </a:rPr>
              <a:t>Youtube</a:t>
            </a:r>
            <a:endParaRPr sz="1600" dirty="0">
              <a:solidFill>
                <a:schemeClr val="dk1"/>
              </a:solidFill>
              <a:latin typeface="Lato"/>
              <a:ea typeface="Lato"/>
              <a:cs typeface="Lato"/>
              <a:sym typeface="Lato"/>
            </a:endParaRPr>
          </a:p>
        </p:txBody>
      </p:sp>
      <p:sp>
        <p:nvSpPr>
          <p:cNvPr id="758" name="Google Shape;758;p60"/>
          <p:cNvSpPr txBox="1"/>
          <p:nvPr/>
        </p:nvSpPr>
        <p:spPr>
          <a:xfrm>
            <a:off x="9264251" y="1678950"/>
            <a:ext cx="28875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Channels</a:t>
            </a:r>
            <a:endParaRPr sz="1600">
              <a:solidFill>
                <a:schemeClr val="dk1"/>
              </a:solidFill>
              <a:latin typeface="Lato"/>
              <a:ea typeface="Lato"/>
              <a:cs typeface="Lato"/>
              <a:sym typeface="Lato"/>
            </a:endParaRPr>
          </a:p>
        </p:txBody>
      </p:sp>
      <p:sp>
        <p:nvSpPr>
          <p:cNvPr id="759" name="Google Shape;759;p60"/>
          <p:cNvSpPr txBox="1"/>
          <p:nvPr/>
        </p:nvSpPr>
        <p:spPr>
          <a:xfrm>
            <a:off x="2234475" y="4525500"/>
            <a:ext cx="4145700" cy="1653000"/>
          </a:xfrm>
          <a:prstGeom prst="rect">
            <a:avLst/>
          </a:prstGeom>
          <a:solidFill>
            <a:srgbClr val="A4C2F4"/>
          </a:solid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Website</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Facebook</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X</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Linkedin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Instagram</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Newsletter</a:t>
            </a:r>
            <a:endParaRPr sz="1600">
              <a:solidFill>
                <a:schemeClr val="dk1"/>
              </a:solidFill>
              <a:latin typeface="Lato"/>
              <a:ea typeface="Lato"/>
              <a:cs typeface="Lato"/>
              <a:sym typeface="Lato"/>
            </a:endParaRPr>
          </a:p>
        </p:txBody>
      </p:sp>
      <p:sp>
        <p:nvSpPr>
          <p:cNvPr id="760" name="Google Shape;760;p60"/>
          <p:cNvSpPr txBox="1"/>
          <p:nvPr/>
        </p:nvSpPr>
        <p:spPr>
          <a:xfrm>
            <a:off x="488175" y="4525500"/>
            <a:ext cx="1746300" cy="1653000"/>
          </a:xfrm>
          <a:prstGeom prst="rect">
            <a:avLst/>
          </a:pr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a:solidFill>
                  <a:schemeClr val="lt1"/>
                </a:solidFill>
                <a:latin typeface="Lato"/>
                <a:ea typeface="Lato"/>
                <a:cs typeface="Lato"/>
                <a:sym typeface="Lato"/>
              </a:rPr>
              <a:t>Ilorin Hub Platforms</a:t>
            </a:r>
            <a:endParaRPr sz="1600" b="1">
              <a:solidFill>
                <a:schemeClr val="lt1"/>
              </a:solidFill>
              <a:latin typeface="Lato"/>
              <a:ea typeface="Lato"/>
              <a:cs typeface="Lato"/>
              <a:sym typeface="Lato"/>
            </a:endParaRPr>
          </a:p>
        </p:txBody>
      </p:sp>
      <p:cxnSp>
        <p:nvCxnSpPr>
          <p:cNvPr id="761" name="Google Shape;761;p60"/>
          <p:cNvCxnSpPr/>
          <p:nvPr/>
        </p:nvCxnSpPr>
        <p:spPr>
          <a:xfrm>
            <a:off x="9125917" y="1614450"/>
            <a:ext cx="12900" cy="2570100"/>
          </a:xfrm>
          <a:prstGeom prst="straightConnector1">
            <a:avLst/>
          </a:prstGeom>
          <a:noFill/>
          <a:ln w="19050" cap="flat" cmpd="sng">
            <a:solidFill>
              <a:srgbClr val="F1C232"/>
            </a:solidFill>
            <a:prstDash val="solid"/>
            <a:round/>
            <a:headEnd type="none" w="med" len="med"/>
            <a:tailEnd type="none" w="med" len="med"/>
          </a:ln>
        </p:spPr>
      </p:cxnSp>
      <p:cxnSp>
        <p:nvCxnSpPr>
          <p:cNvPr id="762" name="Google Shape;762;p60"/>
          <p:cNvCxnSpPr/>
          <p:nvPr/>
        </p:nvCxnSpPr>
        <p:spPr>
          <a:xfrm>
            <a:off x="6314024" y="1614450"/>
            <a:ext cx="12900" cy="2570100"/>
          </a:xfrm>
          <a:prstGeom prst="straightConnector1">
            <a:avLst/>
          </a:prstGeom>
          <a:noFill/>
          <a:ln w="19050" cap="flat" cmpd="sng">
            <a:solidFill>
              <a:srgbClr val="F1C232"/>
            </a:solidFill>
            <a:prstDash val="solid"/>
            <a:round/>
            <a:headEnd type="none" w="med" len="med"/>
            <a:tailEnd type="none" w="med" len="med"/>
          </a:ln>
        </p:spPr>
      </p:cxnSp>
      <p:cxnSp>
        <p:nvCxnSpPr>
          <p:cNvPr id="763" name="Google Shape;763;p60"/>
          <p:cNvCxnSpPr/>
          <p:nvPr/>
        </p:nvCxnSpPr>
        <p:spPr>
          <a:xfrm>
            <a:off x="3325076" y="1536225"/>
            <a:ext cx="12900" cy="2570100"/>
          </a:xfrm>
          <a:prstGeom prst="straightConnector1">
            <a:avLst/>
          </a:prstGeom>
          <a:noFill/>
          <a:ln w="19050" cap="flat" cmpd="sng">
            <a:solidFill>
              <a:srgbClr val="F1C232"/>
            </a:solidFill>
            <a:prstDash val="solid"/>
            <a:round/>
            <a:headEnd type="none" w="med" len="med"/>
            <a:tailEnd type="non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grpSp>
        <p:nvGrpSpPr>
          <p:cNvPr id="768" name="Google Shape;768;p61"/>
          <p:cNvGrpSpPr/>
          <p:nvPr/>
        </p:nvGrpSpPr>
        <p:grpSpPr>
          <a:xfrm>
            <a:off x="9910844" y="5045076"/>
            <a:ext cx="2311056" cy="1847888"/>
            <a:chOff x="9283128" y="4713378"/>
            <a:chExt cx="2938779" cy="2331720"/>
          </a:xfrm>
        </p:grpSpPr>
        <p:sp>
          <p:nvSpPr>
            <p:cNvPr id="769" name="Google Shape;769;p61"/>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0" name="Google Shape;770;p61"/>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1" name="Google Shape;771;p61"/>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72" name="Google Shape;772;p61"/>
          <p:cNvGrpSpPr/>
          <p:nvPr/>
        </p:nvGrpSpPr>
        <p:grpSpPr>
          <a:xfrm>
            <a:off x="593050" y="6292875"/>
            <a:ext cx="11495400" cy="415590"/>
            <a:chOff x="593050" y="6292875"/>
            <a:chExt cx="11495400" cy="415590"/>
          </a:xfrm>
        </p:grpSpPr>
        <p:sp>
          <p:nvSpPr>
            <p:cNvPr id="773" name="Google Shape;773;p61"/>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774" name="Google Shape;774;p61"/>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775" name="Google Shape;775;p61"/>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776" name="Google Shape;776;p61"/>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Engagement Campaigns</a:t>
            </a:r>
            <a:endParaRPr sz="2000">
              <a:solidFill>
                <a:schemeClr val="dk1"/>
              </a:solidFill>
              <a:latin typeface="Lato"/>
              <a:ea typeface="Lato"/>
              <a:cs typeface="Lato"/>
              <a:sym typeface="Lato"/>
            </a:endParaRPr>
          </a:p>
        </p:txBody>
      </p:sp>
      <p:sp>
        <p:nvSpPr>
          <p:cNvPr id="777" name="Google Shape;777;p61"/>
          <p:cNvSpPr txBox="1"/>
          <p:nvPr/>
        </p:nvSpPr>
        <p:spPr>
          <a:xfrm>
            <a:off x="4180187" y="2053525"/>
            <a:ext cx="3883200" cy="40782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Drive awareness about the launch event via influencer partners, news and social media posts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Link the Ilorin Innovation Hub launch to the pre-launch conversation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Release collaterals with </a:t>
            </a:r>
            <a:r>
              <a:rPr lang="en-US" sz="1600" b="1">
                <a:solidFill>
                  <a:schemeClr val="dk1"/>
                </a:solidFill>
                <a:latin typeface="Lato"/>
                <a:ea typeface="Lato"/>
                <a:cs typeface="Lato"/>
                <a:sym typeface="Lato"/>
              </a:rPr>
              <a:t>#IlorinInnovationHub</a:t>
            </a:r>
            <a:r>
              <a:rPr lang="en-US" sz="1600">
                <a:solidFill>
                  <a:schemeClr val="dk1"/>
                </a:solidFill>
                <a:latin typeface="Lato"/>
                <a:ea typeface="Lato"/>
                <a:cs typeface="Lato"/>
                <a:sym typeface="Lato"/>
              </a:rPr>
              <a:t>, </a:t>
            </a:r>
            <a:r>
              <a:rPr lang="en-US" sz="1600" b="1">
                <a:solidFill>
                  <a:schemeClr val="dk1"/>
                </a:solidFill>
                <a:latin typeface="Lato"/>
                <a:ea typeface="Lato"/>
                <a:cs typeface="Lato"/>
                <a:sym typeface="Lato"/>
              </a:rPr>
              <a:t>#MakingInnovationWork</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Social media advocates will distil the import of the Ilorin Innovation Hub in line with  fostering technology solutions (to the identified issues and areas from the pre-launch convo)</a:t>
            </a:r>
            <a:endParaRPr sz="1600">
              <a:solidFill>
                <a:schemeClr val="dk1"/>
              </a:solidFill>
              <a:latin typeface="Lato"/>
              <a:ea typeface="Lato"/>
              <a:cs typeface="Lato"/>
              <a:sym typeface="Lato"/>
            </a:endParaRPr>
          </a:p>
        </p:txBody>
      </p:sp>
      <p:sp>
        <p:nvSpPr>
          <p:cNvPr id="778" name="Google Shape;778;p61"/>
          <p:cNvSpPr txBox="1"/>
          <p:nvPr/>
        </p:nvSpPr>
        <p:spPr>
          <a:xfrm>
            <a:off x="297050" y="2053525"/>
            <a:ext cx="3883200" cy="40782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Set the agenda by inspiring conversation on selected issues in the society and how technology can play a role in delivering solutions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Additionally discuss the role of Hubs in fostering technology solutions and how this can contribute to states and the nation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Lead the conversations through social media advocates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conversation areas will be taken from areas of interest of the Hub: agriculture, health, education and energy</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b="1">
                <a:solidFill>
                  <a:schemeClr val="dk1"/>
                </a:solidFill>
                <a:latin typeface="Lato"/>
                <a:ea typeface="Lato"/>
                <a:cs typeface="Lato"/>
                <a:sym typeface="Lato"/>
              </a:rPr>
              <a:t>#MakingInnovationWork</a:t>
            </a:r>
            <a:endParaRPr sz="1600" b="1">
              <a:solidFill>
                <a:schemeClr val="dk1"/>
              </a:solidFill>
              <a:latin typeface="Lato"/>
              <a:ea typeface="Lato"/>
              <a:cs typeface="Lato"/>
              <a:sym typeface="Lato"/>
            </a:endParaRPr>
          </a:p>
        </p:txBody>
      </p:sp>
      <p:sp>
        <p:nvSpPr>
          <p:cNvPr id="779" name="Google Shape;779;p61"/>
          <p:cNvSpPr txBox="1"/>
          <p:nvPr/>
        </p:nvSpPr>
        <p:spPr>
          <a:xfrm>
            <a:off x="4180186" y="1374150"/>
            <a:ext cx="23949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Launch</a:t>
            </a:r>
            <a:endParaRPr sz="1600">
              <a:solidFill>
                <a:schemeClr val="dk1"/>
              </a:solidFill>
              <a:latin typeface="Lato"/>
              <a:ea typeface="Lato"/>
              <a:cs typeface="Lato"/>
              <a:sym typeface="Lato"/>
            </a:endParaRPr>
          </a:p>
        </p:txBody>
      </p:sp>
      <p:sp>
        <p:nvSpPr>
          <p:cNvPr id="780" name="Google Shape;780;p61"/>
          <p:cNvSpPr txBox="1"/>
          <p:nvPr/>
        </p:nvSpPr>
        <p:spPr>
          <a:xfrm>
            <a:off x="543273" y="1374150"/>
            <a:ext cx="31893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Pre-launch conversations</a:t>
            </a:r>
            <a:endParaRPr sz="1600">
              <a:solidFill>
                <a:schemeClr val="dk1"/>
              </a:solidFill>
              <a:latin typeface="Lato"/>
              <a:ea typeface="Lato"/>
              <a:cs typeface="Lato"/>
              <a:sym typeface="Lato"/>
            </a:endParaRPr>
          </a:p>
        </p:txBody>
      </p:sp>
      <p:sp>
        <p:nvSpPr>
          <p:cNvPr id="781" name="Google Shape;781;p61"/>
          <p:cNvSpPr txBox="1"/>
          <p:nvPr/>
        </p:nvSpPr>
        <p:spPr>
          <a:xfrm>
            <a:off x="8063325" y="2053525"/>
            <a:ext cx="3883200" cy="40782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Distill the programmes of the Ilorin Innovation Hub and encourage </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Enlist participants to share their experiences</a:t>
            </a: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Cover stories of community members and workspace activities via </a:t>
            </a:r>
            <a:r>
              <a:rPr lang="en-US" sz="1600" dirty="0" err="1">
                <a:solidFill>
                  <a:schemeClr val="dk1"/>
                </a:solidFill>
                <a:latin typeface="Lato"/>
                <a:ea typeface="Lato"/>
                <a:cs typeface="Lato"/>
                <a:sym typeface="Lato"/>
              </a:rPr>
              <a:t>Youtube</a:t>
            </a:r>
            <a:r>
              <a:rPr lang="en-US" sz="1600" dirty="0">
                <a:solidFill>
                  <a:schemeClr val="dk1"/>
                </a:solidFill>
                <a:latin typeface="Lato"/>
                <a:ea typeface="Lato"/>
                <a:cs typeface="Lato"/>
                <a:sym typeface="Lato"/>
              </a:rPr>
              <a:t> Series</a:t>
            </a:r>
            <a:endParaRPr sz="1600" dirty="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dirty="0">
                <a:solidFill>
                  <a:schemeClr val="dk1"/>
                </a:solidFill>
                <a:latin typeface="Lato"/>
                <a:ea typeface="Lato"/>
                <a:cs typeface="Lato"/>
                <a:sym typeface="Lato"/>
              </a:rPr>
              <a:t>Demonstrate and deploy solutions developed through the Ilorin Innovation Hub</a:t>
            </a:r>
            <a:endParaRPr sz="1600" dirty="0">
              <a:solidFill>
                <a:schemeClr val="dk1"/>
              </a:solidFill>
              <a:latin typeface="Lato"/>
              <a:ea typeface="Lato"/>
              <a:cs typeface="Lato"/>
              <a:sym typeface="Lato"/>
            </a:endParaRPr>
          </a:p>
        </p:txBody>
      </p:sp>
      <p:sp>
        <p:nvSpPr>
          <p:cNvPr id="782" name="Google Shape;782;p61"/>
          <p:cNvSpPr txBox="1"/>
          <p:nvPr/>
        </p:nvSpPr>
        <p:spPr>
          <a:xfrm>
            <a:off x="8063377" y="1374150"/>
            <a:ext cx="23949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Post Launch</a:t>
            </a:r>
            <a:endParaRPr sz="1600">
              <a:solidFill>
                <a:schemeClr val="dk1"/>
              </a:solidFill>
              <a:latin typeface="Lato"/>
              <a:ea typeface="Lato"/>
              <a:cs typeface="Lato"/>
              <a:sym typeface="Lato"/>
            </a:endParaRPr>
          </a:p>
        </p:txBody>
      </p:sp>
      <p:pic>
        <p:nvPicPr>
          <p:cNvPr id="783" name="Google Shape;783;p61"/>
          <p:cNvPicPr preferRelativeResize="0"/>
          <p:nvPr/>
        </p:nvPicPr>
        <p:blipFill>
          <a:blip r:embed="rId4">
            <a:alphaModFix/>
          </a:blip>
          <a:stretch>
            <a:fillRect/>
          </a:stretch>
        </p:blipFill>
        <p:spPr>
          <a:xfrm>
            <a:off x="4511250" y="5919275"/>
            <a:ext cx="864375" cy="864375"/>
          </a:xfrm>
          <a:prstGeom prst="rect">
            <a:avLst/>
          </a:prstGeom>
          <a:noFill/>
          <a:ln>
            <a:noFill/>
          </a:ln>
        </p:spPr>
      </p:pic>
      <p:pic>
        <p:nvPicPr>
          <p:cNvPr id="784" name="Google Shape;784;p61"/>
          <p:cNvPicPr preferRelativeResize="0"/>
          <p:nvPr/>
        </p:nvPicPr>
        <p:blipFill>
          <a:blip r:embed="rId5">
            <a:alphaModFix/>
          </a:blip>
          <a:stretch>
            <a:fillRect/>
          </a:stretch>
        </p:blipFill>
        <p:spPr>
          <a:xfrm>
            <a:off x="5858900" y="5919275"/>
            <a:ext cx="825477" cy="864374"/>
          </a:xfrm>
          <a:prstGeom prst="rect">
            <a:avLst/>
          </a:prstGeom>
          <a:noFill/>
          <a:ln>
            <a:noFill/>
          </a:ln>
        </p:spPr>
      </p:pic>
      <p:pic>
        <p:nvPicPr>
          <p:cNvPr id="785" name="Google Shape;785;p61"/>
          <p:cNvPicPr preferRelativeResize="0"/>
          <p:nvPr/>
        </p:nvPicPr>
        <p:blipFill rotWithShape="1">
          <a:blip r:embed="rId6">
            <a:alphaModFix/>
          </a:blip>
          <a:srcRect l="12684" r="13780"/>
          <a:stretch/>
        </p:blipFill>
        <p:spPr>
          <a:xfrm>
            <a:off x="7008150" y="5919275"/>
            <a:ext cx="870175" cy="8643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grpSp>
        <p:nvGrpSpPr>
          <p:cNvPr id="790" name="Google Shape;790;p62"/>
          <p:cNvGrpSpPr/>
          <p:nvPr/>
        </p:nvGrpSpPr>
        <p:grpSpPr>
          <a:xfrm>
            <a:off x="9910844" y="5045076"/>
            <a:ext cx="2311056" cy="1847888"/>
            <a:chOff x="9283128" y="4713378"/>
            <a:chExt cx="2938779" cy="2331720"/>
          </a:xfrm>
        </p:grpSpPr>
        <p:sp>
          <p:nvSpPr>
            <p:cNvPr id="791" name="Google Shape;791;p62"/>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2" name="Google Shape;792;p62"/>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3" name="Google Shape;793;p62"/>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794" name="Google Shape;794;p62"/>
          <p:cNvGrpSpPr/>
          <p:nvPr/>
        </p:nvGrpSpPr>
        <p:grpSpPr>
          <a:xfrm>
            <a:off x="593050" y="6292875"/>
            <a:ext cx="11495400" cy="415590"/>
            <a:chOff x="593050" y="6292875"/>
            <a:chExt cx="11495400" cy="415590"/>
          </a:xfrm>
        </p:grpSpPr>
        <p:sp>
          <p:nvSpPr>
            <p:cNvPr id="795" name="Google Shape;795;p62"/>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796" name="Google Shape;796;p62"/>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797" name="Google Shape;797;p62"/>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798" name="Google Shape;798;p62"/>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DIGITAL AD CAMPAIGN</a:t>
            </a:r>
            <a:endParaRPr sz="2000">
              <a:solidFill>
                <a:schemeClr val="dk1"/>
              </a:solidFill>
              <a:latin typeface="Lato"/>
              <a:ea typeface="Lato"/>
              <a:cs typeface="Lato"/>
              <a:sym typeface="Lato"/>
            </a:endParaRPr>
          </a:p>
        </p:txBody>
      </p:sp>
      <p:sp>
        <p:nvSpPr>
          <p:cNvPr id="799" name="Google Shape;799;p62"/>
          <p:cNvSpPr txBox="1"/>
          <p:nvPr/>
        </p:nvSpPr>
        <p:spPr>
          <a:xfrm>
            <a:off x="4180187" y="2053525"/>
            <a:ext cx="3883200" cy="29916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messages will focus on the various programmes of the Hub, including </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startup growth programme</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Tech Skills Programme</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Initiatives, events, competitions, etc</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Ads will include CTA for registration / application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Ads in this category will focus on the tech participants</a:t>
            </a:r>
            <a:endParaRPr sz="1600">
              <a:solidFill>
                <a:schemeClr val="dk1"/>
              </a:solidFill>
              <a:latin typeface="Lato"/>
              <a:ea typeface="Lato"/>
              <a:cs typeface="Lato"/>
              <a:sym typeface="Lato"/>
            </a:endParaRPr>
          </a:p>
        </p:txBody>
      </p:sp>
      <p:sp>
        <p:nvSpPr>
          <p:cNvPr id="800" name="Google Shape;800;p62"/>
          <p:cNvSpPr txBox="1"/>
          <p:nvPr/>
        </p:nvSpPr>
        <p:spPr>
          <a:xfrm>
            <a:off x="297050" y="2053525"/>
            <a:ext cx="3883200" cy="29916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message will focus on the existence of the Hub; its features, mission and benefits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Formats: banners, carousels and videos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Ads will include a ‘learn more’ link leading audience to the website</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Ads specific to the 3 core audience groups (Potential investors, potential partners and tech participants) will be developed</a:t>
            </a:r>
            <a:endParaRPr sz="1600">
              <a:solidFill>
                <a:schemeClr val="dk1"/>
              </a:solidFill>
              <a:latin typeface="Lato"/>
              <a:ea typeface="Lato"/>
              <a:cs typeface="Lato"/>
              <a:sym typeface="Lato"/>
            </a:endParaRPr>
          </a:p>
        </p:txBody>
      </p:sp>
      <p:sp>
        <p:nvSpPr>
          <p:cNvPr id="801" name="Google Shape;801;p62"/>
          <p:cNvSpPr txBox="1"/>
          <p:nvPr/>
        </p:nvSpPr>
        <p:spPr>
          <a:xfrm>
            <a:off x="4180186" y="1374150"/>
            <a:ext cx="23949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Call To Action</a:t>
            </a:r>
            <a:endParaRPr sz="1600">
              <a:solidFill>
                <a:schemeClr val="dk1"/>
              </a:solidFill>
              <a:latin typeface="Lato"/>
              <a:ea typeface="Lato"/>
              <a:cs typeface="Lato"/>
              <a:sym typeface="Lato"/>
            </a:endParaRPr>
          </a:p>
        </p:txBody>
      </p:sp>
      <p:sp>
        <p:nvSpPr>
          <p:cNvPr id="802" name="Google Shape;802;p62"/>
          <p:cNvSpPr txBox="1"/>
          <p:nvPr/>
        </p:nvSpPr>
        <p:spPr>
          <a:xfrm>
            <a:off x="543273" y="1374150"/>
            <a:ext cx="31893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Awareness</a:t>
            </a:r>
            <a:endParaRPr sz="1600">
              <a:solidFill>
                <a:schemeClr val="dk1"/>
              </a:solidFill>
              <a:latin typeface="Lato"/>
              <a:ea typeface="Lato"/>
              <a:cs typeface="Lato"/>
              <a:sym typeface="Lato"/>
            </a:endParaRPr>
          </a:p>
        </p:txBody>
      </p:sp>
      <p:sp>
        <p:nvSpPr>
          <p:cNvPr id="803" name="Google Shape;803;p62"/>
          <p:cNvSpPr txBox="1"/>
          <p:nvPr/>
        </p:nvSpPr>
        <p:spPr>
          <a:xfrm>
            <a:off x="8063325" y="2053525"/>
            <a:ext cx="3883200" cy="29916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messages will focus on the impact of the Hub on participants, the economy and society.</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Testimonials by participants in video formats and social media posts, leveraged by influencers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video documentaries of the initiatives and programmes of the Hub</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Ads will focus on the 3 core audiences</a:t>
            </a:r>
            <a:endParaRPr sz="1600">
              <a:solidFill>
                <a:schemeClr val="dk1"/>
              </a:solidFill>
              <a:latin typeface="Lato"/>
              <a:ea typeface="Lato"/>
              <a:cs typeface="Lato"/>
              <a:sym typeface="Lato"/>
            </a:endParaRPr>
          </a:p>
        </p:txBody>
      </p:sp>
      <p:sp>
        <p:nvSpPr>
          <p:cNvPr id="804" name="Google Shape;804;p62"/>
          <p:cNvSpPr txBox="1"/>
          <p:nvPr/>
        </p:nvSpPr>
        <p:spPr>
          <a:xfrm>
            <a:off x="8063377" y="1374150"/>
            <a:ext cx="2394900" cy="5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Impact</a:t>
            </a:r>
            <a:endParaRPr sz="1600">
              <a:solidFill>
                <a:schemeClr val="dk1"/>
              </a:solidFill>
              <a:latin typeface="Lato"/>
              <a:ea typeface="Lato"/>
              <a:cs typeface="Lato"/>
              <a:sym typeface="Lato"/>
            </a:endParaRPr>
          </a:p>
        </p:txBody>
      </p:sp>
      <p:pic>
        <p:nvPicPr>
          <p:cNvPr id="805" name="Google Shape;805;p62"/>
          <p:cNvPicPr preferRelativeResize="0"/>
          <p:nvPr/>
        </p:nvPicPr>
        <p:blipFill>
          <a:blip r:embed="rId4">
            <a:alphaModFix/>
          </a:blip>
          <a:stretch>
            <a:fillRect/>
          </a:stretch>
        </p:blipFill>
        <p:spPr>
          <a:xfrm>
            <a:off x="1323800" y="5428500"/>
            <a:ext cx="864375" cy="864375"/>
          </a:xfrm>
          <a:prstGeom prst="rect">
            <a:avLst/>
          </a:prstGeom>
          <a:noFill/>
          <a:ln>
            <a:noFill/>
          </a:ln>
        </p:spPr>
      </p:pic>
      <p:pic>
        <p:nvPicPr>
          <p:cNvPr id="806" name="Google Shape;806;p62"/>
          <p:cNvPicPr preferRelativeResize="0"/>
          <p:nvPr/>
        </p:nvPicPr>
        <p:blipFill>
          <a:blip r:embed="rId5">
            <a:alphaModFix/>
          </a:blip>
          <a:stretch>
            <a:fillRect/>
          </a:stretch>
        </p:blipFill>
        <p:spPr>
          <a:xfrm>
            <a:off x="3627900" y="5428500"/>
            <a:ext cx="825477" cy="864374"/>
          </a:xfrm>
          <a:prstGeom prst="rect">
            <a:avLst/>
          </a:prstGeom>
          <a:noFill/>
          <a:ln>
            <a:noFill/>
          </a:ln>
        </p:spPr>
      </p:pic>
      <p:pic>
        <p:nvPicPr>
          <p:cNvPr id="807" name="Google Shape;807;p62"/>
          <p:cNvPicPr preferRelativeResize="0"/>
          <p:nvPr/>
        </p:nvPicPr>
        <p:blipFill>
          <a:blip r:embed="rId6">
            <a:alphaModFix/>
          </a:blip>
          <a:stretch>
            <a:fillRect/>
          </a:stretch>
        </p:blipFill>
        <p:spPr>
          <a:xfrm>
            <a:off x="5839725" y="5428500"/>
            <a:ext cx="864374" cy="864374"/>
          </a:xfrm>
          <a:prstGeom prst="rect">
            <a:avLst/>
          </a:prstGeom>
          <a:noFill/>
          <a:ln>
            <a:noFill/>
          </a:ln>
        </p:spPr>
      </p:pic>
      <p:pic>
        <p:nvPicPr>
          <p:cNvPr id="808" name="Google Shape;808;p62"/>
          <p:cNvPicPr preferRelativeResize="0"/>
          <p:nvPr/>
        </p:nvPicPr>
        <p:blipFill rotWithShape="1">
          <a:blip r:embed="rId7">
            <a:alphaModFix/>
          </a:blip>
          <a:srcRect l="12684" r="13780"/>
          <a:stretch/>
        </p:blipFill>
        <p:spPr>
          <a:xfrm>
            <a:off x="8090450" y="5428500"/>
            <a:ext cx="870175" cy="864375"/>
          </a:xfrm>
          <a:prstGeom prst="rect">
            <a:avLst/>
          </a:prstGeom>
          <a:noFill/>
          <a:ln>
            <a:noFill/>
          </a:ln>
        </p:spPr>
      </p:pic>
      <p:pic>
        <p:nvPicPr>
          <p:cNvPr id="809" name="Google Shape;809;p62"/>
          <p:cNvPicPr preferRelativeResize="0"/>
          <p:nvPr/>
        </p:nvPicPr>
        <p:blipFill>
          <a:blip r:embed="rId8">
            <a:alphaModFix/>
          </a:blip>
          <a:stretch>
            <a:fillRect/>
          </a:stretch>
        </p:blipFill>
        <p:spPr>
          <a:xfrm>
            <a:off x="10346975" y="5422700"/>
            <a:ext cx="870175" cy="8701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grpSp>
        <p:nvGrpSpPr>
          <p:cNvPr id="814" name="Google Shape;814;p63"/>
          <p:cNvGrpSpPr/>
          <p:nvPr/>
        </p:nvGrpSpPr>
        <p:grpSpPr>
          <a:xfrm>
            <a:off x="9910844" y="5045076"/>
            <a:ext cx="2311056" cy="1847888"/>
            <a:chOff x="9283128" y="4713378"/>
            <a:chExt cx="2938779" cy="2331720"/>
          </a:xfrm>
        </p:grpSpPr>
        <p:sp>
          <p:nvSpPr>
            <p:cNvPr id="815" name="Google Shape;815;p63"/>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63"/>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63"/>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18" name="Google Shape;818;p63"/>
          <p:cNvGrpSpPr/>
          <p:nvPr/>
        </p:nvGrpSpPr>
        <p:grpSpPr>
          <a:xfrm>
            <a:off x="593050" y="6292875"/>
            <a:ext cx="11495400" cy="415590"/>
            <a:chOff x="593050" y="6292875"/>
            <a:chExt cx="11495400" cy="415590"/>
          </a:xfrm>
        </p:grpSpPr>
        <p:sp>
          <p:nvSpPr>
            <p:cNvPr id="819" name="Google Shape;819;p63"/>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820" name="Google Shape;820;p63"/>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821" name="Google Shape;821;p63"/>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822" name="Google Shape;822;p63"/>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ACTIVITIES AMPLIFICATION</a:t>
            </a:r>
            <a:endParaRPr sz="2000">
              <a:solidFill>
                <a:schemeClr val="dk1"/>
              </a:solidFill>
              <a:latin typeface="Lato"/>
              <a:ea typeface="Lato"/>
              <a:cs typeface="Lato"/>
              <a:sym typeface="Lato"/>
            </a:endParaRPr>
          </a:p>
        </p:txBody>
      </p:sp>
      <p:sp>
        <p:nvSpPr>
          <p:cNvPr id="823" name="Google Shape;823;p63"/>
          <p:cNvSpPr txBox="1"/>
          <p:nvPr/>
        </p:nvSpPr>
        <p:spPr>
          <a:xfrm>
            <a:off x="593050" y="937650"/>
            <a:ext cx="3591600" cy="2459100"/>
          </a:xfrm>
          <a:prstGeom prst="rect">
            <a:avLst/>
          </a:prstGeom>
          <a:noFill/>
          <a:ln w="9525" cap="flat" cmpd="sng">
            <a:solidFill>
              <a:srgbClr val="FF002B"/>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The activities of the Hub will be leveraged on social media:</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Training programmes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Event participation</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Partnership deals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Projects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Innovations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etc</a:t>
            </a:r>
            <a:endParaRPr sz="1600">
              <a:solidFill>
                <a:schemeClr val="dk1"/>
              </a:solidFill>
              <a:latin typeface="Lato"/>
              <a:ea typeface="Lato"/>
              <a:cs typeface="Lato"/>
              <a:sym typeface="Lato"/>
            </a:endParaRPr>
          </a:p>
        </p:txBody>
      </p:sp>
      <p:sp>
        <p:nvSpPr>
          <p:cNvPr id="824" name="Google Shape;824;p63"/>
          <p:cNvSpPr txBox="1"/>
          <p:nvPr/>
        </p:nvSpPr>
        <p:spPr>
          <a:xfrm>
            <a:off x="4490875" y="937650"/>
            <a:ext cx="3591600" cy="2459100"/>
          </a:xfrm>
          <a:prstGeom prst="rect">
            <a:avLst/>
          </a:prstGeom>
          <a:noFill/>
          <a:ln w="9525" cap="flat" cmpd="sng">
            <a:solidFill>
              <a:srgbClr val="FF002B"/>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Tools: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Photos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Videos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Banners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Platforms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X (formerly Twitter)</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Facebook</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Linkedin</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Instagram</a:t>
            </a:r>
            <a:endParaRPr sz="1600">
              <a:solidFill>
                <a:schemeClr val="dk1"/>
              </a:solidFill>
              <a:latin typeface="Lato"/>
              <a:ea typeface="Lato"/>
              <a:cs typeface="Lato"/>
              <a:sym typeface="Lato"/>
            </a:endParaRPr>
          </a:p>
        </p:txBody>
      </p:sp>
      <p:sp>
        <p:nvSpPr>
          <p:cNvPr id="825" name="Google Shape;825;p63"/>
          <p:cNvSpPr txBox="1"/>
          <p:nvPr/>
        </p:nvSpPr>
        <p:spPr>
          <a:xfrm>
            <a:off x="8388700" y="937650"/>
            <a:ext cx="3591600" cy="2459100"/>
          </a:xfrm>
          <a:prstGeom prst="rect">
            <a:avLst/>
          </a:prstGeom>
          <a:noFill/>
          <a:ln w="9525" cap="flat" cmpd="sng">
            <a:solidFill>
              <a:srgbClr val="FF002B"/>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Drivers: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Ilorin Innovation Hub platforms</a:t>
            </a:r>
            <a:endParaRPr sz="1600">
              <a:solidFill>
                <a:schemeClr val="dk1"/>
              </a:solidFill>
              <a:latin typeface="Lato"/>
              <a:ea typeface="Lato"/>
              <a:cs typeface="Lato"/>
              <a:sym typeface="Lato"/>
            </a:endParaRPr>
          </a:p>
          <a:p>
            <a:pPr marL="914400" lvl="1"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Social media advocates</a:t>
            </a:r>
            <a:endParaRPr sz="1600">
              <a:solidFill>
                <a:schemeClr val="dk1"/>
              </a:solidFill>
              <a:latin typeface="Lato"/>
              <a:ea typeface="Lato"/>
              <a:cs typeface="Lato"/>
              <a:sym typeface="Lato"/>
            </a:endParaRPr>
          </a:p>
        </p:txBody>
      </p:sp>
      <p:sp>
        <p:nvSpPr>
          <p:cNvPr id="826" name="Google Shape;826;p63"/>
          <p:cNvSpPr txBox="1"/>
          <p:nvPr/>
        </p:nvSpPr>
        <p:spPr>
          <a:xfrm>
            <a:off x="580500" y="37318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STORYTELLING</a:t>
            </a:r>
            <a:endParaRPr sz="2000">
              <a:solidFill>
                <a:schemeClr val="dk1"/>
              </a:solidFill>
              <a:latin typeface="Lato"/>
              <a:ea typeface="Lato"/>
              <a:cs typeface="Lato"/>
              <a:sym typeface="Lato"/>
            </a:endParaRPr>
          </a:p>
        </p:txBody>
      </p:sp>
      <p:sp>
        <p:nvSpPr>
          <p:cNvPr id="827" name="Google Shape;827;p63"/>
          <p:cNvSpPr txBox="1"/>
          <p:nvPr/>
        </p:nvSpPr>
        <p:spPr>
          <a:xfrm>
            <a:off x="580500" y="4224400"/>
            <a:ext cx="11399700" cy="1666200"/>
          </a:xfrm>
          <a:prstGeom prst="rect">
            <a:avLst/>
          </a:prstGeom>
          <a:noFill/>
          <a:ln w="9525" cap="flat" cmpd="sng">
            <a:solidFill>
              <a:srgbClr val="1155CC"/>
            </a:solidFill>
            <a:prstDash val="solid"/>
            <a:round/>
            <a:headEnd type="none" w="sm" len="sm"/>
            <a:tailEnd type="none" w="sm" len="sm"/>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Consistently curate and drive stories about the Hub, its facilities, programmes and projects in connection to everyday people and problem solving</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This provides an always-on approach for online presence for the Hub</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Content will be leveraged on the Ilorin Hub newsletter, blogs and online news sites </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Published stories will be further leveraged on the social media platforms of the Hub and its social media advocates</a:t>
            </a:r>
            <a:endParaRPr sz="1600">
              <a:solidFill>
                <a:schemeClr val="dk1"/>
              </a:solidFill>
              <a:latin typeface="Lato"/>
              <a:ea typeface="Lato"/>
              <a:cs typeface="Lato"/>
              <a:sym typeface="La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64"/>
          <p:cNvSpPr/>
          <p:nvPr/>
        </p:nvSpPr>
        <p:spPr>
          <a:xfrm>
            <a:off x="0" y="2208700"/>
            <a:ext cx="8040900" cy="1275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833" name="Google Shape;833;p64"/>
          <p:cNvGrpSpPr/>
          <p:nvPr/>
        </p:nvGrpSpPr>
        <p:grpSpPr>
          <a:xfrm>
            <a:off x="9910844" y="5045076"/>
            <a:ext cx="2311056" cy="1847888"/>
            <a:chOff x="9283128" y="4713378"/>
            <a:chExt cx="2938779" cy="2331720"/>
          </a:xfrm>
        </p:grpSpPr>
        <p:sp>
          <p:nvSpPr>
            <p:cNvPr id="834" name="Google Shape;834;p64"/>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5" name="Google Shape;835;p64"/>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6" name="Google Shape;836;p64"/>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37" name="Google Shape;837;p64"/>
          <p:cNvGrpSpPr/>
          <p:nvPr/>
        </p:nvGrpSpPr>
        <p:grpSpPr>
          <a:xfrm>
            <a:off x="593050" y="6292875"/>
            <a:ext cx="11495400" cy="415590"/>
            <a:chOff x="593050" y="6292875"/>
            <a:chExt cx="11495400" cy="415590"/>
          </a:xfrm>
        </p:grpSpPr>
        <p:sp>
          <p:nvSpPr>
            <p:cNvPr id="838" name="Google Shape;838;p64"/>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839" name="Google Shape;839;p64"/>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840" name="Google Shape;840;p64"/>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841" name="Google Shape;841;p64"/>
          <p:cNvSpPr txBox="1"/>
          <p:nvPr/>
        </p:nvSpPr>
        <p:spPr>
          <a:xfrm>
            <a:off x="159625" y="2461200"/>
            <a:ext cx="7655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dk1"/>
                </a:solidFill>
                <a:latin typeface="Lato"/>
                <a:ea typeface="Lato"/>
                <a:cs typeface="Lato"/>
                <a:sym typeface="Lato"/>
              </a:rPr>
              <a:t>AD CAMPAIGN</a:t>
            </a:r>
            <a:endParaRPr sz="2300">
              <a:solidFill>
                <a:schemeClr val="dk1"/>
              </a:solidFill>
              <a:latin typeface="Lato"/>
              <a:ea typeface="Lato"/>
              <a:cs typeface="Lato"/>
              <a:sym typeface="La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grpSp>
        <p:nvGrpSpPr>
          <p:cNvPr id="846" name="Google Shape;846;p65"/>
          <p:cNvGrpSpPr/>
          <p:nvPr/>
        </p:nvGrpSpPr>
        <p:grpSpPr>
          <a:xfrm>
            <a:off x="9910844" y="5045076"/>
            <a:ext cx="2311056" cy="1847888"/>
            <a:chOff x="9283128" y="4713378"/>
            <a:chExt cx="2938779" cy="2331720"/>
          </a:xfrm>
        </p:grpSpPr>
        <p:sp>
          <p:nvSpPr>
            <p:cNvPr id="847" name="Google Shape;847;p65"/>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8" name="Google Shape;848;p65"/>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9" name="Google Shape;849;p65"/>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50" name="Google Shape;850;p65"/>
          <p:cNvGrpSpPr/>
          <p:nvPr/>
        </p:nvGrpSpPr>
        <p:grpSpPr>
          <a:xfrm>
            <a:off x="593050" y="6292875"/>
            <a:ext cx="11495400" cy="415590"/>
            <a:chOff x="593050" y="6292875"/>
            <a:chExt cx="11495400" cy="415590"/>
          </a:xfrm>
        </p:grpSpPr>
        <p:sp>
          <p:nvSpPr>
            <p:cNvPr id="851" name="Google Shape;851;p65"/>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852" name="Google Shape;852;p65"/>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853" name="Google Shape;853;p65"/>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854" name="Google Shape;854;p65"/>
          <p:cNvSpPr txBox="1"/>
          <p:nvPr/>
        </p:nvSpPr>
        <p:spPr>
          <a:xfrm>
            <a:off x="732900" y="455200"/>
            <a:ext cx="7655400" cy="4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Lato"/>
                <a:ea typeface="Lato"/>
                <a:cs typeface="Lato"/>
                <a:sym typeface="Lato"/>
              </a:rPr>
              <a:t>Overview</a:t>
            </a:r>
            <a:endParaRPr sz="2000">
              <a:solidFill>
                <a:schemeClr val="dk1"/>
              </a:solidFill>
              <a:latin typeface="Lato"/>
              <a:ea typeface="Lato"/>
              <a:cs typeface="Lato"/>
              <a:sym typeface="Lato"/>
            </a:endParaRPr>
          </a:p>
        </p:txBody>
      </p:sp>
      <p:sp>
        <p:nvSpPr>
          <p:cNvPr id="855" name="Google Shape;855;p65"/>
          <p:cNvSpPr txBox="1"/>
          <p:nvPr/>
        </p:nvSpPr>
        <p:spPr>
          <a:xfrm>
            <a:off x="339450" y="1394850"/>
            <a:ext cx="3799800" cy="4434000"/>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An elaborate Ad campaign will be deployed post the launch of the Hub</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Ads will be tailored to the core target groups</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Designed and inspired by the selected theme</a:t>
            </a:r>
            <a:endParaRPr sz="1800">
              <a:solidFill>
                <a:schemeClr val="dk1"/>
              </a:solidFill>
              <a:latin typeface="Lato"/>
              <a:ea typeface="Lato"/>
              <a:cs typeface="Lato"/>
              <a:sym typeface="Lato"/>
            </a:endParaRPr>
          </a:p>
        </p:txBody>
      </p:sp>
      <p:sp>
        <p:nvSpPr>
          <p:cNvPr id="856" name="Google Shape;856;p65"/>
          <p:cNvSpPr txBox="1"/>
          <p:nvPr/>
        </p:nvSpPr>
        <p:spPr>
          <a:xfrm>
            <a:off x="9077050" y="1394850"/>
            <a:ext cx="2675700" cy="44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r>
              <a:rPr lang="en-US" sz="1800">
                <a:solidFill>
                  <a:schemeClr val="dk1"/>
                </a:solidFill>
                <a:latin typeface="Lato"/>
                <a:ea typeface="Lato"/>
                <a:cs typeface="Lato"/>
                <a:sym typeface="Lato"/>
              </a:rPr>
              <a:t>Radio  </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r>
              <a:rPr lang="en-US" sz="1800">
                <a:solidFill>
                  <a:schemeClr val="dk1"/>
                </a:solidFill>
                <a:latin typeface="Lato"/>
                <a:ea typeface="Lato"/>
                <a:cs typeface="Lato"/>
                <a:sym typeface="Lato"/>
              </a:rPr>
              <a:t>TV</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r>
              <a:rPr lang="en-US" sz="1800">
                <a:solidFill>
                  <a:schemeClr val="dk1"/>
                </a:solidFill>
                <a:latin typeface="Lato"/>
                <a:ea typeface="Lato"/>
                <a:cs typeface="Lato"/>
                <a:sym typeface="Lato"/>
              </a:rPr>
              <a:t>OOH</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p:txBody>
      </p:sp>
      <p:sp>
        <p:nvSpPr>
          <p:cNvPr id="857" name="Google Shape;857;p65"/>
          <p:cNvSpPr txBox="1"/>
          <p:nvPr/>
        </p:nvSpPr>
        <p:spPr>
          <a:xfrm>
            <a:off x="4517750" y="1394850"/>
            <a:ext cx="3799800" cy="4434000"/>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Key messages </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Tech participants (students and graduates)</a:t>
            </a:r>
            <a:endParaRPr sz="1800">
              <a:solidFill>
                <a:schemeClr val="dk1"/>
              </a:solidFill>
              <a:latin typeface="Lato"/>
              <a:ea typeface="Lato"/>
              <a:cs typeface="Lato"/>
              <a:sym typeface="Lato"/>
            </a:endParaRPr>
          </a:p>
          <a:p>
            <a:pPr marL="914400" lvl="1"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Join our community to learn new skills and build your career</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Tech participants (Tech enthusiasts)</a:t>
            </a:r>
            <a:endParaRPr sz="1800">
              <a:solidFill>
                <a:schemeClr val="dk1"/>
              </a:solidFill>
              <a:latin typeface="Lato"/>
              <a:ea typeface="Lato"/>
              <a:cs typeface="Lato"/>
              <a:sym typeface="Lato"/>
            </a:endParaRPr>
          </a:p>
          <a:p>
            <a:pPr marL="914400" lvl="1"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Join our community to see your ideas grow </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Potential investors and partners</a:t>
            </a:r>
            <a:endParaRPr sz="1800">
              <a:solidFill>
                <a:schemeClr val="dk1"/>
              </a:solidFill>
              <a:latin typeface="Lato"/>
              <a:ea typeface="Lato"/>
              <a:cs typeface="Lato"/>
              <a:sym typeface="Lato"/>
            </a:endParaRPr>
          </a:p>
          <a:p>
            <a:pPr marL="914400" lvl="1"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Join our community to foster the growth of technology and innovation</a:t>
            </a:r>
            <a:endParaRPr sz="1800">
              <a:solidFill>
                <a:schemeClr val="dk1"/>
              </a:solidFill>
              <a:latin typeface="Lato"/>
              <a:ea typeface="Lato"/>
              <a:cs typeface="Lato"/>
              <a:sym typeface="Lato"/>
            </a:endParaRPr>
          </a:p>
        </p:txBody>
      </p:sp>
      <p:pic>
        <p:nvPicPr>
          <p:cNvPr id="858" name="Google Shape;858;p65"/>
          <p:cNvPicPr preferRelativeResize="0"/>
          <p:nvPr/>
        </p:nvPicPr>
        <p:blipFill rotWithShape="1">
          <a:blip r:embed="rId4">
            <a:alphaModFix/>
          </a:blip>
          <a:srcRect l="18631" t="15225" r="19203" b="14741"/>
          <a:stretch/>
        </p:blipFill>
        <p:spPr>
          <a:xfrm>
            <a:off x="10801311" y="1485250"/>
            <a:ext cx="700425" cy="787825"/>
          </a:xfrm>
          <a:prstGeom prst="rect">
            <a:avLst/>
          </a:prstGeom>
          <a:noFill/>
          <a:ln>
            <a:noFill/>
          </a:ln>
        </p:spPr>
      </p:pic>
      <p:pic>
        <p:nvPicPr>
          <p:cNvPr id="859" name="Google Shape;859;p65"/>
          <p:cNvPicPr preferRelativeResize="0"/>
          <p:nvPr/>
        </p:nvPicPr>
        <p:blipFill rotWithShape="1">
          <a:blip r:embed="rId5">
            <a:alphaModFix/>
          </a:blip>
          <a:srcRect l="15648" t="27020" r="15689" b="28005"/>
          <a:stretch/>
        </p:blipFill>
        <p:spPr>
          <a:xfrm>
            <a:off x="10777362" y="3271513"/>
            <a:ext cx="840175" cy="550301"/>
          </a:xfrm>
          <a:prstGeom prst="rect">
            <a:avLst/>
          </a:prstGeom>
          <a:noFill/>
          <a:ln>
            <a:noFill/>
          </a:ln>
        </p:spPr>
      </p:pic>
      <p:pic>
        <p:nvPicPr>
          <p:cNvPr id="860" name="Google Shape;860;p65"/>
          <p:cNvPicPr preferRelativeResize="0"/>
          <p:nvPr/>
        </p:nvPicPr>
        <p:blipFill rotWithShape="1">
          <a:blip r:embed="rId6">
            <a:alphaModFix/>
          </a:blip>
          <a:srcRect l="18935" t="12983" r="19225" b="19002"/>
          <a:stretch/>
        </p:blipFill>
        <p:spPr>
          <a:xfrm>
            <a:off x="10813600" y="4667850"/>
            <a:ext cx="767700" cy="8443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grpSp>
        <p:nvGrpSpPr>
          <p:cNvPr id="865" name="Google Shape;865;p66"/>
          <p:cNvGrpSpPr/>
          <p:nvPr/>
        </p:nvGrpSpPr>
        <p:grpSpPr>
          <a:xfrm>
            <a:off x="9910844" y="5045076"/>
            <a:ext cx="2311056" cy="1847888"/>
            <a:chOff x="9283128" y="4713378"/>
            <a:chExt cx="2938779" cy="2331720"/>
          </a:xfrm>
        </p:grpSpPr>
        <p:sp>
          <p:nvSpPr>
            <p:cNvPr id="866" name="Google Shape;866;p66"/>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66"/>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66"/>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69" name="Google Shape;869;p66"/>
          <p:cNvGrpSpPr/>
          <p:nvPr/>
        </p:nvGrpSpPr>
        <p:grpSpPr>
          <a:xfrm>
            <a:off x="593050" y="6292875"/>
            <a:ext cx="11495400" cy="415590"/>
            <a:chOff x="593050" y="6292875"/>
            <a:chExt cx="11495400" cy="415590"/>
          </a:xfrm>
        </p:grpSpPr>
        <p:sp>
          <p:nvSpPr>
            <p:cNvPr id="870" name="Google Shape;870;p66"/>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871" name="Google Shape;871;p66"/>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872" name="Google Shape;872;p66"/>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873" name="Google Shape;873;p66"/>
          <p:cNvSpPr txBox="1"/>
          <p:nvPr/>
        </p:nvSpPr>
        <p:spPr>
          <a:xfrm>
            <a:off x="297050" y="1560925"/>
            <a:ext cx="5872200" cy="492600"/>
          </a:xfrm>
          <a:prstGeom prst="rect">
            <a:avLst/>
          </a:prstGeom>
          <a:noFill/>
          <a:ln w="19050" cap="flat" cmpd="sng">
            <a:solidFill>
              <a:srgbClr val="E6913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dk1"/>
                </a:solidFill>
                <a:latin typeface="Lato"/>
                <a:ea typeface="Lato"/>
                <a:cs typeface="Lato"/>
                <a:sym typeface="Lato"/>
              </a:rPr>
              <a:t>RADIO AD</a:t>
            </a:r>
            <a:endParaRPr sz="2000">
              <a:solidFill>
                <a:schemeClr val="dk1"/>
              </a:solidFill>
              <a:latin typeface="Lato"/>
              <a:ea typeface="Lato"/>
              <a:cs typeface="Lato"/>
              <a:sym typeface="Lato"/>
            </a:endParaRPr>
          </a:p>
        </p:txBody>
      </p:sp>
      <p:sp>
        <p:nvSpPr>
          <p:cNvPr id="874" name="Google Shape;874;p66"/>
          <p:cNvSpPr txBox="1"/>
          <p:nvPr/>
        </p:nvSpPr>
        <p:spPr>
          <a:xfrm>
            <a:off x="3233101" y="2053525"/>
            <a:ext cx="2936100" cy="2991600"/>
          </a:xfrm>
          <a:prstGeom prst="rect">
            <a:avLst/>
          </a:prstGeom>
          <a:noFill/>
          <a:ln w="19050" cap="flat" cmpd="sng">
            <a:solidFill>
              <a:srgbClr val="E6913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Radio Stations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Royal FM</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Diamond FM </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Unilorin FM</a:t>
            </a:r>
            <a:endParaRPr sz="1600">
              <a:solidFill>
                <a:schemeClr val="dk1"/>
              </a:solidFill>
              <a:latin typeface="Lato"/>
              <a:ea typeface="Lato"/>
              <a:cs typeface="Lato"/>
              <a:sym typeface="Lato"/>
            </a:endParaRPr>
          </a:p>
        </p:txBody>
      </p:sp>
      <p:sp>
        <p:nvSpPr>
          <p:cNvPr id="875" name="Google Shape;875;p66"/>
          <p:cNvSpPr txBox="1"/>
          <p:nvPr/>
        </p:nvSpPr>
        <p:spPr>
          <a:xfrm>
            <a:off x="297050" y="2053525"/>
            <a:ext cx="2936100" cy="2991600"/>
          </a:xfrm>
          <a:prstGeom prst="rect">
            <a:avLst/>
          </a:prstGeom>
          <a:noFill/>
          <a:ln w="19050" cap="flat" cmpd="sng">
            <a:solidFill>
              <a:srgbClr val="E69138"/>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Mode</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Conversation style</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Youthful and modern</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60 secs length</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3 months initial duration</a:t>
            </a:r>
            <a:endParaRPr sz="1600">
              <a:solidFill>
                <a:schemeClr val="dk1"/>
              </a:solidFill>
              <a:latin typeface="Lato"/>
              <a:ea typeface="Lato"/>
              <a:cs typeface="Lato"/>
              <a:sym typeface="Lato"/>
            </a:endParaRPr>
          </a:p>
        </p:txBody>
      </p:sp>
      <p:sp>
        <p:nvSpPr>
          <p:cNvPr id="876" name="Google Shape;876;p66"/>
          <p:cNvSpPr txBox="1"/>
          <p:nvPr/>
        </p:nvSpPr>
        <p:spPr>
          <a:xfrm>
            <a:off x="6169152" y="2053525"/>
            <a:ext cx="2936100" cy="2991600"/>
          </a:xfrm>
          <a:prstGeom prst="rect">
            <a:avLst/>
          </a:prstGeom>
          <a:noFill/>
          <a:ln w="19050" cap="flat" cmpd="sng">
            <a:solidFill>
              <a:srgbClr val="1155CC"/>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Mode</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rgbClr val="FF0000"/>
                </a:solidFill>
                <a:latin typeface="Lato"/>
                <a:ea typeface="Lato"/>
                <a:cs typeface="Lato"/>
                <a:sym typeface="Lato"/>
              </a:rPr>
              <a:t>Conversation style</a:t>
            </a:r>
            <a:endParaRPr sz="1600">
              <a:solidFill>
                <a:srgbClr val="FF0000"/>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youthful</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60 secs length</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3 months initial duration</a:t>
            </a:r>
            <a:endParaRPr sz="1600">
              <a:solidFill>
                <a:schemeClr val="dk1"/>
              </a:solidFill>
              <a:latin typeface="Lato"/>
              <a:ea typeface="Lato"/>
              <a:cs typeface="Lato"/>
              <a:sym typeface="Lato"/>
            </a:endParaRPr>
          </a:p>
        </p:txBody>
      </p:sp>
      <p:sp>
        <p:nvSpPr>
          <p:cNvPr id="877" name="Google Shape;877;p66"/>
          <p:cNvSpPr txBox="1"/>
          <p:nvPr/>
        </p:nvSpPr>
        <p:spPr>
          <a:xfrm>
            <a:off x="9105252" y="2053525"/>
            <a:ext cx="2936100" cy="2991600"/>
          </a:xfrm>
          <a:prstGeom prst="rect">
            <a:avLst/>
          </a:prstGeom>
          <a:noFill/>
          <a:ln w="19050" cap="flat" cmpd="sng">
            <a:solidFill>
              <a:srgbClr val="1155CC"/>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Lato"/>
                <a:ea typeface="Lato"/>
                <a:cs typeface="Lato"/>
                <a:sym typeface="Lato"/>
              </a:rPr>
              <a:t>Tv Stations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NTA</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Channels TV</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Kwara State TV </a:t>
            </a:r>
            <a:endParaRPr sz="1600">
              <a:solidFill>
                <a:schemeClr val="dk1"/>
              </a:solidFill>
              <a:latin typeface="Lato"/>
              <a:ea typeface="Lato"/>
              <a:cs typeface="Lato"/>
              <a:sym typeface="Lato"/>
            </a:endParaRPr>
          </a:p>
        </p:txBody>
      </p:sp>
      <p:sp>
        <p:nvSpPr>
          <p:cNvPr id="878" name="Google Shape;878;p66"/>
          <p:cNvSpPr txBox="1"/>
          <p:nvPr/>
        </p:nvSpPr>
        <p:spPr>
          <a:xfrm>
            <a:off x="6169250" y="1560925"/>
            <a:ext cx="5872200" cy="492600"/>
          </a:xfrm>
          <a:prstGeom prst="rect">
            <a:avLst/>
          </a:prstGeom>
          <a:noFill/>
          <a:ln w="19050" cap="flat" cmpd="sng">
            <a:solidFill>
              <a:srgbClr val="1155CC"/>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solidFill>
                  <a:schemeClr val="dk1"/>
                </a:solidFill>
                <a:latin typeface="Lato"/>
                <a:ea typeface="Lato"/>
                <a:cs typeface="Lato"/>
                <a:sym typeface="Lato"/>
              </a:rPr>
              <a:t>TV</a:t>
            </a:r>
            <a:endParaRPr sz="2000" dirty="0">
              <a:solidFill>
                <a:schemeClr val="dk1"/>
              </a:solidFill>
              <a:latin typeface="Lato"/>
              <a:ea typeface="Lato"/>
              <a:cs typeface="Lato"/>
              <a:sym typeface="Lato"/>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grpSp>
        <p:nvGrpSpPr>
          <p:cNvPr id="883" name="Google Shape;883;p67"/>
          <p:cNvGrpSpPr/>
          <p:nvPr/>
        </p:nvGrpSpPr>
        <p:grpSpPr>
          <a:xfrm>
            <a:off x="9910844" y="5045076"/>
            <a:ext cx="2311056" cy="1847888"/>
            <a:chOff x="9283128" y="4713378"/>
            <a:chExt cx="2938779" cy="2331720"/>
          </a:xfrm>
        </p:grpSpPr>
        <p:sp>
          <p:nvSpPr>
            <p:cNvPr id="884" name="Google Shape;884;p67"/>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5" name="Google Shape;885;p67"/>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6" name="Google Shape;886;p67"/>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887" name="Google Shape;887;p67"/>
          <p:cNvGrpSpPr/>
          <p:nvPr/>
        </p:nvGrpSpPr>
        <p:grpSpPr>
          <a:xfrm>
            <a:off x="593050" y="6292875"/>
            <a:ext cx="11495400" cy="415590"/>
            <a:chOff x="593050" y="6292875"/>
            <a:chExt cx="11495400" cy="415590"/>
          </a:xfrm>
        </p:grpSpPr>
        <p:sp>
          <p:nvSpPr>
            <p:cNvPr id="888" name="Google Shape;888;p67"/>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889" name="Google Shape;889;p67"/>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890" name="Google Shape;890;p67"/>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891" name="Google Shape;891;p67"/>
          <p:cNvSpPr txBox="1"/>
          <p:nvPr/>
        </p:nvSpPr>
        <p:spPr>
          <a:xfrm>
            <a:off x="732900" y="455200"/>
            <a:ext cx="765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dk1"/>
                </a:solidFill>
                <a:latin typeface="Lato"/>
                <a:ea typeface="Lato"/>
                <a:cs typeface="Lato"/>
                <a:sym typeface="Lato"/>
              </a:rPr>
              <a:t>OOH</a:t>
            </a:r>
            <a:endParaRPr sz="2000">
              <a:solidFill>
                <a:schemeClr val="dk1"/>
              </a:solidFill>
              <a:latin typeface="Lato"/>
              <a:ea typeface="Lato"/>
              <a:cs typeface="Lato"/>
              <a:sym typeface="Lato"/>
            </a:endParaRPr>
          </a:p>
        </p:txBody>
      </p:sp>
      <p:sp>
        <p:nvSpPr>
          <p:cNvPr id="892" name="Google Shape;892;p67"/>
          <p:cNvSpPr txBox="1"/>
          <p:nvPr/>
        </p:nvSpPr>
        <p:spPr>
          <a:xfrm>
            <a:off x="917200" y="1924375"/>
            <a:ext cx="5256300" cy="2389200"/>
          </a:xfrm>
          <a:prstGeom prst="rect">
            <a:avLst/>
          </a:prstGeom>
          <a:noFill/>
          <a:ln w="19050" cap="flat" cmpd="sng">
            <a:solidFill>
              <a:srgbClr val="45818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Location Selection</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Out-of-Home will be deployed within Kwara State and its environs</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Targeted locations will include </a:t>
            </a:r>
            <a:endParaRPr sz="1800">
              <a:solidFill>
                <a:schemeClr val="dk1"/>
              </a:solidFill>
              <a:latin typeface="Lato"/>
              <a:ea typeface="Lato"/>
              <a:cs typeface="Lato"/>
              <a:sym typeface="Lato"/>
            </a:endParaRPr>
          </a:p>
          <a:p>
            <a:pPr marL="914400" lvl="1"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within and around tertiary institutions</a:t>
            </a:r>
            <a:endParaRPr sz="1800">
              <a:solidFill>
                <a:schemeClr val="dk1"/>
              </a:solidFill>
              <a:latin typeface="Lato"/>
              <a:ea typeface="Lato"/>
              <a:cs typeface="Lato"/>
              <a:sym typeface="Lato"/>
            </a:endParaRPr>
          </a:p>
          <a:p>
            <a:pPr marL="914400" lvl="1"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Highways</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endParaRPr sz="1800">
              <a:solidFill>
                <a:schemeClr val="dk1"/>
              </a:solidFill>
              <a:latin typeface="Lato"/>
              <a:ea typeface="Lato"/>
              <a:cs typeface="Lato"/>
              <a:sym typeface="Lato"/>
            </a:endParaRPr>
          </a:p>
        </p:txBody>
      </p:sp>
      <p:sp>
        <p:nvSpPr>
          <p:cNvPr id="893" name="Google Shape;893;p67"/>
          <p:cNvSpPr txBox="1"/>
          <p:nvPr/>
        </p:nvSpPr>
        <p:spPr>
          <a:xfrm>
            <a:off x="6173500" y="1924375"/>
            <a:ext cx="5256300" cy="2389200"/>
          </a:xfrm>
          <a:prstGeom prst="rect">
            <a:avLst/>
          </a:prstGeom>
          <a:noFill/>
          <a:ln w="19050" cap="flat" cmpd="sng">
            <a:solidFill>
              <a:srgbClr val="45818E"/>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800">
                <a:solidFill>
                  <a:schemeClr val="dk1"/>
                </a:solidFill>
                <a:latin typeface="Lato"/>
                <a:ea typeface="Lato"/>
                <a:cs typeface="Lato"/>
                <a:sym typeface="Lato"/>
              </a:rPr>
              <a:t>Formats</a:t>
            </a:r>
            <a:endParaRPr sz="1800">
              <a:solidFill>
                <a:schemeClr val="dk1"/>
              </a:solidFill>
              <a:latin typeface="Lato"/>
              <a:ea typeface="Lato"/>
              <a:cs typeface="Lato"/>
              <a:sym typeface="Lato"/>
            </a:endParaRPr>
          </a:p>
          <a:p>
            <a:pPr marL="0" lvl="0" indent="0" algn="l" rtl="0">
              <a:spcBef>
                <a:spcPts val="0"/>
              </a:spcBef>
              <a:spcAft>
                <a:spcPts val="0"/>
              </a:spcAft>
              <a:buNone/>
            </a:pP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Billboards</a:t>
            </a:r>
            <a:endParaRPr sz="1800">
              <a:solidFill>
                <a:schemeClr val="dk1"/>
              </a:solidFill>
              <a:latin typeface="Lato"/>
              <a:ea typeface="Lato"/>
              <a:cs typeface="Lato"/>
              <a:sym typeface="Lato"/>
            </a:endParaRPr>
          </a:p>
          <a:p>
            <a:pPr marL="457200" lvl="0" indent="-342900" algn="l" rtl="0">
              <a:spcBef>
                <a:spcPts val="0"/>
              </a:spcBef>
              <a:spcAft>
                <a:spcPts val="0"/>
              </a:spcAft>
              <a:buClr>
                <a:schemeClr val="dk1"/>
              </a:buClr>
              <a:buSzPts val="1800"/>
              <a:buFont typeface="Lato"/>
              <a:buChar char="●"/>
            </a:pPr>
            <a:r>
              <a:rPr lang="en-US" sz="1800">
                <a:solidFill>
                  <a:schemeClr val="dk1"/>
                </a:solidFill>
                <a:latin typeface="Lato"/>
                <a:ea typeface="Lato"/>
                <a:cs typeface="Lato"/>
                <a:sym typeface="Lato"/>
              </a:rPr>
              <a:t>Lamp posts</a:t>
            </a:r>
            <a:endParaRPr sz="1800">
              <a:solidFill>
                <a:schemeClr val="dk1"/>
              </a:solidFill>
              <a:latin typeface="Lato"/>
              <a:ea typeface="Lato"/>
              <a:cs typeface="Lato"/>
              <a:sym typeface="Lat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68"/>
          <p:cNvSpPr/>
          <p:nvPr/>
        </p:nvSpPr>
        <p:spPr>
          <a:xfrm>
            <a:off x="0" y="2208700"/>
            <a:ext cx="8040900" cy="1275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899" name="Google Shape;899;p68"/>
          <p:cNvGrpSpPr/>
          <p:nvPr/>
        </p:nvGrpSpPr>
        <p:grpSpPr>
          <a:xfrm>
            <a:off x="9910844" y="5045076"/>
            <a:ext cx="2311056" cy="1847888"/>
            <a:chOff x="9283128" y="4713378"/>
            <a:chExt cx="2938779" cy="2331720"/>
          </a:xfrm>
        </p:grpSpPr>
        <p:sp>
          <p:nvSpPr>
            <p:cNvPr id="900" name="Google Shape;900;p68"/>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1" name="Google Shape;901;p68"/>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2" name="Google Shape;902;p68"/>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03" name="Google Shape;903;p68"/>
          <p:cNvGrpSpPr/>
          <p:nvPr/>
        </p:nvGrpSpPr>
        <p:grpSpPr>
          <a:xfrm>
            <a:off x="593050" y="6292875"/>
            <a:ext cx="11495400" cy="415590"/>
            <a:chOff x="593050" y="6292875"/>
            <a:chExt cx="11495400" cy="415590"/>
          </a:xfrm>
        </p:grpSpPr>
        <p:sp>
          <p:nvSpPr>
            <p:cNvPr id="904" name="Google Shape;904;p68"/>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905" name="Google Shape;905;p68"/>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906" name="Google Shape;906;p68"/>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907" name="Google Shape;907;p68"/>
          <p:cNvSpPr txBox="1"/>
          <p:nvPr/>
        </p:nvSpPr>
        <p:spPr>
          <a:xfrm>
            <a:off x="159625" y="2461200"/>
            <a:ext cx="7655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dk1"/>
                </a:solidFill>
                <a:latin typeface="Lato"/>
                <a:ea typeface="Lato"/>
                <a:cs typeface="Lato"/>
                <a:sym typeface="Lato"/>
              </a:rPr>
              <a:t>EVENTS</a:t>
            </a:r>
            <a:endParaRPr sz="2300">
              <a:solidFill>
                <a:schemeClr val="dk1"/>
              </a:solidFill>
              <a:latin typeface="Lato"/>
              <a:ea typeface="Lato"/>
              <a:cs typeface="Lato"/>
              <a:sym typeface="Lato"/>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grpSp>
        <p:nvGrpSpPr>
          <p:cNvPr id="912" name="Google Shape;912;p69"/>
          <p:cNvGrpSpPr/>
          <p:nvPr/>
        </p:nvGrpSpPr>
        <p:grpSpPr>
          <a:xfrm>
            <a:off x="9910844" y="5045076"/>
            <a:ext cx="2311056" cy="1847888"/>
            <a:chOff x="9283128" y="4713378"/>
            <a:chExt cx="2938779" cy="2331720"/>
          </a:xfrm>
        </p:grpSpPr>
        <p:sp>
          <p:nvSpPr>
            <p:cNvPr id="913" name="Google Shape;913;p69"/>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4" name="Google Shape;914;p69"/>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5" name="Google Shape;915;p69"/>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16" name="Google Shape;916;p69"/>
          <p:cNvGrpSpPr/>
          <p:nvPr/>
        </p:nvGrpSpPr>
        <p:grpSpPr>
          <a:xfrm>
            <a:off x="593050" y="6292875"/>
            <a:ext cx="11495400" cy="415590"/>
            <a:chOff x="593050" y="6292875"/>
            <a:chExt cx="11495400" cy="415590"/>
          </a:xfrm>
        </p:grpSpPr>
        <p:sp>
          <p:nvSpPr>
            <p:cNvPr id="917" name="Google Shape;917;p69"/>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918" name="Google Shape;918;p69"/>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919" name="Google Shape;919;p69"/>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920" name="Google Shape;920;p69"/>
          <p:cNvSpPr txBox="1"/>
          <p:nvPr/>
        </p:nvSpPr>
        <p:spPr>
          <a:xfrm>
            <a:off x="590250" y="10400"/>
            <a:ext cx="765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dk1"/>
                </a:solidFill>
                <a:latin typeface="Lato"/>
                <a:ea typeface="Lato"/>
                <a:cs typeface="Lato"/>
                <a:sym typeface="Lato"/>
              </a:rPr>
              <a:t>EVENTS </a:t>
            </a:r>
            <a:endParaRPr sz="2000">
              <a:solidFill>
                <a:schemeClr val="dk1"/>
              </a:solidFill>
              <a:latin typeface="Lato"/>
              <a:ea typeface="Lato"/>
              <a:cs typeface="Lato"/>
              <a:sym typeface="Lato"/>
            </a:endParaRPr>
          </a:p>
        </p:txBody>
      </p:sp>
      <p:sp>
        <p:nvSpPr>
          <p:cNvPr id="921" name="Google Shape;921;p69"/>
          <p:cNvSpPr txBox="1"/>
          <p:nvPr/>
        </p:nvSpPr>
        <p:spPr>
          <a:xfrm>
            <a:off x="593050" y="503000"/>
            <a:ext cx="11495400" cy="363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Lato"/>
                <a:ea typeface="Lato"/>
                <a:cs typeface="Lato"/>
                <a:sym typeface="Lato"/>
              </a:rPr>
              <a:t>To increase brand visibility and positioning, Ilorin innovation hub can facilitate connections between members, investors and industry leaders through networking events.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r>
              <a:rPr lang="en-US" sz="1600">
                <a:solidFill>
                  <a:schemeClr val="dk1"/>
                </a:solidFill>
                <a:latin typeface="Lato"/>
                <a:ea typeface="Lato"/>
                <a:cs typeface="Lato"/>
                <a:sym typeface="Lato"/>
              </a:rPr>
              <a:t>Host a monthly “Innovation Meet-up” with guest speakers, either local or international or sponsor relevant industry events like conferences, seminars or Tech-Fests and create buzz around the these events.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r>
              <a:rPr lang="en-US" sz="1600">
                <a:solidFill>
                  <a:schemeClr val="dk1"/>
                </a:solidFill>
                <a:latin typeface="Lato"/>
                <a:ea typeface="Lato"/>
                <a:cs typeface="Lato"/>
                <a:sym typeface="Lato"/>
              </a:rPr>
              <a:t>Host workshop events on specific topics relevant to innovation like</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Design thinking</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Business model development</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Demo/Pitch events ( a quarterly event where members of startups present their ideas to a panel of investors, angel investors and receive valuable feedback)</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Training sessions</a:t>
            </a:r>
            <a:endParaRPr sz="1600">
              <a:solidFill>
                <a:schemeClr val="dk1"/>
              </a:solidFill>
              <a:latin typeface="Lato"/>
              <a:ea typeface="Lato"/>
              <a:cs typeface="Lato"/>
              <a:sym typeface="Lato"/>
            </a:endParaRPr>
          </a:p>
          <a:p>
            <a:pPr marL="0" lvl="0" indent="0" algn="l" rtl="0">
              <a:spcBef>
                <a:spcPts val="0"/>
              </a:spcBef>
              <a:spcAft>
                <a:spcPts val="0"/>
              </a:spcAft>
              <a:buNone/>
            </a:pPr>
            <a:r>
              <a:rPr lang="en-US" sz="1600">
                <a:solidFill>
                  <a:schemeClr val="dk1"/>
                </a:solidFill>
                <a:latin typeface="Lato"/>
                <a:ea typeface="Lato"/>
                <a:cs typeface="Lato"/>
                <a:sym typeface="Lato"/>
              </a:rPr>
              <a:t>Attend industry events and secure speaking opportunities to showcase the hub’s expertise in the industry. Some potential events are:</a:t>
            </a:r>
            <a:endParaRPr sz="1600">
              <a:solidFill>
                <a:schemeClr val="dk1"/>
              </a:solidFill>
              <a:latin typeface="Lato"/>
              <a:ea typeface="Lato"/>
              <a:cs typeface="Lato"/>
              <a:sym typeface="Lato"/>
            </a:endParaRPr>
          </a:p>
        </p:txBody>
      </p:sp>
      <p:graphicFrame>
        <p:nvGraphicFramePr>
          <p:cNvPr id="922" name="Google Shape;922;p69"/>
          <p:cNvGraphicFramePr/>
          <p:nvPr/>
        </p:nvGraphicFramePr>
        <p:xfrm>
          <a:off x="473450" y="3982375"/>
          <a:ext cx="11495400" cy="2733455"/>
        </p:xfrm>
        <a:graphic>
          <a:graphicData uri="http://schemas.openxmlformats.org/drawingml/2006/table">
            <a:tbl>
              <a:tblPr>
                <a:noFill/>
                <a:tableStyleId>{FB587A9B-5581-4698-A67C-3324757FB292}</a:tableStyleId>
              </a:tblPr>
              <a:tblGrid>
                <a:gridCol w="1854000">
                  <a:extLst>
                    <a:ext uri="{9D8B030D-6E8A-4147-A177-3AD203B41FA5}">
                      <a16:colId xmlns:a16="http://schemas.microsoft.com/office/drawing/2014/main" val="20000"/>
                    </a:ext>
                  </a:extLst>
                </a:gridCol>
                <a:gridCol w="6973525">
                  <a:extLst>
                    <a:ext uri="{9D8B030D-6E8A-4147-A177-3AD203B41FA5}">
                      <a16:colId xmlns:a16="http://schemas.microsoft.com/office/drawing/2014/main" val="20001"/>
                    </a:ext>
                  </a:extLst>
                </a:gridCol>
                <a:gridCol w="1394975">
                  <a:extLst>
                    <a:ext uri="{9D8B030D-6E8A-4147-A177-3AD203B41FA5}">
                      <a16:colId xmlns:a16="http://schemas.microsoft.com/office/drawing/2014/main" val="20002"/>
                    </a:ext>
                  </a:extLst>
                </a:gridCol>
                <a:gridCol w="127290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en-US" sz="1200" b="1">
                          <a:solidFill>
                            <a:schemeClr val="dk1"/>
                          </a:solidFill>
                          <a:latin typeface="Lato"/>
                          <a:ea typeface="Lato"/>
                          <a:cs typeface="Lato"/>
                          <a:sym typeface="Lato"/>
                        </a:rPr>
                        <a:t>Event</a:t>
                      </a:r>
                      <a:endParaRPr sz="1200" b="1">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b="1">
                          <a:solidFill>
                            <a:schemeClr val="dk1"/>
                          </a:solidFill>
                          <a:latin typeface="Lato"/>
                          <a:ea typeface="Lato"/>
                          <a:cs typeface="Lato"/>
                          <a:sym typeface="Lato"/>
                        </a:rPr>
                        <a:t>Description</a:t>
                      </a:r>
                      <a:endParaRPr sz="1200" b="1">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b="1">
                          <a:solidFill>
                            <a:schemeClr val="dk1"/>
                          </a:solidFill>
                          <a:latin typeface="Lato"/>
                          <a:ea typeface="Lato"/>
                          <a:cs typeface="Lato"/>
                          <a:sym typeface="Lato"/>
                        </a:rPr>
                        <a:t>Location</a:t>
                      </a:r>
                      <a:endParaRPr sz="1200" b="1">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200" b="1">
                          <a:solidFill>
                            <a:schemeClr val="dk1"/>
                          </a:solidFill>
                          <a:latin typeface="Lato"/>
                          <a:ea typeface="Lato"/>
                          <a:cs typeface="Lato"/>
                          <a:sym typeface="Lato"/>
                        </a:rPr>
                        <a:t>Date</a:t>
                      </a:r>
                      <a:endParaRPr sz="1200" b="1">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200">
                          <a:solidFill>
                            <a:schemeClr val="dk1"/>
                          </a:solidFill>
                          <a:uFill>
                            <a:noFill/>
                          </a:uFill>
                          <a:latin typeface="Lato"/>
                          <a:ea typeface="Lato"/>
                          <a:cs typeface="Lato"/>
                          <a:sym typeface="Lato"/>
                          <a:hlinkClick r:id="rId4">
                            <a:extLst>
                              <a:ext uri="{A12FA001-AC4F-418D-AE19-62706E023703}">
                                <ahyp:hlinkClr xmlns:ahyp="http://schemas.microsoft.com/office/drawing/2018/hyperlinkcolor" val="tx"/>
                              </a:ext>
                            </a:extLst>
                          </a:hlinkClick>
                        </a:rPr>
                        <a:t>Africa Technology Expo 2024</a:t>
                      </a:r>
                      <a:endParaRPr sz="1200">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Engage with industry experts, entrepreneurs, and enthusiasts in discussions on the future of technology in Africa featuring interactive demos, engaging presentations, and insightful panel discussions.</a:t>
                      </a:r>
                      <a:endParaRPr sz="1200">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Lagos, Nigeria</a:t>
                      </a:r>
                      <a:endParaRPr sz="1200">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June 22nd, 2024</a:t>
                      </a:r>
                      <a:endParaRPr sz="1200">
                        <a:solidFill>
                          <a:schemeClr val="dk1"/>
                        </a:solidFill>
                        <a:latin typeface="Lato"/>
                        <a:ea typeface="Lato"/>
                        <a:cs typeface="Lato"/>
                        <a:sym typeface="Lato"/>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Africa Startup Festival</a:t>
                      </a:r>
                      <a:endParaRPr sz="1200">
                        <a:solidFill>
                          <a:schemeClr val="dk1"/>
                        </a:solidFill>
                        <a:latin typeface="Lato"/>
                        <a:ea typeface="Lato"/>
                        <a:cs typeface="Lato"/>
                        <a:sym typeface="Lato"/>
                      </a:endParaRPr>
                    </a:p>
                  </a:txBody>
                  <a:tcPr marL="91425" marR="95250" marT="76200" marB="76200"/>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This event is mostly a networking opportunity for investors and startups with speaking and exhibition opportunities.</a:t>
                      </a:r>
                      <a:endParaRPr sz="1200">
                        <a:solidFill>
                          <a:schemeClr val="dk1"/>
                        </a:solidFill>
                        <a:latin typeface="Lato"/>
                        <a:ea typeface="Lato"/>
                        <a:cs typeface="Lato"/>
                        <a:sym typeface="Lato"/>
                      </a:endParaRPr>
                    </a:p>
                  </a:txBody>
                  <a:tcPr marL="95250" marR="95250" marT="76200" marB="76200"/>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Lagos, Nigeria</a:t>
                      </a:r>
                      <a:endParaRPr sz="1200">
                        <a:solidFill>
                          <a:schemeClr val="dk1"/>
                        </a:solidFill>
                        <a:latin typeface="Lato"/>
                        <a:ea typeface="Lato"/>
                        <a:cs typeface="Lato"/>
                        <a:sym typeface="Lato"/>
                      </a:endParaRPr>
                    </a:p>
                  </a:txBody>
                  <a:tcPr marL="95250" marR="95250" marT="76200" marB="762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November 11, 2024</a:t>
                      </a:r>
                      <a:endParaRPr sz="1200">
                        <a:solidFill>
                          <a:schemeClr val="dk1"/>
                        </a:solidFill>
                        <a:latin typeface="Lato"/>
                        <a:ea typeface="Lato"/>
                        <a:cs typeface="Lato"/>
                        <a:sym typeface="Lato"/>
                      </a:endParaRPr>
                    </a:p>
                  </a:txBody>
                  <a:tcPr marL="95250" marR="95250" marT="76200" marB="762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Africa Tech Festival</a:t>
                      </a:r>
                      <a:endParaRPr sz="1200">
                        <a:solidFill>
                          <a:schemeClr val="dk1"/>
                        </a:solidFill>
                        <a:latin typeface="Lato"/>
                        <a:ea typeface="Lato"/>
                        <a:cs typeface="Lato"/>
                        <a:sym typeface="Lato"/>
                      </a:endParaRPr>
                    </a:p>
                  </a:txBody>
                  <a:tcPr marL="91425" marR="95250" marT="76200" marB="76200">
                    <a:lnB w="7925" cap="flat" cmpd="sng">
                      <a:solidFill>
                        <a:srgbClr val="CCCCCC"/>
                      </a:solidFill>
                      <a:prstDash val="solid"/>
                      <a:round/>
                      <a:headEnd type="none" w="sm" len="sm"/>
                      <a:tailEnd type="none" w="sm" len="sm"/>
                    </a:lnB>
                  </a:tcPr>
                </a:tc>
                <a:tc>
                  <a:txBody>
                    <a:bodyPr/>
                    <a:lstStyle/>
                    <a:p>
                      <a:pPr marL="0" lvl="0" indent="0" algn="l" rtl="0">
                        <a:lnSpc>
                          <a:spcPct val="120000"/>
                        </a:lnSpc>
                        <a:spcBef>
                          <a:spcPts val="0"/>
                        </a:spcBef>
                        <a:spcAft>
                          <a:spcPts val="1500"/>
                        </a:spcAft>
                        <a:buNone/>
                      </a:pPr>
                      <a:r>
                        <a:rPr lang="en-US" sz="1200">
                          <a:solidFill>
                            <a:schemeClr val="dk1"/>
                          </a:solidFill>
                          <a:latin typeface="Lato"/>
                          <a:ea typeface="Lato"/>
                          <a:cs typeface="Lato"/>
                          <a:sym typeface="Lato"/>
                        </a:rPr>
                        <a:t>Connect with Africa's tech and business sectors for a  inclusive digital continent</a:t>
                      </a:r>
                      <a:endParaRPr sz="1200">
                        <a:solidFill>
                          <a:schemeClr val="dk1"/>
                        </a:solidFill>
                        <a:latin typeface="Lato"/>
                        <a:ea typeface="Lato"/>
                        <a:cs typeface="Lato"/>
                        <a:sym typeface="Lato"/>
                      </a:endParaRPr>
                    </a:p>
                  </a:txBody>
                  <a:tcPr marL="95250" marR="95250" marT="76200" marB="76200">
                    <a:lnB w="79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Cape Town, South Africa</a:t>
                      </a:r>
                      <a:endParaRPr sz="1200">
                        <a:solidFill>
                          <a:schemeClr val="dk1"/>
                        </a:solidFill>
                        <a:latin typeface="Lato"/>
                        <a:ea typeface="Lato"/>
                        <a:cs typeface="Lato"/>
                        <a:sym typeface="Lato"/>
                      </a:endParaRPr>
                    </a:p>
                  </a:txBody>
                  <a:tcPr marL="95250" marR="95250" marT="76200" marB="76200">
                    <a:lnR w="9525" cap="flat" cmpd="sng">
                      <a:solidFill>
                        <a:srgbClr val="9E9E9E"/>
                      </a:solidFill>
                      <a:prstDash val="solid"/>
                      <a:round/>
                      <a:headEnd type="none" w="sm" len="sm"/>
                      <a:tailEnd type="none" w="sm" len="sm"/>
                    </a:lnR>
                    <a:lnB w="79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r>
                        <a:rPr lang="en-US" sz="1200">
                          <a:solidFill>
                            <a:schemeClr val="dk1"/>
                          </a:solidFill>
                          <a:latin typeface="Lato"/>
                          <a:ea typeface="Lato"/>
                          <a:cs typeface="Lato"/>
                          <a:sym typeface="Lato"/>
                        </a:rPr>
                        <a:t>November 11-14, 2024</a:t>
                      </a:r>
                      <a:endParaRPr sz="1200">
                        <a:solidFill>
                          <a:schemeClr val="dk1"/>
                        </a:solidFill>
                        <a:latin typeface="Lato"/>
                        <a:ea typeface="Lato"/>
                        <a:cs typeface="Lato"/>
                        <a:sym typeface="Lato"/>
                      </a:endParaRPr>
                    </a:p>
                  </a:txBody>
                  <a:tcPr marL="95250" marR="95250" marT="76200" marB="762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79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lnSpc>
                          <a:spcPct val="115000"/>
                        </a:lnSpc>
                        <a:spcBef>
                          <a:spcPts val="0"/>
                        </a:spcBef>
                        <a:spcAft>
                          <a:spcPts val="0"/>
                        </a:spcAft>
                        <a:buNone/>
                      </a:pPr>
                      <a:r>
                        <a:rPr lang="en-US" sz="1200">
                          <a:solidFill>
                            <a:schemeClr val="dk1"/>
                          </a:solidFill>
                          <a:uFill>
                            <a:noFill/>
                          </a:uFill>
                          <a:latin typeface="Lato"/>
                          <a:ea typeface="Lato"/>
                          <a:cs typeface="Lato"/>
                          <a:sym typeface="Lato"/>
                          <a:hlinkClick r:id="rId5">
                            <a:extLst>
                              <a:ext uri="{A12FA001-AC4F-418D-AE19-62706E023703}">
                                <ahyp:hlinkClr xmlns:ahyp="http://schemas.microsoft.com/office/drawing/2018/hyperlinkcolor" val="tx"/>
                              </a:ext>
                            </a:extLst>
                          </a:hlinkClick>
                        </a:rPr>
                        <a:t>MWC Kigali 2024</a:t>
                      </a:r>
                      <a:endParaRPr sz="1200" b="1">
                        <a:solidFill>
                          <a:schemeClr val="dk1"/>
                        </a:solidFill>
                        <a:latin typeface="Lato"/>
                        <a:ea typeface="Lato"/>
                        <a:cs typeface="Lato"/>
                        <a:sym typeface="Lato"/>
                      </a:endParaRPr>
                    </a:p>
                  </a:txBody>
                  <a:tcPr marL="184150" marR="184150" marT="92075" marB="92075" anchor="ctr">
                    <a:lnL w="7925" cap="flat" cmpd="sng">
                      <a:solidFill>
                        <a:srgbClr val="CCCCCC"/>
                      </a:solidFill>
                      <a:prstDash val="solid"/>
                      <a:round/>
                      <a:headEnd type="none" w="sm" len="sm"/>
                      <a:tailEnd type="none" w="sm" len="sm"/>
                    </a:lnL>
                    <a:lnR w="7925" cap="flat" cmpd="sng">
                      <a:solidFill>
                        <a:srgbClr val="CCCCCC"/>
                      </a:solidFill>
                      <a:prstDash val="solid"/>
                      <a:round/>
                      <a:headEnd type="none" w="sm" len="sm"/>
                      <a:tailEnd type="none" w="sm" len="sm"/>
                    </a:lnR>
                    <a:lnT w="7925" cap="flat" cmpd="sng">
                      <a:solidFill>
                        <a:srgbClr val="CCCCCC"/>
                      </a:solidFill>
                      <a:prstDash val="solid"/>
                      <a:round/>
                      <a:headEnd type="none" w="sm" len="sm"/>
                      <a:tailEnd type="none" w="sm" len="sm"/>
                    </a:lnT>
                    <a:lnB w="7925" cap="flat" cmpd="sng">
                      <a:solidFill>
                        <a:srgbClr val="CCCCCC"/>
                      </a:solidFill>
                      <a:prstDash val="solid"/>
                      <a:round/>
                      <a:headEnd type="none" w="sm" len="sm"/>
                      <a:tailEnd type="none" w="sm" len="sm"/>
                    </a:lnB>
                    <a:solidFill>
                      <a:srgbClr val="F7F7F7"/>
                    </a:solidFill>
                  </a:tcPr>
                </a:tc>
                <a:tc>
                  <a:txBody>
                    <a:bodyPr/>
                    <a:lstStyle/>
                    <a:p>
                      <a:pPr marL="0" lvl="0" indent="0" algn="l" rtl="0">
                        <a:lnSpc>
                          <a:spcPct val="115000"/>
                        </a:lnSpc>
                        <a:spcBef>
                          <a:spcPts val="0"/>
                        </a:spcBef>
                        <a:spcAft>
                          <a:spcPts val="0"/>
                        </a:spcAft>
                        <a:buNone/>
                      </a:pPr>
                      <a:r>
                        <a:rPr lang="en-US" sz="1200">
                          <a:solidFill>
                            <a:schemeClr val="dk1"/>
                          </a:solidFill>
                          <a:latin typeface="Lato"/>
                          <a:ea typeface="Lato"/>
                          <a:cs typeface="Lato"/>
                          <a:sym typeface="Lato"/>
                        </a:rPr>
                        <a:t>Exploring how mobile technology and digital solutions can address challenges and create opportunities in Africa, covering topics like 5G, FinTech, the digital economy, and health tech.</a:t>
                      </a:r>
                      <a:endParaRPr sz="1200">
                        <a:solidFill>
                          <a:schemeClr val="dk1"/>
                        </a:solidFill>
                        <a:latin typeface="Lato"/>
                        <a:ea typeface="Lato"/>
                        <a:cs typeface="Lato"/>
                        <a:sym typeface="Lato"/>
                      </a:endParaRPr>
                    </a:p>
                  </a:txBody>
                  <a:tcPr marL="184150" marR="184150" marT="92075" marB="92075" anchor="ctr">
                    <a:lnL w="7925" cap="flat" cmpd="sng">
                      <a:solidFill>
                        <a:srgbClr val="CCCCCC"/>
                      </a:solidFill>
                      <a:prstDash val="solid"/>
                      <a:round/>
                      <a:headEnd type="none" w="sm" len="sm"/>
                      <a:tailEnd type="none" w="sm" len="sm"/>
                    </a:lnL>
                    <a:lnR w="7925" cap="flat" cmpd="sng">
                      <a:solidFill>
                        <a:srgbClr val="CCCCCC"/>
                      </a:solidFill>
                      <a:prstDash val="solid"/>
                      <a:round/>
                      <a:headEnd type="none" w="sm" len="sm"/>
                      <a:tailEnd type="none" w="sm" len="sm"/>
                    </a:lnR>
                    <a:lnT w="7925" cap="flat" cmpd="sng">
                      <a:solidFill>
                        <a:srgbClr val="CCCCCC"/>
                      </a:solidFill>
                      <a:prstDash val="solid"/>
                      <a:round/>
                      <a:headEnd type="none" w="sm" len="sm"/>
                      <a:tailEnd type="none" w="sm" len="sm"/>
                    </a:lnT>
                    <a:lnB w="7925" cap="flat" cmpd="sng">
                      <a:solidFill>
                        <a:srgbClr val="CCCCCC"/>
                      </a:solidFill>
                      <a:prstDash val="solid"/>
                      <a:round/>
                      <a:headEnd type="none" w="sm" len="sm"/>
                      <a:tailEnd type="none" w="sm" len="sm"/>
                    </a:lnB>
                    <a:solidFill>
                      <a:srgbClr val="F7F7F7"/>
                    </a:solidFill>
                  </a:tcPr>
                </a:tc>
                <a:tc>
                  <a:txBody>
                    <a:bodyPr/>
                    <a:lstStyle/>
                    <a:p>
                      <a:pPr marL="0" lvl="0" indent="0" algn="l" rtl="0">
                        <a:lnSpc>
                          <a:spcPct val="115000"/>
                        </a:lnSpc>
                        <a:spcBef>
                          <a:spcPts val="0"/>
                        </a:spcBef>
                        <a:spcAft>
                          <a:spcPts val="0"/>
                        </a:spcAft>
                        <a:buNone/>
                      </a:pPr>
                      <a:r>
                        <a:rPr lang="en-US" sz="1200">
                          <a:solidFill>
                            <a:schemeClr val="dk1"/>
                          </a:solidFill>
                          <a:latin typeface="Lato"/>
                          <a:ea typeface="Lato"/>
                          <a:cs typeface="Lato"/>
                          <a:sym typeface="Lato"/>
                        </a:rPr>
                        <a:t>Kigali, Rwanda</a:t>
                      </a:r>
                      <a:endParaRPr sz="1200">
                        <a:solidFill>
                          <a:schemeClr val="dk1"/>
                        </a:solidFill>
                        <a:latin typeface="Lato"/>
                        <a:ea typeface="Lato"/>
                        <a:cs typeface="Lato"/>
                        <a:sym typeface="Lato"/>
                      </a:endParaRPr>
                    </a:p>
                  </a:txBody>
                  <a:tcPr marL="184150" marR="184150" marT="92075" marB="92075" anchor="ctr">
                    <a:lnL w="7925" cap="flat" cmpd="sng">
                      <a:solidFill>
                        <a:srgbClr val="CCCCCC"/>
                      </a:solidFill>
                      <a:prstDash val="solid"/>
                      <a:round/>
                      <a:headEnd type="none" w="sm" len="sm"/>
                      <a:tailEnd type="none" w="sm" len="sm"/>
                    </a:lnL>
                    <a:lnR w="7925" cap="flat" cmpd="sng">
                      <a:solidFill>
                        <a:srgbClr val="CCCCCC"/>
                      </a:solidFill>
                      <a:prstDash val="solid"/>
                      <a:round/>
                      <a:headEnd type="none" w="sm" len="sm"/>
                      <a:tailEnd type="none" w="sm" len="sm"/>
                    </a:lnR>
                    <a:lnT w="7925" cap="flat" cmpd="sng">
                      <a:solidFill>
                        <a:srgbClr val="CCCCCC"/>
                      </a:solidFill>
                      <a:prstDash val="solid"/>
                      <a:round/>
                      <a:headEnd type="none" w="sm" len="sm"/>
                      <a:tailEnd type="none" w="sm" len="sm"/>
                    </a:lnT>
                    <a:lnB w="7925" cap="flat" cmpd="sng">
                      <a:solidFill>
                        <a:srgbClr val="CCCCCC"/>
                      </a:solidFill>
                      <a:prstDash val="solid"/>
                      <a:round/>
                      <a:headEnd type="none" w="sm" len="sm"/>
                      <a:tailEnd type="none" w="sm" len="sm"/>
                    </a:lnB>
                    <a:solidFill>
                      <a:srgbClr val="F7F7F7"/>
                    </a:solidFill>
                  </a:tcPr>
                </a:tc>
                <a:tc>
                  <a:txBody>
                    <a:bodyPr/>
                    <a:lstStyle/>
                    <a:p>
                      <a:pPr marL="0" lvl="0" indent="0" algn="l" rtl="0">
                        <a:lnSpc>
                          <a:spcPct val="115000"/>
                        </a:lnSpc>
                        <a:spcBef>
                          <a:spcPts val="0"/>
                        </a:spcBef>
                        <a:spcAft>
                          <a:spcPts val="0"/>
                        </a:spcAft>
                        <a:buNone/>
                      </a:pPr>
                      <a:r>
                        <a:rPr lang="en-US" sz="1200">
                          <a:solidFill>
                            <a:schemeClr val="dk1"/>
                          </a:solidFill>
                          <a:latin typeface="Lato"/>
                          <a:ea typeface="Lato"/>
                          <a:cs typeface="Lato"/>
                          <a:sym typeface="Lato"/>
                        </a:rPr>
                        <a:t>October 29 – 31 2024</a:t>
                      </a:r>
                      <a:endParaRPr sz="1200">
                        <a:solidFill>
                          <a:schemeClr val="dk1"/>
                        </a:solidFill>
                        <a:latin typeface="Lato"/>
                        <a:ea typeface="Lato"/>
                        <a:cs typeface="Lato"/>
                        <a:sym typeface="Lato"/>
                      </a:endParaRPr>
                    </a:p>
                  </a:txBody>
                  <a:tcPr marL="184150" marR="184150" marT="92075" marB="92075" anchor="ctr">
                    <a:lnL w="7925" cap="flat" cmpd="sng">
                      <a:solidFill>
                        <a:srgbClr val="CCCCCC"/>
                      </a:solidFill>
                      <a:prstDash val="solid"/>
                      <a:round/>
                      <a:headEnd type="none" w="sm" len="sm"/>
                      <a:tailEnd type="none" w="sm" len="sm"/>
                    </a:lnL>
                    <a:lnR w="7925" cap="flat" cmpd="sng">
                      <a:solidFill>
                        <a:srgbClr val="CCCCCC"/>
                      </a:solidFill>
                      <a:prstDash val="solid"/>
                      <a:round/>
                      <a:headEnd type="none" w="sm" len="sm"/>
                      <a:tailEnd type="none" w="sm" len="sm"/>
                    </a:lnR>
                    <a:lnT w="7925" cap="flat" cmpd="sng">
                      <a:solidFill>
                        <a:srgbClr val="CCCCCC"/>
                      </a:solidFill>
                      <a:prstDash val="solid"/>
                      <a:round/>
                      <a:headEnd type="none" w="sm" len="sm"/>
                      <a:tailEnd type="none" w="sm" len="sm"/>
                    </a:lnT>
                    <a:lnB w="7925" cap="flat" cmpd="sng">
                      <a:solidFill>
                        <a:srgbClr val="CCCCCC"/>
                      </a:solidFill>
                      <a:prstDash val="solid"/>
                      <a:round/>
                      <a:headEnd type="none" w="sm" len="sm"/>
                      <a:tailEnd type="none" w="sm" len="sm"/>
                    </a:lnB>
                    <a:solidFill>
                      <a:srgbClr val="F7F7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70"/>
          <p:cNvSpPr/>
          <p:nvPr/>
        </p:nvSpPr>
        <p:spPr>
          <a:xfrm>
            <a:off x="0" y="2208700"/>
            <a:ext cx="8040900" cy="1275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928" name="Google Shape;928;p70"/>
          <p:cNvGrpSpPr/>
          <p:nvPr/>
        </p:nvGrpSpPr>
        <p:grpSpPr>
          <a:xfrm>
            <a:off x="9910844" y="5045076"/>
            <a:ext cx="2311056" cy="1847888"/>
            <a:chOff x="9283128" y="4713378"/>
            <a:chExt cx="2938779" cy="2331720"/>
          </a:xfrm>
        </p:grpSpPr>
        <p:sp>
          <p:nvSpPr>
            <p:cNvPr id="929" name="Google Shape;929;p70"/>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0" name="Google Shape;930;p70"/>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1" name="Google Shape;931;p70"/>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32" name="Google Shape;932;p70"/>
          <p:cNvGrpSpPr/>
          <p:nvPr/>
        </p:nvGrpSpPr>
        <p:grpSpPr>
          <a:xfrm>
            <a:off x="593050" y="6292875"/>
            <a:ext cx="11495400" cy="415590"/>
            <a:chOff x="593050" y="6292875"/>
            <a:chExt cx="11495400" cy="415590"/>
          </a:xfrm>
        </p:grpSpPr>
        <p:sp>
          <p:nvSpPr>
            <p:cNvPr id="933" name="Google Shape;933;p70"/>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934" name="Google Shape;934;p70"/>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935" name="Google Shape;935;p70"/>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936" name="Google Shape;936;p70"/>
          <p:cNvSpPr txBox="1"/>
          <p:nvPr/>
        </p:nvSpPr>
        <p:spPr>
          <a:xfrm>
            <a:off x="159625" y="2461200"/>
            <a:ext cx="76554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solidFill>
                  <a:schemeClr val="dk1"/>
                </a:solidFill>
                <a:latin typeface="Lato"/>
                <a:ea typeface="Lato"/>
                <a:cs typeface="Lato"/>
                <a:sym typeface="Lato"/>
              </a:rPr>
              <a:t>INITIATIVES &amp; PARTNERSHIPS </a:t>
            </a:r>
            <a:endParaRPr sz="2300">
              <a:solidFill>
                <a:schemeClr val="dk1"/>
              </a:solidFill>
              <a:latin typeface="Lato"/>
              <a:ea typeface="Lato"/>
              <a:cs typeface="Lato"/>
              <a:sym typeface="Lato"/>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grpSp>
        <p:nvGrpSpPr>
          <p:cNvPr id="941" name="Google Shape;941;p71"/>
          <p:cNvGrpSpPr/>
          <p:nvPr/>
        </p:nvGrpSpPr>
        <p:grpSpPr>
          <a:xfrm>
            <a:off x="9910844" y="5045076"/>
            <a:ext cx="2311056" cy="1847888"/>
            <a:chOff x="9283128" y="4713378"/>
            <a:chExt cx="2938779" cy="2331720"/>
          </a:xfrm>
        </p:grpSpPr>
        <p:sp>
          <p:nvSpPr>
            <p:cNvPr id="942" name="Google Shape;942;p71"/>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3" name="Google Shape;943;p71"/>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4" name="Google Shape;944;p71"/>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45" name="Google Shape;945;p71"/>
          <p:cNvGrpSpPr/>
          <p:nvPr/>
        </p:nvGrpSpPr>
        <p:grpSpPr>
          <a:xfrm>
            <a:off x="593050" y="6292875"/>
            <a:ext cx="11495400" cy="415590"/>
            <a:chOff x="593050" y="6292875"/>
            <a:chExt cx="11495400" cy="415590"/>
          </a:xfrm>
        </p:grpSpPr>
        <p:sp>
          <p:nvSpPr>
            <p:cNvPr id="946" name="Google Shape;946;p71"/>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947" name="Google Shape;947;p71"/>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948" name="Google Shape;948;p71"/>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949" name="Google Shape;949;p71"/>
          <p:cNvSpPr txBox="1"/>
          <p:nvPr/>
        </p:nvSpPr>
        <p:spPr>
          <a:xfrm>
            <a:off x="732900" y="455200"/>
            <a:ext cx="765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solidFill>
                  <a:schemeClr val="dk1"/>
                </a:solidFill>
                <a:latin typeface="Lato"/>
                <a:ea typeface="Lato"/>
                <a:cs typeface="Lato"/>
                <a:sym typeface="Lato"/>
              </a:rPr>
              <a:t>INITIATIVES &amp; PARTNERSHIPS</a:t>
            </a:r>
            <a:endParaRPr sz="2000">
              <a:solidFill>
                <a:schemeClr val="dk1"/>
              </a:solidFill>
              <a:latin typeface="Lato"/>
              <a:ea typeface="Lato"/>
              <a:cs typeface="Lato"/>
              <a:sym typeface="Lato"/>
            </a:endParaRPr>
          </a:p>
        </p:txBody>
      </p:sp>
      <p:sp>
        <p:nvSpPr>
          <p:cNvPr id="950" name="Google Shape;950;p71"/>
          <p:cNvSpPr txBox="1"/>
          <p:nvPr/>
        </p:nvSpPr>
        <p:spPr>
          <a:xfrm>
            <a:off x="658450" y="1172000"/>
            <a:ext cx="10811400" cy="412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a:solidFill>
                  <a:schemeClr val="dk1"/>
                </a:solidFill>
                <a:latin typeface="Lato"/>
                <a:ea typeface="Lato"/>
                <a:cs typeface="Lato"/>
                <a:sym typeface="Lato"/>
              </a:rPr>
              <a:t>Form partnerships with universities, private and and public corporations, government and NGOs to offer tailored programs for startups, connect with student entrepreneurs, resource sharing and access to industry networks.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r>
              <a:rPr lang="en-US" sz="1600">
                <a:solidFill>
                  <a:schemeClr val="dk1"/>
                </a:solidFill>
                <a:latin typeface="Lato"/>
                <a:ea typeface="Lato"/>
                <a:cs typeface="Lato"/>
                <a:sym typeface="Lato"/>
              </a:rPr>
              <a:t>These initiatives can be advertised and promoted through our different media channels.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Co-host hackathons or innovation challenges for students with universities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Develop joint research projects with universities with focus on areas like; solutions in renewable energy, agriculture, and healthcare</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Partner with government agencies to launch a grant program for innovative startups with social impact.</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Partner with innovation hubs in other countries to co-organise online workshops, webinars on cross-border innovation challenges or for startups looking to expand into new markets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Partner with local businesses to recruit mentors and connect them with hub members</a:t>
            </a:r>
            <a:endParaRPr sz="1600">
              <a:solidFill>
                <a:schemeClr val="dk1"/>
              </a:solidFill>
              <a:latin typeface="Lato"/>
              <a:ea typeface="Lato"/>
              <a:cs typeface="Lato"/>
              <a:sym typeface="Lato"/>
            </a:endParaRPr>
          </a:p>
          <a:p>
            <a:pPr marL="457200" lvl="0" indent="-330200" algn="l" rtl="0">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Collaborate with a bank to offer financial literacy workshops and “Startup Loan Package” with preferential rates for hub members</a:t>
            </a: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a:p>
            <a:pPr marL="0" lvl="0" indent="0" algn="l" rtl="0">
              <a:spcBef>
                <a:spcPts val="0"/>
              </a:spcBef>
              <a:spcAft>
                <a:spcPts val="0"/>
              </a:spcAft>
              <a:buNone/>
            </a:pPr>
            <a:endParaRPr sz="1600">
              <a:solidFill>
                <a:schemeClr val="dk1"/>
              </a:solidFill>
              <a:latin typeface="Lato"/>
              <a:ea typeface="Lato"/>
              <a:cs typeface="Lato"/>
              <a:sym typeface="Lato"/>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grpSp>
        <p:nvGrpSpPr>
          <p:cNvPr id="955" name="Google Shape;955;p72"/>
          <p:cNvGrpSpPr/>
          <p:nvPr/>
        </p:nvGrpSpPr>
        <p:grpSpPr>
          <a:xfrm>
            <a:off x="9910844" y="5045076"/>
            <a:ext cx="2311056" cy="1847888"/>
            <a:chOff x="9283128" y="4713378"/>
            <a:chExt cx="2938779" cy="2331720"/>
          </a:xfrm>
        </p:grpSpPr>
        <p:sp>
          <p:nvSpPr>
            <p:cNvPr id="956" name="Google Shape;956;p72"/>
            <p:cNvSpPr/>
            <p:nvPr/>
          </p:nvSpPr>
          <p:spPr>
            <a:xfrm>
              <a:off x="9283128" y="4713378"/>
              <a:ext cx="2938779" cy="2331720"/>
            </a:xfrm>
            <a:custGeom>
              <a:avLst/>
              <a:gdLst/>
              <a:ahLst/>
              <a:cxnLst/>
              <a:rect l="l" t="t" r="r" b="b"/>
              <a:pathLst>
                <a:path w="2938779" h="2331720" extrusionOk="0">
                  <a:moveTo>
                    <a:pt x="441020" y="1516976"/>
                  </a:moveTo>
                  <a:lnTo>
                    <a:pt x="362051" y="1468793"/>
                  </a:lnTo>
                  <a:lnTo>
                    <a:pt x="336054" y="1512150"/>
                  </a:lnTo>
                  <a:lnTo>
                    <a:pt x="310807" y="1555877"/>
                  </a:lnTo>
                  <a:lnTo>
                    <a:pt x="286283" y="1599958"/>
                  </a:lnTo>
                  <a:lnTo>
                    <a:pt x="262496" y="1644396"/>
                  </a:lnTo>
                  <a:lnTo>
                    <a:pt x="239458" y="1689163"/>
                  </a:lnTo>
                  <a:lnTo>
                    <a:pt x="217157" y="1734261"/>
                  </a:lnTo>
                  <a:lnTo>
                    <a:pt x="195618" y="1779689"/>
                  </a:lnTo>
                  <a:lnTo>
                    <a:pt x="174815" y="1825421"/>
                  </a:lnTo>
                  <a:lnTo>
                    <a:pt x="154762" y="1871459"/>
                  </a:lnTo>
                  <a:lnTo>
                    <a:pt x="135470" y="1917788"/>
                  </a:lnTo>
                  <a:lnTo>
                    <a:pt x="116928" y="1964397"/>
                  </a:lnTo>
                  <a:lnTo>
                    <a:pt x="99148" y="2011286"/>
                  </a:lnTo>
                  <a:lnTo>
                    <a:pt x="82130" y="2058441"/>
                  </a:lnTo>
                  <a:lnTo>
                    <a:pt x="65874" y="2105837"/>
                  </a:lnTo>
                  <a:lnTo>
                    <a:pt x="50393" y="2153488"/>
                  </a:lnTo>
                  <a:lnTo>
                    <a:pt x="35674" y="2201380"/>
                  </a:lnTo>
                  <a:lnTo>
                    <a:pt x="21742" y="2249487"/>
                  </a:lnTo>
                  <a:lnTo>
                    <a:pt x="8559" y="2297849"/>
                  </a:lnTo>
                  <a:lnTo>
                    <a:pt x="0" y="2331351"/>
                  </a:lnTo>
                  <a:lnTo>
                    <a:pt x="95516" y="2331351"/>
                  </a:lnTo>
                  <a:lnTo>
                    <a:pt x="110858" y="2274481"/>
                  </a:lnTo>
                  <a:lnTo>
                    <a:pt x="125247" y="2224875"/>
                  </a:lnTo>
                  <a:lnTo>
                    <a:pt x="140500" y="2175522"/>
                  </a:lnTo>
                  <a:lnTo>
                    <a:pt x="156591" y="2126424"/>
                  </a:lnTo>
                  <a:lnTo>
                    <a:pt x="173520" y="2077605"/>
                  </a:lnTo>
                  <a:lnTo>
                    <a:pt x="191287" y="2029066"/>
                  </a:lnTo>
                  <a:lnTo>
                    <a:pt x="209880" y="1980819"/>
                  </a:lnTo>
                  <a:lnTo>
                    <a:pt x="229311" y="1932876"/>
                  </a:lnTo>
                  <a:lnTo>
                    <a:pt x="249567" y="1885251"/>
                  </a:lnTo>
                  <a:lnTo>
                    <a:pt x="270649" y="1837956"/>
                  </a:lnTo>
                  <a:lnTo>
                    <a:pt x="292544" y="1791004"/>
                  </a:lnTo>
                  <a:lnTo>
                    <a:pt x="315264" y="1744395"/>
                  </a:lnTo>
                  <a:lnTo>
                    <a:pt x="338797" y="1698142"/>
                  </a:lnTo>
                  <a:lnTo>
                    <a:pt x="363143" y="1652270"/>
                  </a:lnTo>
                  <a:lnTo>
                    <a:pt x="388289" y="1606778"/>
                  </a:lnTo>
                  <a:lnTo>
                    <a:pt x="414248" y="1561668"/>
                  </a:lnTo>
                  <a:lnTo>
                    <a:pt x="441020" y="1516976"/>
                  </a:lnTo>
                  <a:close/>
                </a:path>
                <a:path w="2938779" h="2331720" extrusionOk="0">
                  <a:moveTo>
                    <a:pt x="804938" y="1355750"/>
                  </a:moveTo>
                  <a:lnTo>
                    <a:pt x="756627" y="1380490"/>
                  </a:lnTo>
                  <a:lnTo>
                    <a:pt x="727189" y="1420075"/>
                  </a:lnTo>
                  <a:lnTo>
                    <a:pt x="698436" y="1460195"/>
                  </a:lnTo>
                  <a:lnTo>
                    <a:pt x="670369" y="1500809"/>
                  </a:lnTo>
                  <a:lnTo>
                    <a:pt x="642988" y="1541945"/>
                  </a:lnTo>
                  <a:lnTo>
                    <a:pt x="616305" y="1583575"/>
                  </a:lnTo>
                  <a:lnTo>
                    <a:pt x="590334" y="1625701"/>
                  </a:lnTo>
                  <a:lnTo>
                    <a:pt x="565073" y="1668310"/>
                  </a:lnTo>
                  <a:lnTo>
                    <a:pt x="540550" y="1711388"/>
                  </a:lnTo>
                  <a:lnTo>
                    <a:pt x="516750" y="1754936"/>
                  </a:lnTo>
                  <a:lnTo>
                    <a:pt x="493699" y="1798929"/>
                  </a:lnTo>
                  <a:lnTo>
                    <a:pt x="471398" y="1843392"/>
                  </a:lnTo>
                  <a:lnTo>
                    <a:pt x="449859" y="1888274"/>
                  </a:lnTo>
                  <a:lnTo>
                    <a:pt x="429082" y="1933600"/>
                  </a:lnTo>
                  <a:lnTo>
                    <a:pt x="409092" y="1979345"/>
                  </a:lnTo>
                  <a:lnTo>
                    <a:pt x="389877" y="2025497"/>
                  </a:lnTo>
                  <a:lnTo>
                    <a:pt x="371449" y="2072068"/>
                  </a:lnTo>
                  <a:lnTo>
                    <a:pt x="353834" y="2119033"/>
                  </a:lnTo>
                  <a:lnTo>
                    <a:pt x="337032" y="2166391"/>
                  </a:lnTo>
                  <a:lnTo>
                    <a:pt x="321589" y="2212429"/>
                  </a:lnTo>
                  <a:lnTo>
                    <a:pt x="306920" y="2258809"/>
                  </a:lnTo>
                  <a:lnTo>
                    <a:pt x="293014" y="2305532"/>
                  </a:lnTo>
                  <a:lnTo>
                    <a:pt x="285826" y="2331351"/>
                  </a:lnTo>
                  <a:lnTo>
                    <a:pt x="309867" y="2331351"/>
                  </a:lnTo>
                  <a:lnTo>
                    <a:pt x="315290" y="2311908"/>
                  </a:lnTo>
                  <a:lnTo>
                    <a:pt x="329069" y="2265565"/>
                  </a:lnTo>
                  <a:lnTo>
                    <a:pt x="343623" y="2219566"/>
                  </a:lnTo>
                  <a:lnTo>
                    <a:pt x="358940" y="2173909"/>
                  </a:lnTo>
                  <a:lnTo>
                    <a:pt x="375602" y="2126945"/>
                  </a:lnTo>
                  <a:lnTo>
                    <a:pt x="393077" y="2080361"/>
                  </a:lnTo>
                  <a:lnTo>
                    <a:pt x="411353" y="2034171"/>
                  </a:lnTo>
                  <a:lnTo>
                    <a:pt x="430403" y="1988388"/>
                  </a:lnTo>
                  <a:lnTo>
                    <a:pt x="450240" y="1943023"/>
                  </a:lnTo>
                  <a:lnTo>
                    <a:pt x="470852" y="1898078"/>
                  </a:lnTo>
                  <a:lnTo>
                    <a:pt x="492213" y="1853552"/>
                  </a:lnTo>
                  <a:lnTo>
                    <a:pt x="514324" y="1809470"/>
                  </a:lnTo>
                  <a:lnTo>
                    <a:pt x="537197" y="1765833"/>
                  </a:lnTo>
                  <a:lnTo>
                    <a:pt x="560793" y="1722640"/>
                  </a:lnTo>
                  <a:lnTo>
                    <a:pt x="585114" y="1679917"/>
                  </a:lnTo>
                  <a:lnTo>
                    <a:pt x="610158" y="1637665"/>
                  </a:lnTo>
                  <a:lnTo>
                    <a:pt x="635927" y="1595882"/>
                  </a:lnTo>
                  <a:lnTo>
                    <a:pt x="662381" y="1554594"/>
                  </a:lnTo>
                  <a:lnTo>
                    <a:pt x="689533" y="1513801"/>
                  </a:lnTo>
                  <a:lnTo>
                    <a:pt x="717372" y="1473517"/>
                  </a:lnTo>
                  <a:lnTo>
                    <a:pt x="745896" y="1433741"/>
                  </a:lnTo>
                  <a:lnTo>
                    <a:pt x="775081" y="1394485"/>
                  </a:lnTo>
                  <a:lnTo>
                    <a:pt x="804938" y="1355750"/>
                  </a:lnTo>
                  <a:close/>
                </a:path>
                <a:path w="2938779" h="2331720" extrusionOk="0">
                  <a:moveTo>
                    <a:pt x="2938310" y="253987"/>
                  </a:moveTo>
                  <a:lnTo>
                    <a:pt x="2871444" y="256616"/>
                  </a:lnTo>
                  <a:lnTo>
                    <a:pt x="2821419" y="259689"/>
                  </a:lnTo>
                  <a:lnTo>
                    <a:pt x="2771622" y="263626"/>
                  </a:lnTo>
                  <a:lnTo>
                    <a:pt x="2722080" y="268401"/>
                  </a:lnTo>
                  <a:lnTo>
                    <a:pt x="2672778" y="274040"/>
                  </a:lnTo>
                  <a:lnTo>
                    <a:pt x="2623743" y="280504"/>
                  </a:lnTo>
                  <a:lnTo>
                    <a:pt x="2574975" y="287807"/>
                  </a:lnTo>
                  <a:lnTo>
                    <a:pt x="2526474" y="295922"/>
                  </a:lnTo>
                  <a:lnTo>
                    <a:pt x="2478265" y="304863"/>
                  </a:lnTo>
                  <a:lnTo>
                    <a:pt x="2430335" y="314604"/>
                  </a:lnTo>
                  <a:lnTo>
                    <a:pt x="2382710" y="325158"/>
                  </a:lnTo>
                  <a:lnTo>
                    <a:pt x="2335377" y="336499"/>
                  </a:lnTo>
                  <a:lnTo>
                    <a:pt x="2288362" y="348627"/>
                  </a:lnTo>
                  <a:lnTo>
                    <a:pt x="2241664" y="361530"/>
                  </a:lnTo>
                  <a:lnTo>
                    <a:pt x="2193721" y="375691"/>
                  </a:lnTo>
                  <a:lnTo>
                    <a:pt x="2146135" y="390664"/>
                  </a:lnTo>
                  <a:lnTo>
                    <a:pt x="2098916" y="406450"/>
                  </a:lnTo>
                  <a:lnTo>
                    <a:pt x="2052066" y="423037"/>
                  </a:lnTo>
                  <a:lnTo>
                    <a:pt x="2005596" y="440410"/>
                  </a:lnTo>
                  <a:lnTo>
                    <a:pt x="1959508" y="458558"/>
                  </a:lnTo>
                  <a:lnTo>
                    <a:pt x="1913826" y="477494"/>
                  </a:lnTo>
                  <a:lnTo>
                    <a:pt x="1868538" y="497205"/>
                  </a:lnTo>
                  <a:lnTo>
                    <a:pt x="1823669" y="517664"/>
                  </a:lnTo>
                  <a:lnTo>
                    <a:pt x="1779219" y="538873"/>
                  </a:lnTo>
                  <a:lnTo>
                    <a:pt x="1735201" y="560832"/>
                  </a:lnTo>
                  <a:lnTo>
                    <a:pt x="1691614" y="583526"/>
                  </a:lnTo>
                  <a:lnTo>
                    <a:pt x="1648472" y="606945"/>
                  </a:lnTo>
                  <a:lnTo>
                    <a:pt x="1605788" y="631075"/>
                  </a:lnTo>
                  <a:lnTo>
                    <a:pt x="1563560" y="655929"/>
                  </a:lnTo>
                  <a:lnTo>
                    <a:pt x="1521815" y="681469"/>
                  </a:lnTo>
                  <a:lnTo>
                    <a:pt x="1534045" y="701128"/>
                  </a:lnTo>
                  <a:lnTo>
                    <a:pt x="1578229" y="674128"/>
                  </a:lnTo>
                  <a:lnTo>
                    <a:pt x="1622945" y="647915"/>
                  </a:lnTo>
                  <a:lnTo>
                    <a:pt x="1668183" y="622515"/>
                  </a:lnTo>
                  <a:lnTo>
                    <a:pt x="1713928" y="597916"/>
                  </a:lnTo>
                  <a:lnTo>
                    <a:pt x="1760169" y="574141"/>
                  </a:lnTo>
                  <a:lnTo>
                    <a:pt x="1806905" y="551205"/>
                  </a:lnTo>
                  <a:lnTo>
                    <a:pt x="1854123" y="529107"/>
                  </a:lnTo>
                  <a:lnTo>
                    <a:pt x="1901812" y="507860"/>
                  </a:lnTo>
                  <a:lnTo>
                    <a:pt x="1949970" y="487476"/>
                  </a:lnTo>
                  <a:lnTo>
                    <a:pt x="1998560" y="467969"/>
                  </a:lnTo>
                  <a:lnTo>
                    <a:pt x="2047608" y="449338"/>
                  </a:lnTo>
                  <a:lnTo>
                    <a:pt x="2097087" y="431596"/>
                  </a:lnTo>
                  <a:lnTo>
                    <a:pt x="2146985" y="414756"/>
                  </a:lnTo>
                  <a:lnTo>
                    <a:pt x="2197290" y="398830"/>
                  </a:lnTo>
                  <a:lnTo>
                    <a:pt x="2248014" y="383819"/>
                  </a:lnTo>
                  <a:lnTo>
                    <a:pt x="2294318" y="371030"/>
                  </a:lnTo>
                  <a:lnTo>
                    <a:pt x="2340953" y="358990"/>
                  </a:lnTo>
                  <a:lnTo>
                    <a:pt x="2387879" y="347751"/>
                  </a:lnTo>
                  <a:lnTo>
                    <a:pt x="2435123" y="337286"/>
                  </a:lnTo>
                  <a:lnTo>
                    <a:pt x="2482659" y="327621"/>
                  </a:lnTo>
                  <a:lnTo>
                    <a:pt x="2530475" y="318757"/>
                  </a:lnTo>
                  <a:lnTo>
                    <a:pt x="2578570" y="310705"/>
                  </a:lnTo>
                  <a:lnTo>
                    <a:pt x="2626944" y="303466"/>
                  </a:lnTo>
                  <a:lnTo>
                    <a:pt x="2675585" y="297053"/>
                  </a:lnTo>
                  <a:lnTo>
                    <a:pt x="2724480" y="291465"/>
                  </a:lnTo>
                  <a:lnTo>
                    <a:pt x="2773629" y="286715"/>
                  </a:lnTo>
                  <a:lnTo>
                    <a:pt x="2823019" y="282816"/>
                  </a:lnTo>
                  <a:lnTo>
                    <a:pt x="2872651" y="279781"/>
                  </a:lnTo>
                  <a:lnTo>
                    <a:pt x="2922498" y="277596"/>
                  </a:lnTo>
                  <a:lnTo>
                    <a:pt x="2938310" y="277177"/>
                  </a:lnTo>
                  <a:lnTo>
                    <a:pt x="2938310" y="253987"/>
                  </a:lnTo>
                  <a:close/>
                </a:path>
                <a:path w="2938779" h="2331720" extrusionOk="0">
                  <a:moveTo>
                    <a:pt x="2938310" y="0"/>
                  </a:moveTo>
                  <a:lnTo>
                    <a:pt x="2869082" y="2578"/>
                  </a:lnTo>
                  <a:lnTo>
                    <a:pt x="2817952" y="5549"/>
                  </a:lnTo>
                  <a:lnTo>
                    <a:pt x="2766911" y="9359"/>
                  </a:lnTo>
                  <a:lnTo>
                    <a:pt x="2715958" y="14020"/>
                  </a:lnTo>
                  <a:lnTo>
                    <a:pt x="2665120" y="19507"/>
                  </a:lnTo>
                  <a:lnTo>
                    <a:pt x="2614396" y="25844"/>
                  </a:lnTo>
                  <a:lnTo>
                    <a:pt x="2563799" y="33007"/>
                  </a:lnTo>
                  <a:lnTo>
                    <a:pt x="2513342" y="41008"/>
                  </a:lnTo>
                  <a:lnTo>
                    <a:pt x="2463025" y="49834"/>
                  </a:lnTo>
                  <a:lnTo>
                    <a:pt x="2412873" y="59486"/>
                  </a:lnTo>
                  <a:lnTo>
                    <a:pt x="2362898" y="69964"/>
                  </a:lnTo>
                  <a:lnTo>
                    <a:pt x="2313127" y="81267"/>
                  </a:lnTo>
                  <a:lnTo>
                    <a:pt x="2263533" y="93383"/>
                  </a:lnTo>
                  <a:lnTo>
                    <a:pt x="2214143" y="106324"/>
                  </a:lnTo>
                  <a:lnTo>
                    <a:pt x="2164969" y="120091"/>
                  </a:lnTo>
                  <a:lnTo>
                    <a:pt x="2115997" y="134670"/>
                  </a:lnTo>
                  <a:lnTo>
                    <a:pt x="2067255" y="150063"/>
                  </a:lnTo>
                  <a:lnTo>
                    <a:pt x="2018741" y="166255"/>
                  </a:lnTo>
                  <a:lnTo>
                    <a:pt x="1970481" y="183273"/>
                  </a:lnTo>
                  <a:lnTo>
                    <a:pt x="1922475" y="201091"/>
                  </a:lnTo>
                  <a:lnTo>
                    <a:pt x="1874735" y="219722"/>
                  </a:lnTo>
                  <a:lnTo>
                    <a:pt x="1827276" y="239141"/>
                  </a:lnTo>
                  <a:lnTo>
                    <a:pt x="1780095" y="259372"/>
                  </a:lnTo>
                  <a:lnTo>
                    <a:pt x="1733219" y="280390"/>
                  </a:lnTo>
                  <a:lnTo>
                    <a:pt x="1752422" y="322402"/>
                  </a:lnTo>
                  <a:lnTo>
                    <a:pt x="1798523" y="301726"/>
                  </a:lnTo>
                  <a:lnTo>
                    <a:pt x="1844941" y="281838"/>
                  </a:lnTo>
                  <a:lnTo>
                    <a:pt x="1891652" y="262724"/>
                  </a:lnTo>
                  <a:lnTo>
                    <a:pt x="1938642" y="244398"/>
                  </a:lnTo>
                  <a:lnTo>
                    <a:pt x="1985911" y="226860"/>
                  </a:lnTo>
                  <a:lnTo>
                    <a:pt x="2033435" y="210121"/>
                  </a:lnTo>
                  <a:lnTo>
                    <a:pt x="2081212" y="194170"/>
                  </a:lnTo>
                  <a:lnTo>
                    <a:pt x="2129244" y="179006"/>
                  </a:lnTo>
                  <a:lnTo>
                    <a:pt x="2177504" y="164655"/>
                  </a:lnTo>
                  <a:lnTo>
                    <a:pt x="2225979" y="151104"/>
                  </a:lnTo>
                  <a:lnTo>
                    <a:pt x="2274684" y="138341"/>
                  </a:lnTo>
                  <a:lnTo>
                    <a:pt x="2323579" y="126403"/>
                  </a:lnTo>
                  <a:lnTo>
                    <a:pt x="2372677" y="115252"/>
                  </a:lnTo>
                  <a:lnTo>
                    <a:pt x="2421890" y="104940"/>
                  </a:lnTo>
                  <a:lnTo>
                    <a:pt x="2471293" y="95427"/>
                  </a:lnTo>
                  <a:lnTo>
                    <a:pt x="2520848" y="86728"/>
                  </a:lnTo>
                  <a:lnTo>
                    <a:pt x="2570543" y="78854"/>
                  </a:lnTo>
                  <a:lnTo>
                    <a:pt x="2620378" y="71793"/>
                  </a:lnTo>
                  <a:lnTo>
                    <a:pt x="2670352" y="65557"/>
                  </a:lnTo>
                  <a:lnTo>
                    <a:pt x="2720441" y="60147"/>
                  </a:lnTo>
                  <a:lnTo>
                    <a:pt x="2770632" y="55562"/>
                  </a:lnTo>
                  <a:lnTo>
                    <a:pt x="2820924" y="51816"/>
                  </a:lnTo>
                  <a:lnTo>
                    <a:pt x="2871305" y="48882"/>
                  </a:lnTo>
                  <a:lnTo>
                    <a:pt x="2921762" y="46786"/>
                  </a:lnTo>
                  <a:lnTo>
                    <a:pt x="2938310" y="46380"/>
                  </a:lnTo>
                  <a:lnTo>
                    <a:pt x="2938310"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7" name="Google Shape;957;p72"/>
            <p:cNvSpPr/>
            <p:nvPr/>
          </p:nvSpPr>
          <p:spPr>
            <a:xfrm>
              <a:off x="9482035" y="4880637"/>
              <a:ext cx="1181734" cy="965835"/>
            </a:xfrm>
            <a:custGeom>
              <a:avLst/>
              <a:gdLst/>
              <a:ahLst/>
              <a:cxnLst/>
              <a:rect l="l" t="t" r="r" b="b"/>
              <a:pathLst>
                <a:path w="1181734" h="965835" extrusionOk="0">
                  <a:moveTo>
                    <a:pt x="599719" y="0"/>
                  </a:moveTo>
                  <a:lnTo>
                    <a:pt x="258406" y="0"/>
                  </a:lnTo>
                  <a:lnTo>
                    <a:pt x="0" y="965408"/>
                  </a:lnTo>
                  <a:lnTo>
                    <a:pt x="497319" y="965408"/>
                  </a:lnTo>
                  <a:lnTo>
                    <a:pt x="599719" y="0"/>
                  </a:lnTo>
                  <a:close/>
                </a:path>
                <a:path w="1181734" h="965835" extrusionOk="0">
                  <a:moveTo>
                    <a:pt x="1181417" y="0"/>
                  </a:moveTo>
                  <a:lnTo>
                    <a:pt x="840117" y="0"/>
                  </a:lnTo>
                  <a:lnTo>
                    <a:pt x="581698" y="965408"/>
                  </a:lnTo>
                  <a:lnTo>
                    <a:pt x="1079030" y="965408"/>
                  </a:lnTo>
                  <a:lnTo>
                    <a:pt x="1181417" y="0"/>
                  </a:lnTo>
                  <a:close/>
                </a:path>
              </a:pathLst>
            </a:custGeom>
            <a:solidFill>
              <a:srgbClr val="E6E7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8" name="Google Shape;958;p72"/>
            <p:cNvSpPr/>
            <p:nvPr/>
          </p:nvSpPr>
          <p:spPr>
            <a:xfrm>
              <a:off x="9482035" y="4880637"/>
              <a:ext cx="1181734" cy="965835"/>
            </a:xfrm>
            <a:custGeom>
              <a:avLst/>
              <a:gdLst/>
              <a:ahLst/>
              <a:cxnLst/>
              <a:rect l="l" t="t" r="r" b="b"/>
              <a:pathLst>
                <a:path w="1181734" h="965835" extrusionOk="0">
                  <a:moveTo>
                    <a:pt x="840117" y="0"/>
                  </a:moveTo>
                  <a:lnTo>
                    <a:pt x="1181417" y="0"/>
                  </a:lnTo>
                  <a:lnTo>
                    <a:pt x="1079030" y="965408"/>
                  </a:lnTo>
                  <a:lnTo>
                    <a:pt x="581698" y="965408"/>
                  </a:lnTo>
                  <a:lnTo>
                    <a:pt x="840117" y="0"/>
                  </a:lnTo>
                  <a:close/>
                </a:path>
                <a:path w="1181734" h="965835" extrusionOk="0">
                  <a:moveTo>
                    <a:pt x="258406" y="0"/>
                  </a:moveTo>
                  <a:lnTo>
                    <a:pt x="599719" y="0"/>
                  </a:lnTo>
                  <a:lnTo>
                    <a:pt x="497319" y="965408"/>
                  </a:lnTo>
                  <a:lnTo>
                    <a:pt x="0" y="965408"/>
                  </a:lnTo>
                  <a:lnTo>
                    <a:pt x="258406" y="0"/>
                  </a:lnTo>
                  <a:close/>
                </a:path>
              </a:pathLst>
            </a:custGeom>
            <a:noFill/>
            <a:ln w="9525" cap="flat" cmpd="sng">
              <a:solidFill>
                <a:srgbClr val="D2D3D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59" name="Google Shape;959;p72"/>
          <p:cNvGrpSpPr/>
          <p:nvPr/>
        </p:nvGrpSpPr>
        <p:grpSpPr>
          <a:xfrm>
            <a:off x="593050" y="6292875"/>
            <a:ext cx="11495400" cy="415590"/>
            <a:chOff x="593050" y="6292875"/>
            <a:chExt cx="11495400" cy="415590"/>
          </a:xfrm>
        </p:grpSpPr>
        <p:sp>
          <p:nvSpPr>
            <p:cNvPr id="960" name="Google Shape;960;p72"/>
            <p:cNvSpPr/>
            <p:nvPr/>
          </p:nvSpPr>
          <p:spPr>
            <a:xfrm rot="5400000">
              <a:off x="11313952" y="5964100"/>
              <a:ext cx="302400" cy="11121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cxnSp>
          <p:nvCxnSpPr>
            <p:cNvPr id="961" name="Google Shape;961;p72"/>
            <p:cNvCxnSpPr/>
            <p:nvPr/>
          </p:nvCxnSpPr>
          <p:spPr>
            <a:xfrm>
              <a:off x="10666032" y="6298965"/>
              <a:ext cx="0" cy="409500"/>
            </a:xfrm>
            <a:prstGeom prst="straightConnector1">
              <a:avLst/>
            </a:prstGeom>
            <a:noFill/>
            <a:ln w="9525" cap="flat" cmpd="sng">
              <a:solidFill>
                <a:schemeClr val="dk2"/>
              </a:solidFill>
              <a:prstDash val="solid"/>
              <a:round/>
              <a:headEnd type="none" w="sm" len="sm"/>
              <a:tailEnd type="none" w="sm" len="sm"/>
            </a:ln>
          </p:spPr>
        </p:cxnSp>
        <p:cxnSp>
          <p:nvCxnSpPr>
            <p:cNvPr id="962" name="Google Shape;962;p72"/>
            <p:cNvCxnSpPr/>
            <p:nvPr/>
          </p:nvCxnSpPr>
          <p:spPr>
            <a:xfrm>
              <a:off x="593050" y="6292875"/>
              <a:ext cx="11495400" cy="0"/>
            </a:xfrm>
            <a:prstGeom prst="straightConnector1">
              <a:avLst/>
            </a:prstGeom>
            <a:noFill/>
            <a:ln w="9525" cap="flat" cmpd="sng">
              <a:solidFill>
                <a:schemeClr val="dk2"/>
              </a:solidFill>
              <a:prstDash val="solid"/>
              <a:round/>
              <a:headEnd type="none" w="sm" len="sm"/>
              <a:tailEnd type="none" w="sm" len="sm"/>
            </a:ln>
          </p:spPr>
        </p:cxnSp>
      </p:grpSp>
      <p:sp>
        <p:nvSpPr>
          <p:cNvPr id="963" name="Google Shape;963;p72"/>
          <p:cNvSpPr txBox="1"/>
          <p:nvPr/>
        </p:nvSpPr>
        <p:spPr>
          <a:xfrm>
            <a:off x="249491" y="301523"/>
            <a:ext cx="5979600" cy="485400"/>
          </a:xfrm>
          <a:prstGeom prst="rect">
            <a:avLst/>
          </a:prstGeom>
          <a:noFill/>
          <a:ln>
            <a:noFill/>
          </a:ln>
        </p:spPr>
        <p:txBody>
          <a:bodyPr spcFirstLastPara="1" wrap="square" lIns="68575" tIns="34275" rIns="68575" bIns="34275" anchor="b" anchorCtr="0">
            <a:noAutofit/>
          </a:bodyPr>
          <a:lstStyle/>
          <a:p>
            <a:pPr marL="0" lvl="0" indent="0" algn="l" rtl="0">
              <a:lnSpc>
                <a:spcPct val="115000"/>
              </a:lnSpc>
              <a:spcBef>
                <a:spcPts val="1200"/>
              </a:spcBef>
              <a:spcAft>
                <a:spcPts val="1200"/>
              </a:spcAft>
              <a:buClr>
                <a:schemeClr val="dk1"/>
              </a:buClr>
              <a:buSzPts val="1100"/>
              <a:buFont typeface="Arial"/>
              <a:buNone/>
            </a:pPr>
            <a:r>
              <a:rPr lang="en-US" sz="2200">
                <a:solidFill>
                  <a:schemeClr val="dk1"/>
                </a:solidFill>
                <a:latin typeface="Lato"/>
                <a:ea typeface="Lato"/>
                <a:cs typeface="Lato"/>
                <a:sym typeface="Lato"/>
              </a:rPr>
              <a:t>BUILDING AN INTERNATIONAL PRESENCE</a:t>
            </a:r>
            <a:endParaRPr sz="2700" b="1">
              <a:solidFill>
                <a:srgbClr val="000000"/>
              </a:solidFill>
              <a:latin typeface="Lato"/>
              <a:ea typeface="Lato"/>
              <a:cs typeface="Lato"/>
              <a:sym typeface="Lato"/>
            </a:endParaRPr>
          </a:p>
        </p:txBody>
      </p:sp>
      <p:sp>
        <p:nvSpPr>
          <p:cNvPr id="964" name="Google Shape;964;p72"/>
          <p:cNvSpPr txBox="1"/>
          <p:nvPr/>
        </p:nvSpPr>
        <p:spPr>
          <a:xfrm>
            <a:off x="249500" y="1199625"/>
            <a:ext cx="11752200" cy="4712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1200"/>
              </a:spcBef>
              <a:spcAft>
                <a:spcPts val="0"/>
              </a:spcAft>
              <a:buNone/>
            </a:pPr>
            <a:r>
              <a:rPr lang="en-US" sz="1600">
                <a:solidFill>
                  <a:schemeClr val="dk1"/>
                </a:solidFill>
                <a:latin typeface="Lato"/>
                <a:ea typeface="Lato"/>
                <a:cs typeface="Lato"/>
                <a:sym typeface="Lato"/>
              </a:rPr>
              <a:t>Highlight the hubs potential for international collaborations and the diverse range of innovative startups present by highlighting stories of hub members tackling challenges with global relevance.</a:t>
            </a:r>
            <a:endParaRPr sz="1600">
              <a:solidFill>
                <a:schemeClr val="dk1"/>
              </a:solidFill>
              <a:latin typeface="Lato"/>
              <a:ea typeface="Lato"/>
              <a:cs typeface="Lato"/>
              <a:sym typeface="Lato"/>
            </a:endParaRPr>
          </a:p>
          <a:p>
            <a:pPr marL="0" lvl="0" indent="0" algn="l" rtl="0">
              <a:lnSpc>
                <a:spcPct val="115000"/>
              </a:lnSpc>
              <a:spcBef>
                <a:spcPts val="1200"/>
              </a:spcBef>
              <a:spcAft>
                <a:spcPts val="0"/>
              </a:spcAft>
              <a:buNone/>
            </a:pPr>
            <a:r>
              <a:rPr lang="en-US" sz="1600">
                <a:solidFill>
                  <a:schemeClr val="dk1"/>
                </a:solidFill>
                <a:latin typeface="Lato"/>
                <a:ea typeface="Lato"/>
                <a:cs typeface="Lato"/>
                <a:sym typeface="Lato"/>
              </a:rPr>
              <a:t>Other </a:t>
            </a:r>
            <a:endParaRPr sz="1600">
              <a:solidFill>
                <a:schemeClr val="dk1"/>
              </a:solidFill>
              <a:latin typeface="Lato"/>
              <a:ea typeface="Lato"/>
              <a:cs typeface="Lato"/>
              <a:sym typeface="Lato"/>
            </a:endParaRPr>
          </a:p>
          <a:p>
            <a:pPr marL="457200" lvl="0" indent="-330200" algn="l" rtl="0">
              <a:lnSpc>
                <a:spcPct val="115000"/>
              </a:lnSpc>
              <a:spcBef>
                <a:spcPts val="1200"/>
              </a:spcBef>
              <a:spcAft>
                <a:spcPts val="0"/>
              </a:spcAft>
              <a:buClr>
                <a:schemeClr val="dk1"/>
              </a:buClr>
              <a:buSzPts val="1600"/>
              <a:buFont typeface="Lato"/>
              <a:buChar char="●"/>
            </a:pPr>
            <a:r>
              <a:rPr lang="en-US" sz="1600">
                <a:solidFill>
                  <a:schemeClr val="dk1"/>
                </a:solidFill>
                <a:latin typeface="Lato"/>
                <a:ea typeface="Lato"/>
                <a:cs typeface="Lato"/>
                <a:sym typeface="Lato"/>
              </a:rPr>
              <a:t> Host virtual or in-person conferences, workshops, and webinars featuring international speakers and attracting participants from diverse backgrounds on a topic that is relevant to both regions</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Nominate top startups in international competitions</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Collaborate with international organisations like; MIT, Google, Microsoft etc to run innovation challenges across africa </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Use ads on social media platforms like LinkedIn, which has global presence in the business community will attract international attention.</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Include in our social media campaign the hashtag #Africainnovates in all the posts relating to the hub</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Use blog Posts headlines that highlights the unique value/impact of the hub on a topic with international relevance e.g “The rise of Agritech Startups in Nigeria and how Ilorin innovation hub is supporting them”</a:t>
            </a:r>
            <a:endParaRPr sz="1600">
              <a:solidFill>
                <a:schemeClr val="dk1"/>
              </a:solidFill>
              <a:latin typeface="Lato"/>
              <a:ea typeface="Lato"/>
              <a:cs typeface="Lato"/>
              <a:sym typeface="Lato"/>
            </a:endParaRPr>
          </a:p>
          <a:p>
            <a:pPr marL="457200" lvl="0" indent="-330200" algn="l" rtl="0">
              <a:lnSpc>
                <a:spcPct val="115000"/>
              </a:lnSpc>
              <a:spcBef>
                <a:spcPts val="0"/>
              </a:spcBef>
              <a:spcAft>
                <a:spcPts val="0"/>
              </a:spcAft>
              <a:buClr>
                <a:schemeClr val="dk1"/>
              </a:buClr>
              <a:buSzPts val="1600"/>
              <a:buFont typeface="Lato"/>
              <a:buChar char="●"/>
            </a:pPr>
            <a:r>
              <a:rPr lang="en-US" sz="1600">
                <a:solidFill>
                  <a:schemeClr val="dk1"/>
                </a:solidFill>
                <a:latin typeface="Lato"/>
                <a:ea typeface="Lato"/>
                <a:cs typeface="Lato"/>
                <a:sym typeface="Lato"/>
              </a:rPr>
              <a:t>“Innovate from anywhere challenges” - share your innovation solution for a global problem and win a virtual incubation session at Ilorin Innovation Hub.</a:t>
            </a:r>
            <a:endParaRPr sz="1600">
              <a:solidFill>
                <a:schemeClr val="dk1"/>
              </a:solidFill>
              <a:latin typeface="Lato"/>
              <a:ea typeface="Lato"/>
              <a:cs typeface="Lato"/>
              <a:sym typeface="Lato"/>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grpSp>
        <p:nvGrpSpPr>
          <p:cNvPr id="970" name="Google Shape;970;p73"/>
          <p:cNvGrpSpPr/>
          <p:nvPr/>
        </p:nvGrpSpPr>
        <p:grpSpPr>
          <a:xfrm>
            <a:off x="7994087" y="1333545"/>
            <a:ext cx="3689833" cy="4693137"/>
            <a:chOff x="0" y="2295575"/>
            <a:chExt cx="2286000" cy="2847950"/>
          </a:xfrm>
        </p:grpSpPr>
        <p:grpSp>
          <p:nvGrpSpPr>
            <p:cNvPr id="971" name="Google Shape;971;p73"/>
            <p:cNvGrpSpPr/>
            <p:nvPr/>
          </p:nvGrpSpPr>
          <p:grpSpPr>
            <a:xfrm>
              <a:off x="0" y="2295575"/>
              <a:ext cx="2286000" cy="2847950"/>
              <a:chOff x="0" y="2295575"/>
              <a:chExt cx="2286000" cy="2847950"/>
            </a:xfrm>
          </p:grpSpPr>
          <p:sp>
            <p:nvSpPr>
              <p:cNvPr id="972" name="Google Shape;972;p73"/>
              <p:cNvSpPr/>
              <p:nvPr/>
            </p:nvSpPr>
            <p:spPr>
              <a:xfrm>
                <a:off x="0" y="2823925"/>
                <a:ext cx="2286000" cy="2319600"/>
              </a:xfrm>
              <a:prstGeom prst="rect">
                <a:avLst/>
              </a:prstGeom>
              <a:solidFill>
                <a:srgbClr val="EFEFEF"/>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Arial"/>
                  <a:ea typeface="Arial"/>
                  <a:cs typeface="Arial"/>
                  <a:sym typeface="Arial"/>
                </a:endParaRPr>
              </a:p>
            </p:txBody>
          </p:sp>
          <p:sp>
            <p:nvSpPr>
              <p:cNvPr id="973" name="Google Shape;973;p73"/>
              <p:cNvSpPr/>
              <p:nvPr/>
            </p:nvSpPr>
            <p:spPr>
              <a:xfrm>
                <a:off x="0" y="2295575"/>
                <a:ext cx="2286000" cy="53700"/>
              </a:xfrm>
              <a:prstGeom prst="rect">
                <a:avLst/>
              </a:prstGeom>
              <a:solidFill>
                <a:srgbClr val="EFEFEF"/>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Arial"/>
                  <a:ea typeface="Arial"/>
                  <a:cs typeface="Arial"/>
                  <a:sym typeface="Arial"/>
                </a:endParaRPr>
              </a:p>
            </p:txBody>
          </p:sp>
        </p:grpSp>
        <p:sp>
          <p:nvSpPr>
            <p:cNvPr id="974" name="Google Shape;974;p73"/>
            <p:cNvSpPr txBox="1"/>
            <p:nvPr/>
          </p:nvSpPr>
          <p:spPr>
            <a:xfrm>
              <a:off x="216291" y="2441107"/>
              <a:ext cx="871200" cy="260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2100"/>
                </a:spcAft>
                <a:buClr>
                  <a:schemeClr val="dk1"/>
                </a:buClr>
                <a:buSzPts val="1600"/>
                <a:buFont typeface="Lato"/>
                <a:buNone/>
              </a:pPr>
              <a:r>
                <a:rPr lang="en-US" sz="1600">
                  <a:solidFill>
                    <a:schemeClr val="dk1"/>
                  </a:solidFill>
                  <a:latin typeface="Lato"/>
                  <a:ea typeface="Lato"/>
                  <a:cs typeface="Lato"/>
                  <a:sym typeface="Lato"/>
                </a:rPr>
                <a:t>Benchmark</a:t>
              </a:r>
              <a:endParaRPr sz="1600">
                <a:solidFill>
                  <a:schemeClr val="dk1"/>
                </a:solidFill>
                <a:latin typeface="Lato"/>
                <a:ea typeface="Lato"/>
                <a:cs typeface="Lato"/>
                <a:sym typeface="Lato"/>
              </a:endParaRPr>
            </a:p>
          </p:txBody>
        </p:sp>
        <p:sp>
          <p:nvSpPr>
            <p:cNvPr id="975" name="Google Shape;975;p73"/>
            <p:cNvSpPr txBox="1"/>
            <p:nvPr/>
          </p:nvSpPr>
          <p:spPr>
            <a:xfrm>
              <a:off x="228034" y="2901670"/>
              <a:ext cx="1853400" cy="1695600"/>
            </a:xfrm>
            <a:prstGeom prst="rect">
              <a:avLst/>
            </a:prstGeom>
            <a:noFill/>
            <a:ln>
              <a:noFill/>
            </a:ln>
          </p:spPr>
          <p:txBody>
            <a:bodyPr spcFirstLastPara="1" wrap="square" lIns="121900" tIns="121900" rIns="121900" bIns="121900" anchor="t" anchorCtr="0">
              <a:noAutofit/>
            </a:bodyPr>
            <a:lstStyle/>
            <a:p>
              <a:pPr marL="0" marR="0" lvl="0" indent="0" algn="l" rtl="0">
                <a:lnSpc>
                  <a:spcPct val="90000"/>
                </a:lnSpc>
                <a:spcBef>
                  <a:spcPts val="0"/>
                </a:spcBef>
                <a:spcAft>
                  <a:spcPts val="0"/>
                </a:spcAft>
                <a:buClr>
                  <a:schemeClr val="dk1"/>
                </a:buClr>
                <a:buSzPts val="1600"/>
                <a:buFont typeface="Lato"/>
                <a:buNone/>
              </a:pPr>
              <a:r>
                <a:rPr lang="en-US" sz="1600" b="1">
                  <a:solidFill>
                    <a:schemeClr val="dk1"/>
                  </a:solidFill>
                  <a:latin typeface="Lato"/>
                  <a:ea typeface="Lato"/>
                  <a:cs typeface="Lato"/>
                  <a:sym typeface="Lato"/>
                </a:rPr>
                <a:t>Qualitative:</a:t>
              </a:r>
              <a:endParaRPr sz="1500">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Representation of key messages in reports</a:t>
              </a:r>
              <a:endParaRPr sz="1600" b="0" i="0" u="none" strike="noStrike" cap="none">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Influence of medium (credibility rating; readership / viewership / listenership)</a:t>
              </a:r>
              <a:endParaRPr sz="1500" b="0" i="0" u="none" strike="noStrike" cap="none">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Positioning of stories/photos</a:t>
              </a:r>
              <a:endParaRPr sz="1500" b="0" i="0" u="none" strike="noStrike" cap="none">
                <a:solidFill>
                  <a:schemeClr val="dk1"/>
                </a:solidFill>
                <a:latin typeface="Lato"/>
                <a:ea typeface="Lato"/>
                <a:cs typeface="Lato"/>
                <a:sym typeface="Lato"/>
              </a:endParaRPr>
            </a:p>
            <a:p>
              <a:pPr marL="165100" marR="0" lvl="1" indent="-63500" algn="l" rtl="0">
                <a:lnSpc>
                  <a:spcPct val="90000"/>
                </a:lnSpc>
                <a:spcBef>
                  <a:spcPts val="300"/>
                </a:spcBef>
                <a:spcAft>
                  <a:spcPts val="0"/>
                </a:spcAft>
                <a:buClr>
                  <a:schemeClr val="dk1"/>
                </a:buClr>
                <a:buSzPts val="1600"/>
                <a:buFont typeface="Calibri"/>
                <a:buNone/>
              </a:pPr>
              <a:endParaRPr sz="1600" b="0" i="0" u="none" strike="noStrike" cap="none">
                <a:solidFill>
                  <a:schemeClr val="dk1"/>
                </a:solidFill>
                <a:latin typeface="Lato"/>
                <a:ea typeface="Lato"/>
                <a:cs typeface="Lato"/>
                <a:sym typeface="Lato"/>
              </a:endParaRPr>
            </a:p>
            <a:p>
              <a:pPr marL="0" marR="0" lvl="0" indent="0" algn="l" rtl="0">
                <a:lnSpc>
                  <a:spcPct val="90000"/>
                </a:lnSpc>
                <a:spcBef>
                  <a:spcPts val="300"/>
                </a:spcBef>
                <a:spcAft>
                  <a:spcPts val="0"/>
                </a:spcAft>
                <a:buClr>
                  <a:schemeClr val="dk1"/>
                </a:buClr>
                <a:buSzPts val="1600"/>
                <a:buFont typeface="Lato"/>
                <a:buNone/>
              </a:pPr>
              <a:r>
                <a:rPr lang="en-US" sz="1600" b="1">
                  <a:solidFill>
                    <a:schemeClr val="dk1"/>
                  </a:solidFill>
                  <a:latin typeface="Lato"/>
                  <a:ea typeface="Lato"/>
                  <a:cs typeface="Lato"/>
                  <a:sym typeface="Lato"/>
                </a:rPr>
                <a:t>Quantitative:</a:t>
              </a:r>
              <a:endParaRPr sz="1500">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Volume of coverage</a:t>
              </a:r>
              <a:endParaRPr sz="1600" b="0" i="0" u="none" strike="noStrike" cap="none">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Share of voice in the print, and online media</a:t>
              </a:r>
              <a:endParaRPr sz="1600" b="0" i="0" u="none" strike="noStrike" cap="none">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Sentiments / Tonality</a:t>
              </a:r>
              <a:endParaRPr sz="1600" b="0" i="0" u="none" strike="noStrike" cap="none">
                <a:solidFill>
                  <a:schemeClr val="dk1"/>
                </a:solidFill>
                <a:latin typeface="Lato"/>
                <a:ea typeface="Lato"/>
                <a:cs typeface="Lato"/>
                <a:sym typeface="Lato"/>
              </a:endParaRPr>
            </a:p>
          </p:txBody>
        </p:sp>
      </p:grpSp>
      <p:grpSp>
        <p:nvGrpSpPr>
          <p:cNvPr id="976" name="Google Shape;976;p73"/>
          <p:cNvGrpSpPr/>
          <p:nvPr/>
        </p:nvGrpSpPr>
        <p:grpSpPr>
          <a:xfrm>
            <a:off x="4304160" y="1333545"/>
            <a:ext cx="3689833" cy="4693137"/>
            <a:chOff x="0" y="2295575"/>
            <a:chExt cx="2286000" cy="2847950"/>
          </a:xfrm>
        </p:grpSpPr>
        <p:grpSp>
          <p:nvGrpSpPr>
            <p:cNvPr id="977" name="Google Shape;977;p73"/>
            <p:cNvGrpSpPr/>
            <p:nvPr/>
          </p:nvGrpSpPr>
          <p:grpSpPr>
            <a:xfrm>
              <a:off x="0" y="2295575"/>
              <a:ext cx="2286000" cy="2847950"/>
              <a:chOff x="0" y="2295575"/>
              <a:chExt cx="2286000" cy="2847950"/>
            </a:xfrm>
          </p:grpSpPr>
          <p:sp>
            <p:nvSpPr>
              <p:cNvPr id="978" name="Google Shape;978;p73"/>
              <p:cNvSpPr/>
              <p:nvPr/>
            </p:nvSpPr>
            <p:spPr>
              <a:xfrm>
                <a:off x="0" y="2823925"/>
                <a:ext cx="2286000" cy="2319600"/>
              </a:xfrm>
              <a:prstGeom prst="rect">
                <a:avLst/>
              </a:prstGeom>
              <a:solidFill>
                <a:srgbClr val="EFEFEF"/>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Arial"/>
                  <a:ea typeface="Arial"/>
                  <a:cs typeface="Arial"/>
                  <a:sym typeface="Arial"/>
                </a:endParaRPr>
              </a:p>
            </p:txBody>
          </p:sp>
          <p:sp>
            <p:nvSpPr>
              <p:cNvPr id="979" name="Google Shape;979;p73"/>
              <p:cNvSpPr/>
              <p:nvPr/>
            </p:nvSpPr>
            <p:spPr>
              <a:xfrm>
                <a:off x="0" y="2295575"/>
                <a:ext cx="2286000" cy="53700"/>
              </a:xfrm>
              <a:prstGeom prst="rect">
                <a:avLst/>
              </a:prstGeom>
              <a:solidFill>
                <a:srgbClr val="EFEFEF"/>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Arial"/>
                  <a:ea typeface="Arial"/>
                  <a:cs typeface="Arial"/>
                  <a:sym typeface="Arial"/>
                </a:endParaRPr>
              </a:p>
            </p:txBody>
          </p:sp>
        </p:grpSp>
        <p:sp>
          <p:nvSpPr>
            <p:cNvPr id="980" name="Google Shape;980;p73"/>
            <p:cNvSpPr txBox="1"/>
            <p:nvPr/>
          </p:nvSpPr>
          <p:spPr>
            <a:xfrm>
              <a:off x="216274" y="2441117"/>
              <a:ext cx="1520400" cy="260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2100"/>
                </a:spcAft>
                <a:buClr>
                  <a:schemeClr val="dk1"/>
                </a:buClr>
                <a:buSzPts val="1600"/>
                <a:buFont typeface="Lato"/>
                <a:buNone/>
              </a:pPr>
              <a:r>
                <a:rPr lang="en-US" sz="1600">
                  <a:solidFill>
                    <a:schemeClr val="dk1"/>
                  </a:solidFill>
                  <a:latin typeface="Lato"/>
                  <a:ea typeface="Lato"/>
                  <a:cs typeface="Lato"/>
                  <a:sym typeface="Lato"/>
                </a:rPr>
                <a:t>Measurement</a:t>
              </a:r>
              <a:endParaRPr sz="1600">
                <a:solidFill>
                  <a:schemeClr val="dk1"/>
                </a:solidFill>
                <a:latin typeface="Lato"/>
                <a:ea typeface="Lato"/>
                <a:cs typeface="Lato"/>
                <a:sym typeface="Lato"/>
              </a:endParaRPr>
            </a:p>
          </p:txBody>
        </p:sp>
        <p:sp>
          <p:nvSpPr>
            <p:cNvPr id="981" name="Google Shape;981;p73"/>
            <p:cNvSpPr txBox="1"/>
            <p:nvPr/>
          </p:nvSpPr>
          <p:spPr>
            <a:xfrm>
              <a:off x="216302" y="3073999"/>
              <a:ext cx="1853400" cy="1695600"/>
            </a:xfrm>
            <a:prstGeom prst="rect">
              <a:avLst/>
            </a:prstGeom>
            <a:noFill/>
            <a:ln>
              <a:noFill/>
            </a:ln>
          </p:spPr>
          <p:txBody>
            <a:bodyPr spcFirstLastPara="1" wrap="square" lIns="121900" tIns="121900" rIns="121900" bIns="121900" anchor="t" anchorCtr="0">
              <a:noAutofit/>
            </a:bodyPr>
            <a:lstStyle/>
            <a:p>
              <a:pPr marL="165100" marR="0" lvl="1" indent="-152400" algn="l" rtl="0">
                <a:lnSpc>
                  <a:spcPct val="90000"/>
                </a:lnSpc>
                <a:spcBef>
                  <a:spcPts val="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Degree of Balanced/positive press reports/features on all activities </a:t>
              </a:r>
              <a:endParaRPr sz="1500" b="0" i="0" u="none" strike="noStrike" cap="none">
                <a:solidFill>
                  <a:schemeClr val="dk1"/>
                </a:solidFill>
                <a:latin typeface="Lato"/>
                <a:ea typeface="Lato"/>
                <a:cs typeface="Lato"/>
                <a:sym typeface="Lato"/>
              </a:endParaRPr>
            </a:p>
            <a:p>
              <a:pPr marL="0" marR="0" lvl="0" indent="0" algn="l" rtl="0">
                <a:lnSpc>
                  <a:spcPct val="90000"/>
                </a:lnSpc>
                <a:spcBef>
                  <a:spcPts val="300"/>
                </a:spcBef>
                <a:spcAft>
                  <a:spcPts val="0"/>
                </a:spcAft>
                <a:buClr>
                  <a:schemeClr val="dk1"/>
                </a:buClr>
                <a:buSzPts val="1500"/>
                <a:buFont typeface="Calibri"/>
                <a:buNone/>
              </a:pPr>
              <a:endParaRPr sz="1500">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100% web surveillance with reports on online mentions  and reputation tracking</a:t>
              </a:r>
              <a:endParaRPr sz="1600" b="0" i="0" u="none" strike="noStrike" cap="none">
                <a:solidFill>
                  <a:schemeClr val="dk1"/>
                </a:solidFill>
                <a:latin typeface="Lato"/>
                <a:ea typeface="Lato"/>
                <a:cs typeface="Lato"/>
                <a:sym typeface="Lato"/>
              </a:endParaRPr>
            </a:p>
            <a:p>
              <a:pPr marL="0" marR="0" lvl="0" indent="0" algn="l" rtl="0">
                <a:lnSpc>
                  <a:spcPct val="90000"/>
                </a:lnSpc>
                <a:spcBef>
                  <a:spcPts val="300"/>
                </a:spcBef>
                <a:spcAft>
                  <a:spcPts val="0"/>
                </a:spcAft>
                <a:buClr>
                  <a:schemeClr val="dk1"/>
                </a:buClr>
                <a:buSzPts val="1600"/>
                <a:buFont typeface="Calibri"/>
                <a:buNone/>
              </a:pPr>
              <a:endParaRPr sz="1600">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Availability of up to date press materials</a:t>
              </a:r>
              <a:endParaRPr sz="1600" b="0" i="0" u="none" strike="noStrike" cap="none">
                <a:solidFill>
                  <a:schemeClr val="dk1"/>
                </a:solidFill>
                <a:latin typeface="Lato"/>
                <a:ea typeface="Lato"/>
                <a:cs typeface="Lato"/>
                <a:sym typeface="Lato"/>
              </a:endParaRPr>
            </a:p>
          </p:txBody>
        </p:sp>
        <p:cxnSp>
          <p:nvCxnSpPr>
            <p:cNvPr id="982" name="Google Shape;982;p73"/>
            <p:cNvCxnSpPr/>
            <p:nvPr/>
          </p:nvCxnSpPr>
          <p:spPr>
            <a:xfrm>
              <a:off x="2286000" y="2295575"/>
              <a:ext cx="0" cy="2837400"/>
            </a:xfrm>
            <a:prstGeom prst="straightConnector1">
              <a:avLst/>
            </a:prstGeom>
            <a:noFill/>
            <a:ln w="9525" cap="flat" cmpd="sng">
              <a:solidFill>
                <a:srgbClr val="D9D9D9"/>
              </a:solidFill>
              <a:prstDash val="dot"/>
              <a:round/>
              <a:headEnd type="none" w="sm" len="sm"/>
              <a:tailEnd type="none" w="sm" len="sm"/>
            </a:ln>
          </p:spPr>
        </p:cxnSp>
      </p:grpSp>
      <p:grpSp>
        <p:nvGrpSpPr>
          <p:cNvPr id="983" name="Google Shape;983;p73"/>
          <p:cNvGrpSpPr/>
          <p:nvPr/>
        </p:nvGrpSpPr>
        <p:grpSpPr>
          <a:xfrm>
            <a:off x="614234" y="1333545"/>
            <a:ext cx="3689833" cy="4693137"/>
            <a:chOff x="0" y="2295575"/>
            <a:chExt cx="2286000" cy="2847950"/>
          </a:xfrm>
        </p:grpSpPr>
        <p:grpSp>
          <p:nvGrpSpPr>
            <p:cNvPr id="984" name="Google Shape;984;p73"/>
            <p:cNvGrpSpPr/>
            <p:nvPr/>
          </p:nvGrpSpPr>
          <p:grpSpPr>
            <a:xfrm>
              <a:off x="0" y="2295575"/>
              <a:ext cx="2286000" cy="2847950"/>
              <a:chOff x="0" y="2295575"/>
              <a:chExt cx="2286000" cy="2847950"/>
            </a:xfrm>
          </p:grpSpPr>
          <p:sp>
            <p:nvSpPr>
              <p:cNvPr id="985" name="Google Shape;985;p73"/>
              <p:cNvSpPr/>
              <p:nvPr/>
            </p:nvSpPr>
            <p:spPr>
              <a:xfrm>
                <a:off x="0" y="2823925"/>
                <a:ext cx="2286000" cy="2319600"/>
              </a:xfrm>
              <a:prstGeom prst="rect">
                <a:avLst/>
              </a:prstGeom>
              <a:solidFill>
                <a:srgbClr val="EFEFEF"/>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Arial"/>
                  <a:ea typeface="Arial"/>
                  <a:cs typeface="Arial"/>
                  <a:sym typeface="Arial"/>
                </a:endParaRPr>
              </a:p>
            </p:txBody>
          </p:sp>
          <p:sp>
            <p:nvSpPr>
              <p:cNvPr id="986" name="Google Shape;986;p73"/>
              <p:cNvSpPr/>
              <p:nvPr/>
            </p:nvSpPr>
            <p:spPr>
              <a:xfrm>
                <a:off x="0" y="2295575"/>
                <a:ext cx="2286000" cy="53700"/>
              </a:xfrm>
              <a:prstGeom prst="rect">
                <a:avLst/>
              </a:prstGeom>
              <a:solidFill>
                <a:srgbClr val="EFEFEF"/>
              </a:solidFill>
              <a:ln>
                <a:noFill/>
              </a:ln>
            </p:spPr>
            <p:txBody>
              <a:bodyPr spcFirstLastPara="1" wrap="square" lIns="121900" tIns="121900" rIns="121900" bIns="12190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Arial"/>
                  <a:ea typeface="Arial"/>
                  <a:cs typeface="Arial"/>
                  <a:sym typeface="Arial"/>
                </a:endParaRPr>
              </a:p>
            </p:txBody>
          </p:sp>
        </p:grpSp>
        <p:sp>
          <p:nvSpPr>
            <p:cNvPr id="987" name="Google Shape;987;p73"/>
            <p:cNvSpPr txBox="1"/>
            <p:nvPr/>
          </p:nvSpPr>
          <p:spPr>
            <a:xfrm>
              <a:off x="216302" y="2441117"/>
              <a:ext cx="1506000" cy="260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2100"/>
                </a:spcAft>
                <a:buClr>
                  <a:schemeClr val="dk1"/>
                </a:buClr>
                <a:buSzPts val="1600"/>
                <a:buFont typeface="Lato"/>
                <a:buNone/>
              </a:pPr>
              <a:r>
                <a:rPr lang="en-US" sz="1600">
                  <a:solidFill>
                    <a:schemeClr val="dk1"/>
                  </a:solidFill>
                  <a:latin typeface="Lato"/>
                  <a:ea typeface="Lato"/>
                  <a:cs typeface="Lato"/>
                  <a:sym typeface="Lato"/>
                </a:rPr>
                <a:t>Media Monitoring</a:t>
              </a:r>
              <a:endParaRPr sz="1600">
                <a:solidFill>
                  <a:schemeClr val="dk1"/>
                </a:solidFill>
                <a:latin typeface="Lato"/>
                <a:ea typeface="Lato"/>
                <a:cs typeface="Lato"/>
                <a:sym typeface="Lato"/>
              </a:endParaRPr>
            </a:p>
          </p:txBody>
        </p:sp>
        <p:sp>
          <p:nvSpPr>
            <p:cNvPr id="988" name="Google Shape;988;p73"/>
            <p:cNvSpPr txBox="1"/>
            <p:nvPr/>
          </p:nvSpPr>
          <p:spPr>
            <a:xfrm>
              <a:off x="216298" y="3073999"/>
              <a:ext cx="1853400" cy="1695600"/>
            </a:xfrm>
            <a:prstGeom prst="rect">
              <a:avLst/>
            </a:prstGeom>
            <a:noFill/>
            <a:ln>
              <a:noFill/>
            </a:ln>
          </p:spPr>
          <p:txBody>
            <a:bodyPr spcFirstLastPara="1" wrap="square" lIns="121900" tIns="121900" rIns="121900" bIns="121900" anchor="t" anchorCtr="0">
              <a:noAutofit/>
            </a:bodyPr>
            <a:lstStyle/>
            <a:p>
              <a:pPr marL="165100" marR="0" lvl="1" indent="-152400" algn="l" rtl="0">
                <a:lnSpc>
                  <a:spcPct val="90000"/>
                </a:lnSpc>
                <a:spcBef>
                  <a:spcPts val="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Constantly monitor print and online to track stories and commentaries</a:t>
              </a:r>
              <a:endParaRPr sz="1500" b="0" i="0" u="none" strike="noStrike" cap="none">
                <a:solidFill>
                  <a:schemeClr val="dk1"/>
                </a:solidFill>
                <a:latin typeface="Lato"/>
                <a:ea typeface="Lato"/>
                <a:cs typeface="Lato"/>
                <a:sym typeface="Lato"/>
              </a:endParaRPr>
            </a:p>
            <a:p>
              <a:pPr marL="0" marR="0" lvl="0" indent="0" algn="l" rtl="0">
                <a:lnSpc>
                  <a:spcPct val="90000"/>
                </a:lnSpc>
                <a:spcBef>
                  <a:spcPts val="300"/>
                </a:spcBef>
                <a:spcAft>
                  <a:spcPts val="0"/>
                </a:spcAft>
                <a:buClr>
                  <a:schemeClr val="dk1"/>
                </a:buClr>
                <a:buSzPts val="1600"/>
                <a:buFont typeface="Calibri"/>
                <a:buNone/>
              </a:pPr>
              <a:endParaRPr sz="1600">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Watch for and quickly react to any adversarial issues as well as environmental factors.</a:t>
              </a:r>
              <a:endParaRPr sz="1500" b="0" i="0" u="none" strike="noStrike" cap="none">
                <a:solidFill>
                  <a:schemeClr val="dk1"/>
                </a:solidFill>
                <a:latin typeface="Lato"/>
                <a:ea typeface="Lato"/>
                <a:cs typeface="Lato"/>
                <a:sym typeface="Lato"/>
              </a:endParaRPr>
            </a:p>
            <a:p>
              <a:pPr marL="0" marR="0" lvl="0" indent="0" algn="l" rtl="0">
                <a:lnSpc>
                  <a:spcPct val="90000"/>
                </a:lnSpc>
                <a:spcBef>
                  <a:spcPts val="300"/>
                </a:spcBef>
                <a:spcAft>
                  <a:spcPts val="0"/>
                </a:spcAft>
                <a:buClr>
                  <a:schemeClr val="dk1"/>
                </a:buClr>
                <a:buSzPts val="1600"/>
                <a:buFont typeface="Calibri"/>
                <a:buNone/>
              </a:pPr>
              <a:endParaRPr sz="1600">
                <a:solidFill>
                  <a:schemeClr val="dk1"/>
                </a:solidFill>
                <a:latin typeface="Lato"/>
                <a:ea typeface="Lato"/>
                <a:cs typeface="Lato"/>
                <a:sym typeface="Lato"/>
              </a:endParaRPr>
            </a:p>
            <a:p>
              <a:pPr marL="165100" marR="0" lvl="1" indent="-152400" algn="l" rtl="0">
                <a:lnSpc>
                  <a:spcPct val="90000"/>
                </a:lnSpc>
                <a:spcBef>
                  <a:spcPts val="300"/>
                </a:spcBef>
                <a:spcAft>
                  <a:spcPts val="0"/>
                </a:spcAft>
                <a:buClr>
                  <a:srgbClr val="5E5E5E"/>
                </a:buClr>
                <a:buSzPts val="1200"/>
                <a:buFont typeface="Lato"/>
                <a:buChar char="•"/>
              </a:pPr>
              <a:r>
                <a:rPr lang="en-US" sz="1600" b="0" i="0" u="none" strike="noStrike" cap="none">
                  <a:solidFill>
                    <a:schemeClr val="dk1"/>
                  </a:solidFill>
                  <a:latin typeface="Lato"/>
                  <a:ea typeface="Lato"/>
                  <a:cs typeface="Lato"/>
                  <a:sym typeface="Lato"/>
                </a:rPr>
                <a:t>Reports and clippings sent to Client.</a:t>
              </a:r>
              <a:endParaRPr sz="1600" b="0" i="0" u="none" strike="noStrike" cap="none">
                <a:solidFill>
                  <a:schemeClr val="dk1"/>
                </a:solidFill>
                <a:latin typeface="Lato"/>
                <a:ea typeface="Lato"/>
                <a:cs typeface="Lato"/>
                <a:sym typeface="Lato"/>
              </a:endParaRPr>
            </a:p>
          </p:txBody>
        </p:sp>
        <p:cxnSp>
          <p:nvCxnSpPr>
            <p:cNvPr id="989" name="Google Shape;989;p73"/>
            <p:cNvCxnSpPr/>
            <p:nvPr/>
          </p:nvCxnSpPr>
          <p:spPr>
            <a:xfrm>
              <a:off x="2286000" y="2295575"/>
              <a:ext cx="0" cy="2837400"/>
            </a:xfrm>
            <a:prstGeom prst="straightConnector1">
              <a:avLst/>
            </a:prstGeom>
            <a:noFill/>
            <a:ln w="9525" cap="flat" cmpd="sng">
              <a:solidFill>
                <a:srgbClr val="D9D9D9"/>
              </a:solidFill>
              <a:prstDash val="dot"/>
              <a:round/>
              <a:headEnd type="none" w="sm" len="sm"/>
              <a:tailEnd type="none" w="sm" len="sm"/>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DD7E6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11226</TotalTime>
  <Words>5176</Words>
  <Application>Microsoft Macintosh PowerPoint</Application>
  <PresentationFormat>Widescreen</PresentationFormat>
  <Paragraphs>725</Paragraphs>
  <Slides>58</Slides>
  <Notes>58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Calibri</vt:lpstr>
      <vt:lpstr>Lato Black</vt:lpstr>
      <vt:lpstr>Lato Light</vt:lpstr>
      <vt:lpstr>Arial</vt:lpstr>
      <vt:lpstr>Lato</vt:lpstr>
      <vt:lpstr>Simple Light</vt:lpstr>
      <vt:lpstr>A Marketing &amp; Strategic Communication Plan</vt:lpstr>
      <vt:lpstr>SITUATION AND CONTEXT</vt:lpstr>
      <vt:lpstr>INTRODUCTION</vt:lpstr>
      <vt:lpstr>SOCIO-ECONOMIC BENEFITS OF HUBS</vt:lpstr>
      <vt:lpstr>TRENDS WITHIN THE ECOSYSTEM</vt:lpstr>
      <vt:lpstr>THREATS/CHALLENGES</vt:lpstr>
      <vt:lpstr>PowerPoint Presentation</vt:lpstr>
      <vt:lpstr>PowerPoint Presentation</vt:lpstr>
      <vt:lpstr>MEDIA ANALYSIS OF KEY ISSUE DRIVERS</vt:lpstr>
      <vt:lpstr>NATURE OF STORIES</vt:lpstr>
      <vt:lpstr>PowerPoint Presentation</vt:lpstr>
      <vt:lpstr>OPPORTUNITIES FOR ILORIN INNOVATION HUB</vt:lpstr>
      <vt:lpstr>PLANNING</vt:lpstr>
      <vt:lpstr>COMMUNICATION OBJECTIVES</vt:lpstr>
      <vt:lpstr>KEY STAKEHOLDERS</vt:lpstr>
      <vt:lpstr>PowerPoint Presentation</vt:lpstr>
      <vt:lpstr>PowerPoint Presentation</vt:lpstr>
      <vt:lpstr>PowerPoint Presentation</vt:lpstr>
      <vt:lpstr>PowerPoint Presentation</vt:lpstr>
      <vt:lpstr>PowerPoint Presentation</vt:lpstr>
      <vt:lpstr>PR IMPLEMENTATION</vt:lpstr>
      <vt:lpstr>PowerPoint Presentation</vt:lpstr>
      <vt:lpstr>ROLL OUT</vt:lpstr>
      <vt:lpstr>SPOKESPERSONS MEDIA TRAINING </vt:lpstr>
      <vt:lpstr>PowerPoint Presentation</vt:lpstr>
      <vt:lpstr>TARGET MEDIA SUPPORT GROUP</vt:lpstr>
      <vt:lpstr>PowerPoint Presentation</vt:lpstr>
      <vt:lpstr>PowerPoint Presentation</vt:lpstr>
      <vt:lpstr>PowerPoint Presentation</vt:lpstr>
      <vt:lpstr>PowerPoint Presentation</vt:lpstr>
      <vt:lpstr>PowerPoint Presentation</vt:lpstr>
      <vt:lpstr>RADIO/TV APPEARANCES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Marketing &amp; Strategic Communication Plan</dc:title>
  <dc:creator>Cima Sholotan</dc:creator>
  <cp:lastModifiedBy>Temi Kolawole</cp:lastModifiedBy>
  <cp:revision>4</cp:revision>
  <dcterms:modified xsi:type="dcterms:W3CDTF">2024-04-19T14:01:46Z</dcterms:modified>
</cp:coreProperties>
</file>