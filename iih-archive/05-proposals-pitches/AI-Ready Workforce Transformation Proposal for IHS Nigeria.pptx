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7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3511"/>
    <a:srgbClr val="077B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76"/>
  </p:normalViewPr>
  <p:slideViewPr>
    <p:cSldViewPr snapToGrid="0">
      <p:cViewPr varScale="1">
        <p:scale>
          <a:sx n="92" d="100"/>
          <a:sy n="92" d="100"/>
        </p:scale>
        <p:origin x="132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00993-C78C-F225-50D7-0D2CD30ACA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78B31A-8C95-915B-2D92-3F6F2AC1E4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F2C9E-51BE-4BCE-9D69-B7B68C46A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4540E-8EB8-D94C-98AD-847855CA44B5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AA6B3-DE56-D0B6-3EA9-62620C1E9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39592-3DAE-9A1F-62EB-88C1CE384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B22B6-F461-994E-8223-F2BC36990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380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D8D3B-AA2D-46DF-4D6B-E58C3B3CB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1742A-E171-64A5-DAD0-6AA4F268F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2D407-B62B-0710-9B87-66DEF884E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4540E-8EB8-D94C-98AD-847855CA44B5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B5D74-90B8-0EBA-3B09-42DD3FDDE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91112-B1FB-4273-2CE9-33B43BA9E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B22B6-F461-994E-8223-F2BC36990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747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1B0B8-9C7B-EDE7-75C2-D0BF772E7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199599-2F3F-8FA9-B730-67BD685AFF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0F1C3-170C-0BB2-F3BA-CCB4BAD61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4540E-8EB8-D94C-98AD-847855CA44B5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8581A-34DE-7EDE-72C1-60D0775C1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B8B9F-F614-9575-1B22-3858AF048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B22B6-F461-994E-8223-F2BC36990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493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2347A-9C56-3C9B-9176-055CD19FB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91F84-AB67-412C-1E57-5A447207FA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B20BB7-65CF-D7DC-A0F7-5F248F8889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EF2C97-7196-E679-F9D6-F39DB12AB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4540E-8EB8-D94C-98AD-847855CA44B5}" type="datetimeFigureOut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96FCA0-D07C-9C4B-9D16-E386549DD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607BED-BCA8-67E3-2B7C-2F28CA0C0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B22B6-F461-994E-8223-F2BC36990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230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6DE06-060F-575C-6B50-3F4F83E56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A1F6F-08F1-196D-CE35-A38AA6FA9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D2D612-D42F-F2D9-8D17-C2E8792A8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E9CCBA-3570-0D11-202D-2A0B50BDDC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204CED-03BC-1DCF-1997-15C020244B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FDAF84-9B6C-BC56-34C8-A375D7CE9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4540E-8EB8-D94C-98AD-847855CA44B5}" type="datetimeFigureOut">
              <a:rPr lang="en-US" smtClean="0"/>
              <a:t>9/10/25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724B1A-92F9-3190-019A-956F48508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A99B3A-AD31-E80D-D238-321F5FDC5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B22B6-F461-994E-8223-F2BC36990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860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CB9FE-525C-BF39-1A61-AFBDA98BD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6CB673-BE2F-3319-E1D9-1F7EC8A04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4540E-8EB8-D94C-98AD-847855CA44B5}" type="datetimeFigureOut">
              <a:rPr lang="en-US" smtClean="0"/>
              <a:t>9/10/25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481955-4330-826C-7A3E-82113DB9C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09C9F-8B82-C7FB-381D-92F558BD5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B22B6-F461-994E-8223-F2BC36990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340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D6E17D-C47D-3852-98DB-E48EBD4DA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4540E-8EB8-D94C-98AD-847855CA44B5}" type="datetimeFigureOut">
              <a:rPr lang="en-US" smtClean="0"/>
              <a:t>9/10/25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D47DD6-8AD3-F5F2-F1EF-D75A5DA4E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7A0F6-8D2A-D1BB-A8EE-BB48972D6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B22B6-F461-994E-8223-F2BC36990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161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A735D-3184-5ECA-9839-18984CA5B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DFF20-BEA9-7CDF-1190-D2F573B83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F64ABF-E498-268C-E5C9-695D6156E5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D1D91C-7F5B-EE0F-4D9A-396473AEB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4540E-8EB8-D94C-98AD-847855CA44B5}" type="datetimeFigureOut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F0EDF9-2F25-6410-927E-48CB1A616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E8C14B-8C2C-8D1B-DF28-FCEB9AF1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B22B6-F461-994E-8223-F2BC36990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58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CD6FC-F6DD-E566-56E1-D6367F9EF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401B77-AB9E-3FF5-4C58-3319454002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D4A366-C903-2EAB-FDA5-F868E5EEEB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CBD448-2DB8-98CC-CDAF-ACA83D08E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4540E-8EB8-D94C-98AD-847855CA44B5}" type="datetimeFigureOut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F5080-6ED4-0BB0-DE1E-2B10645C6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4D9B3-7930-E0CF-9D0D-2FD291A80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B22B6-F461-994E-8223-F2BC36990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77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ABBB5-C7BD-9A9C-6BD9-ED875ADAF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D493CB-21A3-297D-EAD3-9D17038886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EE42F-E764-BC80-ED9A-E416AE218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4540E-8EB8-D94C-98AD-847855CA44B5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CF5463-84BE-099A-A4CD-49B8B2101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A8AFE-D6D5-A545-7851-1616FC6FA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B22B6-F461-994E-8223-F2BC36990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38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CFE3AE-FFF2-710F-2297-21D8E3C079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51017-F586-C075-CA51-30203E3DE1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93975-D604-1980-D81F-B037ACCE3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4540E-8EB8-D94C-98AD-847855CA44B5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D19F1-5633-54F4-6BB7-4337CD3DF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25023-C24B-037F-3216-81D0D90F9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B22B6-F461-994E-8223-F2BC36990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474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62EEF6-8177-851A-7D81-5E91404F0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0FC2C-42D6-A52C-A22A-4ACF8D355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6EE4B5-59AF-59DC-FCAC-AE2AE681DC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24540E-8EB8-D94C-98AD-847855CA44B5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A2B72-D849-4ACB-E0C0-D6B27D94D2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DACF1-D179-B49A-C3AA-84FC835CA8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CB22B6-F461-994E-8223-F2BC36990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219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7DB43-B34B-60A0-F1F4-C2B05BBA4C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0E1A3B-07AD-4C94-A96B-485B4CDE1D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8EC51E40-C21E-F2B7-2E53-86C45F007B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227" b="10227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188A3D-FCD9-0C01-C352-41CD1221DB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000" b="25820"/>
          <a:stretch/>
        </p:blipFill>
        <p:spPr>
          <a:xfrm>
            <a:off x="2323476" y="1344320"/>
            <a:ext cx="2104452" cy="9718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6A126D-EE15-384E-B3E7-C832AD3D21FF}"/>
              </a:ext>
            </a:extLst>
          </p:cNvPr>
          <p:cNvSpPr txBox="1"/>
          <p:nvPr/>
        </p:nvSpPr>
        <p:spPr>
          <a:xfrm>
            <a:off x="2323476" y="2863632"/>
            <a:ext cx="795435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AI-Ready Workforce Transformation Proposal for</a:t>
            </a:r>
          </a:p>
          <a:p>
            <a:r>
              <a:rPr lang="en-US" sz="2800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IHS Nigeria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4E7D48-37DF-26C4-F534-AF9AC933A35F}"/>
              </a:ext>
            </a:extLst>
          </p:cNvPr>
          <p:cNvSpPr txBox="1"/>
          <p:nvPr/>
        </p:nvSpPr>
        <p:spPr>
          <a:xfrm>
            <a:off x="2323475" y="3994853"/>
            <a:ext cx="344305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0" i="1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Prepared by Temi Kolawole</a:t>
            </a:r>
            <a:endParaRPr lang="en-US" sz="1400" dirty="0">
              <a:solidFill>
                <a:srgbClr val="000000"/>
              </a:solidFill>
              <a:effectLst/>
              <a:latin typeface="Avenir Book" panose="02000503020000020003" pitchFamily="2" charset="0"/>
            </a:endParaRPr>
          </a:p>
          <a:p>
            <a:r>
              <a:rPr lang="en-US" sz="1400" b="0" i="1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Managing Director, Ilorin Innovation Hub</a:t>
            </a:r>
            <a:endParaRPr lang="en-US" sz="1400" dirty="0">
              <a:solidFill>
                <a:srgbClr val="000000"/>
              </a:solidFill>
              <a:effectLst/>
              <a:latin typeface="Avenir Book" panose="02000503020000020003" pitchFamily="2" charset="0"/>
            </a:endParaRPr>
          </a:p>
          <a:p>
            <a:r>
              <a:rPr lang="en-US" sz="1400" b="0" i="1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August 26, 2025</a:t>
            </a:r>
            <a:endParaRPr lang="en-US" sz="1400" dirty="0">
              <a:solidFill>
                <a:srgbClr val="000000"/>
              </a:solidFill>
              <a:effectLst/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3243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76363-802E-0167-F6BF-BF9BAE816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C9D53-7836-6548-4F01-B314A6A7AA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D4B6DA-FA8A-1AC5-92C3-26DC2CF030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B4F86FED-04F0-AEDD-4086-2D8B12183C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227" b="10227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DEFA83-DE0B-CDBC-6740-CD06AC7A7D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000" b="25820"/>
          <a:stretch/>
        </p:blipFill>
        <p:spPr>
          <a:xfrm>
            <a:off x="314791" y="250465"/>
            <a:ext cx="1588957" cy="7337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9DC08D-BAA8-BC55-8E42-8002BEB7137D}"/>
              </a:ext>
            </a:extLst>
          </p:cNvPr>
          <p:cNvSpPr txBox="1"/>
          <p:nvPr/>
        </p:nvSpPr>
        <p:spPr>
          <a:xfrm>
            <a:off x="4497047" y="391904"/>
            <a:ext cx="7300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AI-Ready Workforce Transformation Proposal for IHS Nigeria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9CB1C0-4E96-1CA8-55D2-227B9FAFA16D}"/>
              </a:ext>
            </a:extLst>
          </p:cNvPr>
          <p:cNvSpPr txBox="1"/>
          <p:nvPr/>
        </p:nvSpPr>
        <p:spPr>
          <a:xfrm>
            <a:off x="314790" y="1284132"/>
            <a:ext cx="83645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0000"/>
                </a:solidFill>
                <a:latin typeface="Avenir Book" panose="02000503020000020003" pitchFamily="2" charset="0"/>
              </a:rPr>
              <a:t>Document Outline</a:t>
            </a:r>
            <a:endParaRPr lang="en-US" sz="3200" dirty="0">
              <a:solidFill>
                <a:srgbClr val="000000"/>
              </a:solidFill>
              <a:effectLst/>
              <a:latin typeface="Avenir Book" panose="02000503020000020003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49E11D-FD2E-6BF9-B2E0-166CF1EFB2E4}"/>
              </a:ext>
            </a:extLst>
          </p:cNvPr>
          <p:cNvSpPr txBox="1"/>
          <p:nvPr/>
        </p:nvSpPr>
        <p:spPr>
          <a:xfrm>
            <a:off x="314792" y="1984312"/>
            <a:ext cx="5456422" cy="4626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venir Book" panose="02000503020000020003" pitchFamily="2" charset="0"/>
              </a:rPr>
              <a:t>Executive Summary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venir Book" panose="02000503020000020003" pitchFamily="2" charset="0"/>
              </a:rPr>
              <a:t>Context &amp; Rationale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venir Book" panose="02000503020000020003" pitchFamily="2" charset="0"/>
              </a:rPr>
              <a:t>Skills Mapping &amp; Talent Gaps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venir Book" panose="02000503020000020003" pitchFamily="2" charset="0"/>
              </a:rPr>
              <a:t>Reskilling &amp; Upskilling Strategy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venir Book" panose="02000503020000020003" pitchFamily="2" charset="0"/>
              </a:rPr>
              <a:t>Responsible AI in HR Operations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venir Book" panose="02000503020000020003" pitchFamily="2" charset="0"/>
              </a:rPr>
              <a:t>Role-by-Role AI Impact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venir Book" panose="02000503020000020003" pitchFamily="2" charset="0"/>
              </a:rPr>
              <a:t>Change Management &amp; Culture Enablement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venir Book" panose="02000503020000020003" pitchFamily="2" charset="0"/>
              </a:rPr>
              <a:t>Roadmap &amp; Operating Model (2025–2028)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venir Book" panose="02000503020000020003" pitchFamily="2" charset="0"/>
              </a:rPr>
              <a:t>KPIs, Benefits &amp; Risks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venir Book" panose="02000503020000020003" pitchFamily="2" charset="0"/>
              </a:rPr>
              <a:t>Conclusion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venir Book" panose="02000503020000020003" pitchFamily="2" charset="0"/>
              </a:rPr>
              <a:t>Appendices</a:t>
            </a:r>
          </a:p>
        </p:txBody>
      </p:sp>
      <p:pic>
        <p:nvPicPr>
          <p:cNvPr id="10" name="Picture 9" descr="A green and black logo&#10;&#10;AI-generated content may be incorrect.">
            <a:extLst>
              <a:ext uri="{FF2B5EF4-FFF2-40B4-BE49-F238E27FC236}">
                <a16:creationId xmlns:a16="http://schemas.microsoft.com/office/drawing/2014/main" id="{5554EE93-F757-FCD1-8E08-F6020FD93E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1576519"/>
            <a:ext cx="5080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72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7DC1E-8009-D467-0FA3-22BE4EEFE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87B25-A878-1FFE-87F8-89E4AB60FB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712114-1499-BA29-AEDE-58AEAE50E3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2EB18590-758B-F5CB-6644-B3536FD808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227" b="10227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B2E1ED-E5CC-69AA-AF88-B0840E828C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000" b="25820"/>
          <a:stretch/>
        </p:blipFill>
        <p:spPr>
          <a:xfrm>
            <a:off x="314791" y="250465"/>
            <a:ext cx="1588957" cy="7337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6EA73E-464E-07C9-164B-1937F7365A69}"/>
              </a:ext>
            </a:extLst>
          </p:cNvPr>
          <p:cNvSpPr txBox="1"/>
          <p:nvPr/>
        </p:nvSpPr>
        <p:spPr>
          <a:xfrm>
            <a:off x="4497047" y="391904"/>
            <a:ext cx="7300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AI-Ready Workforce Transformation Proposal for IHS Nigeria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CE8FF5-14B5-5C95-39A3-865B3F25D3A1}"/>
              </a:ext>
            </a:extLst>
          </p:cNvPr>
          <p:cNvSpPr txBox="1"/>
          <p:nvPr/>
        </p:nvSpPr>
        <p:spPr>
          <a:xfrm>
            <a:off x="314790" y="1284132"/>
            <a:ext cx="83645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venir Book" panose="02000503020000020003" pitchFamily="2" charset="0"/>
              </a:rPr>
              <a:t>Executive Summary</a:t>
            </a:r>
            <a:endParaRPr lang="en-US" sz="3200" dirty="0">
              <a:solidFill>
                <a:srgbClr val="000000"/>
              </a:solidFill>
              <a:effectLst/>
              <a:latin typeface="Avenir Book" panose="02000503020000020003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10440F-2B2B-9C9B-7129-56933A4440FB}"/>
              </a:ext>
            </a:extLst>
          </p:cNvPr>
          <p:cNvSpPr txBox="1"/>
          <p:nvPr/>
        </p:nvSpPr>
        <p:spPr>
          <a:xfrm>
            <a:off x="314790" y="5121102"/>
            <a:ext cx="7914808" cy="1680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latin typeface="Avenir Book" panose="02000503020000020003" pitchFamily="2" charset="0"/>
              </a:rPr>
              <a:t>Expected Outcomes:</a:t>
            </a:r>
            <a:endParaRPr lang="en-US" sz="1400" dirty="0">
              <a:latin typeface="Avenir Book" panose="02000503020000020003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venir Book" panose="02000503020000020003" pitchFamily="2" charset="0"/>
              </a:rPr>
              <a:t>20–30% faster HR and back-office processes.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venir Book" panose="02000503020000020003" pitchFamily="2" charset="0"/>
              </a:rPr>
              <a:t>10% workforce capacity redeployment through automation.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venir Book" panose="02000503020000020003" pitchFamily="2" charset="0"/>
              </a:rPr>
              <a:t>Faster hiring cycle (8 → 6 weeks) and safer field operations.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venir Book" panose="02000503020000020003" pitchFamily="2" charset="0"/>
              </a:rPr>
              <a:t>Compliance with NDPA 2023, </a:t>
            </a:r>
            <a:r>
              <a:rPr lang="en-US" sz="1400" dirty="0" err="1">
                <a:latin typeface="Avenir Book" panose="02000503020000020003" pitchFamily="2" charset="0"/>
              </a:rPr>
              <a:t>Labour</a:t>
            </a:r>
            <a:r>
              <a:rPr lang="en-US" sz="1400" dirty="0">
                <a:latin typeface="Avenir Book" panose="02000503020000020003" pitchFamily="2" charset="0"/>
              </a:rPr>
              <a:t> Act, PENCOM, and NCC guidance.</a:t>
            </a:r>
          </a:p>
        </p:txBody>
      </p:sp>
      <p:pic>
        <p:nvPicPr>
          <p:cNvPr id="10" name="Picture 9" descr="A green checklist and gear&#10;&#10;AI-generated content may be incorrect.">
            <a:extLst>
              <a:ext uri="{FF2B5EF4-FFF2-40B4-BE49-F238E27FC236}">
                <a16:creationId xmlns:a16="http://schemas.microsoft.com/office/drawing/2014/main" id="{D0D8F06A-A005-5D88-DE34-2ABE45B1E58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83010" y="1325470"/>
            <a:ext cx="4394200" cy="4394200"/>
          </a:xfrm>
          <a:prstGeom prst="rect">
            <a:avLst/>
          </a:prstGeom>
        </p:spPr>
      </p:pic>
      <p:sp>
        <p:nvSpPr>
          <p:cNvPr id="11" name="Pentagon 10">
            <a:extLst>
              <a:ext uri="{FF2B5EF4-FFF2-40B4-BE49-F238E27FC236}">
                <a16:creationId xmlns:a16="http://schemas.microsoft.com/office/drawing/2014/main" id="{A9368E79-3BDA-F56E-2518-B0AA3A4E8BDD}"/>
              </a:ext>
            </a:extLst>
          </p:cNvPr>
          <p:cNvSpPr/>
          <p:nvPr/>
        </p:nvSpPr>
        <p:spPr>
          <a:xfrm>
            <a:off x="398460" y="1965601"/>
            <a:ext cx="1837172" cy="856448"/>
          </a:xfrm>
          <a:prstGeom prst="homePlat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latin typeface="Avenir Book" panose="02000503020000020003" pitchFamily="2" charset="0"/>
              </a:rPr>
              <a:t>Why Now</a:t>
            </a:r>
            <a:endParaRPr lang="en-US" dirty="0"/>
          </a:p>
        </p:txBody>
      </p:sp>
      <p:sp>
        <p:nvSpPr>
          <p:cNvPr id="12" name="Chevron 11">
            <a:extLst>
              <a:ext uri="{FF2B5EF4-FFF2-40B4-BE49-F238E27FC236}">
                <a16:creationId xmlns:a16="http://schemas.microsoft.com/office/drawing/2014/main" id="{5F01D9D1-BF52-8A68-1DCB-B8AB5E688BFB}"/>
              </a:ext>
            </a:extLst>
          </p:cNvPr>
          <p:cNvSpPr/>
          <p:nvPr/>
        </p:nvSpPr>
        <p:spPr>
          <a:xfrm>
            <a:off x="1903748" y="1960982"/>
            <a:ext cx="4853996" cy="856449"/>
          </a:xfrm>
          <a:prstGeom prst="chevron">
            <a:avLst/>
          </a:prstGeom>
          <a:solidFill>
            <a:srgbClr val="077B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venir Book" panose="02000503020000020003" pitchFamily="2" charset="0"/>
              </a:rPr>
              <a:t>AI is reshaping telecom operations; Nigeria faces unique digital literacy, training, and infrastructure challenges.</a:t>
            </a:r>
          </a:p>
        </p:txBody>
      </p:sp>
      <p:sp>
        <p:nvSpPr>
          <p:cNvPr id="13" name="Pentagon 12">
            <a:extLst>
              <a:ext uri="{FF2B5EF4-FFF2-40B4-BE49-F238E27FC236}">
                <a16:creationId xmlns:a16="http://schemas.microsoft.com/office/drawing/2014/main" id="{91A89799-CB6A-B619-C5B7-65B945A06E68}"/>
              </a:ext>
            </a:extLst>
          </p:cNvPr>
          <p:cNvSpPr/>
          <p:nvPr/>
        </p:nvSpPr>
        <p:spPr>
          <a:xfrm>
            <a:off x="398460" y="2999781"/>
            <a:ext cx="1837172" cy="856448"/>
          </a:xfrm>
          <a:prstGeom prst="homePlat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latin typeface="Avenir Book" panose="02000503020000020003" pitchFamily="2" charset="0"/>
              </a:rPr>
              <a:t>Strategic Goal</a:t>
            </a:r>
            <a:endParaRPr lang="en-US" dirty="0"/>
          </a:p>
        </p:txBody>
      </p:sp>
      <p:sp>
        <p:nvSpPr>
          <p:cNvPr id="14" name="Chevron 13">
            <a:extLst>
              <a:ext uri="{FF2B5EF4-FFF2-40B4-BE49-F238E27FC236}">
                <a16:creationId xmlns:a16="http://schemas.microsoft.com/office/drawing/2014/main" id="{78B3D421-EDDB-9EB6-015F-EC76F59200FD}"/>
              </a:ext>
            </a:extLst>
          </p:cNvPr>
          <p:cNvSpPr/>
          <p:nvPr/>
        </p:nvSpPr>
        <p:spPr>
          <a:xfrm>
            <a:off x="1903748" y="2995162"/>
            <a:ext cx="4853996" cy="856449"/>
          </a:xfrm>
          <a:prstGeom prst="chevron">
            <a:avLst/>
          </a:prstGeom>
          <a:solidFill>
            <a:srgbClr val="077B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venir Book" panose="02000503020000020003" pitchFamily="2" charset="0"/>
              </a:rPr>
              <a:t>Prepare IHS Nigeria’s workforce for AI adoption with a phased 12–36 month roadmap.</a:t>
            </a:r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6147DC10-25F1-4AD9-8AEA-8B9BFD113036}"/>
              </a:ext>
            </a:extLst>
          </p:cNvPr>
          <p:cNvSpPr/>
          <p:nvPr/>
        </p:nvSpPr>
        <p:spPr>
          <a:xfrm>
            <a:off x="398460" y="4096159"/>
            <a:ext cx="1837172" cy="856448"/>
          </a:xfrm>
          <a:prstGeom prst="homePlat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latin typeface="Avenir Book" panose="02000503020000020003" pitchFamily="2" charset="0"/>
              </a:rPr>
              <a:t>Guiding Principles</a:t>
            </a:r>
            <a:endParaRPr lang="en-US" dirty="0"/>
          </a:p>
        </p:txBody>
      </p:sp>
      <p:sp>
        <p:nvSpPr>
          <p:cNvPr id="16" name="Chevron 15">
            <a:extLst>
              <a:ext uri="{FF2B5EF4-FFF2-40B4-BE49-F238E27FC236}">
                <a16:creationId xmlns:a16="http://schemas.microsoft.com/office/drawing/2014/main" id="{48E6239C-B583-487A-8FE6-E434B19F3238}"/>
              </a:ext>
            </a:extLst>
          </p:cNvPr>
          <p:cNvSpPr/>
          <p:nvPr/>
        </p:nvSpPr>
        <p:spPr>
          <a:xfrm>
            <a:off x="1903749" y="4091540"/>
            <a:ext cx="2593298" cy="856449"/>
          </a:xfrm>
          <a:prstGeom prst="chevron">
            <a:avLst/>
          </a:prstGeom>
          <a:solidFill>
            <a:srgbClr val="077B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i="1" dirty="0">
                <a:latin typeface="Avenir Book" panose="02000503020000020003" pitchFamily="2" charset="0"/>
              </a:rPr>
              <a:t>No-forced-layoffs</a:t>
            </a:r>
            <a:r>
              <a:rPr lang="en-US" sz="1400" dirty="0">
                <a:latin typeface="Avenir Book" panose="02000503020000020003" pitchFamily="2" charset="0"/>
              </a:rPr>
              <a:t> – focus on reskilling and redeployment.</a:t>
            </a:r>
          </a:p>
        </p:txBody>
      </p:sp>
      <p:sp>
        <p:nvSpPr>
          <p:cNvPr id="17" name="Chevron 16">
            <a:extLst>
              <a:ext uri="{FF2B5EF4-FFF2-40B4-BE49-F238E27FC236}">
                <a16:creationId xmlns:a16="http://schemas.microsoft.com/office/drawing/2014/main" id="{3082202A-5B35-D36E-C669-86E94B6403D7}"/>
              </a:ext>
            </a:extLst>
          </p:cNvPr>
          <p:cNvSpPr/>
          <p:nvPr/>
        </p:nvSpPr>
        <p:spPr>
          <a:xfrm>
            <a:off x="4164446" y="4082304"/>
            <a:ext cx="2593298" cy="856449"/>
          </a:xfrm>
          <a:prstGeom prst="chevron">
            <a:avLst/>
          </a:prstGeom>
          <a:solidFill>
            <a:srgbClr val="077B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i="1" dirty="0">
              <a:latin typeface="Avenir Book" panose="02000503020000020003" pitchFamily="2" charset="0"/>
            </a:endParaRPr>
          </a:p>
          <a:p>
            <a:r>
              <a:rPr lang="en-US" sz="1050" i="1" dirty="0">
                <a:latin typeface="Avenir Book" panose="02000503020000020003" pitchFamily="2" charset="0"/>
              </a:rPr>
              <a:t>Nigeria-first, global-aware</a:t>
            </a:r>
            <a:r>
              <a:rPr lang="en-US" sz="1050" dirty="0">
                <a:latin typeface="Avenir Book" panose="02000503020000020003" pitchFamily="2" charset="0"/>
              </a:rPr>
              <a:t> – tailored to local realities, aligned with global best practices.</a:t>
            </a:r>
          </a:p>
          <a:p>
            <a:endParaRPr lang="en-US" sz="1050" b="1" dirty="0"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414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0C7D0-1D24-630C-3579-CD92E8547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972E7-11E3-1B92-C7DB-C36B68FD03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8E0D55-4ABE-7A75-C1B5-8510CD391C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C3FA2C39-E794-84BD-CD87-61D4073058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227" b="10227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99F207-C7A3-B0CE-9DF7-006E1080B6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000" b="25820"/>
          <a:stretch/>
        </p:blipFill>
        <p:spPr>
          <a:xfrm>
            <a:off x="314791" y="250465"/>
            <a:ext cx="1588957" cy="7337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4D7576-36C5-31DA-9AF5-F76CF4ED3881}"/>
              </a:ext>
            </a:extLst>
          </p:cNvPr>
          <p:cNvSpPr txBox="1"/>
          <p:nvPr/>
        </p:nvSpPr>
        <p:spPr>
          <a:xfrm>
            <a:off x="4497047" y="391904"/>
            <a:ext cx="7300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AI-Ready Workforce Transformation Proposal for IHS Nigeria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B597CB-A6D5-5464-C683-F0A21D805060}"/>
              </a:ext>
            </a:extLst>
          </p:cNvPr>
          <p:cNvSpPr txBox="1"/>
          <p:nvPr/>
        </p:nvSpPr>
        <p:spPr>
          <a:xfrm>
            <a:off x="314790" y="1284132"/>
            <a:ext cx="83645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venir Book" panose="02000503020000020003" pitchFamily="2" charset="0"/>
              </a:rPr>
              <a:t>Context &amp; Rationale</a:t>
            </a:r>
            <a:endParaRPr lang="en-US" sz="3200" dirty="0">
              <a:solidFill>
                <a:srgbClr val="000000"/>
              </a:solidFill>
              <a:effectLst/>
              <a:latin typeface="Avenir Book" panose="02000503020000020003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806261-BC57-F01E-42DD-7BEA35B90EBB}"/>
              </a:ext>
            </a:extLst>
          </p:cNvPr>
          <p:cNvSpPr txBox="1"/>
          <p:nvPr/>
        </p:nvSpPr>
        <p:spPr>
          <a:xfrm>
            <a:off x="282310" y="3838629"/>
            <a:ext cx="7300212" cy="2838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latin typeface="Avenir Book" panose="02000503020000020003" pitchFamily="2" charset="0"/>
              </a:rPr>
              <a:t>Why Workforce AI Readiness Matters Now</a:t>
            </a:r>
          </a:p>
          <a:p>
            <a:pPr>
              <a:lnSpc>
                <a:spcPct val="150000"/>
              </a:lnSpc>
            </a:pPr>
            <a:endParaRPr lang="en-US" sz="1200" dirty="0">
              <a:latin typeface="Avenir Book" panose="02000503020000020003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Avenir Book" panose="02000503020000020003" pitchFamily="2" charset="0"/>
              </a:rPr>
              <a:t>Nigeria’s Workforce Realities:</a:t>
            </a:r>
            <a:endParaRPr lang="en-US" sz="1200" dirty="0">
              <a:latin typeface="Avenir Book" panose="02000503020000020003" pitchFamily="2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venir Book" panose="02000503020000020003" pitchFamily="2" charset="0"/>
              </a:rPr>
              <a:t>Uneven digital literacy across regions.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venir Book" panose="02000503020000020003" pitchFamily="2" charset="0"/>
              </a:rPr>
              <a:t>Limited access to advanced training outside urban hubs.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venir Book" panose="02000503020000020003" pitchFamily="2" charset="0"/>
              </a:rPr>
              <a:t>Active union structures requiring early engagement.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venir Book" panose="02000503020000020003" pitchFamily="2" charset="0"/>
              </a:rPr>
              <a:t>Infrastructure gaps (power, connectivity) affecting rollout.</a:t>
            </a:r>
          </a:p>
          <a:p>
            <a:pPr lvl="1">
              <a:lnSpc>
                <a:spcPct val="150000"/>
              </a:lnSpc>
            </a:pPr>
            <a:endParaRPr lang="en-US" sz="1200" dirty="0">
              <a:latin typeface="Avenir Book" panose="02000503020000020003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Avenir Book" panose="02000503020000020003" pitchFamily="2" charset="0"/>
              </a:rPr>
              <a:t>Opportunity:</a:t>
            </a:r>
            <a:r>
              <a:rPr lang="en-US" sz="1200" dirty="0">
                <a:latin typeface="Avenir Book" panose="02000503020000020003" pitchFamily="2" charset="0"/>
              </a:rPr>
              <a:t> IHS Nigeria can lead in Africa by </a:t>
            </a:r>
            <a:r>
              <a:rPr lang="en-US" sz="1200" b="1" dirty="0">
                <a:latin typeface="Avenir Book" panose="02000503020000020003" pitchFamily="2" charset="0"/>
              </a:rPr>
              <a:t>combining AI with responsible workforce transformation</a:t>
            </a:r>
            <a:r>
              <a:rPr lang="en-US" sz="1200" dirty="0">
                <a:latin typeface="Avenir Book" panose="02000503020000020003" pitchFamily="2" charset="0"/>
              </a:rPr>
              <a:t>.</a:t>
            </a:r>
          </a:p>
        </p:txBody>
      </p:sp>
      <p:pic>
        <p:nvPicPr>
          <p:cNvPr id="10" name="Picture 9" descr="A green globe with a speech bubble and a green speech bubble&#10;&#10;AI-generated content may be incorrect.">
            <a:extLst>
              <a:ext uri="{FF2B5EF4-FFF2-40B4-BE49-F238E27FC236}">
                <a16:creationId xmlns:a16="http://schemas.microsoft.com/office/drawing/2014/main" id="{DB6C9A0E-7538-75C8-785F-2778D135790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41600" y="1576519"/>
            <a:ext cx="4255655" cy="4255655"/>
          </a:xfrm>
          <a:prstGeom prst="rect">
            <a:avLst/>
          </a:prstGeom>
        </p:spPr>
      </p:pic>
      <p:sp>
        <p:nvSpPr>
          <p:cNvPr id="11" name="Pentagon 10">
            <a:extLst>
              <a:ext uri="{FF2B5EF4-FFF2-40B4-BE49-F238E27FC236}">
                <a16:creationId xmlns:a16="http://schemas.microsoft.com/office/drawing/2014/main" id="{5446E8EF-693E-531A-B02B-532648F700EC}"/>
              </a:ext>
            </a:extLst>
          </p:cNvPr>
          <p:cNvSpPr/>
          <p:nvPr/>
        </p:nvSpPr>
        <p:spPr>
          <a:xfrm>
            <a:off x="364575" y="1990196"/>
            <a:ext cx="1837172" cy="805778"/>
          </a:xfrm>
          <a:prstGeom prst="homePlat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latin typeface="Avenir Book" panose="02000503020000020003" pitchFamily="2" charset="0"/>
              </a:rPr>
              <a:t>Global Shift</a:t>
            </a:r>
            <a:endParaRPr lang="en-US" dirty="0"/>
          </a:p>
        </p:txBody>
      </p:sp>
      <p:sp>
        <p:nvSpPr>
          <p:cNvPr id="12" name="Chevron 11">
            <a:extLst>
              <a:ext uri="{FF2B5EF4-FFF2-40B4-BE49-F238E27FC236}">
                <a16:creationId xmlns:a16="http://schemas.microsoft.com/office/drawing/2014/main" id="{DE576DDA-7322-C2B6-35C2-15032DC0FC59}"/>
              </a:ext>
            </a:extLst>
          </p:cNvPr>
          <p:cNvSpPr/>
          <p:nvPr/>
        </p:nvSpPr>
        <p:spPr>
          <a:xfrm>
            <a:off x="1925283" y="1985577"/>
            <a:ext cx="4853996" cy="805779"/>
          </a:xfrm>
          <a:prstGeom prst="chevron">
            <a:avLst/>
          </a:prstGeom>
          <a:solidFill>
            <a:srgbClr val="077B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latin typeface="Avenir Book" panose="02000503020000020003" pitchFamily="2" charset="0"/>
              </a:rPr>
              <a:t>Telecom </a:t>
            </a:r>
            <a:r>
              <a:rPr lang="en-US" sz="1400" dirty="0" err="1">
                <a:latin typeface="Avenir Book" panose="02000503020000020003" pitchFamily="2" charset="0"/>
              </a:rPr>
              <a:t>towercos</a:t>
            </a:r>
            <a:r>
              <a:rPr lang="en-US" sz="1400" dirty="0">
                <a:latin typeface="Avenir Book" panose="02000503020000020003" pitchFamily="2" charset="0"/>
              </a:rPr>
              <a:t> worldwide (American Tower, Helios, SBA) are embedding AI into HR, maintenance, and energy optimization.</a:t>
            </a:r>
          </a:p>
        </p:txBody>
      </p:sp>
      <p:sp>
        <p:nvSpPr>
          <p:cNvPr id="13" name="Pentagon 12">
            <a:extLst>
              <a:ext uri="{FF2B5EF4-FFF2-40B4-BE49-F238E27FC236}">
                <a16:creationId xmlns:a16="http://schemas.microsoft.com/office/drawing/2014/main" id="{DC826D77-E178-14F9-B985-BF275E723DBD}"/>
              </a:ext>
            </a:extLst>
          </p:cNvPr>
          <p:cNvSpPr/>
          <p:nvPr/>
        </p:nvSpPr>
        <p:spPr>
          <a:xfrm>
            <a:off x="364575" y="2988531"/>
            <a:ext cx="1801224" cy="805778"/>
          </a:xfrm>
          <a:prstGeom prst="homePlat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Avenir Book" panose="02000503020000020003" pitchFamily="2" charset="0"/>
              </a:rPr>
              <a:t>Strategic Imperative</a:t>
            </a:r>
            <a:endParaRPr lang="en-US" sz="1600" dirty="0"/>
          </a:p>
        </p:txBody>
      </p:sp>
      <p:sp>
        <p:nvSpPr>
          <p:cNvPr id="14" name="Chevron 13">
            <a:extLst>
              <a:ext uri="{FF2B5EF4-FFF2-40B4-BE49-F238E27FC236}">
                <a16:creationId xmlns:a16="http://schemas.microsoft.com/office/drawing/2014/main" id="{04E1C44B-4CDF-3605-F6A4-2C94E8410EDE}"/>
              </a:ext>
            </a:extLst>
          </p:cNvPr>
          <p:cNvSpPr/>
          <p:nvPr/>
        </p:nvSpPr>
        <p:spPr>
          <a:xfrm>
            <a:off x="1925283" y="2983912"/>
            <a:ext cx="2574629" cy="805779"/>
          </a:xfrm>
          <a:prstGeom prst="chevron">
            <a:avLst/>
          </a:prstGeom>
          <a:solidFill>
            <a:srgbClr val="077B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latin typeface="Avenir Book" panose="02000503020000020003" pitchFamily="2" charset="0"/>
              </a:rPr>
              <a:t>AI adoption can boost productivity, cut </a:t>
            </a:r>
            <a:r>
              <a:rPr lang="en-US" sz="1100" dirty="0" err="1">
                <a:latin typeface="Avenir Book" panose="02000503020000020003" pitchFamily="2" charset="0"/>
              </a:rPr>
              <a:t>Opex</a:t>
            </a:r>
            <a:r>
              <a:rPr lang="en-US" sz="1100" dirty="0">
                <a:latin typeface="Avenir Book" panose="02000503020000020003" pitchFamily="2" charset="0"/>
              </a:rPr>
              <a:t>, and improve ESG performance.</a:t>
            </a:r>
          </a:p>
        </p:txBody>
      </p:sp>
      <p:sp>
        <p:nvSpPr>
          <p:cNvPr id="15" name="Chevron 14">
            <a:extLst>
              <a:ext uri="{FF2B5EF4-FFF2-40B4-BE49-F238E27FC236}">
                <a16:creationId xmlns:a16="http://schemas.microsoft.com/office/drawing/2014/main" id="{3E2C7F0D-3CEA-5FD2-0A4C-BDAE62B2D44A}"/>
              </a:ext>
            </a:extLst>
          </p:cNvPr>
          <p:cNvSpPr/>
          <p:nvPr/>
        </p:nvSpPr>
        <p:spPr>
          <a:xfrm>
            <a:off x="4272911" y="2989713"/>
            <a:ext cx="2506368" cy="805779"/>
          </a:xfrm>
          <a:prstGeom prst="chevron">
            <a:avLst/>
          </a:prstGeom>
          <a:solidFill>
            <a:srgbClr val="077B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latin typeface="Avenir Book" panose="02000503020000020003" pitchFamily="2" charset="0"/>
              </a:rPr>
              <a:t>Without workforce readiness, tech investments risk underutilization.</a:t>
            </a:r>
          </a:p>
        </p:txBody>
      </p:sp>
    </p:spTree>
    <p:extLst>
      <p:ext uri="{BB962C8B-B14F-4D97-AF65-F5344CB8AC3E}">
        <p14:creationId xmlns:p14="http://schemas.microsoft.com/office/powerpoint/2010/main" val="271251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F11A8-FFEF-362F-CBA9-0F39D5F62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4A312-5626-9DB8-AA37-B7662D506B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DF002B-B313-36A4-DF44-985EA999A3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E42859F9-95F0-06A6-494B-BF289F54CC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227" b="10227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911690-B55D-1670-9D00-0D3B667E88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000" b="25820"/>
          <a:stretch/>
        </p:blipFill>
        <p:spPr>
          <a:xfrm>
            <a:off x="314791" y="250465"/>
            <a:ext cx="1588957" cy="7337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6AD54D-1844-7C38-3D08-10A3E4209030}"/>
              </a:ext>
            </a:extLst>
          </p:cNvPr>
          <p:cNvSpPr txBox="1"/>
          <p:nvPr/>
        </p:nvSpPr>
        <p:spPr>
          <a:xfrm>
            <a:off x="4497047" y="391904"/>
            <a:ext cx="7300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AI-Ready Workforce Transformation Proposal for IHS Nigeria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B60A13-F76E-1660-2FC4-AFE86835D7AD}"/>
              </a:ext>
            </a:extLst>
          </p:cNvPr>
          <p:cNvSpPr txBox="1"/>
          <p:nvPr/>
        </p:nvSpPr>
        <p:spPr>
          <a:xfrm>
            <a:off x="314790" y="1284132"/>
            <a:ext cx="83645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venir Book" panose="02000503020000020003" pitchFamily="2" charset="0"/>
              </a:rPr>
              <a:t>Skills Mapping &amp; Talent Gaps</a:t>
            </a:r>
            <a:endParaRPr lang="en-US" sz="3200" dirty="0">
              <a:solidFill>
                <a:srgbClr val="000000"/>
              </a:solidFill>
              <a:effectLst/>
              <a:latin typeface="Avenir Book" panose="02000503020000020003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9DA5DD-5D7B-89EC-91A9-AA8ED367C2FE}"/>
              </a:ext>
            </a:extLst>
          </p:cNvPr>
          <p:cNvSpPr txBox="1"/>
          <p:nvPr/>
        </p:nvSpPr>
        <p:spPr>
          <a:xfrm>
            <a:off x="299103" y="4232726"/>
            <a:ext cx="6376148" cy="2284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latin typeface="Avenir Book" panose="02000503020000020003" pitchFamily="2" charset="0"/>
              </a:rPr>
              <a:t>Current vs. Future Workforce Needs</a:t>
            </a:r>
            <a:endParaRPr lang="en-US" sz="1200" dirty="0">
              <a:latin typeface="Avenir Book" panose="02000503020000020003" pitchFamily="2" charset="0"/>
            </a:endParaRPr>
          </a:p>
          <a:p>
            <a:pPr>
              <a:lnSpc>
                <a:spcPct val="150000"/>
              </a:lnSpc>
            </a:pPr>
            <a:endParaRPr lang="en-US" sz="1200" b="1" dirty="0">
              <a:latin typeface="Avenir Book" panose="02000503020000020003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Avenir Book" panose="02000503020000020003" pitchFamily="2" charset="0"/>
              </a:rPr>
              <a:t>Future Needs:</a:t>
            </a:r>
            <a:endParaRPr lang="en-US" sz="1200" dirty="0">
              <a:latin typeface="Avenir Book" panose="02000503020000020003" pitchFamily="2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Avenir Book" panose="02000503020000020003" pitchFamily="2" charset="0"/>
              </a:rPr>
              <a:t>Leadership/Board:</a:t>
            </a:r>
            <a:r>
              <a:rPr lang="en-US" sz="1200" dirty="0">
                <a:latin typeface="Avenir Book" panose="02000503020000020003" pitchFamily="2" charset="0"/>
              </a:rPr>
              <a:t> AI-driven decision dashboards, scenario modeling.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Avenir Book" panose="02000503020000020003" pitchFamily="2" charset="0"/>
              </a:rPr>
              <a:t>Middle Management:</a:t>
            </a:r>
            <a:r>
              <a:rPr lang="en-US" sz="1200" dirty="0">
                <a:latin typeface="Avenir Book" panose="02000503020000020003" pitchFamily="2" charset="0"/>
              </a:rPr>
              <a:t> Data literacy, AI-augmented planning &amp; reporting.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Avenir Book" panose="02000503020000020003" pitchFamily="2" charset="0"/>
              </a:rPr>
              <a:t>Field/Operational Staff:</a:t>
            </a:r>
            <a:r>
              <a:rPr lang="en-US" sz="1200" dirty="0">
                <a:latin typeface="Avenir Book" panose="02000503020000020003" pitchFamily="2" charset="0"/>
              </a:rPr>
              <a:t> Predictive maintenance tools, AR/AI-enabled workflows, safety monitoring.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Avenir Book" panose="02000503020000020003" pitchFamily="2" charset="0"/>
              </a:rPr>
              <a:t>Back-Office Teams:</a:t>
            </a:r>
            <a:r>
              <a:rPr lang="en-US" sz="1200" dirty="0">
                <a:latin typeface="Avenir Book" panose="02000503020000020003" pitchFamily="2" charset="0"/>
              </a:rPr>
              <a:t> HR, finance &amp; procurement automation.</a:t>
            </a:r>
          </a:p>
        </p:txBody>
      </p:sp>
      <p:pic>
        <p:nvPicPr>
          <p:cNvPr id="10" name="Picture 9" descr="A green icon with a magnifying glass and a diagram&#10;&#10;AI-generated content may be incorrect.">
            <a:extLst>
              <a:ext uri="{FF2B5EF4-FFF2-40B4-BE49-F238E27FC236}">
                <a16:creationId xmlns:a16="http://schemas.microsoft.com/office/drawing/2014/main" id="{27F0DA9C-0FBF-5A03-607C-E0B49E2C25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6740" y="1440519"/>
            <a:ext cx="4158673" cy="4158673"/>
          </a:xfrm>
          <a:prstGeom prst="rect">
            <a:avLst/>
          </a:prstGeom>
        </p:spPr>
      </p:pic>
      <p:sp>
        <p:nvSpPr>
          <p:cNvPr id="11" name="Pentagon 10">
            <a:extLst>
              <a:ext uri="{FF2B5EF4-FFF2-40B4-BE49-F238E27FC236}">
                <a16:creationId xmlns:a16="http://schemas.microsoft.com/office/drawing/2014/main" id="{5C3B33B1-D38F-0940-6909-E50AF17CC147}"/>
              </a:ext>
            </a:extLst>
          </p:cNvPr>
          <p:cNvSpPr/>
          <p:nvPr/>
        </p:nvSpPr>
        <p:spPr>
          <a:xfrm>
            <a:off x="341047" y="2057930"/>
            <a:ext cx="1837172" cy="856448"/>
          </a:xfrm>
          <a:prstGeom prst="homePlat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latin typeface="Avenir Book" panose="02000503020000020003" pitchFamily="2" charset="0"/>
              </a:rPr>
              <a:t>Current Capabilities</a:t>
            </a:r>
            <a:endParaRPr lang="en-US" dirty="0"/>
          </a:p>
        </p:txBody>
      </p:sp>
      <p:sp>
        <p:nvSpPr>
          <p:cNvPr id="12" name="Chevron 11">
            <a:extLst>
              <a:ext uri="{FF2B5EF4-FFF2-40B4-BE49-F238E27FC236}">
                <a16:creationId xmlns:a16="http://schemas.microsoft.com/office/drawing/2014/main" id="{B9AEA42F-6B2C-E83C-0C55-7F80BE264862}"/>
              </a:ext>
            </a:extLst>
          </p:cNvPr>
          <p:cNvSpPr/>
          <p:nvPr/>
        </p:nvSpPr>
        <p:spPr>
          <a:xfrm>
            <a:off x="1846335" y="2053311"/>
            <a:ext cx="4853996" cy="856449"/>
          </a:xfrm>
          <a:prstGeom prst="chevron">
            <a:avLst/>
          </a:prstGeom>
          <a:solidFill>
            <a:srgbClr val="077B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venir Book" panose="02000503020000020003" pitchFamily="2" charset="0"/>
              </a:rPr>
              <a:t>Strong telecom/engineering expertise; limited AI/data literacy across most roles.</a:t>
            </a:r>
          </a:p>
        </p:txBody>
      </p:sp>
      <p:sp>
        <p:nvSpPr>
          <p:cNvPr id="13" name="Pentagon 12">
            <a:extLst>
              <a:ext uri="{FF2B5EF4-FFF2-40B4-BE49-F238E27FC236}">
                <a16:creationId xmlns:a16="http://schemas.microsoft.com/office/drawing/2014/main" id="{105169D1-5EC4-C065-2239-8FE193E31087}"/>
              </a:ext>
            </a:extLst>
          </p:cNvPr>
          <p:cNvSpPr/>
          <p:nvPr/>
        </p:nvSpPr>
        <p:spPr>
          <a:xfrm>
            <a:off x="341047" y="3117752"/>
            <a:ext cx="1837172" cy="856448"/>
          </a:xfrm>
          <a:prstGeom prst="homePlat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latin typeface="Avenir Book" panose="02000503020000020003" pitchFamily="2" charset="0"/>
              </a:rPr>
              <a:t>New Roles Emerging</a:t>
            </a:r>
            <a:endParaRPr lang="en-US" dirty="0"/>
          </a:p>
        </p:txBody>
      </p:sp>
      <p:sp>
        <p:nvSpPr>
          <p:cNvPr id="14" name="Chevron 13">
            <a:extLst>
              <a:ext uri="{FF2B5EF4-FFF2-40B4-BE49-F238E27FC236}">
                <a16:creationId xmlns:a16="http://schemas.microsoft.com/office/drawing/2014/main" id="{1FD73C92-F53B-178C-24CB-46AD79B9210D}"/>
              </a:ext>
            </a:extLst>
          </p:cNvPr>
          <p:cNvSpPr/>
          <p:nvPr/>
        </p:nvSpPr>
        <p:spPr>
          <a:xfrm>
            <a:off x="1846335" y="3113133"/>
            <a:ext cx="4853996" cy="856449"/>
          </a:xfrm>
          <a:prstGeom prst="chevron">
            <a:avLst/>
          </a:prstGeom>
          <a:solidFill>
            <a:srgbClr val="077B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venir Book" panose="02000503020000020003" pitchFamily="2" charset="0"/>
              </a:rPr>
              <a:t>AI Product Owner, Data Analyst/Engineer, </a:t>
            </a:r>
            <a:r>
              <a:rPr lang="en-US" sz="1400" dirty="0" err="1">
                <a:latin typeface="Avenir Book" panose="02000503020000020003" pitchFamily="2" charset="0"/>
              </a:rPr>
              <a:t>MLOps</a:t>
            </a:r>
            <a:r>
              <a:rPr lang="en-US" sz="1400" dirty="0">
                <a:latin typeface="Avenir Book" panose="02000503020000020003" pitchFamily="2" charset="0"/>
              </a:rPr>
              <a:t> Specialist, AI Ethics &amp; Compliance Lead.</a:t>
            </a:r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2C9EC115-BECE-C882-CB6E-DEDEAFEB7FF2}"/>
              </a:ext>
            </a:extLst>
          </p:cNvPr>
          <p:cNvSpPr/>
          <p:nvPr/>
        </p:nvSpPr>
        <p:spPr>
          <a:xfrm>
            <a:off x="7174015" y="5701726"/>
            <a:ext cx="1837172" cy="856448"/>
          </a:xfrm>
          <a:prstGeom prst="homePlat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latin typeface="Avenir Book" panose="02000503020000020003" pitchFamily="2" charset="0"/>
              </a:rPr>
              <a:t>Training Requirement</a:t>
            </a:r>
            <a:endParaRPr lang="en-US" dirty="0"/>
          </a:p>
        </p:txBody>
      </p:sp>
      <p:sp>
        <p:nvSpPr>
          <p:cNvPr id="16" name="Chevron 15">
            <a:extLst>
              <a:ext uri="{FF2B5EF4-FFF2-40B4-BE49-F238E27FC236}">
                <a16:creationId xmlns:a16="http://schemas.microsoft.com/office/drawing/2014/main" id="{59769254-04A9-80F5-3333-EAC090122B3F}"/>
              </a:ext>
            </a:extLst>
          </p:cNvPr>
          <p:cNvSpPr/>
          <p:nvPr/>
        </p:nvSpPr>
        <p:spPr>
          <a:xfrm>
            <a:off x="8679303" y="5697107"/>
            <a:ext cx="3013933" cy="856449"/>
          </a:xfrm>
          <a:prstGeom prst="chevron">
            <a:avLst/>
          </a:prstGeom>
          <a:solidFill>
            <a:srgbClr val="077B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venir Book" panose="02000503020000020003" pitchFamily="2" charset="0"/>
              </a:rPr>
              <a:t>40–120 hours per role category, phased over 12–36 months.</a:t>
            </a:r>
          </a:p>
        </p:txBody>
      </p:sp>
    </p:spTree>
    <p:extLst>
      <p:ext uri="{BB962C8B-B14F-4D97-AF65-F5344CB8AC3E}">
        <p14:creationId xmlns:p14="http://schemas.microsoft.com/office/powerpoint/2010/main" val="3098405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90779-BE10-528C-54D2-98A5B90D5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6693A-E4EA-C383-E23B-6B1423CCDA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1E4892-97C5-33DE-9502-8EBD77269C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FF66AFBE-2E24-3069-70CC-1231F3D546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227" b="10227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8DDCED-3295-D08B-6B78-74C6101924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000" b="25820"/>
          <a:stretch/>
        </p:blipFill>
        <p:spPr>
          <a:xfrm>
            <a:off x="314791" y="250465"/>
            <a:ext cx="1588957" cy="7337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E4B9AC-23AA-30FC-38A4-B03D9310D927}"/>
              </a:ext>
            </a:extLst>
          </p:cNvPr>
          <p:cNvSpPr txBox="1"/>
          <p:nvPr/>
        </p:nvSpPr>
        <p:spPr>
          <a:xfrm>
            <a:off x="4497047" y="391904"/>
            <a:ext cx="7300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AI-Ready Workforce Transformation Proposal for IHS Nigeria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633586-4498-FB40-3FAB-77D7EA9DC221}"/>
              </a:ext>
            </a:extLst>
          </p:cNvPr>
          <p:cNvSpPr txBox="1"/>
          <p:nvPr/>
        </p:nvSpPr>
        <p:spPr>
          <a:xfrm>
            <a:off x="314790" y="1284132"/>
            <a:ext cx="83645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venir Book" panose="02000503020000020003" pitchFamily="2" charset="0"/>
              </a:rPr>
              <a:t>Reskilling &amp; Upskilling Strategy</a:t>
            </a:r>
            <a:endParaRPr lang="en-US" sz="3200" dirty="0">
              <a:solidFill>
                <a:srgbClr val="000000"/>
              </a:solidFill>
              <a:effectLst/>
              <a:latin typeface="Avenir Book" panose="02000503020000020003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D77480-5396-5C32-937B-88414DE89964}"/>
              </a:ext>
            </a:extLst>
          </p:cNvPr>
          <p:cNvSpPr txBox="1"/>
          <p:nvPr/>
        </p:nvSpPr>
        <p:spPr>
          <a:xfrm>
            <a:off x="314792" y="1984312"/>
            <a:ext cx="7180518" cy="4777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latin typeface="Avenir Book" panose="02000503020000020003" pitchFamily="2" charset="0"/>
              </a:rPr>
              <a:t>Three-Tier Learning Framework (2025–2028)</a:t>
            </a:r>
            <a:endParaRPr lang="en-US" sz="1200" dirty="0">
              <a:latin typeface="Avenir Book" panose="02000503020000020003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200" b="1" dirty="0">
              <a:latin typeface="Avenir Book" panose="02000503020000020003" pitchFamily="2" charset="0"/>
            </a:endParaRPr>
          </a:p>
          <a:p>
            <a:pPr>
              <a:lnSpc>
                <a:spcPct val="150000"/>
              </a:lnSpc>
            </a:pPr>
            <a:endParaRPr lang="en-US" sz="1200" b="1" dirty="0">
              <a:latin typeface="Avenir Book" panose="02000503020000020003" pitchFamily="2" charset="0"/>
            </a:endParaRPr>
          </a:p>
          <a:p>
            <a:pPr>
              <a:lnSpc>
                <a:spcPct val="150000"/>
              </a:lnSpc>
            </a:pPr>
            <a:endParaRPr lang="en-US" sz="1200" b="1" dirty="0">
              <a:latin typeface="Avenir Book" panose="02000503020000020003" pitchFamily="2" charset="0"/>
            </a:endParaRPr>
          </a:p>
          <a:p>
            <a:pPr>
              <a:lnSpc>
                <a:spcPct val="150000"/>
              </a:lnSpc>
            </a:pPr>
            <a:endParaRPr lang="en-US" sz="1200" b="1" dirty="0">
              <a:latin typeface="Avenir Book" panose="02000503020000020003" pitchFamily="2" charset="0"/>
            </a:endParaRPr>
          </a:p>
          <a:p>
            <a:pPr>
              <a:lnSpc>
                <a:spcPct val="150000"/>
              </a:lnSpc>
            </a:pPr>
            <a:endParaRPr lang="en-US" sz="1200" b="1" dirty="0">
              <a:latin typeface="Avenir Book" panose="02000503020000020003" pitchFamily="2" charset="0"/>
            </a:endParaRPr>
          </a:p>
          <a:p>
            <a:pPr>
              <a:lnSpc>
                <a:spcPct val="150000"/>
              </a:lnSpc>
            </a:pPr>
            <a:endParaRPr lang="en-US" sz="1200" b="1" dirty="0">
              <a:latin typeface="Avenir Book" panose="02000503020000020003" pitchFamily="2" charset="0"/>
            </a:endParaRPr>
          </a:p>
          <a:p>
            <a:pPr>
              <a:lnSpc>
                <a:spcPct val="150000"/>
              </a:lnSpc>
            </a:pPr>
            <a:endParaRPr lang="en-US" sz="1200" b="1" dirty="0">
              <a:latin typeface="Avenir Book" panose="02000503020000020003" pitchFamily="2" charset="0"/>
            </a:endParaRPr>
          </a:p>
          <a:p>
            <a:pPr>
              <a:lnSpc>
                <a:spcPct val="150000"/>
              </a:lnSpc>
            </a:pPr>
            <a:endParaRPr lang="en-US" sz="1200" b="1" dirty="0">
              <a:latin typeface="Avenir Book" panose="02000503020000020003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Avenir Book" panose="02000503020000020003" pitchFamily="2" charset="0"/>
              </a:rPr>
              <a:t>Delivery Model:</a:t>
            </a:r>
            <a:endParaRPr lang="en-US" sz="1200" dirty="0">
              <a:latin typeface="Avenir Book" panose="02000503020000020003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venir Book" panose="02000503020000020003" pitchFamily="2" charset="0"/>
              </a:rPr>
              <a:t>Internal “AI Academy” for IHS Nigeria.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venir Book" panose="02000503020000020003" pitchFamily="2" charset="0"/>
              </a:rPr>
              <a:t>Partnerships with Nigerian universities, hubs (</a:t>
            </a:r>
            <a:r>
              <a:rPr lang="en-US" sz="1200" dirty="0" err="1">
                <a:latin typeface="Avenir Book" panose="02000503020000020003" pitchFamily="2" charset="0"/>
              </a:rPr>
              <a:t>CcHub</a:t>
            </a:r>
            <a:r>
              <a:rPr lang="en-US" sz="1200" dirty="0">
                <a:latin typeface="Avenir Book" panose="02000503020000020003" pitchFamily="2" charset="0"/>
              </a:rPr>
              <a:t>, ALX, Decagon).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venir Book" panose="02000503020000020003" pitchFamily="2" charset="0"/>
              </a:rPr>
              <a:t>Certifications from AWS, Microsoft, Google.</a:t>
            </a:r>
          </a:p>
          <a:p>
            <a:pPr>
              <a:lnSpc>
                <a:spcPct val="150000"/>
              </a:lnSpc>
            </a:pPr>
            <a:endParaRPr lang="en-US" sz="1200" b="1" dirty="0">
              <a:latin typeface="Avenir Book" panose="02000503020000020003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Avenir Book" panose="02000503020000020003" pitchFamily="2" charset="0"/>
              </a:rPr>
              <a:t>Investment &amp; ROI:</a:t>
            </a:r>
            <a:endParaRPr lang="en-US" sz="1200" dirty="0">
              <a:latin typeface="Avenir Book" panose="02000503020000020003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venir Book" panose="02000503020000020003" pitchFamily="2" charset="0"/>
              </a:rPr>
              <a:t>Training budgets in ₦ and US$ scenario ranges.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venir Book" panose="02000503020000020003" pitchFamily="2" charset="0"/>
              </a:rPr>
              <a:t>Payback: higher productivity, faster hiring, improved retention.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1AEFD7-7000-AFC6-68AF-99CECCC9B3CD}"/>
              </a:ext>
            </a:extLst>
          </p:cNvPr>
          <p:cNvSpPr/>
          <p:nvPr/>
        </p:nvSpPr>
        <p:spPr>
          <a:xfrm>
            <a:off x="314790" y="2456689"/>
            <a:ext cx="2273175" cy="457200"/>
          </a:xfrm>
          <a:prstGeom prst="rect">
            <a:avLst/>
          </a:prstGeom>
          <a:solidFill>
            <a:srgbClr val="0D35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Avenir Book" panose="02000503020000020003" pitchFamily="2" charset="0"/>
              </a:rPr>
              <a:t>Tier 1 – AI Awareness (All Staff):</a:t>
            </a:r>
            <a:endParaRPr lang="en-US" sz="1200" dirty="0">
              <a:latin typeface="Avenir Book" panose="02000503020000020003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DF1D1-DD4B-1A65-BBB5-2838785F13C0}"/>
              </a:ext>
            </a:extLst>
          </p:cNvPr>
          <p:cNvSpPr/>
          <p:nvPr/>
        </p:nvSpPr>
        <p:spPr>
          <a:xfrm>
            <a:off x="314790" y="2963519"/>
            <a:ext cx="2273175" cy="1391663"/>
          </a:xfrm>
          <a:prstGeom prst="rect">
            <a:avLst/>
          </a:prstGeom>
          <a:solidFill>
            <a:srgbClr val="077B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200" dirty="0">
                <a:latin typeface="Avenir Book" panose="02000503020000020003" pitchFamily="2" charset="0"/>
              </a:rPr>
              <a:t>Short modules on AI basics, ethics, and use cases in telecom.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0CC312-A3F3-F5DB-3CBB-B0ECF13781B8}"/>
              </a:ext>
            </a:extLst>
          </p:cNvPr>
          <p:cNvSpPr/>
          <p:nvPr/>
        </p:nvSpPr>
        <p:spPr>
          <a:xfrm>
            <a:off x="2660585" y="2456689"/>
            <a:ext cx="2273175" cy="457200"/>
          </a:xfrm>
          <a:prstGeom prst="rect">
            <a:avLst/>
          </a:prstGeom>
          <a:solidFill>
            <a:srgbClr val="0D35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200" b="1" dirty="0">
                <a:latin typeface="Avenir Book" panose="02000503020000020003" pitchFamily="2" charset="0"/>
              </a:rPr>
              <a:t>Tier 2 – Data Literacy (Managers &amp; Staff):</a:t>
            </a:r>
            <a:endParaRPr lang="en-US" sz="1200" dirty="0">
              <a:latin typeface="Avenir Book" panose="02000503020000020003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DA57FC-E762-38E5-1371-6CA48193CB96}"/>
              </a:ext>
            </a:extLst>
          </p:cNvPr>
          <p:cNvSpPr/>
          <p:nvPr/>
        </p:nvSpPr>
        <p:spPr>
          <a:xfrm>
            <a:off x="2660585" y="2963519"/>
            <a:ext cx="2273175" cy="1391663"/>
          </a:xfrm>
          <a:prstGeom prst="rect">
            <a:avLst/>
          </a:prstGeom>
          <a:solidFill>
            <a:srgbClr val="077B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200" dirty="0">
                <a:latin typeface="Avenir Book" panose="02000503020000020003" pitchFamily="2" charset="0"/>
              </a:rPr>
              <a:t>Hands-on training in analytics, dashboards, and AI-supported planning.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EACC92-9D69-D5DE-7C53-3DF85C2B185E}"/>
              </a:ext>
            </a:extLst>
          </p:cNvPr>
          <p:cNvSpPr/>
          <p:nvPr/>
        </p:nvSpPr>
        <p:spPr>
          <a:xfrm>
            <a:off x="5006380" y="2450851"/>
            <a:ext cx="2273175" cy="457200"/>
          </a:xfrm>
          <a:prstGeom prst="rect">
            <a:avLst/>
          </a:prstGeom>
          <a:solidFill>
            <a:srgbClr val="0D35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200" b="1" dirty="0">
                <a:latin typeface="Avenir Book" panose="02000503020000020003" pitchFamily="2" charset="0"/>
              </a:rPr>
              <a:t>Tier 3 – Deep Technical Skilling (Select Cohorts):</a:t>
            </a:r>
            <a:endParaRPr lang="en-US" sz="1200" dirty="0">
              <a:latin typeface="Avenir Book" panose="02000503020000020003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0299AE-D7EE-BC0B-FF7E-57E7E62C7732}"/>
              </a:ext>
            </a:extLst>
          </p:cNvPr>
          <p:cNvSpPr/>
          <p:nvPr/>
        </p:nvSpPr>
        <p:spPr>
          <a:xfrm>
            <a:off x="5006380" y="2957681"/>
            <a:ext cx="2273175" cy="1391663"/>
          </a:xfrm>
          <a:prstGeom prst="rect">
            <a:avLst/>
          </a:prstGeom>
          <a:solidFill>
            <a:srgbClr val="077B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200" dirty="0">
                <a:latin typeface="Avenir Book" panose="02000503020000020003" pitchFamily="2" charset="0"/>
              </a:rPr>
              <a:t>Specialized programs in AI/ML, </a:t>
            </a:r>
            <a:r>
              <a:rPr lang="en-US" sz="1200" dirty="0" err="1">
                <a:latin typeface="Avenir Book" panose="02000503020000020003" pitchFamily="2" charset="0"/>
              </a:rPr>
              <a:t>MLOps</a:t>
            </a:r>
            <a:r>
              <a:rPr lang="en-US" sz="1200" dirty="0">
                <a:latin typeface="Avenir Book" panose="02000503020000020003" pitchFamily="2" charset="0"/>
              </a:rPr>
              <a:t>, and data engineering.</a:t>
            </a:r>
          </a:p>
        </p:txBody>
      </p:sp>
      <p:pic>
        <p:nvPicPr>
          <p:cNvPr id="16" name="Picture 15" descr="A green icon with a person and graph&#10;&#10;AI-generated content may be incorrect.">
            <a:extLst>
              <a:ext uri="{FF2B5EF4-FFF2-40B4-BE49-F238E27FC236}">
                <a16:creationId xmlns:a16="http://schemas.microsoft.com/office/drawing/2014/main" id="{AA125C60-0334-5096-3098-AB28E09F6A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2175" y="1170935"/>
            <a:ext cx="4976830" cy="497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213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2D294-F8F0-4AB4-5B1A-F873E246F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9CE2F-4A02-F5F1-773E-B6C3B328B8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99BC62-D3F6-B0B0-95A0-43E9A382E5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D39A19AC-3239-1799-8560-0CCF2B7E2E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227" b="10227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B1289C-844D-C110-DD59-099975EBFE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000" b="25820"/>
          <a:stretch/>
        </p:blipFill>
        <p:spPr>
          <a:xfrm>
            <a:off x="314791" y="250465"/>
            <a:ext cx="1588957" cy="7337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B9E361-1ABD-4B46-9F35-A94F65A6F6EF}"/>
              </a:ext>
            </a:extLst>
          </p:cNvPr>
          <p:cNvSpPr txBox="1"/>
          <p:nvPr/>
        </p:nvSpPr>
        <p:spPr>
          <a:xfrm>
            <a:off x="4497047" y="391904"/>
            <a:ext cx="7300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AI-Ready Workforce Transformation Proposal for IHS Nigeria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394452-E902-1782-5164-1FEA7CE37D3E}"/>
              </a:ext>
            </a:extLst>
          </p:cNvPr>
          <p:cNvSpPr txBox="1"/>
          <p:nvPr/>
        </p:nvSpPr>
        <p:spPr>
          <a:xfrm>
            <a:off x="314790" y="1284132"/>
            <a:ext cx="83645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venir Book" panose="02000503020000020003" pitchFamily="2" charset="0"/>
              </a:rPr>
              <a:t>Responsible AI in HR Operations</a:t>
            </a:r>
            <a:endParaRPr lang="en-US" sz="3200" dirty="0">
              <a:solidFill>
                <a:srgbClr val="000000"/>
              </a:solidFill>
              <a:effectLst/>
              <a:latin typeface="Avenir Book" panose="02000503020000020003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A21EB8-9C7C-EB4E-C86C-1FAE0AC7E1FF}"/>
              </a:ext>
            </a:extLst>
          </p:cNvPr>
          <p:cNvSpPr txBox="1"/>
          <p:nvPr/>
        </p:nvSpPr>
        <p:spPr>
          <a:xfrm>
            <a:off x="314792" y="1984312"/>
            <a:ext cx="7180518" cy="4500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latin typeface="Avenir Book" panose="02000503020000020003" pitchFamily="2" charset="0"/>
              </a:rPr>
              <a:t>Embedding AI into HR with Trust &amp; Compliance</a:t>
            </a:r>
          </a:p>
          <a:p>
            <a:pPr>
              <a:lnSpc>
                <a:spcPct val="150000"/>
              </a:lnSpc>
            </a:pPr>
            <a:endParaRPr lang="en-US" sz="1200" dirty="0">
              <a:latin typeface="Avenir Book" panose="02000503020000020003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Avenir Book" panose="02000503020000020003" pitchFamily="2" charset="0"/>
              </a:rPr>
              <a:t>Priority Use Cases:</a:t>
            </a:r>
            <a:endParaRPr lang="en-US" sz="1200" dirty="0">
              <a:latin typeface="Avenir Book" panose="02000503020000020003" pitchFamily="2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venir Book" panose="02000503020000020003" pitchFamily="2" charset="0"/>
              </a:rPr>
              <a:t>Recruitment &amp; candidate screening.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venir Book" panose="02000503020000020003" pitchFamily="2" charset="0"/>
              </a:rPr>
              <a:t>Internal mobility &amp; succession planning.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venir Book" panose="02000503020000020003" pitchFamily="2" charset="0"/>
              </a:rPr>
              <a:t>Performance insights &amp; workforce forecasting.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venir Book" panose="02000503020000020003" pitchFamily="2" charset="0"/>
              </a:rPr>
              <a:t>HR service chatbots for staff support.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Avenir Book" panose="02000503020000020003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Avenir Book" panose="02000503020000020003" pitchFamily="2" charset="0"/>
              </a:rPr>
              <a:t>Governance &amp; Compliance:</a:t>
            </a:r>
            <a:endParaRPr lang="en-US" sz="1200" dirty="0">
              <a:latin typeface="Avenir Book" panose="02000503020000020003" pitchFamily="2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venir Book" panose="02000503020000020003" pitchFamily="2" charset="0"/>
              </a:rPr>
              <a:t>Align with </a:t>
            </a:r>
            <a:r>
              <a:rPr lang="en-US" sz="1200" b="1" dirty="0">
                <a:latin typeface="Avenir Book" panose="02000503020000020003" pitchFamily="2" charset="0"/>
              </a:rPr>
              <a:t>NDPA 2023/NDPR</a:t>
            </a:r>
            <a:r>
              <a:rPr lang="en-US" sz="1200" dirty="0">
                <a:latin typeface="Avenir Book" panose="02000503020000020003" pitchFamily="2" charset="0"/>
              </a:rPr>
              <a:t>, </a:t>
            </a:r>
            <a:r>
              <a:rPr lang="en-US" sz="1200" dirty="0" err="1">
                <a:latin typeface="Avenir Book" panose="02000503020000020003" pitchFamily="2" charset="0"/>
              </a:rPr>
              <a:t>Labour</a:t>
            </a:r>
            <a:r>
              <a:rPr lang="en-US" sz="1200" dirty="0">
                <a:latin typeface="Avenir Book" panose="02000503020000020003" pitchFamily="2" charset="0"/>
              </a:rPr>
              <a:t> Act, PENCOM, NCC guidance.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venir Book" panose="02000503020000020003" pitchFamily="2" charset="0"/>
              </a:rPr>
              <a:t>Human-in-the-loop for all critical decisions.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venir Book" panose="02000503020000020003" pitchFamily="2" charset="0"/>
              </a:rPr>
              <a:t>Bias detection, explainability, and appeal mechanisms built in.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200" dirty="0">
              <a:latin typeface="Avenir Book" panose="02000503020000020003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Avenir Book" panose="02000503020000020003" pitchFamily="2" charset="0"/>
              </a:rPr>
              <a:t>Strategic Outcome:</a:t>
            </a:r>
            <a:endParaRPr lang="en-US" sz="1200" dirty="0">
              <a:latin typeface="Avenir Book" panose="02000503020000020003" pitchFamily="2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venir Book" panose="02000503020000020003" pitchFamily="2" charset="0"/>
              </a:rPr>
              <a:t>More efficient, fair, and data-driven HR processes.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venir Book" panose="02000503020000020003" pitchFamily="2" charset="0"/>
              </a:rPr>
              <a:t>Workforce trust strengthened through transparency &amp; safeguards.</a:t>
            </a:r>
          </a:p>
        </p:txBody>
      </p:sp>
      <p:pic>
        <p:nvPicPr>
          <p:cNvPr id="10" name="Picture 9" descr="A green shield with a person and gear&#10;&#10;AI-generated content may be incorrect.">
            <a:extLst>
              <a:ext uri="{FF2B5EF4-FFF2-40B4-BE49-F238E27FC236}">
                <a16:creationId xmlns:a16="http://schemas.microsoft.com/office/drawing/2014/main" id="{12D5B40F-6FCB-22E0-AADF-276A5658EB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330" y="1610959"/>
            <a:ext cx="4695888" cy="469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088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70104-F7F6-AB10-7CBF-229169A56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FA46F-F665-8685-863C-4F1A45F34D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32311A-E483-33B6-AAC8-21D987817C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58FE67EE-072D-D3DD-ADE0-50680CAC2E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227" b="10227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D7BE1F-9C9F-2888-DAAB-4FF20EF795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000" b="25820"/>
          <a:stretch/>
        </p:blipFill>
        <p:spPr>
          <a:xfrm>
            <a:off x="314791" y="250465"/>
            <a:ext cx="1588957" cy="7337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387F6B-23A9-4893-0711-FF6AB253ABB3}"/>
              </a:ext>
            </a:extLst>
          </p:cNvPr>
          <p:cNvSpPr txBox="1"/>
          <p:nvPr/>
        </p:nvSpPr>
        <p:spPr>
          <a:xfrm>
            <a:off x="4497047" y="391904"/>
            <a:ext cx="7300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AI-Ready Workforce Transformation Proposal for IHS Nigeria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E24E23-6D7A-5EC6-F0F2-D039458E6DFD}"/>
              </a:ext>
            </a:extLst>
          </p:cNvPr>
          <p:cNvSpPr txBox="1"/>
          <p:nvPr/>
        </p:nvSpPr>
        <p:spPr>
          <a:xfrm>
            <a:off x="314790" y="1284132"/>
            <a:ext cx="83645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venir Book" panose="02000503020000020003" pitchFamily="2" charset="0"/>
              </a:rPr>
              <a:t>Role-by-Role AI Impact</a:t>
            </a:r>
            <a:endParaRPr lang="en-US" sz="3200" dirty="0">
              <a:solidFill>
                <a:srgbClr val="000000"/>
              </a:solidFill>
              <a:effectLst/>
              <a:latin typeface="Avenir Book" panose="02000503020000020003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0AFA44-05FB-2981-F7E1-CB2C65CBABA9}"/>
              </a:ext>
            </a:extLst>
          </p:cNvPr>
          <p:cNvSpPr txBox="1"/>
          <p:nvPr/>
        </p:nvSpPr>
        <p:spPr>
          <a:xfrm>
            <a:off x="314792" y="1984312"/>
            <a:ext cx="7120330" cy="345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latin typeface="Avenir Book" panose="02000503020000020003" pitchFamily="2" charset="0"/>
              </a:rPr>
              <a:t>Transforming Work Across All Levels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29A2AE-B898-1406-5FDC-E8E3D12EB122}"/>
              </a:ext>
            </a:extLst>
          </p:cNvPr>
          <p:cNvSpPr/>
          <p:nvPr/>
        </p:nvSpPr>
        <p:spPr>
          <a:xfrm>
            <a:off x="505330" y="2552234"/>
            <a:ext cx="2273175" cy="457200"/>
          </a:xfrm>
          <a:prstGeom prst="rect">
            <a:avLst/>
          </a:prstGeom>
          <a:solidFill>
            <a:srgbClr val="0D35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Avenir Book" panose="02000503020000020003" pitchFamily="2" charset="0"/>
              </a:rPr>
              <a:t>Leadership / Board</a:t>
            </a:r>
            <a:endParaRPr lang="en-US" sz="1200" dirty="0">
              <a:latin typeface="Avenir Book" panose="02000503020000020003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517E13-8637-A672-C9B8-DB2F168AD5B7}"/>
              </a:ext>
            </a:extLst>
          </p:cNvPr>
          <p:cNvSpPr/>
          <p:nvPr/>
        </p:nvSpPr>
        <p:spPr>
          <a:xfrm>
            <a:off x="505330" y="3059064"/>
            <a:ext cx="2273175" cy="1391663"/>
          </a:xfrm>
          <a:prstGeom prst="rect">
            <a:avLst/>
          </a:prstGeom>
          <a:solidFill>
            <a:srgbClr val="077B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Avenir Book" panose="02000503020000020003" pitchFamily="2" charset="0"/>
              </a:rPr>
              <a:t>AI dashboards for real-time decision-making &amp; scenario modeling.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13D915-3845-69A2-078C-D10FEAA27F9A}"/>
              </a:ext>
            </a:extLst>
          </p:cNvPr>
          <p:cNvSpPr/>
          <p:nvPr/>
        </p:nvSpPr>
        <p:spPr>
          <a:xfrm>
            <a:off x="2851125" y="2552234"/>
            <a:ext cx="2273175" cy="457200"/>
          </a:xfrm>
          <a:prstGeom prst="rect">
            <a:avLst/>
          </a:prstGeom>
          <a:solidFill>
            <a:srgbClr val="0D35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200" b="1" dirty="0">
                <a:latin typeface="Avenir Book" panose="02000503020000020003" pitchFamily="2" charset="0"/>
              </a:rPr>
              <a:t>Middle Management</a:t>
            </a:r>
            <a:endParaRPr lang="en-US" sz="1200" dirty="0">
              <a:latin typeface="Avenir Book" panose="02000503020000020003" pitchFamily="2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88AB32-DADB-8B9B-32C2-03C40477C1BE}"/>
              </a:ext>
            </a:extLst>
          </p:cNvPr>
          <p:cNvSpPr/>
          <p:nvPr/>
        </p:nvSpPr>
        <p:spPr>
          <a:xfrm>
            <a:off x="2851125" y="3059064"/>
            <a:ext cx="2273175" cy="1391663"/>
          </a:xfrm>
          <a:prstGeom prst="rect">
            <a:avLst/>
          </a:prstGeom>
          <a:solidFill>
            <a:srgbClr val="077B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Avenir Book" panose="02000503020000020003" pitchFamily="2" charset="0"/>
              </a:rPr>
              <a:t>AI-augmented planning, reporting, and resource allocation.</a:t>
            </a:r>
          </a:p>
          <a:p>
            <a:pPr algn="ctr"/>
            <a:r>
              <a:rPr lang="en-US" sz="1200" b="1" dirty="0">
                <a:latin typeface="Avenir Book" panose="02000503020000020003" pitchFamily="2" charset="0"/>
              </a:rPr>
              <a:t>Data-driven performance tracking.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F00EDE-1D56-9BF7-36F2-AE66EC72A0DD}"/>
              </a:ext>
            </a:extLst>
          </p:cNvPr>
          <p:cNvSpPr/>
          <p:nvPr/>
        </p:nvSpPr>
        <p:spPr>
          <a:xfrm>
            <a:off x="5196920" y="2546396"/>
            <a:ext cx="2273175" cy="457200"/>
          </a:xfrm>
          <a:prstGeom prst="rect">
            <a:avLst/>
          </a:prstGeom>
          <a:solidFill>
            <a:srgbClr val="0D35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200" b="1" dirty="0">
                <a:latin typeface="Avenir Book" panose="02000503020000020003" pitchFamily="2" charset="0"/>
              </a:rPr>
              <a:t>Field &amp; Operational Staff</a:t>
            </a:r>
            <a:endParaRPr lang="en-US" sz="1200" dirty="0">
              <a:latin typeface="Avenir Book" panose="02000503020000020003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6B5062-A3BA-C484-F5CA-3DDA53EC5EC8}"/>
              </a:ext>
            </a:extLst>
          </p:cNvPr>
          <p:cNvSpPr/>
          <p:nvPr/>
        </p:nvSpPr>
        <p:spPr>
          <a:xfrm>
            <a:off x="5196920" y="3053226"/>
            <a:ext cx="2273175" cy="1391663"/>
          </a:xfrm>
          <a:prstGeom prst="rect">
            <a:avLst/>
          </a:prstGeom>
          <a:solidFill>
            <a:srgbClr val="077B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Avenir Book" panose="02000503020000020003" pitchFamily="2" charset="0"/>
              </a:rPr>
              <a:t>Predictive maintenance tools to reduce downtime.</a:t>
            </a:r>
          </a:p>
          <a:p>
            <a:pPr algn="ctr"/>
            <a:r>
              <a:rPr lang="en-US" sz="1200" b="1" dirty="0">
                <a:latin typeface="Avenir Book" panose="02000503020000020003" pitchFamily="2" charset="0"/>
              </a:rPr>
              <a:t>AR/AI-assisted workflows &amp; safety monitoring.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E371FB8-0073-154D-E847-7C4F3881A494}"/>
              </a:ext>
            </a:extLst>
          </p:cNvPr>
          <p:cNvSpPr/>
          <p:nvPr/>
        </p:nvSpPr>
        <p:spPr>
          <a:xfrm>
            <a:off x="7542715" y="2546396"/>
            <a:ext cx="2273175" cy="457200"/>
          </a:xfrm>
          <a:prstGeom prst="rect">
            <a:avLst/>
          </a:prstGeom>
          <a:solidFill>
            <a:srgbClr val="0D35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200" b="1" dirty="0">
                <a:latin typeface="Avenir Book" panose="02000503020000020003" pitchFamily="2" charset="0"/>
              </a:rPr>
              <a:t>Back-Office Teams</a:t>
            </a:r>
            <a:endParaRPr lang="en-US" sz="1200" dirty="0">
              <a:latin typeface="Avenir Book" panose="02000503020000020003" pitchFamily="2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1B75BB7-8732-6BFA-220D-972A08592251}"/>
              </a:ext>
            </a:extLst>
          </p:cNvPr>
          <p:cNvSpPr/>
          <p:nvPr/>
        </p:nvSpPr>
        <p:spPr>
          <a:xfrm>
            <a:off x="7542715" y="3053226"/>
            <a:ext cx="2273175" cy="1391663"/>
          </a:xfrm>
          <a:prstGeom prst="rect">
            <a:avLst/>
          </a:prstGeom>
          <a:solidFill>
            <a:srgbClr val="077B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Avenir Book" panose="02000503020000020003" pitchFamily="2" charset="0"/>
              </a:rPr>
              <a:t>HR, Finance, and Procurement automation.</a:t>
            </a:r>
          </a:p>
          <a:p>
            <a:pPr algn="ctr"/>
            <a:r>
              <a:rPr lang="en-US" sz="1200" b="1" dirty="0">
                <a:latin typeface="Avenir Book" panose="02000503020000020003" pitchFamily="2" charset="0"/>
              </a:rPr>
              <a:t>AI-enabled service chatbots for routine tasks.</a:t>
            </a:r>
          </a:p>
        </p:txBody>
      </p:sp>
      <p:sp>
        <p:nvSpPr>
          <p:cNvPr id="23" name="Pentagon 22">
            <a:extLst>
              <a:ext uri="{FF2B5EF4-FFF2-40B4-BE49-F238E27FC236}">
                <a16:creationId xmlns:a16="http://schemas.microsoft.com/office/drawing/2014/main" id="{67374FCA-9605-5FDC-EE3E-1AAC0BC19FC3}"/>
              </a:ext>
            </a:extLst>
          </p:cNvPr>
          <p:cNvSpPr/>
          <p:nvPr/>
        </p:nvSpPr>
        <p:spPr>
          <a:xfrm>
            <a:off x="505330" y="5150262"/>
            <a:ext cx="1837172" cy="856448"/>
          </a:xfrm>
          <a:prstGeom prst="homePlat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latin typeface="Avenir Book" panose="02000503020000020003" pitchFamily="2" charset="0"/>
              </a:rPr>
              <a:t>Outcome</a:t>
            </a:r>
            <a:endParaRPr lang="en-US" dirty="0"/>
          </a:p>
        </p:txBody>
      </p:sp>
      <p:sp>
        <p:nvSpPr>
          <p:cNvPr id="24" name="Chevron 23">
            <a:extLst>
              <a:ext uri="{FF2B5EF4-FFF2-40B4-BE49-F238E27FC236}">
                <a16:creationId xmlns:a16="http://schemas.microsoft.com/office/drawing/2014/main" id="{DF2DD54C-D380-A430-7347-47F71A50AD24}"/>
              </a:ext>
            </a:extLst>
          </p:cNvPr>
          <p:cNvSpPr/>
          <p:nvPr/>
        </p:nvSpPr>
        <p:spPr>
          <a:xfrm>
            <a:off x="2010618" y="5145643"/>
            <a:ext cx="7805272" cy="856449"/>
          </a:xfrm>
          <a:prstGeom prst="chevron">
            <a:avLst/>
          </a:prstGeom>
          <a:solidFill>
            <a:srgbClr val="077B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venir Book" panose="02000503020000020003" pitchFamily="2" charset="0"/>
              </a:rPr>
              <a:t>Every role benefits from AI — productivity gains, safer operations, and better decision support.</a:t>
            </a:r>
          </a:p>
        </p:txBody>
      </p:sp>
      <p:pic>
        <p:nvPicPr>
          <p:cNvPr id="26" name="Picture 25" descr="A green symbol of people&#10;&#10;AI-generated content may be incorrect.">
            <a:extLst>
              <a:ext uri="{FF2B5EF4-FFF2-40B4-BE49-F238E27FC236}">
                <a16:creationId xmlns:a16="http://schemas.microsoft.com/office/drawing/2014/main" id="{A4A36C58-3603-7A2A-C3CB-7516AB6A04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7027" y="1392369"/>
            <a:ext cx="4511412" cy="451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7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C86B1-09F9-A493-D38C-E18544AFB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E315F-A747-888E-F049-1E275DC890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2B7E37-17E7-2A9D-E666-4F385D1499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48776FB1-66FF-ABE0-277E-06A5C0A618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227" b="10227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D3AA4E-C81C-55FB-7DEA-6433AD99CA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000" b="25820"/>
          <a:stretch/>
        </p:blipFill>
        <p:spPr>
          <a:xfrm>
            <a:off x="314791" y="250465"/>
            <a:ext cx="1588957" cy="7337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8A4256-A635-FCA8-97CC-5E00F1606C95}"/>
              </a:ext>
            </a:extLst>
          </p:cNvPr>
          <p:cNvSpPr txBox="1"/>
          <p:nvPr/>
        </p:nvSpPr>
        <p:spPr>
          <a:xfrm>
            <a:off x="4497047" y="391904"/>
            <a:ext cx="7300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AI-Ready Workforce Transformation Proposal for IHS Nigeria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B0F218-DDD2-B868-8E23-679A9FFB3F9E}"/>
              </a:ext>
            </a:extLst>
          </p:cNvPr>
          <p:cNvSpPr txBox="1"/>
          <p:nvPr/>
        </p:nvSpPr>
        <p:spPr>
          <a:xfrm>
            <a:off x="314790" y="1284132"/>
            <a:ext cx="83645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venir Book" panose="02000503020000020003" pitchFamily="2" charset="0"/>
              </a:rPr>
              <a:t>Change Management &amp; Culture Enablement</a:t>
            </a:r>
            <a:endParaRPr lang="en-US" sz="3200" dirty="0">
              <a:solidFill>
                <a:srgbClr val="000000"/>
              </a:solidFill>
              <a:effectLst/>
              <a:latin typeface="Avenir Book" panose="02000503020000020003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CA2973-90AF-0158-DB74-D34FAEB826A0}"/>
              </a:ext>
            </a:extLst>
          </p:cNvPr>
          <p:cNvSpPr txBox="1"/>
          <p:nvPr/>
        </p:nvSpPr>
        <p:spPr>
          <a:xfrm>
            <a:off x="314792" y="1984312"/>
            <a:ext cx="7135319" cy="387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latin typeface="Avenir Book" panose="02000503020000020003" pitchFamily="2" charset="0"/>
              </a:rPr>
              <a:t>Building a Workforce Ready for AI</a:t>
            </a:r>
          </a:p>
        </p:txBody>
      </p:sp>
      <p:sp>
        <p:nvSpPr>
          <p:cNvPr id="6" name="Pentagon 5">
            <a:extLst>
              <a:ext uri="{FF2B5EF4-FFF2-40B4-BE49-F238E27FC236}">
                <a16:creationId xmlns:a16="http://schemas.microsoft.com/office/drawing/2014/main" id="{AD28AC3F-A39A-84F0-FC61-AA3A8A0AA700}"/>
              </a:ext>
            </a:extLst>
          </p:cNvPr>
          <p:cNvSpPr/>
          <p:nvPr/>
        </p:nvSpPr>
        <p:spPr>
          <a:xfrm>
            <a:off x="398461" y="5317271"/>
            <a:ext cx="1674831" cy="892226"/>
          </a:xfrm>
          <a:prstGeom prst="homePlat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latin typeface="Avenir Book" panose="02000503020000020003" pitchFamily="2" charset="0"/>
              </a:rPr>
              <a:t>Outcome</a:t>
            </a:r>
            <a:endParaRPr lang="en-US" dirty="0"/>
          </a:p>
        </p:txBody>
      </p:sp>
      <p:sp>
        <p:nvSpPr>
          <p:cNvPr id="10" name="Chevron 9">
            <a:extLst>
              <a:ext uri="{FF2B5EF4-FFF2-40B4-BE49-F238E27FC236}">
                <a16:creationId xmlns:a16="http://schemas.microsoft.com/office/drawing/2014/main" id="{A53CB465-CBC8-FC9D-2571-0CCCA43B074A}"/>
              </a:ext>
            </a:extLst>
          </p:cNvPr>
          <p:cNvSpPr/>
          <p:nvPr/>
        </p:nvSpPr>
        <p:spPr>
          <a:xfrm>
            <a:off x="1903748" y="5312652"/>
            <a:ext cx="5546363" cy="892228"/>
          </a:xfrm>
          <a:prstGeom prst="chevron">
            <a:avLst/>
          </a:prstGeom>
          <a:solidFill>
            <a:srgbClr val="077B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venir Book" panose="02000503020000020003" pitchFamily="2" charset="0"/>
              </a:rPr>
              <a:t>Smooth transition to AI-enabled work, high workforce confidence, and minimized resistance.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1584BF-48EC-DF95-E053-DABCF06BAD66}"/>
              </a:ext>
            </a:extLst>
          </p:cNvPr>
          <p:cNvSpPr/>
          <p:nvPr/>
        </p:nvSpPr>
        <p:spPr>
          <a:xfrm>
            <a:off x="398460" y="2754970"/>
            <a:ext cx="2273175" cy="457200"/>
          </a:xfrm>
          <a:prstGeom prst="rect">
            <a:avLst/>
          </a:prstGeom>
          <a:solidFill>
            <a:srgbClr val="0D35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Avenir Book" panose="02000503020000020003" pitchFamily="2" charset="0"/>
              </a:rPr>
              <a:t>Communication &amp; Engagement</a:t>
            </a:r>
            <a:endParaRPr lang="en-US" sz="1200" dirty="0">
              <a:latin typeface="Avenir Book" panose="02000503020000020003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C5D4D0-E388-663D-2C3E-0065E034C378}"/>
              </a:ext>
            </a:extLst>
          </p:cNvPr>
          <p:cNvSpPr/>
          <p:nvPr/>
        </p:nvSpPr>
        <p:spPr>
          <a:xfrm>
            <a:off x="398460" y="3261800"/>
            <a:ext cx="2273175" cy="1391663"/>
          </a:xfrm>
          <a:prstGeom prst="rect">
            <a:avLst/>
          </a:prstGeom>
          <a:solidFill>
            <a:srgbClr val="077B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200" dirty="0">
                <a:latin typeface="Avenir Book" panose="02000503020000020003" pitchFamily="2" charset="0"/>
              </a:rPr>
              <a:t>Clear, ongoing messaging on AI’s role and benefits.</a:t>
            </a:r>
          </a:p>
          <a:p>
            <a:pPr algn="ctr">
              <a:lnSpc>
                <a:spcPct val="150000"/>
              </a:lnSpc>
            </a:pPr>
            <a:r>
              <a:rPr lang="en-US" sz="1200" dirty="0">
                <a:latin typeface="Avenir Book" panose="02000503020000020003" pitchFamily="2" charset="0"/>
              </a:rPr>
              <a:t>Early engagement with unions and key stakeholders.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C25117-F254-DD2C-67C3-E03D5E0AD661}"/>
              </a:ext>
            </a:extLst>
          </p:cNvPr>
          <p:cNvSpPr/>
          <p:nvPr/>
        </p:nvSpPr>
        <p:spPr>
          <a:xfrm>
            <a:off x="2744255" y="2754970"/>
            <a:ext cx="2273175" cy="457200"/>
          </a:xfrm>
          <a:prstGeom prst="rect">
            <a:avLst/>
          </a:prstGeom>
          <a:solidFill>
            <a:srgbClr val="0D35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200" b="1" dirty="0">
                <a:latin typeface="Avenir Book" panose="02000503020000020003" pitchFamily="2" charset="0"/>
              </a:rPr>
              <a:t>Culture &amp; Trust</a:t>
            </a:r>
            <a:endParaRPr lang="en-US" sz="1200" dirty="0">
              <a:latin typeface="Avenir Book" panose="02000503020000020003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FC4F64-FF7C-054B-DF5A-2D5CC467A6F7}"/>
              </a:ext>
            </a:extLst>
          </p:cNvPr>
          <p:cNvSpPr/>
          <p:nvPr/>
        </p:nvSpPr>
        <p:spPr>
          <a:xfrm>
            <a:off x="2744255" y="3261800"/>
            <a:ext cx="2273175" cy="1391663"/>
          </a:xfrm>
          <a:prstGeom prst="rect">
            <a:avLst/>
          </a:prstGeom>
          <a:solidFill>
            <a:srgbClr val="077B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200" dirty="0">
                <a:latin typeface="Avenir Book" panose="02000503020000020003" pitchFamily="2" charset="0"/>
              </a:rPr>
              <a:t>No-forced-layoffs principle; redeployment &amp; reskilling first.</a:t>
            </a:r>
          </a:p>
          <a:p>
            <a:pPr algn="ctr">
              <a:lnSpc>
                <a:spcPct val="150000"/>
              </a:lnSpc>
            </a:pPr>
            <a:r>
              <a:rPr lang="en-US" sz="1200" dirty="0">
                <a:latin typeface="Avenir Book" panose="02000503020000020003" pitchFamily="2" charset="0"/>
              </a:rPr>
              <a:t>Recognition &amp; incentives for AI adoption champions.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C61BF7-221D-B1A9-B293-EDDC10762D80}"/>
              </a:ext>
            </a:extLst>
          </p:cNvPr>
          <p:cNvSpPr/>
          <p:nvPr/>
        </p:nvSpPr>
        <p:spPr>
          <a:xfrm>
            <a:off x="5090050" y="2749132"/>
            <a:ext cx="2273175" cy="457200"/>
          </a:xfrm>
          <a:prstGeom prst="rect">
            <a:avLst/>
          </a:prstGeom>
          <a:solidFill>
            <a:srgbClr val="0D35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200" b="1" dirty="0">
                <a:latin typeface="Avenir Book" panose="02000503020000020003" pitchFamily="2" charset="0"/>
              </a:rPr>
              <a:t>Capability Building</a:t>
            </a:r>
            <a:endParaRPr lang="en-US" sz="1200" dirty="0">
              <a:latin typeface="Avenir Book" panose="02000503020000020003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76839F-27A8-7DF5-A141-3DB5FA92F04D}"/>
              </a:ext>
            </a:extLst>
          </p:cNvPr>
          <p:cNvSpPr/>
          <p:nvPr/>
        </p:nvSpPr>
        <p:spPr>
          <a:xfrm>
            <a:off x="5090050" y="3255962"/>
            <a:ext cx="2273175" cy="1391663"/>
          </a:xfrm>
          <a:prstGeom prst="rect">
            <a:avLst/>
          </a:prstGeom>
          <a:solidFill>
            <a:srgbClr val="077B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200" dirty="0">
                <a:latin typeface="Avenir Book" panose="02000503020000020003" pitchFamily="2" charset="0"/>
              </a:rPr>
              <a:t>“Day-in-the-life after AI” workshops per role.</a:t>
            </a:r>
          </a:p>
          <a:p>
            <a:pPr algn="ctr">
              <a:lnSpc>
                <a:spcPct val="150000"/>
              </a:lnSpc>
            </a:pPr>
            <a:r>
              <a:rPr lang="en-US" sz="1200" dirty="0">
                <a:latin typeface="Avenir Book" panose="02000503020000020003" pitchFamily="2" charset="0"/>
              </a:rPr>
              <a:t>Local champions network to drive adoption.</a:t>
            </a:r>
          </a:p>
        </p:txBody>
      </p:sp>
      <p:pic>
        <p:nvPicPr>
          <p:cNvPr id="18" name="Picture 17" descr="A green symbol with a gear and people in hands&#10;&#10;AI-generated content may be incorrect.">
            <a:extLst>
              <a:ext uri="{FF2B5EF4-FFF2-40B4-BE49-F238E27FC236}">
                <a16:creationId xmlns:a16="http://schemas.microsoft.com/office/drawing/2014/main" id="{8396292B-0A48-9C75-72AC-FF23AB25EE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0457" y="2039417"/>
            <a:ext cx="4061691" cy="406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842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F8C62-47F5-1187-1C80-735698E45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D819C-CD0E-0833-EEC3-52A457E969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FEFBA5-FBDA-CC8C-0228-CD17EC5DBF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93C1CA82-65C7-E940-1D4F-B123772A3C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227" b="10227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B8028B-2098-0672-F376-4E58325FD5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000" b="25820"/>
          <a:stretch/>
        </p:blipFill>
        <p:spPr>
          <a:xfrm>
            <a:off x="314791" y="250465"/>
            <a:ext cx="1588957" cy="7337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F73046-B912-9CA5-2B68-4DCA06AE0742}"/>
              </a:ext>
            </a:extLst>
          </p:cNvPr>
          <p:cNvSpPr txBox="1"/>
          <p:nvPr/>
        </p:nvSpPr>
        <p:spPr>
          <a:xfrm>
            <a:off x="4497047" y="391904"/>
            <a:ext cx="7300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AI-Ready Workforce Transformation Proposal for IHS Nigeria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647910-E07E-0EF9-06BC-D5662C50FD68}"/>
              </a:ext>
            </a:extLst>
          </p:cNvPr>
          <p:cNvSpPr txBox="1"/>
          <p:nvPr/>
        </p:nvSpPr>
        <p:spPr>
          <a:xfrm>
            <a:off x="314790" y="1284132"/>
            <a:ext cx="83645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venir Book" panose="02000503020000020003" pitchFamily="2" charset="0"/>
              </a:rPr>
              <a:t>Roadmap &amp; Operating Model</a:t>
            </a:r>
            <a:endParaRPr lang="en-US" sz="3200" dirty="0">
              <a:solidFill>
                <a:srgbClr val="000000"/>
              </a:solidFill>
              <a:effectLst/>
              <a:latin typeface="Avenir Book" panose="02000503020000020003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946AC3-94A7-F544-9B41-531A39A8CC44}"/>
              </a:ext>
            </a:extLst>
          </p:cNvPr>
          <p:cNvSpPr txBox="1"/>
          <p:nvPr/>
        </p:nvSpPr>
        <p:spPr>
          <a:xfrm>
            <a:off x="314792" y="1984312"/>
            <a:ext cx="7240251" cy="387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latin typeface="Avenir Book" panose="02000503020000020003" pitchFamily="2" charset="0"/>
              </a:rPr>
              <a:t>Phased Transformation Journey</a:t>
            </a:r>
            <a:endParaRPr lang="en-US" sz="1400" dirty="0">
              <a:latin typeface="Avenir Book" panose="02000503020000020003" pitchFamily="2" charset="0"/>
            </a:endParaRPr>
          </a:p>
        </p:txBody>
      </p:sp>
      <p:sp>
        <p:nvSpPr>
          <p:cNvPr id="6" name="Pentagon 5">
            <a:extLst>
              <a:ext uri="{FF2B5EF4-FFF2-40B4-BE49-F238E27FC236}">
                <a16:creationId xmlns:a16="http://schemas.microsoft.com/office/drawing/2014/main" id="{A7A65F17-EEA5-CF7B-A3C7-79915D90FE4D}"/>
              </a:ext>
            </a:extLst>
          </p:cNvPr>
          <p:cNvSpPr/>
          <p:nvPr/>
        </p:nvSpPr>
        <p:spPr>
          <a:xfrm>
            <a:off x="314790" y="5620805"/>
            <a:ext cx="1674831" cy="892226"/>
          </a:xfrm>
          <a:prstGeom prst="homePlat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latin typeface="Avenir Book" panose="02000503020000020003" pitchFamily="2" charset="0"/>
              </a:rPr>
              <a:t>Outcome</a:t>
            </a:r>
            <a:endParaRPr lang="en-US" dirty="0"/>
          </a:p>
        </p:txBody>
      </p:sp>
      <p:sp>
        <p:nvSpPr>
          <p:cNvPr id="10" name="Chevron 9">
            <a:extLst>
              <a:ext uri="{FF2B5EF4-FFF2-40B4-BE49-F238E27FC236}">
                <a16:creationId xmlns:a16="http://schemas.microsoft.com/office/drawing/2014/main" id="{533871E1-28C2-AEC1-4AAD-2D7DB98BD05C}"/>
              </a:ext>
            </a:extLst>
          </p:cNvPr>
          <p:cNvSpPr/>
          <p:nvPr/>
        </p:nvSpPr>
        <p:spPr>
          <a:xfrm>
            <a:off x="1820077" y="5616186"/>
            <a:ext cx="5546363" cy="892228"/>
          </a:xfrm>
          <a:prstGeom prst="chevron">
            <a:avLst/>
          </a:prstGeom>
          <a:solidFill>
            <a:srgbClr val="077B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venir Book" panose="02000503020000020003" pitchFamily="2" charset="0"/>
              </a:rPr>
              <a:t>Structured, sustainable AI adoption aligned with IHS Nigeria’s strategy.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4C71AC-DC6B-8044-2634-FE696E6AB205}"/>
              </a:ext>
            </a:extLst>
          </p:cNvPr>
          <p:cNvSpPr/>
          <p:nvPr/>
        </p:nvSpPr>
        <p:spPr>
          <a:xfrm>
            <a:off x="314790" y="2428544"/>
            <a:ext cx="2273175" cy="457200"/>
          </a:xfrm>
          <a:prstGeom prst="rect">
            <a:avLst/>
          </a:prstGeom>
          <a:solidFill>
            <a:srgbClr val="0D35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Avenir Book" panose="02000503020000020003" pitchFamily="2" charset="0"/>
              </a:rPr>
              <a:t>Phase 1 (0–6 months)</a:t>
            </a:r>
            <a:endParaRPr lang="en-US" sz="1200" dirty="0">
              <a:latin typeface="Avenir Book" panose="02000503020000020003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C03BE0-C19F-DB0B-3612-3E3704559D1F}"/>
              </a:ext>
            </a:extLst>
          </p:cNvPr>
          <p:cNvSpPr/>
          <p:nvPr/>
        </p:nvSpPr>
        <p:spPr>
          <a:xfrm>
            <a:off x="314790" y="2935374"/>
            <a:ext cx="2273175" cy="1391663"/>
          </a:xfrm>
          <a:prstGeom prst="rect">
            <a:avLst/>
          </a:prstGeom>
          <a:solidFill>
            <a:srgbClr val="077B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venir Book" panose="02000503020000020003" pitchFamily="2" charset="0"/>
              </a:rPr>
              <a:t>Skills mapping, AI awareness sessions. </a:t>
            </a:r>
          </a:p>
          <a:p>
            <a:pPr algn="ctr"/>
            <a:r>
              <a:rPr lang="en-US" sz="1200" dirty="0">
                <a:latin typeface="Avenir Book" panose="02000503020000020003" pitchFamily="2" charset="0"/>
              </a:rPr>
              <a:t>Pilot projects in HR operations &amp; field tools.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DD3418-762F-91D0-5FB6-57C3D04D4EBE}"/>
              </a:ext>
            </a:extLst>
          </p:cNvPr>
          <p:cNvSpPr/>
          <p:nvPr/>
        </p:nvSpPr>
        <p:spPr>
          <a:xfrm>
            <a:off x="2660585" y="2428544"/>
            <a:ext cx="2273175" cy="457200"/>
          </a:xfrm>
          <a:prstGeom prst="rect">
            <a:avLst/>
          </a:prstGeom>
          <a:solidFill>
            <a:srgbClr val="0D35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200" b="1" dirty="0">
                <a:latin typeface="Avenir Book" panose="02000503020000020003" pitchFamily="2" charset="0"/>
              </a:rPr>
              <a:t>Phase 2 (6–18 months)</a:t>
            </a:r>
            <a:endParaRPr lang="en-US" sz="1200" dirty="0">
              <a:latin typeface="Avenir Book" panose="02000503020000020003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791A58-DE2E-F1B2-367F-1B2F195B1AC7}"/>
              </a:ext>
            </a:extLst>
          </p:cNvPr>
          <p:cNvSpPr/>
          <p:nvPr/>
        </p:nvSpPr>
        <p:spPr>
          <a:xfrm>
            <a:off x="2660585" y="2935374"/>
            <a:ext cx="2273175" cy="1391663"/>
          </a:xfrm>
          <a:prstGeom prst="rect">
            <a:avLst/>
          </a:prstGeom>
          <a:solidFill>
            <a:srgbClr val="077B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100" dirty="0">
                <a:latin typeface="Avenir Book" panose="02000503020000020003" pitchFamily="2" charset="0"/>
              </a:rPr>
              <a:t>Scale training across all tiers.</a:t>
            </a:r>
          </a:p>
          <a:p>
            <a:pPr algn="ctr">
              <a:lnSpc>
                <a:spcPct val="150000"/>
              </a:lnSpc>
            </a:pPr>
            <a:r>
              <a:rPr lang="en-US" sz="1100" dirty="0">
                <a:latin typeface="Avenir Book" panose="02000503020000020003" pitchFamily="2" charset="0"/>
              </a:rPr>
              <a:t>AI dashboards integrated into management workflows.</a:t>
            </a:r>
          </a:p>
          <a:p>
            <a:pPr algn="ctr">
              <a:lnSpc>
                <a:spcPct val="150000"/>
              </a:lnSpc>
            </a:pPr>
            <a:r>
              <a:rPr lang="en-US" sz="1100" dirty="0">
                <a:latin typeface="Avenir Book" panose="02000503020000020003" pitchFamily="2" charset="0"/>
              </a:rPr>
              <a:t>Certification of managers &amp; technical staff.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ABF640-E245-D301-15D4-66D54098EBDB}"/>
              </a:ext>
            </a:extLst>
          </p:cNvPr>
          <p:cNvSpPr/>
          <p:nvPr/>
        </p:nvSpPr>
        <p:spPr>
          <a:xfrm>
            <a:off x="5006380" y="2422706"/>
            <a:ext cx="2273175" cy="457200"/>
          </a:xfrm>
          <a:prstGeom prst="rect">
            <a:avLst/>
          </a:prstGeom>
          <a:solidFill>
            <a:srgbClr val="0D35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200" b="1" dirty="0">
                <a:latin typeface="Avenir Book" panose="02000503020000020003" pitchFamily="2" charset="0"/>
              </a:rPr>
              <a:t>Phase 3 (18–36 months)</a:t>
            </a:r>
            <a:endParaRPr lang="en-US" sz="1200" dirty="0">
              <a:latin typeface="Avenir Book" panose="02000503020000020003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926277-F718-A6F7-054D-B9C29FA829E0}"/>
              </a:ext>
            </a:extLst>
          </p:cNvPr>
          <p:cNvSpPr/>
          <p:nvPr/>
        </p:nvSpPr>
        <p:spPr>
          <a:xfrm>
            <a:off x="5006380" y="2929536"/>
            <a:ext cx="2273175" cy="1391663"/>
          </a:xfrm>
          <a:prstGeom prst="rect">
            <a:avLst/>
          </a:prstGeom>
          <a:solidFill>
            <a:srgbClr val="077B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venir Book" panose="02000503020000020003" pitchFamily="2" charset="0"/>
              </a:rPr>
              <a:t>Institutionalize AI through an innovation hub. </a:t>
            </a:r>
          </a:p>
          <a:p>
            <a:pPr algn="ctr"/>
            <a:r>
              <a:rPr lang="en-US" sz="1200" dirty="0">
                <a:latin typeface="Avenir Book" panose="02000503020000020003" pitchFamily="2" charset="0"/>
              </a:rPr>
              <a:t>Continuous learning &amp; career pathways embedded. </a:t>
            </a:r>
          </a:p>
          <a:p>
            <a:pPr algn="ctr"/>
            <a:r>
              <a:rPr lang="en-US" sz="1200" dirty="0">
                <a:latin typeface="Avenir Book" panose="02000503020000020003" pitchFamily="2" charset="0"/>
              </a:rPr>
              <a:t>AI integrated into SOPs across functions. </a:t>
            </a:r>
          </a:p>
        </p:txBody>
      </p:sp>
      <p:sp>
        <p:nvSpPr>
          <p:cNvPr id="17" name="Pentagon 16">
            <a:extLst>
              <a:ext uri="{FF2B5EF4-FFF2-40B4-BE49-F238E27FC236}">
                <a16:creationId xmlns:a16="http://schemas.microsoft.com/office/drawing/2014/main" id="{22FA569F-A491-46F6-4CEB-81EDA53830F3}"/>
              </a:ext>
            </a:extLst>
          </p:cNvPr>
          <p:cNvSpPr/>
          <p:nvPr/>
        </p:nvSpPr>
        <p:spPr>
          <a:xfrm>
            <a:off x="314790" y="4490766"/>
            <a:ext cx="1674831" cy="892226"/>
          </a:xfrm>
          <a:prstGeom prst="homePlat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latin typeface="Avenir Book" panose="02000503020000020003" pitchFamily="2" charset="0"/>
              </a:rPr>
              <a:t>Operating Model</a:t>
            </a:r>
            <a:endParaRPr lang="en-US" dirty="0"/>
          </a:p>
        </p:txBody>
      </p:sp>
      <p:sp>
        <p:nvSpPr>
          <p:cNvPr id="18" name="Chevron 17">
            <a:extLst>
              <a:ext uri="{FF2B5EF4-FFF2-40B4-BE49-F238E27FC236}">
                <a16:creationId xmlns:a16="http://schemas.microsoft.com/office/drawing/2014/main" id="{FD43AECA-732B-7EC4-5825-56F30B29CA7F}"/>
              </a:ext>
            </a:extLst>
          </p:cNvPr>
          <p:cNvSpPr/>
          <p:nvPr/>
        </p:nvSpPr>
        <p:spPr>
          <a:xfrm>
            <a:off x="1820077" y="4486147"/>
            <a:ext cx="5546363" cy="892228"/>
          </a:xfrm>
          <a:prstGeom prst="chevron">
            <a:avLst/>
          </a:prstGeom>
          <a:solidFill>
            <a:srgbClr val="077B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lnSpc>
                <a:spcPct val="150000"/>
              </a:lnSpc>
            </a:pPr>
            <a:r>
              <a:rPr lang="en-US" sz="1400" dirty="0">
                <a:latin typeface="Avenir Book" panose="02000503020000020003" pitchFamily="2" charset="0"/>
              </a:rPr>
              <a:t>RACI framework covering HR, Ops, IT/AI </a:t>
            </a:r>
            <a:r>
              <a:rPr lang="en-US" sz="1400" dirty="0" err="1">
                <a:latin typeface="Avenir Book" panose="02000503020000020003" pitchFamily="2" charset="0"/>
              </a:rPr>
              <a:t>CoE</a:t>
            </a:r>
            <a:r>
              <a:rPr lang="en-US" sz="1400" dirty="0">
                <a:latin typeface="Avenir Book" panose="02000503020000020003" pitchFamily="2" charset="0"/>
              </a:rPr>
              <a:t>, and Compliance.</a:t>
            </a:r>
          </a:p>
        </p:txBody>
      </p:sp>
      <p:pic>
        <p:nvPicPr>
          <p:cNvPr id="20" name="Picture 19" descr="A green arrows pointing to a path&#10;&#10;AI-generated content may be incorrect.">
            <a:extLst>
              <a:ext uri="{FF2B5EF4-FFF2-40B4-BE49-F238E27FC236}">
                <a16:creationId xmlns:a16="http://schemas.microsoft.com/office/drawing/2014/main" id="{5C60710A-0995-F519-7B51-9E4F75F8A8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3514" y="1646162"/>
            <a:ext cx="4511412" cy="451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263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AC432-78FA-1AB9-3FC9-3D9F0C07C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DFC35-0397-E123-D05D-DF3EDC5512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AF87E1-0747-2D0F-6610-A7E1C21A8D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1B42F861-DA31-8E0D-3A97-5E75CD04F1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227" b="10227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4711C3-A57E-2E22-ECAC-10002599F6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000" b="25820"/>
          <a:stretch/>
        </p:blipFill>
        <p:spPr>
          <a:xfrm>
            <a:off x="314791" y="250465"/>
            <a:ext cx="1588957" cy="7337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49FAE16-0197-D68E-2903-DE732A69A133}"/>
              </a:ext>
            </a:extLst>
          </p:cNvPr>
          <p:cNvSpPr txBox="1"/>
          <p:nvPr/>
        </p:nvSpPr>
        <p:spPr>
          <a:xfrm>
            <a:off x="4497047" y="391904"/>
            <a:ext cx="7300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AI-Ready Workforce Transformation Proposal for IHS Nigeria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20FD23-980B-A6BB-A826-A98883631B77}"/>
              </a:ext>
            </a:extLst>
          </p:cNvPr>
          <p:cNvSpPr txBox="1"/>
          <p:nvPr/>
        </p:nvSpPr>
        <p:spPr>
          <a:xfrm>
            <a:off x="314790" y="1284132"/>
            <a:ext cx="83645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venir Book" panose="02000503020000020003" pitchFamily="2" charset="0"/>
              </a:rPr>
              <a:t>KPIs, Benefits &amp; Risks</a:t>
            </a:r>
            <a:endParaRPr lang="en-US" sz="3200" dirty="0">
              <a:solidFill>
                <a:srgbClr val="000000"/>
              </a:solidFill>
              <a:effectLst/>
              <a:latin typeface="Avenir Book" panose="02000503020000020003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AE1027-DE69-D2F2-D6F7-D835CC2AC1DA}"/>
              </a:ext>
            </a:extLst>
          </p:cNvPr>
          <p:cNvSpPr txBox="1"/>
          <p:nvPr/>
        </p:nvSpPr>
        <p:spPr>
          <a:xfrm>
            <a:off x="314792" y="1984312"/>
            <a:ext cx="6764881" cy="32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1" dirty="0">
                <a:latin typeface="Avenir Book" panose="02000503020000020003" pitchFamily="2" charset="0"/>
              </a:rPr>
              <a:t>Measuring Success &amp; Managing Challenges</a:t>
            </a:r>
            <a:endParaRPr lang="en-US" sz="1100" dirty="0">
              <a:latin typeface="Avenir Book" panose="02000503020000020003" pitchFamily="2" charset="0"/>
            </a:endParaRPr>
          </a:p>
        </p:txBody>
      </p:sp>
      <p:sp>
        <p:nvSpPr>
          <p:cNvPr id="6" name="Pentagon 5">
            <a:extLst>
              <a:ext uri="{FF2B5EF4-FFF2-40B4-BE49-F238E27FC236}">
                <a16:creationId xmlns:a16="http://schemas.microsoft.com/office/drawing/2014/main" id="{2632A923-DC13-705C-CB39-8050D008D6AA}"/>
              </a:ext>
            </a:extLst>
          </p:cNvPr>
          <p:cNvSpPr/>
          <p:nvPr/>
        </p:nvSpPr>
        <p:spPr>
          <a:xfrm>
            <a:off x="446844" y="5671909"/>
            <a:ext cx="1674831" cy="892226"/>
          </a:xfrm>
          <a:prstGeom prst="homePlat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latin typeface="Avenir Book" panose="02000503020000020003" pitchFamily="2" charset="0"/>
              </a:rPr>
              <a:t>Outcome</a:t>
            </a:r>
            <a:endParaRPr lang="en-US" dirty="0"/>
          </a:p>
        </p:txBody>
      </p:sp>
      <p:sp>
        <p:nvSpPr>
          <p:cNvPr id="10" name="Chevron 9">
            <a:extLst>
              <a:ext uri="{FF2B5EF4-FFF2-40B4-BE49-F238E27FC236}">
                <a16:creationId xmlns:a16="http://schemas.microsoft.com/office/drawing/2014/main" id="{83D1D850-62A2-7354-406C-535B8FC49EE7}"/>
              </a:ext>
            </a:extLst>
          </p:cNvPr>
          <p:cNvSpPr/>
          <p:nvPr/>
        </p:nvSpPr>
        <p:spPr>
          <a:xfrm>
            <a:off x="1952131" y="5667290"/>
            <a:ext cx="5546363" cy="892228"/>
          </a:xfrm>
          <a:prstGeom prst="chevron">
            <a:avLst/>
          </a:prstGeom>
          <a:solidFill>
            <a:srgbClr val="077B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venir Book" panose="02000503020000020003" pitchFamily="2" charset="0"/>
              </a:rPr>
              <a:t>Balanced approach delivering measurable ROI while managing people and regulatory risks.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F6FB35-3B5D-D2D1-73EB-36EF85397906}"/>
              </a:ext>
            </a:extLst>
          </p:cNvPr>
          <p:cNvSpPr/>
          <p:nvPr/>
        </p:nvSpPr>
        <p:spPr>
          <a:xfrm>
            <a:off x="446844" y="2460125"/>
            <a:ext cx="2273175" cy="457200"/>
          </a:xfrm>
          <a:prstGeom prst="rect">
            <a:avLst/>
          </a:prstGeom>
          <a:solidFill>
            <a:srgbClr val="0D35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Avenir Book" panose="02000503020000020003" pitchFamily="2" charset="0"/>
              </a:rPr>
              <a:t>Key KPIs</a:t>
            </a:r>
            <a:endParaRPr lang="en-US" sz="1200" dirty="0">
              <a:latin typeface="Avenir Book" panose="02000503020000020003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75D088-9458-6F3D-C85B-C0AC1FAC881B}"/>
              </a:ext>
            </a:extLst>
          </p:cNvPr>
          <p:cNvSpPr/>
          <p:nvPr/>
        </p:nvSpPr>
        <p:spPr>
          <a:xfrm>
            <a:off x="446844" y="2966955"/>
            <a:ext cx="2273175" cy="2387600"/>
          </a:xfrm>
          <a:prstGeom prst="rect">
            <a:avLst/>
          </a:prstGeom>
          <a:solidFill>
            <a:srgbClr val="077B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100" dirty="0">
                <a:latin typeface="Avenir Book" panose="02000503020000020003" pitchFamily="2" charset="0"/>
              </a:rPr>
              <a:t>Training completion &amp; proficiency levels.</a:t>
            </a:r>
          </a:p>
          <a:p>
            <a:pPr algn="ctr">
              <a:lnSpc>
                <a:spcPct val="150000"/>
              </a:lnSpc>
            </a:pPr>
            <a:r>
              <a:rPr lang="en-US" sz="1100" dirty="0">
                <a:latin typeface="Avenir Book" panose="02000503020000020003" pitchFamily="2" charset="0"/>
              </a:rPr>
              <a:t>AI tool adoption/utilization rates.</a:t>
            </a:r>
          </a:p>
          <a:p>
            <a:pPr algn="ctr">
              <a:lnSpc>
                <a:spcPct val="150000"/>
              </a:lnSpc>
            </a:pPr>
            <a:r>
              <a:rPr lang="en-US" sz="1100" dirty="0">
                <a:latin typeface="Avenir Book" panose="02000503020000020003" pitchFamily="2" charset="0"/>
              </a:rPr>
              <a:t>Time-to-hire &amp; time-to-productivity.</a:t>
            </a:r>
          </a:p>
          <a:p>
            <a:pPr algn="ctr">
              <a:lnSpc>
                <a:spcPct val="150000"/>
              </a:lnSpc>
            </a:pPr>
            <a:r>
              <a:rPr lang="en-US" sz="1100" dirty="0">
                <a:latin typeface="Avenir Book" panose="02000503020000020003" pitchFamily="2" charset="0"/>
              </a:rPr>
              <a:t>Attrition &amp; internal mobility rates.</a:t>
            </a:r>
          </a:p>
          <a:p>
            <a:pPr algn="ctr">
              <a:lnSpc>
                <a:spcPct val="150000"/>
              </a:lnSpc>
            </a:pPr>
            <a:r>
              <a:rPr lang="en-US" sz="1100" dirty="0">
                <a:latin typeface="Avenir Book" panose="02000503020000020003" pitchFamily="2" charset="0"/>
              </a:rPr>
              <a:t>HR cycle-time reductions &amp; safety incident rates.</a:t>
            </a:r>
          </a:p>
          <a:p>
            <a:pPr algn="ctr">
              <a:lnSpc>
                <a:spcPct val="150000"/>
              </a:lnSpc>
            </a:pPr>
            <a:r>
              <a:rPr lang="en-US" sz="1100" dirty="0">
                <a:latin typeface="Avenir Book" panose="02000503020000020003" pitchFamily="2" charset="0"/>
              </a:rPr>
              <a:t>NDPA compliance audit results.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663347-D0E6-DFF5-6C28-42DDA00DCBC5}"/>
              </a:ext>
            </a:extLst>
          </p:cNvPr>
          <p:cNvSpPr/>
          <p:nvPr/>
        </p:nvSpPr>
        <p:spPr>
          <a:xfrm>
            <a:off x="2792639" y="2460125"/>
            <a:ext cx="2273175" cy="457200"/>
          </a:xfrm>
          <a:prstGeom prst="rect">
            <a:avLst/>
          </a:prstGeom>
          <a:solidFill>
            <a:srgbClr val="0D35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200" b="1" dirty="0">
                <a:latin typeface="Avenir Book" panose="02000503020000020003" pitchFamily="2" charset="0"/>
              </a:rPr>
              <a:t>Expected Benefits (Base Case):</a:t>
            </a:r>
            <a:endParaRPr lang="en-US" sz="1200" dirty="0">
              <a:latin typeface="Avenir Book" panose="02000503020000020003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C16B38-700C-DE3D-8661-7721FB8BC771}"/>
              </a:ext>
            </a:extLst>
          </p:cNvPr>
          <p:cNvSpPr/>
          <p:nvPr/>
        </p:nvSpPr>
        <p:spPr>
          <a:xfrm>
            <a:off x="2792639" y="2966955"/>
            <a:ext cx="2273175" cy="2387600"/>
          </a:xfrm>
          <a:prstGeom prst="rect">
            <a:avLst/>
          </a:prstGeom>
          <a:solidFill>
            <a:srgbClr val="077B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200" dirty="0">
                <a:latin typeface="Avenir Book" panose="02000503020000020003" pitchFamily="2" charset="0"/>
              </a:rPr>
              <a:t>20–30% faster HR/back-office cycle-times.</a:t>
            </a:r>
          </a:p>
          <a:p>
            <a:pPr algn="ctr">
              <a:lnSpc>
                <a:spcPct val="150000"/>
              </a:lnSpc>
            </a:pPr>
            <a:r>
              <a:rPr lang="en-US" sz="1200" dirty="0">
                <a:latin typeface="Avenir Book" panose="02000503020000020003" pitchFamily="2" charset="0"/>
              </a:rPr>
              <a:t>~10% workforce capacity redeployed through efficiency.</a:t>
            </a:r>
          </a:p>
          <a:p>
            <a:pPr algn="ctr">
              <a:lnSpc>
                <a:spcPct val="150000"/>
              </a:lnSpc>
            </a:pPr>
            <a:r>
              <a:rPr lang="en-US" sz="1200" dirty="0">
                <a:latin typeface="Avenir Book" panose="02000503020000020003" pitchFamily="2" charset="0"/>
              </a:rPr>
              <a:t>Hiring cycle reduced from 8 → 6 weeks.</a:t>
            </a:r>
          </a:p>
          <a:p>
            <a:pPr algn="ctr">
              <a:lnSpc>
                <a:spcPct val="150000"/>
              </a:lnSpc>
            </a:pPr>
            <a:r>
              <a:rPr lang="en-US" sz="1200" dirty="0">
                <a:latin typeface="Avenir Book" panose="02000503020000020003" pitchFamily="2" charset="0"/>
              </a:rPr>
              <a:t>Safer, more reliable field operations.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5B53FE-63C4-A367-76A0-A6317B9C1869}"/>
              </a:ext>
            </a:extLst>
          </p:cNvPr>
          <p:cNvSpPr/>
          <p:nvPr/>
        </p:nvSpPr>
        <p:spPr>
          <a:xfrm>
            <a:off x="5138434" y="2454287"/>
            <a:ext cx="2273175" cy="457200"/>
          </a:xfrm>
          <a:prstGeom prst="rect">
            <a:avLst/>
          </a:prstGeom>
          <a:solidFill>
            <a:srgbClr val="0D35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200" b="1" dirty="0">
                <a:latin typeface="Avenir Book" panose="02000503020000020003" pitchFamily="2" charset="0"/>
              </a:rPr>
              <a:t>Risks &amp; Mitigations</a:t>
            </a:r>
            <a:endParaRPr lang="en-US" sz="1200" dirty="0">
              <a:latin typeface="Avenir Book" panose="02000503020000020003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94DB504-AC4C-2A1C-6F31-D3F511E5B6E7}"/>
              </a:ext>
            </a:extLst>
          </p:cNvPr>
          <p:cNvSpPr/>
          <p:nvPr/>
        </p:nvSpPr>
        <p:spPr>
          <a:xfrm>
            <a:off x="5138434" y="2961117"/>
            <a:ext cx="2273175" cy="2387600"/>
          </a:xfrm>
          <a:prstGeom prst="rect">
            <a:avLst/>
          </a:prstGeom>
          <a:solidFill>
            <a:srgbClr val="077B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200" dirty="0">
                <a:latin typeface="Avenir Book" panose="02000503020000020003" pitchFamily="2" charset="0"/>
              </a:rPr>
              <a:t>Adoption resistance → targeted comms &amp; incentives.</a:t>
            </a:r>
          </a:p>
          <a:p>
            <a:pPr algn="ctr">
              <a:lnSpc>
                <a:spcPct val="150000"/>
              </a:lnSpc>
            </a:pPr>
            <a:r>
              <a:rPr lang="en-US" sz="1200" dirty="0">
                <a:latin typeface="Avenir Book" panose="02000503020000020003" pitchFamily="2" charset="0"/>
              </a:rPr>
              <a:t>Skills gaps → phased reskilling programs.</a:t>
            </a:r>
          </a:p>
          <a:p>
            <a:pPr algn="ctr">
              <a:lnSpc>
                <a:spcPct val="150000"/>
              </a:lnSpc>
            </a:pPr>
            <a:r>
              <a:rPr lang="en-US" sz="1200" dirty="0">
                <a:latin typeface="Avenir Book" panose="02000503020000020003" pitchFamily="2" charset="0"/>
              </a:rPr>
              <a:t>Data privacy/regulatory risks → strong compliance controls.</a:t>
            </a:r>
          </a:p>
        </p:txBody>
      </p:sp>
      <p:pic>
        <p:nvPicPr>
          <p:cNvPr id="18" name="Picture 17" descr="A green line art of a speedometer and a check mark&#10;&#10;AI-generated content may be incorrect.">
            <a:extLst>
              <a:ext uri="{FF2B5EF4-FFF2-40B4-BE49-F238E27FC236}">
                <a16:creationId xmlns:a16="http://schemas.microsoft.com/office/drawing/2014/main" id="{FB3AD916-FB65-DACE-9111-43C986B020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41" y="1392369"/>
            <a:ext cx="4511412" cy="451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395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9EC4A-96C3-489B-2DAD-5DEE50058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EDE79-FFDE-9DD8-0530-97D832DC37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9DC4D9-1657-3274-F013-7E873BFC15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7A620760-51A9-7AB5-0B22-4F9D05088B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227" b="10227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A1368C-A0A7-0FE7-69C2-E2EFBC697E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000" b="25820"/>
          <a:stretch/>
        </p:blipFill>
        <p:spPr>
          <a:xfrm>
            <a:off x="314791" y="250465"/>
            <a:ext cx="1588957" cy="7337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21B6B9-5A28-A98D-AB2A-E236C7A252E4}"/>
              </a:ext>
            </a:extLst>
          </p:cNvPr>
          <p:cNvSpPr txBox="1"/>
          <p:nvPr/>
        </p:nvSpPr>
        <p:spPr>
          <a:xfrm>
            <a:off x="4497047" y="391904"/>
            <a:ext cx="7300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AI-Ready Workforce Transformation Proposal for IHS Nigeria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A990AD-CEF1-83C8-3BA4-05845D2DE1C8}"/>
              </a:ext>
            </a:extLst>
          </p:cNvPr>
          <p:cNvSpPr txBox="1"/>
          <p:nvPr/>
        </p:nvSpPr>
        <p:spPr>
          <a:xfrm>
            <a:off x="314790" y="1284132"/>
            <a:ext cx="83645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venir Book" panose="02000503020000020003" pitchFamily="2" charset="0"/>
              </a:rPr>
              <a:t>Conclusion</a:t>
            </a:r>
            <a:endParaRPr lang="en-US" sz="3200" dirty="0">
              <a:solidFill>
                <a:srgbClr val="000000"/>
              </a:solidFill>
              <a:effectLst/>
              <a:latin typeface="Avenir Book" panose="02000503020000020003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F4C5D2-7F5A-ABD3-43BA-1AC43F105370}"/>
              </a:ext>
            </a:extLst>
          </p:cNvPr>
          <p:cNvSpPr txBox="1"/>
          <p:nvPr/>
        </p:nvSpPr>
        <p:spPr>
          <a:xfrm>
            <a:off x="314792" y="1984312"/>
            <a:ext cx="6764881" cy="4500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latin typeface="Avenir Book" panose="02000503020000020003" pitchFamily="2" charset="0"/>
              </a:rPr>
              <a:t>AI-Ready Workforce Transformation Plan (2025–2028)</a:t>
            </a:r>
            <a:endParaRPr lang="en-US" sz="1200" dirty="0">
              <a:latin typeface="Avenir Book" panose="02000503020000020003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Avenir Book" panose="02000503020000020003" pitchFamily="2" charset="0"/>
              </a:rPr>
              <a:t>What the Plan Achieves:</a:t>
            </a:r>
            <a:endParaRPr lang="en-US" sz="1200" dirty="0">
              <a:latin typeface="Avenir Book" panose="02000503020000020003" pitchFamily="2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venir Book" panose="02000503020000020003" pitchFamily="2" charset="0"/>
              </a:rPr>
              <a:t>Maps current vs. future workforce skills across all roles.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venir Book" panose="02000503020000020003" pitchFamily="2" charset="0"/>
              </a:rPr>
              <a:t>Defines a 3-tier reskilling &amp; upskilling framework with Nigerian and global partners.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venir Book" panose="02000503020000020003" pitchFamily="2" charset="0"/>
              </a:rPr>
              <a:t>Embeds responsible AI practices in HR operations (fairness, compliance, transparency).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venir Book" panose="02000503020000020003" pitchFamily="2" charset="0"/>
              </a:rPr>
              <a:t>Outlines role-by-role AI impact to boost productivity, safety, and decision-making.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venir Book" panose="02000503020000020003" pitchFamily="2" charset="0"/>
              </a:rPr>
              <a:t>Provides a phased 12–36 month roadmap with KPIs, benefits, and risk mitigations.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Avenir Book" panose="02000503020000020003" pitchFamily="2" charset="0"/>
              </a:rPr>
              <a:t>Overall Outcome:</a:t>
            </a:r>
            <a:br>
              <a:rPr lang="en-US" sz="1200" dirty="0">
                <a:latin typeface="Avenir Book" panose="02000503020000020003" pitchFamily="2" charset="0"/>
              </a:rPr>
            </a:br>
            <a:r>
              <a:rPr lang="en-US" sz="1200" dirty="0">
                <a:latin typeface="Avenir Book" panose="02000503020000020003" pitchFamily="2" charset="0"/>
              </a:rPr>
              <a:t>A clear, pragmatic strategy to make IHS Nigeria’s workforce </a:t>
            </a:r>
            <a:r>
              <a:rPr lang="en-US" sz="1200" b="1" dirty="0">
                <a:latin typeface="Avenir Book" panose="02000503020000020003" pitchFamily="2" charset="0"/>
              </a:rPr>
              <a:t>AI-ready, future-proof, and regionally competitive</a:t>
            </a:r>
            <a:r>
              <a:rPr lang="en-US" sz="1200" dirty="0">
                <a:latin typeface="Avenir Book" panose="02000503020000020003" pitchFamily="2" charset="0"/>
              </a:rPr>
              <a:t> while maintaining trust and compliance.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Avenir Book" panose="02000503020000020003" pitchFamily="2" charset="0"/>
              </a:rPr>
              <a:t>Next Steps:</a:t>
            </a:r>
            <a:endParaRPr lang="en-US" sz="1200" dirty="0">
              <a:latin typeface="Avenir Book" panose="02000503020000020003" pitchFamily="2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venir Book" panose="02000503020000020003" pitchFamily="2" charset="0"/>
              </a:rPr>
              <a:t>Secure HR leadership endorsement.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venir Book" panose="02000503020000020003" pitchFamily="2" charset="0"/>
              </a:rPr>
              <a:t>Launch </a:t>
            </a:r>
            <a:r>
              <a:rPr lang="en-US" sz="1200" b="1" dirty="0">
                <a:latin typeface="Avenir Book" panose="02000503020000020003" pitchFamily="2" charset="0"/>
              </a:rPr>
              <a:t>skills mapping &amp; awareness pilots</a:t>
            </a:r>
            <a:r>
              <a:rPr lang="en-US" sz="1200" dirty="0">
                <a:latin typeface="Avenir Book" panose="02000503020000020003" pitchFamily="2" charset="0"/>
              </a:rPr>
              <a:t> within 6 months.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venir Book" panose="02000503020000020003" pitchFamily="2" charset="0"/>
              </a:rPr>
              <a:t>Formalize partnerships with training providers and regulators.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Avenir Book" panose="02000503020000020003" pitchFamily="2" charset="0"/>
              </a:rPr>
              <a:t>Establish an </a:t>
            </a:r>
            <a:r>
              <a:rPr lang="en-US" sz="1200" b="1" dirty="0">
                <a:latin typeface="Avenir Book" panose="02000503020000020003" pitchFamily="2" charset="0"/>
              </a:rPr>
              <a:t>AI Center of Excellence</a:t>
            </a:r>
            <a:r>
              <a:rPr lang="en-US" sz="1200" dirty="0">
                <a:latin typeface="Avenir Book" panose="02000503020000020003" pitchFamily="2" charset="0"/>
              </a:rPr>
              <a:t> to coordinate rollout.</a:t>
            </a:r>
          </a:p>
        </p:txBody>
      </p:sp>
      <p:pic>
        <p:nvPicPr>
          <p:cNvPr id="10" name="Picture 9" descr="A green flag on a hill&#10;&#10;AI-generated content may be incorrect.">
            <a:extLst>
              <a:ext uri="{FF2B5EF4-FFF2-40B4-BE49-F238E27FC236}">
                <a16:creationId xmlns:a16="http://schemas.microsoft.com/office/drawing/2014/main" id="{8030793E-BB97-231C-7254-329AAB02E0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6044" y="1424564"/>
            <a:ext cx="4311073" cy="4311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068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1263</Words>
  <Application>Microsoft Macintosh PowerPoint</Application>
  <PresentationFormat>Widescreen</PresentationFormat>
  <Paragraphs>191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Avenir 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Temi Kolawole</dc:creator>
  <cp:lastModifiedBy>Temi Kolawole</cp:lastModifiedBy>
  <cp:revision>14</cp:revision>
  <dcterms:created xsi:type="dcterms:W3CDTF">2025-09-10T04:59:17Z</dcterms:created>
  <dcterms:modified xsi:type="dcterms:W3CDTF">2025-09-10T06:48:29Z</dcterms:modified>
</cp:coreProperties>
</file>