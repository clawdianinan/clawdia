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92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F931"/>
    <a:srgbClr val="58E1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32"/>
    <p:restoredTop sz="95701"/>
  </p:normalViewPr>
  <p:slideViewPr>
    <p:cSldViewPr snapToGrid="0" snapToObjects="1">
      <p:cViewPr>
        <p:scale>
          <a:sx n="130" d="100"/>
          <a:sy n="130" d="100"/>
        </p:scale>
        <p:origin x="848" y="-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06702-883C-1C49-A3D9-95FC99D4F10F}" type="datetimeFigureOut">
              <a:rPr lang="en-US" smtClean="0"/>
              <a:t>3/21/25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5C96-B43F-EF41-83BB-885FD2BDB0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47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06702-883C-1C49-A3D9-95FC99D4F10F}" type="datetimeFigureOut">
              <a:rPr lang="en-US" smtClean="0"/>
              <a:t>3/21/25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5C96-B43F-EF41-83BB-885FD2BDB0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715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06702-883C-1C49-A3D9-95FC99D4F10F}" type="datetimeFigureOut">
              <a:rPr lang="en-US" smtClean="0"/>
              <a:t>3/21/25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5C96-B43F-EF41-83BB-885FD2BDB0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693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06702-883C-1C49-A3D9-95FC99D4F10F}" type="datetimeFigureOut">
              <a:rPr lang="en-US" smtClean="0"/>
              <a:t>3/21/25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5C96-B43F-EF41-83BB-885FD2BDB0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002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06702-883C-1C49-A3D9-95FC99D4F10F}" type="datetimeFigureOut">
              <a:rPr lang="en-US" smtClean="0"/>
              <a:t>3/21/25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5C96-B43F-EF41-83BB-885FD2BDB0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444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06702-883C-1C49-A3D9-95FC99D4F10F}" type="datetimeFigureOut">
              <a:rPr lang="en-US" smtClean="0"/>
              <a:t>3/21/25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5C96-B43F-EF41-83BB-885FD2BDB0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734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06702-883C-1C49-A3D9-95FC99D4F10F}" type="datetimeFigureOut">
              <a:rPr lang="en-US" smtClean="0"/>
              <a:t>3/21/25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5C96-B43F-EF41-83BB-885FD2BDB0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876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06702-883C-1C49-A3D9-95FC99D4F10F}" type="datetimeFigureOut">
              <a:rPr lang="en-US" smtClean="0"/>
              <a:t>3/21/25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5C96-B43F-EF41-83BB-885FD2BDB0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629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06702-883C-1C49-A3D9-95FC99D4F10F}" type="datetimeFigureOut">
              <a:rPr lang="en-US" smtClean="0"/>
              <a:t>3/21/25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5C96-B43F-EF41-83BB-885FD2BDB0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249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06702-883C-1C49-A3D9-95FC99D4F10F}" type="datetimeFigureOut">
              <a:rPr lang="en-US" smtClean="0"/>
              <a:t>3/21/25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5C96-B43F-EF41-83BB-885FD2BDB0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025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06702-883C-1C49-A3D9-95FC99D4F10F}" type="datetimeFigureOut">
              <a:rPr lang="en-US" smtClean="0"/>
              <a:t>3/21/25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5C96-B43F-EF41-83BB-885FD2BDB0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582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206702-883C-1C49-A3D9-95FC99D4F10F}" type="datetimeFigureOut">
              <a:rPr lang="en-US" smtClean="0"/>
              <a:t>3/21/25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4C5C96-B43F-EF41-83BB-885FD2BDB0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438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8E1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9FE6C51-FFDA-1B4D-A499-FF8277F7F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490" y="3429000"/>
            <a:ext cx="3744361" cy="179148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F9D572B-B3ED-904F-9CD5-AAFE070052F0}"/>
              </a:ext>
            </a:extLst>
          </p:cNvPr>
          <p:cNvSpPr txBox="1"/>
          <p:nvPr/>
        </p:nvSpPr>
        <p:spPr>
          <a:xfrm>
            <a:off x="876822" y="5220483"/>
            <a:ext cx="4847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BUDGET SUMMARY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1D6F3D-0AB0-5342-85F1-6C95F1F7360B}"/>
              </a:ext>
            </a:extLst>
          </p:cNvPr>
          <p:cNvSpPr txBox="1"/>
          <p:nvPr/>
        </p:nvSpPr>
        <p:spPr>
          <a:xfrm>
            <a:off x="876822" y="5639213"/>
            <a:ext cx="48475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April 2025</a:t>
            </a:r>
          </a:p>
        </p:txBody>
      </p:sp>
    </p:spTree>
    <p:extLst>
      <p:ext uri="{BB962C8B-B14F-4D97-AF65-F5344CB8AC3E}">
        <p14:creationId xmlns:p14="http://schemas.microsoft.com/office/powerpoint/2010/main" val="3543114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1938511-037F-ED46-AB38-15FD5B6934D2}"/>
              </a:ext>
            </a:extLst>
          </p:cNvPr>
          <p:cNvSpPr/>
          <p:nvPr/>
        </p:nvSpPr>
        <p:spPr>
          <a:xfrm>
            <a:off x="1" y="1"/>
            <a:ext cx="9144000" cy="1027134"/>
          </a:xfrm>
          <a:prstGeom prst="rect">
            <a:avLst/>
          </a:prstGeom>
          <a:solidFill>
            <a:srgbClr val="58E1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2FD0B8-0DC6-1743-8B69-8E7B75617526}"/>
              </a:ext>
            </a:extLst>
          </p:cNvPr>
          <p:cNvSpPr txBox="1"/>
          <p:nvPr/>
        </p:nvSpPr>
        <p:spPr>
          <a:xfrm>
            <a:off x="538618" y="371598"/>
            <a:ext cx="70509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Budget Category Totals (April – Dec 2025)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BB6F04D-2BE7-A086-B5F2-7ADD41D30F7D}"/>
              </a:ext>
            </a:extLst>
          </p:cNvPr>
          <p:cNvSpPr txBox="1"/>
          <p:nvPr/>
        </p:nvSpPr>
        <p:spPr>
          <a:xfrm>
            <a:off x="1222182" y="2377827"/>
            <a:ext cx="3166938" cy="2972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latin typeface="Avenir Book" panose="02000503020000020003" pitchFamily="2" charset="0"/>
              </a:rPr>
              <a:t>Salaries &amp; Wages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Avenir Book" panose="02000503020000020003" pitchFamily="2" charset="0"/>
              </a:rPr>
              <a:t>Utilities &amp; Maintenance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Avenir Book" panose="02000503020000020003" pitchFamily="2" charset="0"/>
              </a:rPr>
              <a:t>Travel &amp; Conferences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Avenir Book" panose="02000503020000020003" pitchFamily="2" charset="0"/>
              </a:rPr>
              <a:t>Equipment &amp; Infrastructure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Avenir Book" panose="02000503020000020003" pitchFamily="2" charset="0"/>
              </a:rPr>
              <a:t>Corporate Comms &amp; PR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Avenir Book" panose="02000503020000020003" pitchFamily="2" charset="0"/>
              </a:rPr>
              <a:t>Administrative Costs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Avenir Book" panose="02000503020000020003" pitchFamily="2" charset="0"/>
              </a:rPr>
              <a:t>Innovation &amp; Program Support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Avenir Book" panose="02000503020000020003" pitchFamily="2" charset="0"/>
              </a:rPr>
              <a:t>Contingency &amp; Sustainability</a:t>
            </a:r>
            <a:br>
              <a:rPr lang="en-US" sz="1400" dirty="0">
                <a:latin typeface="Avenir Book" panose="02000503020000020003" pitchFamily="2" charset="0"/>
              </a:rPr>
            </a:b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venir Book" panose="02000503020000020003" pitchFamily="2" charset="0"/>
              </a:rPr>
              <a:t>Net Surplus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81B83AC-4DFD-BA16-52C1-514BF9663880}"/>
              </a:ext>
            </a:extLst>
          </p:cNvPr>
          <p:cNvSpPr txBox="1"/>
          <p:nvPr/>
        </p:nvSpPr>
        <p:spPr>
          <a:xfrm>
            <a:off x="4626864" y="2377827"/>
            <a:ext cx="1728216" cy="2972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latin typeface="Avenir Book" panose="02000503020000020003" pitchFamily="2" charset="0"/>
              </a:rPr>
              <a:t>150,354,658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Avenir Book" panose="02000503020000020003" pitchFamily="2" charset="0"/>
              </a:rPr>
              <a:t>59,256,814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Avenir Book" panose="02000503020000020003" pitchFamily="2" charset="0"/>
              </a:rPr>
              <a:t>37,250,000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Avenir Book" panose="02000503020000020003" pitchFamily="2" charset="0"/>
              </a:rPr>
              <a:t>13,895,833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Avenir Book" panose="02000503020000020003" pitchFamily="2" charset="0"/>
              </a:rPr>
              <a:t>14,025,000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Avenir Book" panose="02000503020000020003" pitchFamily="2" charset="0"/>
              </a:rPr>
              <a:t>18,350,003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Avenir Book" panose="02000503020000020003" pitchFamily="2" charset="0"/>
              </a:rPr>
              <a:t>9,500,000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Avenir Book" panose="02000503020000020003" pitchFamily="2" charset="0"/>
              </a:rPr>
              <a:t>12,222,646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venir Book" panose="02000503020000020003" pitchFamily="2" charset="0"/>
              </a:rPr>
              <a:t>3,145,046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2564D7-D335-9BC0-6AF0-89EB6DE14F6E}"/>
              </a:ext>
            </a:extLst>
          </p:cNvPr>
          <p:cNvSpPr txBox="1"/>
          <p:nvPr/>
        </p:nvSpPr>
        <p:spPr>
          <a:xfrm>
            <a:off x="1222182" y="2056513"/>
            <a:ext cx="3166938" cy="387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>
                <a:latin typeface="Avenir Black" panose="02000503020000020003" pitchFamily="2" charset="0"/>
              </a:rPr>
              <a:t>Budget Category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5E33A5-764C-772B-51EC-7127197772DF}"/>
              </a:ext>
            </a:extLst>
          </p:cNvPr>
          <p:cNvSpPr txBox="1"/>
          <p:nvPr/>
        </p:nvSpPr>
        <p:spPr>
          <a:xfrm>
            <a:off x="4626864" y="2056513"/>
            <a:ext cx="1728216" cy="387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>
                <a:latin typeface="Avenir Black" panose="02000503020000020003" pitchFamily="2" charset="0"/>
              </a:rPr>
              <a:t>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06E5A8-44EF-26B0-F0FA-328A60F5E775}"/>
              </a:ext>
            </a:extLst>
          </p:cNvPr>
          <p:cNvSpPr txBox="1"/>
          <p:nvPr/>
        </p:nvSpPr>
        <p:spPr>
          <a:xfrm>
            <a:off x="1222182" y="5461169"/>
            <a:ext cx="3166938" cy="387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>
                <a:latin typeface="Avenir Black" panose="02000503020000020003" pitchFamily="2" charset="0"/>
              </a:rPr>
              <a:t>TOTAL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B7DA89-CC6B-83D4-79CF-2C1DEC5A1BC9}"/>
              </a:ext>
            </a:extLst>
          </p:cNvPr>
          <p:cNvSpPr txBox="1"/>
          <p:nvPr/>
        </p:nvSpPr>
        <p:spPr>
          <a:xfrm>
            <a:off x="4626864" y="5461169"/>
            <a:ext cx="1862426" cy="388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>
                <a:latin typeface="Avenir Black" panose="02000503020000020003" pitchFamily="2" charset="0"/>
              </a:rPr>
              <a:t>318,000,000 </a:t>
            </a:r>
          </a:p>
        </p:txBody>
      </p:sp>
    </p:spTree>
    <p:extLst>
      <p:ext uri="{BB962C8B-B14F-4D97-AF65-F5344CB8AC3E}">
        <p14:creationId xmlns:p14="http://schemas.microsoft.com/office/powerpoint/2010/main" val="1836858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71927</TotalTime>
  <Words>55</Words>
  <Application>Microsoft Macintosh PowerPoint</Application>
  <PresentationFormat>On-screen Show (4:3)</PresentationFormat>
  <Paragraphs>24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Avenir Black</vt:lpstr>
      <vt:lpstr>Avenir Book</vt:lpstr>
      <vt:lpstr>Calibri</vt:lpstr>
      <vt:lpstr>Calibri Light</vt:lpstr>
      <vt:lpstr>Roboto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Temi Kolawole</dc:creator>
  <cp:lastModifiedBy>Temi Kolawole</cp:lastModifiedBy>
  <cp:revision>180</cp:revision>
  <cp:lastPrinted>2025-03-23T11:17:50Z</cp:lastPrinted>
  <dcterms:created xsi:type="dcterms:W3CDTF">2020-11-24T00:12:57Z</dcterms:created>
  <dcterms:modified xsi:type="dcterms:W3CDTF">2025-04-03T16:00:46Z</dcterms:modified>
</cp:coreProperties>
</file>