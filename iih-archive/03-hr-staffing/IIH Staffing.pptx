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4" r:id="rId3"/>
    <p:sldId id="259" r:id="rId4"/>
    <p:sldId id="261" r:id="rId5"/>
    <p:sldId id="265" r:id="rId6"/>
    <p:sldId id="263" r:id="rId7"/>
    <p:sldId id="262" r:id="rId8"/>
    <p:sldId id="274" r:id="rId9"/>
    <p:sldId id="275" r:id="rId10"/>
    <p:sldId id="266" r:id="rId11"/>
    <p:sldId id="268" r:id="rId12"/>
    <p:sldId id="269" r:id="rId13"/>
    <p:sldId id="270" r:id="rId14"/>
    <p:sldId id="272" r:id="rId15"/>
    <p:sldId id="273"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F931"/>
    <a:srgbClr val="58E1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57"/>
    <p:restoredTop sz="95701"/>
  </p:normalViewPr>
  <p:slideViewPr>
    <p:cSldViewPr snapToGrid="0" snapToObjects="1">
      <p:cViewPr>
        <p:scale>
          <a:sx n="130" d="100"/>
          <a:sy n="130" d="100"/>
        </p:scale>
        <p:origin x="800" y="-6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3/2/25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114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3/2/25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7071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06702-883C-1C49-A3D9-95FC99D4F10F}" type="datetimeFigureOut">
              <a:rPr lang="en-US" smtClean="0"/>
              <a:t>3/2/25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1569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206702-883C-1C49-A3D9-95FC99D4F10F}" type="datetimeFigureOut">
              <a:rPr lang="en-US" smtClean="0"/>
              <a:t>3/2/25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326002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06702-883C-1C49-A3D9-95FC99D4F10F}" type="datetimeFigureOut">
              <a:rPr lang="en-US" smtClean="0"/>
              <a:t>3/2/25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69144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206702-883C-1C49-A3D9-95FC99D4F10F}" type="datetimeFigureOut">
              <a:rPr lang="en-US" smtClean="0"/>
              <a:t>3/2/25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26773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06702-883C-1C49-A3D9-95FC99D4F10F}" type="datetimeFigureOut">
              <a:rPr lang="en-US" smtClean="0"/>
              <a:t>3/2/25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7287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3/2/25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04762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3/2/25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75324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3/2/25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416025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3/2/25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39858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06702-883C-1C49-A3D9-95FC99D4F10F}" type="datetimeFigureOut">
              <a:rPr lang="en-US" smtClean="0"/>
              <a:t>3/2/25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5C96-B43F-EF41-83BB-885FD2BDB03F}" type="slidenum">
              <a:rPr lang="en-US" smtClean="0"/>
              <a:t>‹#›</a:t>
            </a:fld>
            <a:endParaRPr lang="en-US"/>
          </a:p>
        </p:txBody>
      </p:sp>
    </p:spTree>
    <p:extLst>
      <p:ext uri="{BB962C8B-B14F-4D97-AF65-F5344CB8AC3E}">
        <p14:creationId xmlns:p14="http://schemas.microsoft.com/office/powerpoint/2010/main" val="1321438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8E166"/>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FE6C51-FFDA-1B4D-A499-FF8277F7F2B8}"/>
              </a:ext>
            </a:extLst>
          </p:cNvPr>
          <p:cNvPicPr>
            <a:picLocks noChangeAspect="1"/>
          </p:cNvPicPr>
          <p:nvPr/>
        </p:nvPicPr>
        <p:blipFill>
          <a:blip r:embed="rId2"/>
          <a:stretch>
            <a:fillRect/>
          </a:stretch>
        </p:blipFill>
        <p:spPr>
          <a:xfrm>
            <a:off x="543490" y="3429000"/>
            <a:ext cx="3744361" cy="1791483"/>
          </a:xfrm>
          <a:prstGeom prst="rect">
            <a:avLst/>
          </a:prstGeom>
        </p:spPr>
      </p:pic>
      <p:sp>
        <p:nvSpPr>
          <p:cNvPr id="12" name="TextBox 11">
            <a:extLst>
              <a:ext uri="{FF2B5EF4-FFF2-40B4-BE49-F238E27FC236}">
                <a16:creationId xmlns:a16="http://schemas.microsoft.com/office/drawing/2014/main" id="{1F9D572B-B3ED-904F-9CD5-AAFE070052F0}"/>
              </a:ext>
            </a:extLst>
          </p:cNvPr>
          <p:cNvSpPr txBox="1"/>
          <p:nvPr/>
        </p:nvSpPr>
        <p:spPr>
          <a:xfrm>
            <a:off x="876822" y="5220483"/>
            <a:ext cx="4847573" cy="369332"/>
          </a:xfrm>
          <a:prstGeom prst="rect">
            <a:avLst/>
          </a:prstGeom>
          <a:noFill/>
        </p:spPr>
        <p:txBody>
          <a:bodyPr wrap="square" rtlCol="0">
            <a:spAutoFit/>
          </a:bodyPr>
          <a:lstStyle/>
          <a:p>
            <a:r>
              <a:rPr lang="en-US" dirty="0">
                <a:solidFill>
                  <a:schemeClr val="bg1"/>
                </a:solidFill>
                <a:latin typeface="Roboto Light" panose="02000000000000000000" pitchFamily="2" charset="0"/>
                <a:ea typeface="Roboto Light" panose="02000000000000000000" pitchFamily="2" charset="0"/>
              </a:rPr>
              <a:t>STAFFING</a:t>
            </a:r>
          </a:p>
        </p:txBody>
      </p:sp>
      <p:sp>
        <p:nvSpPr>
          <p:cNvPr id="13" name="TextBox 12">
            <a:extLst>
              <a:ext uri="{FF2B5EF4-FFF2-40B4-BE49-F238E27FC236}">
                <a16:creationId xmlns:a16="http://schemas.microsoft.com/office/drawing/2014/main" id="{0D1D6F3D-0AB0-5342-85F1-6C95F1F7360B}"/>
              </a:ext>
            </a:extLst>
          </p:cNvPr>
          <p:cNvSpPr txBox="1"/>
          <p:nvPr/>
        </p:nvSpPr>
        <p:spPr>
          <a:xfrm>
            <a:off x="876822" y="5639213"/>
            <a:ext cx="4847573" cy="307777"/>
          </a:xfrm>
          <a:prstGeom prst="rect">
            <a:avLst/>
          </a:prstGeom>
          <a:noFill/>
        </p:spPr>
        <p:txBody>
          <a:bodyPr wrap="square" rtlCol="0">
            <a:spAutoFit/>
          </a:bodyPr>
          <a:lstStyle/>
          <a:p>
            <a:r>
              <a:rPr lang="en-US" sz="1400" dirty="0">
                <a:solidFill>
                  <a:schemeClr val="bg1"/>
                </a:solidFill>
                <a:latin typeface="Roboto Light" panose="02000000000000000000" pitchFamily="2" charset="0"/>
                <a:ea typeface="Roboto Light" panose="02000000000000000000" pitchFamily="2" charset="0"/>
              </a:rPr>
              <a:t>AUGUST 2024</a:t>
            </a:r>
          </a:p>
        </p:txBody>
      </p:sp>
    </p:spTree>
    <p:extLst>
      <p:ext uri="{BB962C8B-B14F-4D97-AF65-F5344CB8AC3E}">
        <p14:creationId xmlns:p14="http://schemas.microsoft.com/office/powerpoint/2010/main" val="35431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480BEC-C706-8A43-88FF-CE360405EB64}"/>
              </a:ext>
            </a:extLst>
          </p:cNvPr>
          <p:cNvSpPr txBox="1"/>
          <p:nvPr/>
        </p:nvSpPr>
        <p:spPr>
          <a:xfrm>
            <a:off x="538618" y="1398732"/>
            <a:ext cx="7910438" cy="491185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Ilorin Innovation Hub will have a hybrid structure. Some aspects of operations will be handled by civil service staff while some will be handled by an </a:t>
            </a:r>
            <a:r>
              <a:rPr lang="en-US" sz="1400" b="1" dirty="0">
                <a:latin typeface="Avenir Book" panose="02000503020000020003" pitchFamily="2" charset="0"/>
              </a:rPr>
              <a:t>Innovation Management Partner (IHS Towers)</a:t>
            </a:r>
            <a:r>
              <a:rPr lang="en-US" sz="1400" dirty="0">
                <a:latin typeface="Avenir Book" panose="02000503020000020003" pitchFamily="2" charset="0"/>
              </a:rPr>
              <a:t>. This is as a result of the specialized functions to be performed that require a level of experience in the field of innovation management.</a:t>
            </a:r>
          </a:p>
          <a:p>
            <a:pPr algn="just">
              <a:lnSpc>
                <a:spcPct val="150000"/>
              </a:lnSpc>
            </a:pPr>
            <a:endParaRPr lang="en-US" sz="1400" dirty="0">
              <a:latin typeface="Avenir Book" panose="02000503020000020003" pitchFamily="2" charset="0"/>
            </a:endParaRPr>
          </a:p>
          <a:p>
            <a:pPr algn="just">
              <a:lnSpc>
                <a:spcPct val="150000"/>
              </a:lnSpc>
            </a:pPr>
            <a:r>
              <a:rPr lang="en-US" sz="1400" dirty="0">
                <a:latin typeface="Avenir Book" panose="02000503020000020003" pitchFamily="2" charset="0"/>
              </a:rPr>
              <a:t>The operational roles will be shared as follows:</a:t>
            </a:r>
          </a:p>
          <a:p>
            <a:pPr algn="just">
              <a:lnSpc>
                <a:spcPct val="150000"/>
              </a:lnSpc>
            </a:pPr>
            <a:endParaRPr lang="en-US" sz="1400" dirty="0">
              <a:latin typeface="Avenir Book" panose="02000503020000020003" pitchFamily="2" charset="0"/>
            </a:endParaRPr>
          </a:p>
          <a:p>
            <a:pPr algn="just">
              <a:lnSpc>
                <a:spcPct val="150000"/>
              </a:lnSpc>
            </a:pPr>
            <a:r>
              <a:rPr lang="en-US" sz="1400" b="1" dirty="0">
                <a:latin typeface="Avenir Book" panose="02000503020000020003" pitchFamily="2" charset="0"/>
              </a:rPr>
              <a:t>Government Staff</a:t>
            </a:r>
          </a:p>
          <a:p>
            <a:pPr marL="342900" indent="-342900" algn="just">
              <a:lnSpc>
                <a:spcPct val="150000"/>
              </a:lnSpc>
              <a:buFont typeface="+mj-lt"/>
              <a:buAutoNum type="arabicPeriod"/>
            </a:pPr>
            <a:r>
              <a:rPr lang="en-US" sz="1400" dirty="0">
                <a:latin typeface="Avenir Book" panose="02000503020000020003" pitchFamily="2" charset="0"/>
              </a:rPr>
              <a:t>Coworking &amp; Community</a:t>
            </a:r>
          </a:p>
          <a:p>
            <a:pPr marL="342900" indent="-342900">
              <a:lnSpc>
                <a:spcPct val="150000"/>
              </a:lnSpc>
              <a:buFont typeface="+mj-lt"/>
              <a:buAutoNum type="arabicPeriod"/>
            </a:pPr>
            <a:r>
              <a:rPr lang="en-US" sz="1400" dirty="0">
                <a:latin typeface="Avenir Book" panose="02000503020000020003" pitchFamily="2" charset="0"/>
              </a:rPr>
              <a:t>Administration &amp; HR</a:t>
            </a:r>
          </a:p>
          <a:p>
            <a:pPr marL="342900" indent="-342900">
              <a:lnSpc>
                <a:spcPct val="150000"/>
              </a:lnSpc>
              <a:buFont typeface="+mj-lt"/>
              <a:buAutoNum type="arabicPeriod"/>
            </a:pPr>
            <a:r>
              <a:rPr lang="en-US" sz="1400" dirty="0">
                <a:latin typeface="Avenir Book" panose="02000503020000020003" pitchFamily="2" charset="0"/>
              </a:rPr>
              <a:t>Marketing &amp; IT Support</a:t>
            </a:r>
          </a:p>
          <a:p>
            <a:pPr marL="342900" indent="-342900">
              <a:lnSpc>
                <a:spcPct val="150000"/>
              </a:lnSpc>
              <a:buFont typeface="+mj-lt"/>
              <a:buAutoNum type="arabicPeriod"/>
            </a:pPr>
            <a:endParaRPr lang="en-US" sz="1400" dirty="0">
              <a:latin typeface="Avenir Book" panose="02000503020000020003" pitchFamily="2" charset="0"/>
            </a:endParaRPr>
          </a:p>
          <a:p>
            <a:pPr>
              <a:lnSpc>
                <a:spcPct val="150000"/>
              </a:lnSpc>
            </a:pPr>
            <a:r>
              <a:rPr lang="en-US" sz="1400" b="1" dirty="0">
                <a:latin typeface="Avenir Book" panose="02000503020000020003" pitchFamily="2" charset="0"/>
              </a:rPr>
              <a:t>Partner Staff</a:t>
            </a:r>
          </a:p>
          <a:p>
            <a:pPr marL="342900" indent="-342900">
              <a:lnSpc>
                <a:spcPct val="150000"/>
              </a:lnSpc>
              <a:buFont typeface="+mj-lt"/>
              <a:buAutoNum type="arabicPeriod"/>
            </a:pPr>
            <a:r>
              <a:rPr lang="en-US" sz="1400" dirty="0">
                <a:latin typeface="Avenir Book" panose="02000503020000020003" pitchFamily="2" charset="0"/>
              </a:rPr>
              <a:t>Training &amp; Research</a:t>
            </a:r>
          </a:p>
          <a:p>
            <a:pPr marL="342900" indent="-342900">
              <a:lnSpc>
                <a:spcPct val="150000"/>
              </a:lnSpc>
              <a:buFont typeface="+mj-lt"/>
              <a:buAutoNum type="arabicPeriod"/>
            </a:pPr>
            <a:r>
              <a:rPr lang="en-US" sz="1400" dirty="0">
                <a:latin typeface="Avenir Book" panose="02000503020000020003" pitchFamily="2" charset="0"/>
              </a:rPr>
              <a:t>Startups &amp; Entrepreneurship</a:t>
            </a:r>
          </a:p>
        </p:txBody>
      </p:sp>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Tree>
    <p:extLst>
      <p:ext uri="{BB962C8B-B14F-4D97-AF65-F5344CB8AC3E}">
        <p14:creationId xmlns:p14="http://schemas.microsoft.com/office/powerpoint/2010/main" val="10514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
        <p:nvSpPr>
          <p:cNvPr id="2" name="Rectangle 1">
            <a:extLst>
              <a:ext uri="{FF2B5EF4-FFF2-40B4-BE49-F238E27FC236}">
                <a16:creationId xmlns:a16="http://schemas.microsoft.com/office/drawing/2014/main" id="{043071D0-2F8D-E14C-B7CC-B3853FCDCB0D}"/>
              </a:ext>
            </a:extLst>
          </p:cNvPr>
          <p:cNvSpPr/>
          <p:nvPr/>
        </p:nvSpPr>
        <p:spPr>
          <a:xfrm>
            <a:off x="3331922" y="2069390"/>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0" name="Rectangle 9">
            <a:extLst>
              <a:ext uri="{FF2B5EF4-FFF2-40B4-BE49-F238E27FC236}">
                <a16:creationId xmlns:a16="http://schemas.microsoft.com/office/drawing/2014/main" id="{6FD8AC99-43D0-9343-B1C4-1AC357EF7AD5}"/>
              </a:ext>
            </a:extLst>
          </p:cNvPr>
          <p:cNvSpPr/>
          <p:nvPr/>
        </p:nvSpPr>
        <p:spPr>
          <a:xfrm>
            <a:off x="3331922" y="1173264"/>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Governing Board</a:t>
            </a:r>
          </a:p>
        </p:txBody>
      </p:sp>
      <p:sp>
        <p:nvSpPr>
          <p:cNvPr id="11" name="Rectangle 10">
            <a:extLst>
              <a:ext uri="{FF2B5EF4-FFF2-40B4-BE49-F238E27FC236}">
                <a16:creationId xmlns:a16="http://schemas.microsoft.com/office/drawing/2014/main" id="{B60FED1F-C71E-8149-B451-998EA9D809B5}"/>
              </a:ext>
            </a:extLst>
          </p:cNvPr>
          <p:cNvSpPr/>
          <p:nvPr/>
        </p:nvSpPr>
        <p:spPr>
          <a:xfrm>
            <a:off x="413359" y="3324081"/>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Talent</a:t>
            </a:r>
          </a:p>
        </p:txBody>
      </p:sp>
      <p:sp>
        <p:nvSpPr>
          <p:cNvPr id="12" name="Rectangle 11">
            <a:extLst>
              <a:ext uri="{FF2B5EF4-FFF2-40B4-BE49-F238E27FC236}">
                <a16:creationId xmlns:a16="http://schemas.microsoft.com/office/drawing/2014/main" id="{A1F634FF-A9DB-AA4F-9916-01A46D454301}"/>
              </a:ext>
            </a:extLst>
          </p:cNvPr>
          <p:cNvSpPr/>
          <p:nvPr/>
        </p:nvSpPr>
        <p:spPr>
          <a:xfrm>
            <a:off x="1940492" y="3324081"/>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834004" y="3324081"/>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2166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IT &amp; Marketing</a:t>
            </a:r>
          </a:p>
        </p:txBody>
      </p:sp>
      <p:sp>
        <p:nvSpPr>
          <p:cNvPr id="15" name="Rectangle 14">
            <a:extLst>
              <a:ext uri="{FF2B5EF4-FFF2-40B4-BE49-F238E27FC236}">
                <a16:creationId xmlns:a16="http://schemas.microsoft.com/office/drawing/2014/main" id="{6B465138-B9AE-7449-A431-ACAEB43604BE}"/>
              </a:ext>
            </a:extLst>
          </p:cNvPr>
          <p:cNvSpPr/>
          <p:nvPr/>
        </p:nvSpPr>
        <p:spPr>
          <a:xfrm>
            <a:off x="568994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HR</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75781" y="3995803"/>
            <a:ext cx="1471808"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Programs</a:t>
            </a:r>
          </a:p>
          <a:p>
            <a:pPr marL="171450" indent="-171450">
              <a:lnSpc>
                <a:spcPct val="150000"/>
              </a:lnSpc>
              <a:buFont typeface="Wingdings" pitchFamily="2" charset="2"/>
              <a:buChar char="§"/>
            </a:pPr>
            <a:r>
              <a:rPr lang="en-US" sz="1200" dirty="0">
                <a:latin typeface="Avenir Book" panose="02000503020000020003" pitchFamily="2" charset="0"/>
              </a:rPr>
              <a:t>Field Research</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85167" y="3995803"/>
            <a:ext cx="1709803" cy="2007344"/>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Incubator Programs</a:t>
            </a:r>
          </a:p>
          <a:p>
            <a:pPr marL="171450" indent="-171450">
              <a:lnSpc>
                <a:spcPct val="150000"/>
              </a:lnSpc>
              <a:buFont typeface="Wingdings" pitchFamily="2" charset="2"/>
              <a:buChar char="§"/>
            </a:pPr>
            <a:r>
              <a:rPr lang="en-US" sz="1200" dirty="0">
                <a:latin typeface="Avenir Book" panose="02000503020000020003" pitchFamily="2" charset="0"/>
              </a:rPr>
              <a:t>Accelerator Programs</a:t>
            </a:r>
          </a:p>
          <a:p>
            <a:pPr marL="171450" indent="-171450">
              <a:lnSpc>
                <a:spcPct val="150000"/>
              </a:lnSpc>
              <a:buFont typeface="Wingdings" pitchFamily="2" charset="2"/>
              <a:buChar char="§"/>
            </a:pPr>
            <a:r>
              <a:rPr lang="en-US" sz="1200" dirty="0">
                <a:latin typeface="Avenir Book" panose="02000503020000020003" pitchFamily="2" charset="0"/>
              </a:rPr>
              <a:t>Grants</a:t>
            </a:r>
          </a:p>
          <a:p>
            <a:pPr marL="171450" indent="-171450">
              <a:lnSpc>
                <a:spcPct val="150000"/>
              </a:lnSpc>
              <a:buFont typeface="Wingdings" pitchFamily="2" charset="2"/>
              <a:buChar char="§"/>
            </a:pPr>
            <a:r>
              <a:rPr lang="en-US" sz="1200" dirty="0">
                <a:latin typeface="Avenir Book" panose="02000503020000020003" pitchFamily="2" charset="0"/>
              </a:rPr>
              <a:t>Remote Work</a:t>
            </a:r>
          </a:p>
          <a:p>
            <a:pPr marL="171450" indent="-171450">
              <a:lnSpc>
                <a:spcPct val="150000"/>
              </a:lnSpc>
              <a:buFont typeface="Wingdings" pitchFamily="2" charset="2"/>
              <a:buChar char="§"/>
            </a:pPr>
            <a:r>
              <a:rPr lang="en-US" sz="1200" dirty="0">
                <a:latin typeface="Avenir Book" panose="02000503020000020003" pitchFamily="2" charset="0"/>
              </a:rPr>
              <a:t>Business Process Outsourcing</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834004" y="3995803"/>
            <a:ext cx="1709803"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Coworking</a:t>
            </a:r>
          </a:p>
          <a:p>
            <a:pPr marL="171450" indent="-171450">
              <a:lnSpc>
                <a:spcPct val="150000"/>
              </a:lnSpc>
              <a:buFont typeface="Wingdings" pitchFamily="2" charset="2"/>
              <a:buChar char="§"/>
            </a:pPr>
            <a:r>
              <a:rPr lang="en-US" sz="1200" dirty="0">
                <a:latin typeface="Avenir Book" panose="02000503020000020003" pitchFamily="2" charset="0"/>
              </a:rPr>
              <a:t>Events &amp; Competitions</a:t>
            </a:r>
          </a:p>
          <a:p>
            <a:pPr marL="171450" indent="-171450">
              <a:lnSpc>
                <a:spcPct val="150000"/>
              </a:lnSpc>
              <a:buFont typeface="Wingdings" pitchFamily="2" charset="2"/>
              <a:buChar char="§"/>
            </a:pPr>
            <a:r>
              <a:rPr lang="en-US" sz="1200" dirty="0">
                <a:latin typeface="Avenir Book" panose="02000503020000020003" pitchFamily="2" charset="0"/>
              </a:rPr>
              <a:t>Conferences, Seminars &amp; Webinars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89945" y="3995803"/>
            <a:ext cx="1631057" cy="1453347"/>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Office Admin</a:t>
            </a:r>
          </a:p>
          <a:p>
            <a:pPr marL="171450" indent="-171450">
              <a:lnSpc>
                <a:spcPct val="150000"/>
              </a:lnSpc>
              <a:buFont typeface="Wingdings" pitchFamily="2" charset="2"/>
              <a:buChar char="§"/>
            </a:pPr>
            <a:r>
              <a:rPr lang="en-US" sz="1200" dirty="0">
                <a:latin typeface="Avenir Book" panose="02000503020000020003" pitchFamily="2" charset="0"/>
              </a:rPr>
              <a:t>HR</a:t>
            </a:r>
          </a:p>
          <a:p>
            <a:pPr marL="171450" indent="-171450">
              <a:lnSpc>
                <a:spcPct val="150000"/>
              </a:lnSpc>
              <a:buFont typeface="Wingdings" pitchFamily="2" charset="2"/>
              <a:buChar char="§"/>
            </a:pPr>
            <a:r>
              <a:rPr lang="en-US" sz="1200" dirty="0">
                <a:latin typeface="Avenir Book" panose="02000503020000020003" pitchFamily="2" charset="0"/>
              </a:rPr>
              <a:t>Facility Mgt</a:t>
            </a:r>
          </a:p>
          <a:p>
            <a:pPr marL="171450" indent="-171450">
              <a:lnSpc>
                <a:spcPct val="150000"/>
              </a:lnSpc>
              <a:buFont typeface="Wingdings" pitchFamily="2" charset="2"/>
              <a:buChar char="§"/>
            </a:pPr>
            <a:r>
              <a:rPr lang="en-US" sz="1200" dirty="0">
                <a:latin typeface="Avenir Book" panose="02000503020000020003" pitchFamily="2" charset="0"/>
              </a:rPr>
              <a:t>Human Resources</a:t>
            </a:r>
          </a:p>
          <a:p>
            <a:pPr marL="171450" indent="-171450">
              <a:lnSpc>
                <a:spcPct val="150000"/>
              </a:lnSpc>
              <a:buFont typeface="Wingdings" pitchFamily="2" charset="2"/>
              <a:buChar char="§"/>
            </a:pPr>
            <a:r>
              <a:rPr lang="en-US" sz="1200" dirty="0">
                <a:latin typeface="Avenir Book" panose="02000503020000020003" pitchFamily="2" charset="0"/>
              </a:rPr>
              <a:t>Logistics</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399748" y="4029979"/>
            <a:ext cx="1441529" cy="2007344"/>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eGovernment</a:t>
            </a:r>
          </a:p>
          <a:p>
            <a:pPr marL="171450" indent="-171450">
              <a:lnSpc>
                <a:spcPct val="150000"/>
              </a:lnSpc>
              <a:buFont typeface="Wingdings" pitchFamily="2" charset="2"/>
              <a:buChar char="§"/>
            </a:pPr>
            <a:r>
              <a:rPr lang="en-US" sz="1200" dirty="0">
                <a:latin typeface="Avenir Book" panose="02000503020000020003" pitchFamily="2" charset="0"/>
              </a:rPr>
              <a:t>Website &amp; Email Management</a:t>
            </a:r>
          </a:p>
          <a:p>
            <a:pPr marL="171450" indent="-171450">
              <a:lnSpc>
                <a:spcPct val="150000"/>
              </a:lnSpc>
              <a:buFont typeface="Wingdings" pitchFamily="2" charset="2"/>
              <a:buChar char="§"/>
            </a:pPr>
            <a:r>
              <a:rPr lang="en-US" sz="1200" dirty="0">
                <a:latin typeface="Avenir Book" panose="02000503020000020003" pitchFamily="2" charset="0"/>
              </a:rPr>
              <a:t>IT Support</a:t>
            </a:r>
          </a:p>
          <a:p>
            <a:pPr marL="171450" indent="-171450">
              <a:lnSpc>
                <a:spcPct val="150000"/>
              </a:lnSpc>
              <a:buFont typeface="Wingdings" pitchFamily="2" charset="2"/>
              <a:buChar char="§"/>
            </a:pPr>
            <a:r>
              <a:rPr lang="en-US" sz="1200" dirty="0">
                <a:latin typeface="Avenir Book" panose="02000503020000020003" pitchFamily="2" charset="0"/>
              </a:rPr>
              <a:t>Marketing &amp; Social Media</a:t>
            </a:r>
          </a:p>
        </p:txBody>
      </p:sp>
      <p:cxnSp>
        <p:nvCxnSpPr>
          <p:cNvPr id="22" name="Straight Connector 21">
            <a:extLst>
              <a:ext uri="{FF2B5EF4-FFF2-40B4-BE49-F238E27FC236}">
                <a16:creationId xmlns:a16="http://schemas.microsoft.com/office/drawing/2014/main" id="{DB4EC7B4-F52F-2C41-A834-21FCB1CE3F02}"/>
              </a:ext>
            </a:extLst>
          </p:cNvPr>
          <p:cNvCxnSpPr>
            <a:stCxn id="10" idx="2"/>
            <a:endCxn id="2" idx="0"/>
          </p:cNvCxnSpPr>
          <p:nvPr/>
        </p:nvCxnSpPr>
        <p:spPr>
          <a:xfrm>
            <a:off x="4459265" y="1671710"/>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59265" y="2567836"/>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1002082" y="2931090"/>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732761"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02082"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59264"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7783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1686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CEA9BFD5-B349-9C46-8657-2DC5C4A7C191}"/>
              </a:ext>
            </a:extLst>
          </p:cNvPr>
          <p:cNvSpPr/>
          <p:nvPr/>
        </p:nvSpPr>
        <p:spPr>
          <a:xfrm>
            <a:off x="133614" y="2749464"/>
            <a:ext cx="3584448" cy="3570314"/>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A5A998E-CE8B-1179-5356-07B064CFD8F5}"/>
              </a:ext>
            </a:extLst>
          </p:cNvPr>
          <p:cNvSpPr/>
          <p:nvPr/>
        </p:nvSpPr>
        <p:spPr>
          <a:xfrm>
            <a:off x="6946521" y="1253950"/>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Legal </a:t>
            </a:r>
          </a:p>
        </p:txBody>
      </p:sp>
      <p:sp>
        <p:nvSpPr>
          <p:cNvPr id="9" name="Rectangle 8">
            <a:extLst>
              <a:ext uri="{FF2B5EF4-FFF2-40B4-BE49-F238E27FC236}">
                <a16:creationId xmlns:a16="http://schemas.microsoft.com/office/drawing/2014/main" id="{C2CDDFB1-4B35-6112-F365-3A329031E375}"/>
              </a:ext>
            </a:extLst>
          </p:cNvPr>
          <p:cNvSpPr/>
          <p:nvPr/>
        </p:nvSpPr>
        <p:spPr>
          <a:xfrm>
            <a:off x="6946521" y="2057900"/>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Accounts</a:t>
            </a:r>
          </a:p>
        </p:txBody>
      </p:sp>
      <p:cxnSp>
        <p:nvCxnSpPr>
          <p:cNvPr id="21" name="Straight Connector 20">
            <a:extLst>
              <a:ext uri="{FF2B5EF4-FFF2-40B4-BE49-F238E27FC236}">
                <a16:creationId xmlns:a16="http://schemas.microsoft.com/office/drawing/2014/main" id="{A31A8064-D88A-3E46-CDFE-9C9BDCF70D23}"/>
              </a:ext>
            </a:extLst>
          </p:cNvPr>
          <p:cNvCxnSpPr>
            <a:cxnSpLocks/>
            <a:stCxn id="2" idx="3"/>
          </p:cNvCxnSpPr>
          <p:nvPr/>
        </p:nvCxnSpPr>
        <p:spPr>
          <a:xfrm>
            <a:off x="5586607" y="2318613"/>
            <a:ext cx="13355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9B21912-C010-8ECA-591F-EF6C5895584A}"/>
              </a:ext>
            </a:extLst>
          </p:cNvPr>
          <p:cNvCxnSpPr>
            <a:cxnSpLocks/>
          </p:cNvCxnSpPr>
          <p:nvPr/>
        </p:nvCxnSpPr>
        <p:spPr>
          <a:xfrm>
            <a:off x="6254384" y="1503173"/>
            <a:ext cx="0" cy="8154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02F9FCF-04BB-71E0-79C1-C6CD358B7169}"/>
              </a:ext>
            </a:extLst>
          </p:cNvPr>
          <p:cNvCxnSpPr>
            <a:cxnSpLocks/>
            <a:endCxn id="8" idx="1"/>
          </p:cNvCxnSpPr>
          <p:nvPr/>
        </p:nvCxnSpPr>
        <p:spPr>
          <a:xfrm>
            <a:off x="6254384" y="1503173"/>
            <a:ext cx="6921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94A4D9A-890B-EE71-D91F-46CF6EBA94CF}"/>
              </a:ext>
            </a:extLst>
          </p:cNvPr>
          <p:cNvSpPr txBox="1"/>
          <p:nvPr/>
        </p:nvSpPr>
        <p:spPr>
          <a:xfrm>
            <a:off x="375781" y="2331315"/>
            <a:ext cx="2828790" cy="307777"/>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PROGRAM PARTNERS</a:t>
            </a:r>
          </a:p>
        </p:txBody>
      </p:sp>
    </p:spTree>
    <p:extLst>
      <p:ext uri="{BB962C8B-B14F-4D97-AF65-F5344CB8AC3E}">
        <p14:creationId xmlns:p14="http://schemas.microsoft.com/office/powerpoint/2010/main" val="1029815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(Staffing)</a:t>
            </a:r>
          </a:p>
        </p:txBody>
      </p:sp>
      <p:sp>
        <p:nvSpPr>
          <p:cNvPr id="2" name="Rectangle 1">
            <a:extLst>
              <a:ext uri="{FF2B5EF4-FFF2-40B4-BE49-F238E27FC236}">
                <a16:creationId xmlns:a16="http://schemas.microsoft.com/office/drawing/2014/main" id="{043071D0-2F8D-E14C-B7CC-B3853FCDCB0D}"/>
              </a:ext>
            </a:extLst>
          </p:cNvPr>
          <p:cNvSpPr/>
          <p:nvPr/>
        </p:nvSpPr>
        <p:spPr>
          <a:xfrm>
            <a:off x="3400169" y="1279286"/>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1" name="Rectangle 10">
            <a:extLst>
              <a:ext uri="{FF2B5EF4-FFF2-40B4-BE49-F238E27FC236}">
                <a16:creationId xmlns:a16="http://schemas.microsoft.com/office/drawing/2014/main" id="{B60FED1F-C71E-8149-B451-998EA9D809B5}"/>
              </a:ext>
            </a:extLst>
          </p:cNvPr>
          <p:cNvSpPr/>
          <p:nvPr/>
        </p:nvSpPr>
        <p:spPr>
          <a:xfrm>
            <a:off x="481606" y="2533977"/>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Talent</a:t>
            </a:r>
          </a:p>
        </p:txBody>
      </p:sp>
      <p:sp>
        <p:nvSpPr>
          <p:cNvPr id="12" name="Rectangle 11">
            <a:extLst>
              <a:ext uri="{FF2B5EF4-FFF2-40B4-BE49-F238E27FC236}">
                <a16:creationId xmlns:a16="http://schemas.microsoft.com/office/drawing/2014/main" id="{A1F634FF-A9DB-AA4F-9916-01A46D454301}"/>
              </a:ext>
            </a:extLst>
          </p:cNvPr>
          <p:cNvSpPr/>
          <p:nvPr/>
        </p:nvSpPr>
        <p:spPr>
          <a:xfrm>
            <a:off x="1941937" y="2533977"/>
            <a:ext cx="181417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902251" y="2533977"/>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89912" y="2533977"/>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IT &amp; Marketing</a:t>
            </a:r>
          </a:p>
        </p:txBody>
      </p:sp>
      <p:sp>
        <p:nvSpPr>
          <p:cNvPr id="15" name="Rectangle 14">
            <a:extLst>
              <a:ext uri="{FF2B5EF4-FFF2-40B4-BE49-F238E27FC236}">
                <a16:creationId xmlns:a16="http://schemas.microsoft.com/office/drawing/2014/main" id="{6B465138-B9AE-7449-A431-ACAEB43604BE}"/>
              </a:ext>
            </a:extLst>
          </p:cNvPr>
          <p:cNvSpPr/>
          <p:nvPr/>
        </p:nvSpPr>
        <p:spPr>
          <a:xfrm>
            <a:off x="5758192" y="2533977"/>
            <a:ext cx="1555314"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HR</a:t>
            </a:r>
          </a:p>
        </p:txBody>
      </p:sp>
      <p:sp>
        <p:nvSpPr>
          <p:cNvPr id="16" name="TextBox 15">
            <a:extLst>
              <a:ext uri="{FF2B5EF4-FFF2-40B4-BE49-F238E27FC236}">
                <a16:creationId xmlns:a16="http://schemas.microsoft.com/office/drawing/2014/main" id="{35D57A60-8811-6F47-A2D2-A35EA8BDF56F}"/>
              </a:ext>
            </a:extLst>
          </p:cNvPr>
          <p:cNvSpPr txBox="1"/>
          <p:nvPr/>
        </p:nvSpPr>
        <p:spPr>
          <a:xfrm>
            <a:off x="1006215" y="1699641"/>
            <a:ext cx="1858648" cy="345351"/>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solidFill>
                  <a:srgbClr val="00B0F0"/>
                </a:solidFill>
                <a:latin typeface="Avenir Book" panose="02000503020000020003" pitchFamily="2" charset="0"/>
              </a:rPr>
              <a:t>Director of Programs</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902251" y="3205699"/>
            <a:ext cx="1787989" cy="1086067"/>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Community Manager</a:t>
            </a:r>
          </a:p>
          <a:p>
            <a:pPr marL="171450" indent="-171450">
              <a:lnSpc>
                <a:spcPct val="150000"/>
              </a:lnSpc>
              <a:buFont typeface="Wingdings" pitchFamily="2" charset="2"/>
              <a:buChar char="§"/>
            </a:pPr>
            <a:r>
              <a:rPr lang="en-US" sz="1100" dirty="0">
                <a:latin typeface="Avenir Book" panose="02000503020000020003" pitchFamily="2" charset="0"/>
              </a:rPr>
              <a:t>1 Member Services Officer</a:t>
            </a:r>
          </a:p>
          <a:p>
            <a:pPr marL="171450" indent="-171450">
              <a:lnSpc>
                <a:spcPct val="150000"/>
              </a:lnSpc>
              <a:buFont typeface="Wingdings" pitchFamily="2" charset="2"/>
              <a:buChar char="§"/>
            </a:pPr>
            <a:r>
              <a:rPr lang="en-US" sz="1100" dirty="0">
                <a:latin typeface="Avenir Book" panose="02000503020000020003" pitchFamily="2" charset="0"/>
              </a:rPr>
              <a:t>2 Front Desk Staff</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758192" y="3205699"/>
            <a:ext cx="1729856" cy="1339982"/>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Admin &amp; HR Associate</a:t>
            </a:r>
          </a:p>
          <a:p>
            <a:pPr marL="171450" indent="-171450">
              <a:lnSpc>
                <a:spcPct val="150000"/>
              </a:lnSpc>
              <a:buFont typeface="Wingdings" pitchFamily="2" charset="2"/>
              <a:buChar char="§"/>
            </a:pPr>
            <a:r>
              <a:rPr lang="en-US" sz="1100" dirty="0">
                <a:latin typeface="Avenir Book" panose="02000503020000020003" pitchFamily="2" charset="0"/>
              </a:rPr>
              <a:t>1 Facility Associate</a:t>
            </a:r>
          </a:p>
          <a:p>
            <a:pPr marL="171450" indent="-171450">
              <a:lnSpc>
                <a:spcPct val="150000"/>
              </a:lnSpc>
              <a:buFont typeface="Wingdings" pitchFamily="2" charset="2"/>
              <a:buChar char="§"/>
            </a:pPr>
            <a:r>
              <a:rPr lang="en-US" sz="1100" dirty="0">
                <a:latin typeface="Avenir Book" panose="02000503020000020003" pitchFamily="2" charset="0"/>
              </a:rPr>
              <a:t>2 Facility Officers</a:t>
            </a:r>
          </a:p>
          <a:p>
            <a:pPr marL="171450" indent="-171450">
              <a:lnSpc>
                <a:spcPct val="150000"/>
              </a:lnSpc>
              <a:buFont typeface="Wingdings" pitchFamily="2" charset="2"/>
              <a:buChar char="§"/>
            </a:pPr>
            <a:r>
              <a:rPr lang="en-US" sz="1100" dirty="0">
                <a:latin typeface="Avenir Book" panose="02000503020000020003" pitchFamily="2" charset="0"/>
              </a:rPr>
              <a:t>1 Driver</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467995" y="3239875"/>
            <a:ext cx="1441529" cy="2609561"/>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IT Manager</a:t>
            </a:r>
          </a:p>
          <a:p>
            <a:pPr marL="171450" indent="-171450">
              <a:lnSpc>
                <a:spcPct val="150000"/>
              </a:lnSpc>
              <a:buFont typeface="Wingdings" pitchFamily="2" charset="2"/>
              <a:buChar char="§"/>
            </a:pPr>
            <a:r>
              <a:rPr lang="en-US" sz="1100" dirty="0">
                <a:latin typeface="Avenir Book" panose="02000503020000020003" pitchFamily="2" charset="0"/>
              </a:rPr>
              <a:t>2 IT Support Staff</a:t>
            </a:r>
          </a:p>
          <a:p>
            <a:pPr marL="171450" indent="-171450">
              <a:lnSpc>
                <a:spcPct val="150000"/>
              </a:lnSpc>
              <a:buFont typeface="Wingdings" pitchFamily="2" charset="2"/>
              <a:buChar char="§"/>
            </a:pPr>
            <a:r>
              <a:rPr lang="en-US" sz="1100" dirty="0">
                <a:latin typeface="Avenir Book" panose="02000503020000020003" pitchFamily="2" charset="0"/>
              </a:rPr>
              <a:t>1 Marketing &amp; PR Associate</a:t>
            </a:r>
          </a:p>
          <a:p>
            <a:pPr marL="171450" indent="-171450">
              <a:lnSpc>
                <a:spcPct val="150000"/>
              </a:lnSpc>
              <a:buFont typeface="Wingdings" pitchFamily="2" charset="2"/>
              <a:buChar char="§"/>
            </a:pPr>
            <a:r>
              <a:rPr lang="en-US" sz="1100" dirty="0">
                <a:latin typeface="Avenir Book" panose="02000503020000020003" pitchFamily="2" charset="0"/>
              </a:rPr>
              <a:t>1 Graphic &amp; Multimedia Designer</a:t>
            </a:r>
          </a:p>
          <a:p>
            <a:pPr marL="171450" indent="-171450">
              <a:lnSpc>
                <a:spcPct val="150000"/>
              </a:lnSpc>
              <a:buFont typeface="Wingdings" pitchFamily="2" charset="2"/>
              <a:buChar char="§"/>
            </a:pPr>
            <a:r>
              <a:rPr lang="en-US" sz="1100" dirty="0">
                <a:latin typeface="Avenir Book" panose="02000503020000020003" pitchFamily="2" charset="0"/>
              </a:rPr>
              <a:t>1 Social Media Manager</a:t>
            </a:r>
          </a:p>
        </p:txBody>
      </p: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527512" y="1777732"/>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a:cxnSpLocks/>
          </p:cNvCxnSpPr>
          <p:nvPr/>
        </p:nvCxnSpPr>
        <p:spPr>
          <a:xfrm>
            <a:off x="150471" y="2140986"/>
            <a:ext cx="80346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801008"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70329"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527511"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44608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8511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60690A6-75D3-C04F-AB5C-BDEAB437539C}"/>
              </a:ext>
            </a:extLst>
          </p:cNvPr>
          <p:cNvSpPr txBox="1"/>
          <p:nvPr/>
        </p:nvSpPr>
        <p:spPr>
          <a:xfrm>
            <a:off x="243814" y="5860414"/>
            <a:ext cx="2905633" cy="899349"/>
          </a:xfrm>
          <a:prstGeom prst="rect">
            <a:avLst/>
          </a:prstGeom>
          <a:noFill/>
        </p:spPr>
        <p:txBody>
          <a:bodyPr wrap="square" rtlCol="0">
            <a:spAutoFit/>
          </a:bodyPr>
          <a:lstStyle/>
          <a:p>
            <a:pPr>
              <a:lnSpc>
                <a:spcPct val="150000"/>
              </a:lnSpc>
            </a:pPr>
            <a:r>
              <a:rPr lang="en-US" sz="1200" dirty="0">
                <a:latin typeface="Avenir Book" panose="02000503020000020003" pitchFamily="2" charset="0"/>
              </a:rPr>
              <a:t>Government Staff		19</a:t>
            </a:r>
          </a:p>
          <a:p>
            <a:pPr>
              <a:lnSpc>
                <a:spcPct val="150000"/>
              </a:lnSpc>
            </a:pPr>
            <a:r>
              <a:rPr lang="en-US" sz="1200" b="1" dirty="0">
                <a:solidFill>
                  <a:srgbClr val="2FF931"/>
                </a:solidFill>
                <a:latin typeface="Avenir Book" panose="02000503020000020003" pitchFamily="2" charset="0"/>
              </a:rPr>
              <a:t>Partner Staff			X</a:t>
            </a:r>
          </a:p>
          <a:p>
            <a:pPr>
              <a:lnSpc>
                <a:spcPct val="150000"/>
              </a:lnSpc>
            </a:pPr>
            <a:r>
              <a:rPr lang="en-US" sz="1200" b="1" dirty="0">
                <a:latin typeface="Avenir Book" panose="02000503020000020003" pitchFamily="2" charset="0"/>
              </a:rPr>
              <a:t>Total Staff			19 + X</a:t>
            </a:r>
          </a:p>
        </p:txBody>
      </p:sp>
      <p:sp>
        <p:nvSpPr>
          <p:cNvPr id="38" name="Rectangle 37">
            <a:extLst>
              <a:ext uri="{FF2B5EF4-FFF2-40B4-BE49-F238E27FC236}">
                <a16:creationId xmlns:a16="http://schemas.microsoft.com/office/drawing/2014/main" id="{7FD70D14-D2EC-D047-88F6-B9F78946B95B}"/>
              </a:ext>
            </a:extLst>
          </p:cNvPr>
          <p:cNvSpPr/>
          <p:nvPr/>
        </p:nvSpPr>
        <p:spPr>
          <a:xfrm>
            <a:off x="353214" y="2051960"/>
            <a:ext cx="3468986" cy="1434474"/>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060D029-61A9-584D-893A-7FA4F41250A7}"/>
              </a:ext>
            </a:extLst>
          </p:cNvPr>
          <p:cNvSpPr txBox="1"/>
          <p:nvPr/>
        </p:nvSpPr>
        <p:spPr>
          <a:xfrm>
            <a:off x="612898" y="3623399"/>
            <a:ext cx="2828790" cy="307777"/>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PROGRAM PARTNERS</a:t>
            </a:r>
          </a:p>
        </p:txBody>
      </p:sp>
      <p:sp>
        <p:nvSpPr>
          <p:cNvPr id="3" name="Rectangle 2">
            <a:extLst>
              <a:ext uri="{FF2B5EF4-FFF2-40B4-BE49-F238E27FC236}">
                <a16:creationId xmlns:a16="http://schemas.microsoft.com/office/drawing/2014/main" id="{3A00F50C-A6B2-9A34-3B0C-B993CDE1D281}"/>
              </a:ext>
            </a:extLst>
          </p:cNvPr>
          <p:cNvSpPr/>
          <p:nvPr/>
        </p:nvSpPr>
        <p:spPr>
          <a:xfrm>
            <a:off x="524365" y="458350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Legal</a:t>
            </a:r>
          </a:p>
        </p:txBody>
      </p:sp>
      <p:sp>
        <p:nvSpPr>
          <p:cNvPr id="6" name="Rectangle 5">
            <a:extLst>
              <a:ext uri="{FF2B5EF4-FFF2-40B4-BE49-F238E27FC236}">
                <a16:creationId xmlns:a16="http://schemas.microsoft.com/office/drawing/2014/main" id="{E8367813-99B3-62F9-00EE-CE2E717F4328}"/>
              </a:ext>
            </a:extLst>
          </p:cNvPr>
          <p:cNvSpPr/>
          <p:nvPr/>
        </p:nvSpPr>
        <p:spPr>
          <a:xfrm>
            <a:off x="2854763" y="4600285"/>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Accounts</a:t>
            </a:r>
          </a:p>
        </p:txBody>
      </p:sp>
      <p:sp>
        <p:nvSpPr>
          <p:cNvPr id="7" name="TextBox 6">
            <a:extLst>
              <a:ext uri="{FF2B5EF4-FFF2-40B4-BE49-F238E27FC236}">
                <a16:creationId xmlns:a16="http://schemas.microsoft.com/office/drawing/2014/main" id="{9F2B719F-38DC-8EBE-7D9B-74ED207B381B}"/>
              </a:ext>
            </a:extLst>
          </p:cNvPr>
          <p:cNvSpPr txBox="1"/>
          <p:nvPr/>
        </p:nvSpPr>
        <p:spPr>
          <a:xfrm>
            <a:off x="524365" y="5148057"/>
            <a:ext cx="1471808" cy="324320"/>
          </a:xfrm>
          <a:prstGeom prst="rect">
            <a:avLst/>
          </a:prstGeom>
          <a:noFill/>
        </p:spPr>
        <p:txBody>
          <a:bodyPr wrap="square" rtlCol="0">
            <a:spAutoFit/>
          </a:bodyPr>
          <a:lstStyle/>
          <a:p>
            <a:pPr marL="171450" indent="-171450">
              <a:lnSpc>
                <a:spcPct val="150000"/>
              </a:lnSpc>
              <a:buFont typeface="Wingdings" pitchFamily="2" charset="2"/>
              <a:buChar char="§"/>
            </a:pPr>
            <a:endParaRPr lang="en-US" sz="1100" dirty="0">
              <a:latin typeface="Avenir Book" panose="02000503020000020003" pitchFamily="2" charset="0"/>
            </a:endParaRPr>
          </a:p>
        </p:txBody>
      </p:sp>
      <p:sp>
        <p:nvSpPr>
          <p:cNvPr id="8" name="TextBox 7">
            <a:extLst>
              <a:ext uri="{FF2B5EF4-FFF2-40B4-BE49-F238E27FC236}">
                <a16:creationId xmlns:a16="http://schemas.microsoft.com/office/drawing/2014/main" id="{364F3984-06D5-6470-EFBF-1AACD988E01F}"/>
              </a:ext>
            </a:extLst>
          </p:cNvPr>
          <p:cNvSpPr txBox="1"/>
          <p:nvPr/>
        </p:nvSpPr>
        <p:spPr>
          <a:xfrm>
            <a:off x="2884636" y="5148057"/>
            <a:ext cx="1602281" cy="324320"/>
          </a:xfrm>
          <a:prstGeom prst="rect">
            <a:avLst/>
          </a:prstGeom>
          <a:noFill/>
        </p:spPr>
        <p:txBody>
          <a:bodyPr wrap="square" rtlCol="0">
            <a:spAutoFit/>
          </a:bodyPr>
          <a:lstStyle/>
          <a:p>
            <a:pPr marL="171450" indent="-171450">
              <a:lnSpc>
                <a:spcPct val="150000"/>
              </a:lnSpc>
              <a:buFont typeface="Wingdings" pitchFamily="2" charset="2"/>
              <a:buChar char="§"/>
            </a:pPr>
            <a:endParaRPr lang="en-US" sz="1100" dirty="0">
              <a:latin typeface="Avenir Book" panose="02000503020000020003" pitchFamily="2" charset="0"/>
            </a:endParaRPr>
          </a:p>
        </p:txBody>
      </p:sp>
      <p:cxnSp>
        <p:nvCxnSpPr>
          <p:cNvPr id="9" name="Straight Connector 8">
            <a:extLst>
              <a:ext uri="{FF2B5EF4-FFF2-40B4-BE49-F238E27FC236}">
                <a16:creationId xmlns:a16="http://schemas.microsoft.com/office/drawing/2014/main" id="{D2F16312-2FA3-E52B-3B71-D052AA8C6456}"/>
              </a:ext>
            </a:extLst>
          </p:cNvPr>
          <p:cNvCxnSpPr>
            <a:cxnSpLocks/>
          </p:cNvCxnSpPr>
          <p:nvPr/>
        </p:nvCxnSpPr>
        <p:spPr>
          <a:xfrm flipH="1">
            <a:off x="150471" y="2136297"/>
            <a:ext cx="1864" cy="2170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4AD5F5B-A5E9-822E-FA84-9DF41784731F}"/>
              </a:ext>
            </a:extLst>
          </p:cNvPr>
          <p:cNvCxnSpPr>
            <a:cxnSpLocks/>
          </p:cNvCxnSpPr>
          <p:nvPr/>
        </p:nvCxnSpPr>
        <p:spPr>
          <a:xfrm>
            <a:off x="150471" y="4308421"/>
            <a:ext cx="34636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DE6E968-CD66-60C7-CD0D-A04C025F942D}"/>
              </a:ext>
            </a:extLst>
          </p:cNvPr>
          <p:cNvCxnSpPr>
            <a:cxnSpLocks/>
          </p:cNvCxnSpPr>
          <p:nvPr/>
        </p:nvCxnSpPr>
        <p:spPr>
          <a:xfrm>
            <a:off x="1234303" y="4306822"/>
            <a:ext cx="0" cy="2934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BDEA16F-E288-0DB1-4E99-E2005BD731A5}"/>
              </a:ext>
            </a:extLst>
          </p:cNvPr>
          <p:cNvCxnSpPr>
            <a:cxnSpLocks/>
          </p:cNvCxnSpPr>
          <p:nvPr/>
        </p:nvCxnSpPr>
        <p:spPr>
          <a:xfrm>
            <a:off x="3614156" y="4306822"/>
            <a:ext cx="0" cy="2934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E431A4A-7172-F158-A202-D582843737A1}"/>
              </a:ext>
            </a:extLst>
          </p:cNvPr>
          <p:cNvSpPr txBox="1"/>
          <p:nvPr/>
        </p:nvSpPr>
        <p:spPr>
          <a:xfrm>
            <a:off x="2797655" y="5146420"/>
            <a:ext cx="1729856"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Accounts Associate</a:t>
            </a:r>
          </a:p>
        </p:txBody>
      </p:sp>
      <p:sp>
        <p:nvSpPr>
          <p:cNvPr id="22" name="TextBox 21">
            <a:extLst>
              <a:ext uri="{FF2B5EF4-FFF2-40B4-BE49-F238E27FC236}">
                <a16:creationId xmlns:a16="http://schemas.microsoft.com/office/drawing/2014/main" id="{53825EF9-9654-8FC1-1651-0F40DD8CBB74}"/>
              </a:ext>
            </a:extLst>
          </p:cNvPr>
          <p:cNvSpPr txBox="1"/>
          <p:nvPr/>
        </p:nvSpPr>
        <p:spPr>
          <a:xfrm>
            <a:off x="462485" y="5139839"/>
            <a:ext cx="1729856"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Legal Associate</a:t>
            </a:r>
          </a:p>
        </p:txBody>
      </p:sp>
      <p:sp>
        <p:nvSpPr>
          <p:cNvPr id="10" name="TextBox 9">
            <a:extLst>
              <a:ext uri="{FF2B5EF4-FFF2-40B4-BE49-F238E27FC236}">
                <a16:creationId xmlns:a16="http://schemas.microsoft.com/office/drawing/2014/main" id="{B1756B3D-93AD-674F-45D4-1F23A69CECF4}"/>
              </a:ext>
            </a:extLst>
          </p:cNvPr>
          <p:cNvSpPr txBox="1"/>
          <p:nvPr/>
        </p:nvSpPr>
        <p:spPr>
          <a:xfrm>
            <a:off x="5887104" y="1751007"/>
            <a:ext cx="2250679" cy="345351"/>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solidFill>
                  <a:srgbClr val="00B0F0"/>
                </a:solidFill>
                <a:latin typeface="Avenir Book" panose="02000503020000020003" pitchFamily="2" charset="0"/>
              </a:rPr>
              <a:t>Director of Operations</a:t>
            </a:r>
          </a:p>
        </p:txBody>
      </p:sp>
      <p:sp>
        <p:nvSpPr>
          <p:cNvPr id="25" name="TextBox 24">
            <a:extLst>
              <a:ext uri="{FF2B5EF4-FFF2-40B4-BE49-F238E27FC236}">
                <a16:creationId xmlns:a16="http://schemas.microsoft.com/office/drawing/2014/main" id="{7DA8EC10-5E39-E127-AC71-C985CC523433}"/>
              </a:ext>
            </a:extLst>
          </p:cNvPr>
          <p:cNvSpPr txBox="1"/>
          <p:nvPr/>
        </p:nvSpPr>
        <p:spPr>
          <a:xfrm>
            <a:off x="234476" y="5568013"/>
            <a:ext cx="2250679" cy="345351"/>
          </a:xfrm>
          <a:prstGeom prst="rect">
            <a:avLst/>
          </a:prstGeom>
          <a:noFill/>
        </p:spPr>
        <p:txBody>
          <a:bodyPr wrap="square" rtlCol="0">
            <a:spAutoFit/>
          </a:bodyPr>
          <a:lstStyle/>
          <a:p>
            <a:pPr>
              <a:lnSpc>
                <a:spcPct val="150000"/>
              </a:lnSpc>
            </a:pPr>
            <a:r>
              <a:rPr lang="en-US" sz="1200" dirty="0">
                <a:solidFill>
                  <a:srgbClr val="00B0F0"/>
                </a:solidFill>
                <a:latin typeface="Avenir Book" panose="02000503020000020003" pitchFamily="2" charset="0"/>
              </a:rPr>
              <a:t>Future Roles</a:t>
            </a:r>
          </a:p>
        </p:txBody>
      </p:sp>
    </p:spTree>
    <p:extLst>
      <p:ext uri="{BB962C8B-B14F-4D97-AF65-F5344CB8AC3E}">
        <p14:creationId xmlns:p14="http://schemas.microsoft.com/office/powerpoint/2010/main" val="3117461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(Departments)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1680204"/>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responsible for conducting training programs at the hub, partnering with training providers and ensuring training goals are met. This will include in-house training, partner training and integration of training programs with educational institutions around Kwara State. It will  manage talent pools for business process outsourcing.</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Training &amp; Talent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891657"/>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the Startup Incubation programs as well as handling all partnerships with different stakeholders and partners. This department is at the heart of one of the core functions of the Ilorin Innovation Hub – Startup Incubation.</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3458606"/>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Startups &amp; Entrepreneurship Department</a:t>
            </a:r>
          </a:p>
        </p:txBody>
      </p:sp>
      <p:sp>
        <p:nvSpPr>
          <p:cNvPr id="42" name="TextBox 41">
            <a:extLst>
              <a:ext uri="{FF2B5EF4-FFF2-40B4-BE49-F238E27FC236}">
                <a16:creationId xmlns:a16="http://schemas.microsoft.com/office/drawing/2014/main" id="{B406105F-C3C7-CE4D-8777-EA5F32C7212F}"/>
              </a:ext>
            </a:extLst>
          </p:cNvPr>
          <p:cNvSpPr txBox="1"/>
          <p:nvPr/>
        </p:nvSpPr>
        <p:spPr>
          <a:xfrm>
            <a:off x="538617" y="5603001"/>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is the pulse of the Ilorin Innovation Hub and will handle events and activities to build the local ecosystem. This department handles all Hub membership, billing and </a:t>
            </a:r>
            <a:r>
              <a:rPr lang="en-US" sz="1400" dirty="0" err="1">
                <a:latin typeface="Avenir Book" panose="02000503020000020003" pitchFamily="2" charset="0"/>
              </a:rPr>
              <a:t>liases</a:t>
            </a:r>
            <a:r>
              <a:rPr lang="en-US" sz="1400" dirty="0">
                <a:latin typeface="Avenir Book" panose="02000503020000020003" pitchFamily="2" charset="0"/>
              </a:rPr>
              <a:t> with the Facility Manager to ensure a conducive work environment.</a:t>
            </a:r>
          </a:p>
        </p:txBody>
      </p:sp>
      <p:sp>
        <p:nvSpPr>
          <p:cNvPr id="43" name="TextBox 42">
            <a:extLst>
              <a:ext uri="{FF2B5EF4-FFF2-40B4-BE49-F238E27FC236}">
                <a16:creationId xmlns:a16="http://schemas.microsoft.com/office/drawing/2014/main" id="{E38EB75F-432B-2840-B831-1456F042DA8F}"/>
              </a:ext>
            </a:extLst>
          </p:cNvPr>
          <p:cNvSpPr txBox="1"/>
          <p:nvPr/>
        </p:nvSpPr>
        <p:spPr>
          <a:xfrm>
            <a:off x="538618" y="5169950"/>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Coworking &amp; Community Department</a:t>
            </a:r>
          </a:p>
        </p:txBody>
      </p:sp>
    </p:spTree>
    <p:extLst>
      <p:ext uri="{BB962C8B-B14F-4D97-AF65-F5344CB8AC3E}">
        <p14:creationId xmlns:p14="http://schemas.microsoft.com/office/powerpoint/2010/main" val="1555841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(Departments)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7" y="1699466"/>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is where all the administration and marketing of the Hub will reside. This department will handle Human Resources, Facility Management and Logistics. </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Admin Department</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7" y="3208749"/>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managing and supporting the IT infrastructure of the hub - servers, computers, datacenters </a:t>
            </a:r>
            <a:r>
              <a:rPr lang="en-US" sz="1400" dirty="0" err="1">
                <a:latin typeface="Avenir Book" panose="02000503020000020003" pitchFamily="2" charset="0"/>
              </a:rPr>
              <a:t>etc</a:t>
            </a:r>
            <a:r>
              <a:rPr lang="en-US" sz="1400" dirty="0">
                <a:latin typeface="Avenir Book" panose="02000503020000020003" pitchFamily="2" charset="0"/>
              </a:rPr>
              <a:t> and Marketing.</a:t>
            </a: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8" y="2775698"/>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IT &amp; Marketing Department</a:t>
            </a:r>
          </a:p>
        </p:txBody>
      </p:sp>
      <p:sp>
        <p:nvSpPr>
          <p:cNvPr id="2" name="TextBox 1">
            <a:extLst>
              <a:ext uri="{FF2B5EF4-FFF2-40B4-BE49-F238E27FC236}">
                <a16:creationId xmlns:a16="http://schemas.microsoft.com/office/drawing/2014/main" id="{B68F91C4-8B8B-6844-A844-7D4128900DB3}"/>
              </a:ext>
            </a:extLst>
          </p:cNvPr>
          <p:cNvSpPr txBox="1"/>
          <p:nvPr/>
        </p:nvSpPr>
        <p:spPr>
          <a:xfrm>
            <a:off x="538617" y="4499038"/>
            <a:ext cx="7097217" cy="1033873"/>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This department will be in charge of all financials of the Hub, including salaries, operating expenses and will work directly with the legal team to handle startup funding.</a:t>
            </a:r>
          </a:p>
        </p:txBody>
      </p:sp>
      <p:sp>
        <p:nvSpPr>
          <p:cNvPr id="3" name="TextBox 2">
            <a:extLst>
              <a:ext uri="{FF2B5EF4-FFF2-40B4-BE49-F238E27FC236}">
                <a16:creationId xmlns:a16="http://schemas.microsoft.com/office/drawing/2014/main" id="{2C696DAD-FF16-CB0D-7513-7266DE2DE4F9}"/>
              </a:ext>
            </a:extLst>
          </p:cNvPr>
          <p:cNvSpPr txBox="1"/>
          <p:nvPr/>
        </p:nvSpPr>
        <p:spPr>
          <a:xfrm>
            <a:off x="538618" y="4065987"/>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Accounts Department</a:t>
            </a:r>
          </a:p>
        </p:txBody>
      </p:sp>
      <p:sp>
        <p:nvSpPr>
          <p:cNvPr id="6" name="TextBox 5">
            <a:extLst>
              <a:ext uri="{FF2B5EF4-FFF2-40B4-BE49-F238E27FC236}">
                <a16:creationId xmlns:a16="http://schemas.microsoft.com/office/drawing/2014/main" id="{C196F8FC-6DD2-A4FB-60AE-7365A588282C}"/>
              </a:ext>
            </a:extLst>
          </p:cNvPr>
          <p:cNvSpPr txBox="1"/>
          <p:nvPr/>
        </p:nvSpPr>
        <p:spPr>
          <a:xfrm>
            <a:off x="538617" y="5969465"/>
            <a:ext cx="7097217" cy="710707"/>
          </a:xfrm>
          <a:prstGeom prst="rect">
            <a:avLst/>
          </a:prstGeom>
          <a:noFill/>
        </p:spPr>
        <p:txBody>
          <a:bodyPr wrap="square" rtlCol="0">
            <a:spAutoFit/>
          </a:bodyPr>
          <a:lstStyle/>
          <a:p>
            <a:pPr algn="just">
              <a:lnSpc>
                <a:spcPct val="150000"/>
              </a:lnSpc>
            </a:pPr>
            <a:r>
              <a:rPr lang="en-US" sz="1400" dirty="0">
                <a:latin typeface="Avenir Book" panose="02000503020000020003" pitchFamily="2" charset="0"/>
              </a:rPr>
              <a:t>The legal department will handle all agreements, contracts and legal matters relating to the Hub.</a:t>
            </a:r>
          </a:p>
        </p:txBody>
      </p:sp>
      <p:sp>
        <p:nvSpPr>
          <p:cNvPr id="7" name="TextBox 6">
            <a:extLst>
              <a:ext uri="{FF2B5EF4-FFF2-40B4-BE49-F238E27FC236}">
                <a16:creationId xmlns:a16="http://schemas.microsoft.com/office/drawing/2014/main" id="{CA6B55A2-6D16-C110-176B-A2D1B6E6397E}"/>
              </a:ext>
            </a:extLst>
          </p:cNvPr>
          <p:cNvSpPr txBox="1"/>
          <p:nvPr/>
        </p:nvSpPr>
        <p:spPr>
          <a:xfrm>
            <a:off x="538618" y="5536414"/>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Legal Department</a:t>
            </a:r>
          </a:p>
        </p:txBody>
      </p:sp>
    </p:spTree>
    <p:extLst>
      <p:ext uri="{BB962C8B-B14F-4D97-AF65-F5344CB8AC3E}">
        <p14:creationId xmlns:p14="http://schemas.microsoft.com/office/powerpoint/2010/main" val="2836153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(Positions)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150879"/>
            <a:ext cx="7097217" cy="387542"/>
          </a:xfrm>
          <a:prstGeom prst="rect">
            <a:avLst/>
          </a:prstGeom>
          <a:noFill/>
        </p:spPr>
        <p:txBody>
          <a:bodyPr wrap="square" rtlCol="0">
            <a:spAutoFit/>
          </a:bodyPr>
          <a:lstStyle/>
          <a:p>
            <a:pPr marL="342900" indent="-342900" algn="just">
              <a:lnSpc>
                <a:spcPct val="150000"/>
              </a:lnSpc>
              <a:buFont typeface="+mj-lt"/>
              <a:buAutoNum type="arabicPeriod"/>
            </a:pPr>
            <a:r>
              <a:rPr lang="en-US" sz="1400" dirty="0">
                <a:latin typeface="Avenir Book" panose="02000503020000020003" pitchFamily="2" charset="0"/>
              </a:rPr>
              <a:t>Managing Director</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9" y="1717828"/>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Senior Positions</a:t>
            </a:r>
          </a:p>
        </p:txBody>
      </p:sp>
      <p:sp>
        <p:nvSpPr>
          <p:cNvPr id="40" name="TextBox 39">
            <a:extLst>
              <a:ext uri="{FF2B5EF4-FFF2-40B4-BE49-F238E27FC236}">
                <a16:creationId xmlns:a16="http://schemas.microsoft.com/office/drawing/2014/main" id="{9F8BFCA5-06C7-B949-B41B-30E0BB0A1992}"/>
              </a:ext>
            </a:extLst>
          </p:cNvPr>
          <p:cNvSpPr txBox="1"/>
          <p:nvPr/>
        </p:nvSpPr>
        <p:spPr>
          <a:xfrm>
            <a:off x="538619" y="3220323"/>
            <a:ext cx="3512522" cy="2326534"/>
          </a:xfrm>
          <a:prstGeom prst="rect">
            <a:avLst/>
          </a:prstGeom>
          <a:noFill/>
        </p:spPr>
        <p:txBody>
          <a:bodyPr wrap="square" rtlCol="0">
            <a:spAutoFit/>
          </a:bodyPr>
          <a:lstStyle/>
          <a:p>
            <a:pPr marL="342900" indent="-342900" algn="just">
              <a:lnSpc>
                <a:spcPct val="150000"/>
              </a:lnSpc>
              <a:buFont typeface="+mj-lt"/>
              <a:buAutoNum type="arabicPeriod" startAt="2"/>
            </a:pPr>
            <a:r>
              <a:rPr lang="en-US" sz="1400" dirty="0">
                <a:latin typeface="Avenir Book" panose="02000503020000020003" pitchFamily="2" charset="0"/>
              </a:rPr>
              <a:t>Admin &amp; HR Manager</a:t>
            </a:r>
          </a:p>
          <a:p>
            <a:pPr marL="342900" indent="-342900" algn="just">
              <a:lnSpc>
                <a:spcPct val="150000"/>
              </a:lnSpc>
              <a:buFont typeface="+mj-lt"/>
              <a:buAutoNum type="arabicPeriod" startAt="2"/>
            </a:pPr>
            <a:r>
              <a:rPr lang="en-US" sz="1400" dirty="0">
                <a:latin typeface="Avenir Book" panose="02000503020000020003" pitchFamily="2" charset="0"/>
              </a:rPr>
              <a:t>Community Manager</a:t>
            </a:r>
          </a:p>
          <a:p>
            <a:pPr marL="342900" indent="-342900" algn="just">
              <a:lnSpc>
                <a:spcPct val="150000"/>
              </a:lnSpc>
              <a:buFont typeface="+mj-lt"/>
              <a:buAutoNum type="arabicPeriod" startAt="2"/>
            </a:pPr>
            <a:r>
              <a:rPr lang="en-US" sz="1400" dirty="0">
                <a:latin typeface="Avenir Book" panose="02000503020000020003" pitchFamily="2" charset="0"/>
              </a:rPr>
              <a:t>Facility Manager</a:t>
            </a:r>
          </a:p>
          <a:p>
            <a:pPr marL="342900" indent="-342900" algn="just">
              <a:lnSpc>
                <a:spcPct val="150000"/>
              </a:lnSpc>
              <a:buFont typeface="+mj-lt"/>
              <a:buAutoNum type="arabicPeriod" startAt="2"/>
            </a:pPr>
            <a:r>
              <a:rPr lang="en-US" sz="1400" dirty="0">
                <a:latin typeface="Avenir Book" panose="02000503020000020003" pitchFamily="2" charset="0"/>
              </a:rPr>
              <a:t>Accounts Manager</a:t>
            </a:r>
          </a:p>
          <a:p>
            <a:pPr marL="342900" indent="-342900" algn="just">
              <a:lnSpc>
                <a:spcPct val="150000"/>
              </a:lnSpc>
              <a:buFont typeface="+mj-lt"/>
              <a:buAutoNum type="arabicPeriod" startAt="2"/>
            </a:pPr>
            <a:r>
              <a:rPr lang="en-US" sz="1400" dirty="0">
                <a:latin typeface="Avenir Book" panose="02000503020000020003" pitchFamily="2" charset="0"/>
              </a:rPr>
              <a:t>IT Manager</a:t>
            </a:r>
          </a:p>
          <a:p>
            <a:pPr marL="342900" indent="-342900" algn="just">
              <a:lnSpc>
                <a:spcPct val="150000"/>
              </a:lnSpc>
              <a:buFont typeface="+mj-lt"/>
              <a:buAutoNum type="arabicPeriod" startAt="2"/>
            </a:pPr>
            <a:endParaRPr lang="en-US" sz="1400" dirty="0">
              <a:latin typeface="Avenir Book" panose="02000503020000020003" pitchFamily="2" charset="0"/>
            </a:endParaRPr>
          </a:p>
          <a:p>
            <a:pPr marL="342900" indent="-342900" algn="just">
              <a:lnSpc>
                <a:spcPct val="150000"/>
              </a:lnSpc>
              <a:buFont typeface="+mj-lt"/>
              <a:buAutoNum type="arabicPeriod" startAt="2"/>
            </a:pPr>
            <a:endParaRPr lang="en-US" sz="1400" dirty="0">
              <a:latin typeface="Avenir Book" panose="02000503020000020003" pitchFamily="2" charset="0"/>
            </a:endParaRPr>
          </a:p>
        </p:txBody>
      </p:sp>
      <p:sp>
        <p:nvSpPr>
          <p:cNvPr id="41" name="TextBox 40">
            <a:extLst>
              <a:ext uri="{FF2B5EF4-FFF2-40B4-BE49-F238E27FC236}">
                <a16:creationId xmlns:a16="http://schemas.microsoft.com/office/drawing/2014/main" id="{6ADF696F-EA95-2448-B6A8-EB38CD90F5CC}"/>
              </a:ext>
            </a:extLst>
          </p:cNvPr>
          <p:cNvSpPr txBox="1"/>
          <p:nvPr/>
        </p:nvSpPr>
        <p:spPr>
          <a:xfrm>
            <a:off x="538619" y="2787272"/>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Mid-Level Management Positions</a:t>
            </a:r>
          </a:p>
        </p:txBody>
      </p:sp>
      <p:sp>
        <p:nvSpPr>
          <p:cNvPr id="42" name="TextBox 41">
            <a:extLst>
              <a:ext uri="{FF2B5EF4-FFF2-40B4-BE49-F238E27FC236}">
                <a16:creationId xmlns:a16="http://schemas.microsoft.com/office/drawing/2014/main" id="{B406105F-C3C7-CE4D-8777-EA5F32C7212F}"/>
              </a:ext>
            </a:extLst>
          </p:cNvPr>
          <p:cNvSpPr txBox="1"/>
          <p:nvPr/>
        </p:nvSpPr>
        <p:spPr>
          <a:xfrm>
            <a:off x="4621757" y="2150879"/>
            <a:ext cx="3662993" cy="2649700"/>
          </a:xfrm>
          <a:prstGeom prst="rect">
            <a:avLst/>
          </a:prstGeom>
          <a:noFill/>
        </p:spPr>
        <p:txBody>
          <a:bodyPr wrap="square" rtlCol="0">
            <a:spAutoFit/>
          </a:bodyPr>
          <a:lstStyle/>
          <a:p>
            <a:pPr marL="342900" indent="-342900" algn="just">
              <a:lnSpc>
                <a:spcPct val="150000"/>
              </a:lnSpc>
              <a:buFont typeface="+mj-lt"/>
              <a:buAutoNum type="arabicPeriod"/>
            </a:pPr>
            <a:r>
              <a:rPr lang="en-US" sz="1400" dirty="0">
                <a:latin typeface="Avenir Book" panose="02000503020000020003" pitchFamily="2" charset="0"/>
              </a:rPr>
              <a:t>Front Desk Officer</a:t>
            </a:r>
          </a:p>
          <a:p>
            <a:pPr marL="342900" indent="-342900" algn="just">
              <a:lnSpc>
                <a:spcPct val="150000"/>
              </a:lnSpc>
              <a:buFont typeface="+mj-lt"/>
              <a:buAutoNum type="arabicPeriod"/>
            </a:pPr>
            <a:r>
              <a:rPr lang="en-US" sz="1400" dirty="0">
                <a:latin typeface="Avenir Book" panose="02000503020000020003" pitchFamily="2" charset="0"/>
              </a:rPr>
              <a:t>Graphic Designer</a:t>
            </a:r>
          </a:p>
          <a:p>
            <a:pPr marL="342900" indent="-342900" algn="just">
              <a:lnSpc>
                <a:spcPct val="150000"/>
              </a:lnSpc>
              <a:buFont typeface="+mj-lt"/>
              <a:buAutoNum type="arabicPeriod"/>
            </a:pPr>
            <a:r>
              <a:rPr lang="en-US" sz="1400" dirty="0">
                <a:latin typeface="Avenir Book" panose="02000503020000020003" pitchFamily="2" charset="0"/>
              </a:rPr>
              <a:t>Social Media Officer</a:t>
            </a:r>
          </a:p>
          <a:p>
            <a:pPr marL="342900" indent="-342900" algn="just">
              <a:lnSpc>
                <a:spcPct val="150000"/>
              </a:lnSpc>
              <a:buFont typeface="+mj-lt"/>
              <a:buAutoNum type="arabicPeriod"/>
            </a:pPr>
            <a:r>
              <a:rPr lang="en-US" sz="1400" dirty="0">
                <a:latin typeface="Avenir Book" panose="02000503020000020003" pitchFamily="2" charset="0"/>
              </a:rPr>
              <a:t>Web &amp; Content Officer</a:t>
            </a:r>
          </a:p>
          <a:p>
            <a:pPr marL="342900" indent="-342900" algn="just">
              <a:lnSpc>
                <a:spcPct val="150000"/>
              </a:lnSpc>
              <a:buFont typeface="+mj-lt"/>
              <a:buAutoNum type="arabicPeriod"/>
            </a:pPr>
            <a:r>
              <a:rPr lang="en-US" sz="1400" dirty="0">
                <a:latin typeface="Avenir Book" panose="02000503020000020003" pitchFamily="2" charset="0"/>
              </a:rPr>
              <a:t>IT Support Officers x2</a:t>
            </a:r>
          </a:p>
          <a:p>
            <a:pPr marL="342900" indent="-342900" algn="just">
              <a:lnSpc>
                <a:spcPct val="150000"/>
              </a:lnSpc>
              <a:buFont typeface="+mj-lt"/>
              <a:buAutoNum type="arabicPeriod"/>
            </a:pPr>
            <a:r>
              <a:rPr lang="en-US" sz="1400" dirty="0">
                <a:latin typeface="Avenir Book" panose="02000503020000020003" pitchFamily="2" charset="0"/>
              </a:rPr>
              <a:t>Legal Officer</a:t>
            </a:r>
          </a:p>
          <a:p>
            <a:pPr marL="342900" indent="-342900" algn="just">
              <a:lnSpc>
                <a:spcPct val="150000"/>
              </a:lnSpc>
              <a:buFont typeface="+mj-lt"/>
              <a:buAutoNum type="arabicPeriod"/>
            </a:pPr>
            <a:r>
              <a:rPr lang="en-US" sz="1400" dirty="0">
                <a:latin typeface="Avenir Book" panose="02000503020000020003" pitchFamily="2" charset="0"/>
              </a:rPr>
              <a:t>Maintenance Officers x4</a:t>
            </a:r>
          </a:p>
          <a:p>
            <a:pPr marL="342900" indent="-342900" algn="just">
              <a:lnSpc>
                <a:spcPct val="150000"/>
              </a:lnSpc>
              <a:buFont typeface="+mj-lt"/>
              <a:buAutoNum type="arabicPeriod"/>
            </a:pPr>
            <a:r>
              <a:rPr lang="en-US" sz="1400" dirty="0">
                <a:latin typeface="Avenir Book" panose="02000503020000020003" pitchFamily="2" charset="0"/>
              </a:rPr>
              <a:t>Driver</a:t>
            </a:r>
          </a:p>
        </p:txBody>
      </p:sp>
      <p:sp>
        <p:nvSpPr>
          <p:cNvPr id="43" name="TextBox 42">
            <a:extLst>
              <a:ext uri="{FF2B5EF4-FFF2-40B4-BE49-F238E27FC236}">
                <a16:creationId xmlns:a16="http://schemas.microsoft.com/office/drawing/2014/main" id="{E38EB75F-432B-2840-B831-1456F042DA8F}"/>
              </a:ext>
            </a:extLst>
          </p:cNvPr>
          <p:cNvSpPr txBox="1"/>
          <p:nvPr/>
        </p:nvSpPr>
        <p:spPr>
          <a:xfrm>
            <a:off x="4621758" y="1717828"/>
            <a:ext cx="2829615"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Junior Positions</a:t>
            </a:r>
          </a:p>
        </p:txBody>
      </p:sp>
      <p:sp>
        <p:nvSpPr>
          <p:cNvPr id="2" name="TextBox 1">
            <a:extLst>
              <a:ext uri="{FF2B5EF4-FFF2-40B4-BE49-F238E27FC236}">
                <a16:creationId xmlns:a16="http://schemas.microsoft.com/office/drawing/2014/main" id="{75DA58EE-9D3C-AA60-C7AA-860618FA7CD1}"/>
              </a:ext>
            </a:extLst>
          </p:cNvPr>
          <p:cNvSpPr txBox="1"/>
          <p:nvPr/>
        </p:nvSpPr>
        <p:spPr>
          <a:xfrm>
            <a:off x="538619" y="1213324"/>
            <a:ext cx="4734839" cy="429733"/>
          </a:xfrm>
          <a:prstGeom prst="rect">
            <a:avLst/>
          </a:prstGeom>
          <a:noFill/>
        </p:spPr>
        <p:txBody>
          <a:bodyPr wrap="square" rtlCol="0">
            <a:spAutoFit/>
          </a:bodyPr>
          <a:lstStyle/>
          <a:p>
            <a:pPr algn="just">
              <a:lnSpc>
                <a:spcPct val="150000"/>
              </a:lnSpc>
            </a:pPr>
            <a:r>
              <a:rPr lang="en-US" sz="1600" b="1" dirty="0">
                <a:latin typeface="Avenir Book" panose="02000503020000020003" pitchFamily="2" charset="0"/>
              </a:rPr>
              <a:t>Immediate Hires</a:t>
            </a:r>
          </a:p>
        </p:txBody>
      </p:sp>
    </p:spTree>
    <p:extLst>
      <p:ext uri="{BB962C8B-B14F-4D97-AF65-F5344CB8AC3E}">
        <p14:creationId xmlns:p14="http://schemas.microsoft.com/office/powerpoint/2010/main" val="2232834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6277811"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(Positions)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488862" y="4176441"/>
            <a:ext cx="3983626" cy="622350"/>
          </a:xfrm>
          <a:prstGeom prst="rect">
            <a:avLst/>
          </a:prstGeom>
          <a:noFill/>
        </p:spPr>
        <p:txBody>
          <a:bodyPr wrap="square" rtlCol="0">
            <a:spAutoFit/>
          </a:bodyPr>
          <a:lstStyle/>
          <a:p>
            <a:pPr marL="342900" indent="-342900">
              <a:lnSpc>
                <a:spcPct val="150000"/>
              </a:lnSpc>
              <a:buFont typeface="+mj-lt"/>
              <a:buAutoNum type="arabicPeriod"/>
            </a:pPr>
            <a:r>
              <a:rPr lang="en-US" sz="1200" dirty="0">
                <a:latin typeface="Avenir Book" panose="02000503020000020003" pitchFamily="2" charset="0"/>
              </a:rPr>
              <a:t>Director of Programs (Training &amp; Entrepreneurship)</a:t>
            </a:r>
          </a:p>
          <a:p>
            <a:pPr marL="342900" indent="-342900">
              <a:lnSpc>
                <a:spcPct val="150000"/>
              </a:lnSpc>
              <a:buFont typeface="+mj-lt"/>
              <a:buAutoNum type="arabicPeriod"/>
            </a:pPr>
            <a:r>
              <a:rPr lang="en-US" sz="1200" dirty="0">
                <a:latin typeface="Avenir Book" panose="02000503020000020003" pitchFamily="2" charset="0"/>
              </a:rPr>
              <a:t>Director of Operations</a:t>
            </a:r>
          </a:p>
        </p:txBody>
      </p:sp>
      <p:sp>
        <p:nvSpPr>
          <p:cNvPr id="38" name="TextBox 37">
            <a:extLst>
              <a:ext uri="{FF2B5EF4-FFF2-40B4-BE49-F238E27FC236}">
                <a16:creationId xmlns:a16="http://schemas.microsoft.com/office/drawing/2014/main" id="{5B85D917-CA91-C84A-8C96-12BA33CB2DD0}"/>
              </a:ext>
            </a:extLst>
          </p:cNvPr>
          <p:cNvSpPr txBox="1"/>
          <p:nvPr/>
        </p:nvSpPr>
        <p:spPr>
          <a:xfrm>
            <a:off x="488862" y="3743390"/>
            <a:ext cx="4734839" cy="345351"/>
          </a:xfrm>
          <a:prstGeom prst="rect">
            <a:avLst/>
          </a:prstGeom>
          <a:noFill/>
        </p:spPr>
        <p:txBody>
          <a:bodyPr wrap="square" rtlCol="0">
            <a:spAutoFit/>
          </a:bodyPr>
          <a:lstStyle/>
          <a:p>
            <a:pPr algn="just">
              <a:lnSpc>
                <a:spcPct val="150000"/>
              </a:lnSpc>
            </a:pPr>
            <a:r>
              <a:rPr lang="en-US" sz="1200" b="1" dirty="0">
                <a:latin typeface="Avenir Book" panose="02000503020000020003" pitchFamily="2" charset="0"/>
              </a:rPr>
              <a:t>Senior Positions</a:t>
            </a:r>
          </a:p>
        </p:txBody>
      </p:sp>
      <p:sp>
        <p:nvSpPr>
          <p:cNvPr id="42" name="TextBox 41">
            <a:extLst>
              <a:ext uri="{FF2B5EF4-FFF2-40B4-BE49-F238E27FC236}">
                <a16:creationId xmlns:a16="http://schemas.microsoft.com/office/drawing/2014/main" id="{B406105F-C3C7-CE4D-8777-EA5F32C7212F}"/>
              </a:ext>
            </a:extLst>
          </p:cNvPr>
          <p:cNvSpPr txBox="1"/>
          <p:nvPr/>
        </p:nvSpPr>
        <p:spPr>
          <a:xfrm>
            <a:off x="4572000" y="4176441"/>
            <a:ext cx="3662993" cy="622350"/>
          </a:xfrm>
          <a:prstGeom prst="rect">
            <a:avLst/>
          </a:prstGeom>
          <a:noFill/>
        </p:spPr>
        <p:txBody>
          <a:bodyPr wrap="square" rtlCol="0">
            <a:spAutoFit/>
          </a:bodyPr>
          <a:lstStyle/>
          <a:p>
            <a:pPr marL="342900" indent="-342900" algn="just">
              <a:lnSpc>
                <a:spcPct val="150000"/>
              </a:lnSpc>
              <a:buFont typeface="+mj-lt"/>
              <a:buAutoNum type="arabicPeriod"/>
            </a:pPr>
            <a:r>
              <a:rPr lang="en-US" sz="1200" dirty="0">
                <a:latin typeface="Avenir Book" panose="02000503020000020003" pitchFamily="2" charset="0"/>
              </a:rPr>
              <a:t>Program Officers</a:t>
            </a:r>
          </a:p>
          <a:p>
            <a:pPr marL="342900" indent="-342900" algn="just">
              <a:lnSpc>
                <a:spcPct val="150000"/>
              </a:lnSpc>
              <a:buFont typeface="+mj-lt"/>
              <a:buAutoNum type="arabicPeriod"/>
            </a:pPr>
            <a:endParaRPr lang="en-US" sz="1200" dirty="0">
              <a:latin typeface="Avenir Book" panose="02000503020000020003" pitchFamily="2" charset="0"/>
            </a:endParaRPr>
          </a:p>
        </p:txBody>
      </p:sp>
      <p:sp>
        <p:nvSpPr>
          <p:cNvPr id="43" name="TextBox 42">
            <a:extLst>
              <a:ext uri="{FF2B5EF4-FFF2-40B4-BE49-F238E27FC236}">
                <a16:creationId xmlns:a16="http://schemas.microsoft.com/office/drawing/2014/main" id="{E38EB75F-432B-2840-B831-1456F042DA8F}"/>
              </a:ext>
            </a:extLst>
          </p:cNvPr>
          <p:cNvSpPr txBox="1"/>
          <p:nvPr/>
        </p:nvSpPr>
        <p:spPr>
          <a:xfrm>
            <a:off x="4572001" y="3743390"/>
            <a:ext cx="2829615" cy="345351"/>
          </a:xfrm>
          <a:prstGeom prst="rect">
            <a:avLst/>
          </a:prstGeom>
          <a:noFill/>
        </p:spPr>
        <p:txBody>
          <a:bodyPr wrap="square" rtlCol="0">
            <a:spAutoFit/>
          </a:bodyPr>
          <a:lstStyle/>
          <a:p>
            <a:pPr algn="just">
              <a:lnSpc>
                <a:spcPct val="150000"/>
              </a:lnSpc>
            </a:pPr>
            <a:r>
              <a:rPr lang="en-US" sz="1200" b="1" dirty="0">
                <a:latin typeface="Avenir Book" panose="02000503020000020003" pitchFamily="2" charset="0"/>
              </a:rPr>
              <a:t>Junior Positions</a:t>
            </a:r>
          </a:p>
        </p:txBody>
      </p:sp>
      <p:sp>
        <p:nvSpPr>
          <p:cNvPr id="2" name="TextBox 1">
            <a:extLst>
              <a:ext uri="{FF2B5EF4-FFF2-40B4-BE49-F238E27FC236}">
                <a16:creationId xmlns:a16="http://schemas.microsoft.com/office/drawing/2014/main" id="{75DA58EE-9D3C-AA60-C7AA-860618FA7CD1}"/>
              </a:ext>
            </a:extLst>
          </p:cNvPr>
          <p:cNvSpPr txBox="1"/>
          <p:nvPr/>
        </p:nvSpPr>
        <p:spPr>
          <a:xfrm>
            <a:off x="538619" y="1213324"/>
            <a:ext cx="4734839" cy="429733"/>
          </a:xfrm>
          <a:prstGeom prst="rect">
            <a:avLst/>
          </a:prstGeom>
          <a:noFill/>
        </p:spPr>
        <p:txBody>
          <a:bodyPr wrap="square" rtlCol="0">
            <a:spAutoFit/>
          </a:bodyPr>
          <a:lstStyle/>
          <a:p>
            <a:pPr algn="just">
              <a:lnSpc>
                <a:spcPct val="150000"/>
              </a:lnSpc>
            </a:pPr>
            <a:r>
              <a:rPr lang="en-US" sz="1600" b="1" dirty="0">
                <a:latin typeface="Avenir Book" panose="02000503020000020003" pitchFamily="2" charset="0"/>
              </a:rPr>
              <a:t>Future Hires (Optional)</a:t>
            </a:r>
          </a:p>
        </p:txBody>
      </p:sp>
      <p:sp>
        <p:nvSpPr>
          <p:cNvPr id="3" name="TextBox 2">
            <a:extLst>
              <a:ext uri="{FF2B5EF4-FFF2-40B4-BE49-F238E27FC236}">
                <a16:creationId xmlns:a16="http://schemas.microsoft.com/office/drawing/2014/main" id="{C9356045-09EE-F12C-E227-DC4B2288C9A1}"/>
              </a:ext>
            </a:extLst>
          </p:cNvPr>
          <p:cNvSpPr txBox="1"/>
          <p:nvPr/>
        </p:nvSpPr>
        <p:spPr>
          <a:xfrm>
            <a:off x="538617" y="1857112"/>
            <a:ext cx="8116521" cy="1593898"/>
          </a:xfrm>
          <a:prstGeom prst="rect">
            <a:avLst/>
          </a:prstGeom>
          <a:noFill/>
        </p:spPr>
        <p:txBody>
          <a:bodyPr wrap="square" rtlCol="0">
            <a:spAutoFit/>
          </a:bodyPr>
          <a:lstStyle/>
          <a:p>
            <a:pPr>
              <a:lnSpc>
                <a:spcPct val="150000"/>
              </a:lnSpc>
            </a:pPr>
            <a:r>
              <a:rPr lang="en-US" sz="1100" dirty="0">
                <a:latin typeface="Avenir Book" panose="02000503020000020003" pitchFamily="2" charset="0"/>
              </a:rPr>
              <a:t>When the Ilorin Innovation Hub has more than one program running there will be the need for a </a:t>
            </a:r>
            <a:r>
              <a:rPr lang="en-US" sz="1100" b="1" dirty="0">
                <a:latin typeface="Avenir Book" panose="02000503020000020003" pitchFamily="2" charset="0"/>
              </a:rPr>
              <a:t>Director of Programs</a:t>
            </a:r>
            <a:r>
              <a:rPr lang="en-US" sz="1100" dirty="0">
                <a:latin typeface="Avenir Book" panose="02000503020000020003" pitchFamily="2" charset="0"/>
              </a:rPr>
              <a:t> to come in to direct and oversee all programs being executed at the Hub. Program Officers can be for either Training or Startup Programs and will be most likely be hired by the Program Partner apart from Programs being run by KWSG.</a:t>
            </a:r>
          </a:p>
          <a:p>
            <a:pPr>
              <a:lnSpc>
                <a:spcPct val="150000"/>
              </a:lnSpc>
            </a:pPr>
            <a:endParaRPr lang="en-US" sz="1100" dirty="0">
              <a:latin typeface="Avenir Book" panose="02000503020000020003" pitchFamily="2" charset="0"/>
            </a:endParaRPr>
          </a:p>
          <a:p>
            <a:pPr>
              <a:lnSpc>
                <a:spcPct val="150000"/>
              </a:lnSpc>
            </a:pPr>
            <a:r>
              <a:rPr lang="en-US" sz="1100" dirty="0">
                <a:latin typeface="Avenir Book" panose="02000503020000020003" pitchFamily="2" charset="0"/>
              </a:rPr>
              <a:t>There is also consideration for a </a:t>
            </a:r>
            <a:r>
              <a:rPr lang="en-US" sz="1100" b="1" dirty="0">
                <a:latin typeface="Avenir Book" panose="02000503020000020003" pitchFamily="2" charset="0"/>
              </a:rPr>
              <a:t>Director of Operations (Chief of Staff)</a:t>
            </a:r>
            <a:r>
              <a:rPr lang="en-US" sz="1100" dirty="0">
                <a:latin typeface="Avenir Book" panose="02000503020000020003" pitchFamily="2" charset="0"/>
              </a:rPr>
              <a:t> who will be the #2 person at the Hub and in charge of all day-to-day running operations.</a:t>
            </a:r>
          </a:p>
        </p:txBody>
      </p:sp>
      <p:sp>
        <p:nvSpPr>
          <p:cNvPr id="6" name="TextBox 5">
            <a:extLst>
              <a:ext uri="{FF2B5EF4-FFF2-40B4-BE49-F238E27FC236}">
                <a16:creationId xmlns:a16="http://schemas.microsoft.com/office/drawing/2014/main" id="{03A6AD3F-C3FB-AD0A-0429-F6E8907BC9DC}"/>
              </a:ext>
            </a:extLst>
          </p:cNvPr>
          <p:cNvSpPr txBox="1"/>
          <p:nvPr/>
        </p:nvSpPr>
        <p:spPr>
          <a:xfrm>
            <a:off x="488862" y="5524222"/>
            <a:ext cx="3983626" cy="345351"/>
          </a:xfrm>
          <a:prstGeom prst="rect">
            <a:avLst/>
          </a:prstGeom>
          <a:noFill/>
        </p:spPr>
        <p:txBody>
          <a:bodyPr wrap="square" rtlCol="0">
            <a:spAutoFit/>
          </a:bodyPr>
          <a:lstStyle/>
          <a:p>
            <a:pPr marL="342900" indent="-342900">
              <a:lnSpc>
                <a:spcPct val="150000"/>
              </a:lnSpc>
              <a:buFont typeface="+mj-lt"/>
              <a:buAutoNum type="arabicPeriod"/>
            </a:pPr>
            <a:r>
              <a:rPr lang="en-US" sz="1200" dirty="0">
                <a:latin typeface="Avenir Book" panose="02000503020000020003" pitchFamily="2" charset="0"/>
              </a:rPr>
              <a:t>Marketing Manager</a:t>
            </a:r>
          </a:p>
        </p:txBody>
      </p:sp>
      <p:sp>
        <p:nvSpPr>
          <p:cNvPr id="7" name="TextBox 6">
            <a:extLst>
              <a:ext uri="{FF2B5EF4-FFF2-40B4-BE49-F238E27FC236}">
                <a16:creationId xmlns:a16="http://schemas.microsoft.com/office/drawing/2014/main" id="{2E510CE7-4127-C2CB-4FD7-B2D5D9D373CF}"/>
              </a:ext>
            </a:extLst>
          </p:cNvPr>
          <p:cNvSpPr txBox="1"/>
          <p:nvPr/>
        </p:nvSpPr>
        <p:spPr>
          <a:xfrm>
            <a:off x="488862" y="5091171"/>
            <a:ext cx="4734839" cy="345351"/>
          </a:xfrm>
          <a:prstGeom prst="rect">
            <a:avLst/>
          </a:prstGeom>
          <a:noFill/>
        </p:spPr>
        <p:txBody>
          <a:bodyPr wrap="square" rtlCol="0">
            <a:spAutoFit/>
          </a:bodyPr>
          <a:lstStyle/>
          <a:p>
            <a:pPr algn="just">
              <a:lnSpc>
                <a:spcPct val="150000"/>
              </a:lnSpc>
            </a:pPr>
            <a:r>
              <a:rPr lang="en-US" sz="1200" b="1" dirty="0">
                <a:latin typeface="Avenir Book" panose="02000503020000020003" pitchFamily="2" charset="0"/>
              </a:rPr>
              <a:t>Mid-Level Management Positions</a:t>
            </a:r>
          </a:p>
        </p:txBody>
      </p:sp>
    </p:spTree>
    <p:extLst>
      <p:ext uri="{BB962C8B-B14F-4D97-AF65-F5344CB8AC3E}">
        <p14:creationId xmlns:p14="http://schemas.microsoft.com/office/powerpoint/2010/main" val="4248433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364996" y="2672419"/>
            <a:ext cx="4137554" cy="394935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Develop and implement strategic plans for all training and startup programs at the Hub.</a:t>
            </a:r>
          </a:p>
          <a:p>
            <a:pPr marL="171450" indent="-171450">
              <a:lnSpc>
                <a:spcPct val="150000"/>
              </a:lnSpc>
              <a:buFont typeface="Arial" panose="020B0604020202020204" pitchFamily="34" charset="0"/>
              <a:buChar char="•"/>
            </a:pPr>
            <a:r>
              <a:rPr lang="en-US" sz="1050" dirty="0">
                <a:latin typeface="Avenir Book" panose="02000503020000020003" pitchFamily="2" charset="0"/>
              </a:rPr>
              <a:t>Oversee the execution of training, incubation, and acceleration programs, ensuring they meet goals.</a:t>
            </a:r>
          </a:p>
          <a:p>
            <a:pPr marL="171450" indent="-171450">
              <a:lnSpc>
                <a:spcPct val="150000"/>
              </a:lnSpc>
              <a:buFont typeface="Arial" panose="020B0604020202020204" pitchFamily="34" charset="0"/>
              <a:buChar char="•"/>
            </a:pPr>
            <a:r>
              <a:rPr lang="en-US" sz="1050" dirty="0">
                <a:latin typeface="Avenir Book" panose="02000503020000020003" pitchFamily="2" charset="0"/>
              </a:rPr>
              <a:t>Build and maintain relationships with training providers, partners, and stakeholders.</a:t>
            </a:r>
          </a:p>
          <a:p>
            <a:pPr marL="171450" indent="-171450">
              <a:lnSpc>
                <a:spcPct val="150000"/>
              </a:lnSpc>
              <a:buFont typeface="Arial" panose="020B0604020202020204" pitchFamily="34" charset="0"/>
              <a:buChar char="•"/>
            </a:pPr>
            <a:r>
              <a:rPr lang="en-US" sz="1050" dirty="0">
                <a:latin typeface="Avenir Book" panose="02000503020000020003" pitchFamily="2" charset="0"/>
              </a:rPr>
              <a:t>Lead, mentor, and manage the program team, fostering a culture of innovation.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Develop and manage program budgets, ensuring efficient use of resources.</a:t>
            </a:r>
          </a:p>
          <a:p>
            <a:pPr marL="171450" indent="-171450">
              <a:lnSpc>
                <a:spcPct val="150000"/>
              </a:lnSpc>
              <a:buFont typeface="Arial" panose="020B0604020202020204" pitchFamily="34" charset="0"/>
              <a:buChar char="•"/>
            </a:pPr>
            <a:r>
              <a:rPr lang="en-US" sz="1050" dirty="0">
                <a:latin typeface="Avenir Book" panose="02000503020000020003" pitchFamily="2" charset="0"/>
              </a:rPr>
              <a:t>Monitor program performance, establish KPIs, and generate reports for leadership.</a:t>
            </a:r>
          </a:p>
          <a:p>
            <a:pPr marL="171450" indent="-171450">
              <a:lnSpc>
                <a:spcPct val="150000"/>
              </a:lnSpc>
              <a:buFont typeface="Arial" panose="020B0604020202020204" pitchFamily="34" charset="0"/>
              <a:buChar char="•"/>
            </a:pPr>
            <a:r>
              <a:rPr lang="en-US" sz="1050" dirty="0">
                <a:latin typeface="Avenir Book" panose="02000503020000020003" pitchFamily="2" charset="0"/>
              </a:rPr>
              <a:t>Work with the marketing team to promote the Hub's programs and attract participants.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Continuously improve program quality through feedback and evaluation.</a:t>
            </a:r>
          </a:p>
        </p:txBody>
      </p:sp>
      <p:sp>
        <p:nvSpPr>
          <p:cNvPr id="38" name="TextBox 37">
            <a:extLst>
              <a:ext uri="{FF2B5EF4-FFF2-40B4-BE49-F238E27FC236}">
                <a16:creationId xmlns:a16="http://schemas.microsoft.com/office/drawing/2014/main" id="{5B85D917-CA91-C84A-8C96-12BA33CB2DD0}"/>
              </a:ext>
            </a:extLst>
          </p:cNvPr>
          <p:cNvSpPr txBox="1"/>
          <p:nvPr/>
        </p:nvSpPr>
        <p:spPr>
          <a:xfrm>
            <a:off x="364996"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Director of Programs</a:t>
            </a:r>
          </a:p>
        </p:txBody>
      </p:sp>
      <p:sp>
        <p:nvSpPr>
          <p:cNvPr id="2" name="TextBox 1">
            <a:extLst>
              <a:ext uri="{FF2B5EF4-FFF2-40B4-BE49-F238E27FC236}">
                <a16:creationId xmlns:a16="http://schemas.microsoft.com/office/drawing/2014/main" id="{9C4E221B-786E-FF7A-F9AF-B2E52E2AD1AE}"/>
              </a:ext>
            </a:extLst>
          </p:cNvPr>
          <p:cNvSpPr txBox="1"/>
          <p:nvPr/>
        </p:nvSpPr>
        <p:spPr>
          <a:xfrm>
            <a:off x="364996" y="22848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583573" y="2630228"/>
            <a:ext cx="4386806" cy="419172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Master's degree in Business, Management, Education, Innovation, or a related field; Ph.D. or other advanced degree preferred.</a:t>
            </a:r>
          </a:p>
          <a:p>
            <a:pPr marL="171450" indent="-171450">
              <a:lnSpc>
                <a:spcPct val="150000"/>
              </a:lnSpc>
              <a:buFont typeface="Arial" panose="020B0604020202020204" pitchFamily="34" charset="0"/>
              <a:buChar char="•"/>
            </a:pPr>
            <a:r>
              <a:rPr lang="en-US" sz="1050" dirty="0">
                <a:latin typeface="Avenir Book" panose="02000503020000020003" pitchFamily="2" charset="0"/>
              </a:rPr>
              <a:t>7-10 years of experience in program management, with a strong focus on training, entrepreneurship, or innovation.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Proven experience in leading and managing high-performing teams.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Exceptional written and verbal communication skills.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networking and relationship-building skills with industry and government stakeholders.</a:t>
            </a:r>
          </a:p>
          <a:p>
            <a:pPr marL="171450" indent="-171450">
              <a:lnSpc>
                <a:spcPct val="150000"/>
              </a:lnSpc>
              <a:buFont typeface="Arial" panose="020B0604020202020204" pitchFamily="34" charset="0"/>
              <a:buChar char="•"/>
            </a:pPr>
            <a:r>
              <a:rPr lang="en-US" sz="1050" dirty="0">
                <a:latin typeface="Avenir Book" panose="02000503020000020003" pitchFamily="2" charset="0"/>
              </a:rPr>
              <a:t>Advanced analytical skills, including data-driven decision-making and program evaluation.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Extensive experience in budgeting, financial planning, and resource allocation for large programs.</a:t>
            </a:r>
          </a:p>
          <a:p>
            <a:pPr marL="171450" indent="-171450">
              <a:lnSpc>
                <a:spcPct val="150000"/>
              </a:lnSpc>
              <a:buFont typeface="Arial" panose="020B0604020202020204" pitchFamily="34" charset="0"/>
              <a:buChar char="•"/>
            </a:pPr>
            <a:r>
              <a:rPr lang="en-US" sz="1050" dirty="0">
                <a:latin typeface="Avenir Book" panose="02000503020000020003" pitchFamily="2" charset="0"/>
              </a:rPr>
              <a:t>Deep knowledge and passion for innovation and entrepreneurship.</a:t>
            </a:r>
          </a:p>
          <a:p>
            <a:pPr marL="171450" indent="-171450">
              <a:lnSpc>
                <a:spcPct val="150000"/>
              </a:lnSpc>
              <a:buFont typeface="Arial" panose="020B0604020202020204" pitchFamily="34" charset="0"/>
              <a:buChar char="•"/>
            </a:pPr>
            <a:r>
              <a:rPr lang="en-US" sz="1050" dirty="0">
                <a:latin typeface="Avenir Book" panose="02000503020000020003" pitchFamily="2" charset="0"/>
              </a:rPr>
              <a:t>High adaptability and experience managing complex projects in dynamic environments.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Strategic thinker with a focus on long-term organizational vision.</a:t>
            </a:r>
          </a:p>
        </p:txBody>
      </p:sp>
      <p:sp>
        <p:nvSpPr>
          <p:cNvPr id="6" name="TextBox 5">
            <a:extLst>
              <a:ext uri="{FF2B5EF4-FFF2-40B4-BE49-F238E27FC236}">
                <a16:creationId xmlns:a16="http://schemas.microsoft.com/office/drawing/2014/main" id="{8BFB41F2-0AA2-185F-792D-928A6E3631FE}"/>
              </a:ext>
            </a:extLst>
          </p:cNvPr>
          <p:cNvSpPr txBox="1"/>
          <p:nvPr/>
        </p:nvSpPr>
        <p:spPr>
          <a:xfrm>
            <a:off x="4583573" y="228543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6A35D5C7-0146-B8C0-E37E-AE25933206F9}"/>
              </a:ext>
            </a:extLst>
          </p:cNvPr>
          <p:cNvSpPr txBox="1"/>
          <p:nvPr/>
        </p:nvSpPr>
        <p:spPr>
          <a:xfrm>
            <a:off x="364996" y="1696148"/>
            <a:ext cx="7985741" cy="578235"/>
          </a:xfrm>
          <a:prstGeom prst="rect">
            <a:avLst/>
          </a:prstGeom>
          <a:noFill/>
        </p:spPr>
        <p:txBody>
          <a:bodyPr wrap="square" rtlCol="0">
            <a:spAutoFit/>
          </a:bodyPr>
          <a:lstStyle/>
          <a:p>
            <a:pPr>
              <a:lnSpc>
                <a:spcPct val="150000"/>
              </a:lnSpc>
            </a:pPr>
            <a:r>
              <a:rPr lang="en-US" sz="1100" b="0" i="0" dirty="0">
                <a:solidFill>
                  <a:srgbClr val="000000"/>
                </a:solidFill>
                <a:effectLst/>
                <a:latin typeface="Avenir Book" panose="02000503020000020003" pitchFamily="2" charset="0"/>
              </a:rPr>
              <a:t>The Director of Programs will be responsible for overseeing all training and startup programs. This role will ensure that the Hub’s programs are effectively designed, executed, and aligned with the organization’s strategic objectives.</a:t>
            </a:r>
            <a:endParaRPr lang="en-US" sz="1100" dirty="0">
              <a:latin typeface="Avenir Book" panose="02000503020000020003" pitchFamily="2" charset="0"/>
            </a:endParaRPr>
          </a:p>
        </p:txBody>
      </p:sp>
    </p:spTree>
    <p:extLst>
      <p:ext uri="{BB962C8B-B14F-4D97-AF65-F5344CB8AC3E}">
        <p14:creationId xmlns:p14="http://schemas.microsoft.com/office/powerpoint/2010/main" val="1487401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249249" y="2753441"/>
            <a:ext cx="4218577" cy="370697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Supervise facility management to ensure a safe, functional, and well-maintained environment.</a:t>
            </a:r>
          </a:p>
          <a:p>
            <a:pPr marL="171450" indent="-171450">
              <a:lnSpc>
                <a:spcPct val="150000"/>
              </a:lnSpc>
              <a:buFont typeface="Arial" panose="020B0604020202020204" pitchFamily="34" charset="0"/>
              <a:buChar char="•"/>
            </a:pPr>
            <a:r>
              <a:rPr lang="en-US" sz="1050" dirty="0">
                <a:latin typeface="Avenir Book" panose="02000503020000020003" pitchFamily="2" charset="0"/>
              </a:rPr>
              <a:t>Oversee logistics operations, including procurement, inventory management, and transportation.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Lead the IT department in managing infrastructure, cybersecurity, and technical support.</a:t>
            </a:r>
          </a:p>
          <a:p>
            <a:pPr marL="171450" indent="-171450">
              <a:lnSpc>
                <a:spcPct val="150000"/>
              </a:lnSpc>
              <a:buFont typeface="Arial" panose="020B0604020202020204" pitchFamily="34" charset="0"/>
              <a:buChar char="•"/>
            </a:pPr>
            <a:r>
              <a:rPr lang="en-US" sz="1050" dirty="0">
                <a:latin typeface="Avenir Book" panose="02000503020000020003" pitchFamily="2" charset="0"/>
              </a:rPr>
              <a:t>Drive marketing and communication strategies, ensuring the Hub’s visibility and engagement with stakeholders.</a:t>
            </a:r>
          </a:p>
          <a:p>
            <a:pPr marL="171450" indent="-171450">
              <a:lnSpc>
                <a:spcPct val="150000"/>
              </a:lnSpc>
              <a:buFont typeface="Arial" panose="020B0604020202020204" pitchFamily="34" charset="0"/>
              <a:buChar char="•"/>
            </a:pPr>
            <a:r>
              <a:rPr lang="en-US" sz="1050" dirty="0">
                <a:latin typeface="Avenir Book" panose="02000503020000020003" pitchFamily="2" charset="0"/>
              </a:rPr>
              <a:t>Develop and implement operational policies and procedures to enhance productivity.</a:t>
            </a:r>
          </a:p>
          <a:p>
            <a:pPr marL="171450" indent="-171450">
              <a:lnSpc>
                <a:spcPct val="150000"/>
              </a:lnSpc>
              <a:buFont typeface="Arial" panose="020B0604020202020204" pitchFamily="34" charset="0"/>
              <a:buChar char="•"/>
            </a:pPr>
            <a:r>
              <a:rPr lang="en-US" sz="1050" dirty="0">
                <a:latin typeface="Avenir Book" panose="02000503020000020003" pitchFamily="2" charset="0"/>
              </a:rPr>
              <a:t>Manage budgets and allocate resources effectively across departments.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Monitor performance metrics and report on operational efficiency to senior management.</a:t>
            </a:r>
          </a:p>
          <a:p>
            <a:pPr marL="171450" indent="-171450">
              <a:lnSpc>
                <a:spcPct val="150000"/>
              </a:lnSpc>
              <a:buFont typeface="Arial" panose="020B0604020202020204" pitchFamily="34" charset="0"/>
              <a:buChar char="•"/>
            </a:pPr>
            <a:r>
              <a:rPr lang="en-US" sz="1050" dirty="0">
                <a:latin typeface="Avenir Book" panose="02000503020000020003" pitchFamily="2" charset="0"/>
              </a:rPr>
              <a:t>Ensure compliance with legal, regulatory, and safety standards.</a:t>
            </a:r>
          </a:p>
        </p:txBody>
      </p:sp>
      <p:sp>
        <p:nvSpPr>
          <p:cNvPr id="38" name="TextBox 37">
            <a:extLst>
              <a:ext uri="{FF2B5EF4-FFF2-40B4-BE49-F238E27FC236}">
                <a16:creationId xmlns:a16="http://schemas.microsoft.com/office/drawing/2014/main" id="{5B85D917-CA91-C84A-8C96-12BA33CB2DD0}"/>
              </a:ext>
            </a:extLst>
          </p:cNvPr>
          <p:cNvSpPr txBox="1"/>
          <p:nvPr/>
        </p:nvSpPr>
        <p:spPr>
          <a:xfrm>
            <a:off x="330273" y="1069643"/>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Director of Operations</a:t>
            </a:r>
          </a:p>
        </p:txBody>
      </p:sp>
      <p:sp>
        <p:nvSpPr>
          <p:cNvPr id="2" name="TextBox 1">
            <a:extLst>
              <a:ext uri="{FF2B5EF4-FFF2-40B4-BE49-F238E27FC236}">
                <a16:creationId xmlns:a16="http://schemas.microsoft.com/office/drawing/2014/main" id="{9C4E221B-786E-FF7A-F9AF-B2E52E2AD1AE}"/>
              </a:ext>
            </a:extLst>
          </p:cNvPr>
          <p:cNvSpPr txBox="1"/>
          <p:nvPr/>
        </p:nvSpPr>
        <p:spPr>
          <a:xfrm>
            <a:off x="318699" y="2365899"/>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296523" y="2526053"/>
            <a:ext cx="4847478" cy="4434099"/>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050" dirty="0">
                <a:latin typeface="Avenir Book" panose="02000503020000020003" pitchFamily="2" charset="0"/>
              </a:rPr>
              <a:t>Master's degree in Business Administration, Operations Management, or a related field; advanced certifications in operations or project management are a plus.</a:t>
            </a:r>
          </a:p>
          <a:p>
            <a:pPr marL="171450" indent="-171450">
              <a:lnSpc>
                <a:spcPct val="150000"/>
              </a:lnSpc>
              <a:buFont typeface="Arial" panose="020B0604020202020204" pitchFamily="34" charset="0"/>
              <a:buChar char="•"/>
            </a:pPr>
            <a:r>
              <a:rPr lang="en-US" sz="1050" dirty="0">
                <a:latin typeface="Avenir Book" panose="02000503020000020003" pitchFamily="2" charset="0"/>
              </a:rPr>
              <a:t>7-10 years of experience in operations management, with a proven track record of overseeing multiple departments.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leadership skills with experience managing cross-functional teams.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Excellent communication and interpersonal skills.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problem-solving and decision-making abilities.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Expertise in HR management, including knowledge of labor laws and best practices.</a:t>
            </a:r>
          </a:p>
          <a:p>
            <a:pPr marL="171450" indent="-171450">
              <a:lnSpc>
                <a:spcPct val="150000"/>
              </a:lnSpc>
              <a:buFont typeface="Arial" panose="020B0604020202020204" pitchFamily="34" charset="0"/>
              <a:buChar char="•"/>
            </a:pPr>
            <a:r>
              <a:rPr lang="en-US" sz="1050" dirty="0">
                <a:latin typeface="Avenir Book" panose="02000503020000020003" pitchFamily="2" charset="0"/>
              </a:rPr>
              <a:t>Experience in facility management, ensuring safety and efficiency in operations.</a:t>
            </a:r>
          </a:p>
          <a:p>
            <a:pPr marL="171450" indent="-171450">
              <a:lnSpc>
                <a:spcPct val="150000"/>
              </a:lnSpc>
              <a:buFont typeface="Arial" panose="020B0604020202020204" pitchFamily="34" charset="0"/>
              <a:buChar char="•"/>
            </a:pPr>
            <a:r>
              <a:rPr lang="en-US" sz="1050" dirty="0">
                <a:latin typeface="Avenir Book" panose="02000503020000020003" pitchFamily="2" charset="0"/>
              </a:rPr>
              <a:t>Proficient in IT management, including infrastructure, cybersecurity, and digital tools.</a:t>
            </a:r>
          </a:p>
          <a:p>
            <a:pPr marL="171450" indent="-171450">
              <a:lnSpc>
                <a:spcPct val="150000"/>
              </a:lnSpc>
              <a:buFont typeface="Arial" panose="020B0604020202020204" pitchFamily="34" charset="0"/>
              <a:buChar char="•"/>
            </a:pPr>
            <a:r>
              <a:rPr lang="en-US" sz="1050" dirty="0">
                <a:latin typeface="Avenir Book" panose="02000503020000020003" pitchFamily="2" charset="0"/>
              </a:rPr>
              <a:t>Strong financial acumen with experience in budgeting and resource allocation.</a:t>
            </a:r>
          </a:p>
          <a:p>
            <a:pPr marL="171450" indent="-171450">
              <a:lnSpc>
                <a:spcPct val="150000"/>
              </a:lnSpc>
              <a:buFont typeface="Arial" panose="020B0604020202020204" pitchFamily="34" charset="0"/>
              <a:buChar char="•"/>
            </a:pPr>
            <a:r>
              <a:rPr lang="en-US" sz="1050" dirty="0">
                <a:latin typeface="Avenir Book" panose="02000503020000020003" pitchFamily="2" charset="0"/>
              </a:rPr>
              <a:t>Ability to develop and implement strategic operational plans that align with organizational goals.</a:t>
            </a:r>
          </a:p>
        </p:txBody>
      </p:sp>
      <p:sp>
        <p:nvSpPr>
          <p:cNvPr id="6" name="TextBox 5">
            <a:extLst>
              <a:ext uri="{FF2B5EF4-FFF2-40B4-BE49-F238E27FC236}">
                <a16:creationId xmlns:a16="http://schemas.microsoft.com/office/drawing/2014/main" id="{8BFB41F2-0AA2-185F-792D-928A6E3631FE}"/>
              </a:ext>
            </a:extLst>
          </p:cNvPr>
          <p:cNvSpPr txBox="1"/>
          <p:nvPr/>
        </p:nvSpPr>
        <p:spPr>
          <a:xfrm>
            <a:off x="4456247" y="218125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6A35D5C7-0146-B8C0-E37E-AE25933206F9}"/>
              </a:ext>
            </a:extLst>
          </p:cNvPr>
          <p:cNvSpPr txBox="1"/>
          <p:nvPr/>
        </p:nvSpPr>
        <p:spPr>
          <a:xfrm>
            <a:off x="330273" y="1499376"/>
            <a:ext cx="8501211" cy="831125"/>
          </a:xfrm>
          <a:prstGeom prst="rect">
            <a:avLst/>
          </a:prstGeom>
          <a:noFill/>
        </p:spPr>
        <p:txBody>
          <a:bodyPr wrap="square" rtlCol="0">
            <a:spAutoFit/>
          </a:bodyPr>
          <a:lstStyle/>
          <a:p>
            <a:pPr>
              <a:lnSpc>
                <a:spcPct val="150000"/>
              </a:lnSpc>
            </a:pPr>
            <a:r>
              <a:rPr lang="en-US" sz="1100" b="0" i="0" dirty="0">
                <a:solidFill>
                  <a:srgbClr val="000000"/>
                </a:solidFill>
                <a:effectLst/>
                <a:latin typeface="Avenir Book" panose="02000503020000020003" pitchFamily="2" charset="0"/>
              </a:rPr>
              <a:t>The Director of Operations will be responsible for overseeing all aspects of administration, human resources, facility management, logistics, IT, and marketing. This role ensures the smooth day-to-day operations of the Hub, aligning operational functions with the strategic goals of the organization.</a:t>
            </a:r>
            <a:endParaRPr lang="en-US" sz="1100" dirty="0">
              <a:latin typeface="Avenir Book" panose="02000503020000020003" pitchFamily="2" charset="0"/>
            </a:endParaRPr>
          </a:p>
        </p:txBody>
      </p:sp>
    </p:spTree>
    <p:extLst>
      <p:ext uri="{BB962C8B-B14F-4D97-AF65-F5344CB8AC3E}">
        <p14:creationId xmlns:p14="http://schemas.microsoft.com/office/powerpoint/2010/main" val="1396844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3606115"/>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900" dirty="0">
                <a:latin typeface="Avenir Book" panose="02000503020000020003" pitchFamily="2" charset="0"/>
              </a:rPr>
              <a:t>Oversee the staffing process, from recruitment to onboarding</a:t>
            </a:r>
          </a:p>
          <a:p>
            <a:pPr marL="171450" indent="-171450">
              <a:lnSpc>
                <a:spcPct val="150000"/>
              </a:lnSpc>
              <a:buFont typeface="Arial" panose="020B0604020202020204" pitchFamily="34" charset="0"/>
              <a:buChar char="•"/>
            </a:pPr>
            <a:r>
              <a:rPr lang="en-US" sz="900" dirty="0">
                <a:latin typeface="Avenir Book" panose="02000503020000020003" pitchFamily="2" charset="0"/>
              </a:rPr>
              <a:t>Maintain updated and compliant job descriptions</a:t>
            </a:r>
          </a:p>
          <a:p>
            <a:pPr marL="171450" indent="-171450">
              <a:lnSpc>
                <a:spcPct val="150000"/>
              </a:lnSpc>
              <a:buFont typeface="Arial" panose="020B0604020202020204" pitchFamily="34" charset="0"/>
              <a:buChar char="•"/>
            </a:pPr>
            <a:r>
              <a:rPr lang="en-US" sz="900" dirty="0">
                <a:latin typeface="Avenir Book" panose="02000503020000020003" pitchFamily="2" charset="0"/>
              </a:rPr>
              <a:t>Develop training materials and performance management programs</a:t>
            </a:r>
          </a:p>
          <a:p>
            <a:pPr marL="171450" indent="-171450">
              <a:lnSpc>
                <a:spcPct val="150000"/>
              </a:lnSpc>
              <a:buFont typeface="Arial" panose="020B0604020202020204" pitchFamily="34" charset="0"/>
              <a:buChar char="•"/>
            </a:pPr>
            <a:r>
              <a:rPr lang="en-US" sz="900" dirty="0">
                <a:latin typeface="Avenir Book" panose="02000503020000020003" pitchFamily="2" charset="0"/>
              </a:rPr>
              <a:t>Establish and update a compensation strategy based on market research</a:t>
            </a:r>
          </a:p>
          <a:p>
            <a:pPr marL="171450" indent="-171450">
              <a:lnSpc>
                <a:spcPct val="150000"/>
              </a:lnSpc>
              <a:buFont typeface="Arial" panose="020B0604020202020204" pitchFamily="34" charset="0"/>
              <a:buChar char="•"/>
            </a:pPr>
            <a:r>
              <a:rPr lang="en-US" sz="900" dirty="0">
                <a:latin typeface="Avenir Book" panose="02000503020000020003" pitchFamily="2" charset="0"/>
              </a:rPr>
              <a:t>Investigate and resolve employee issues and conflicts</a:t>
            </a:r>
          </a:p>
          <a:p>
            <a:pPr marL="171450" indent="-171450">
              <a:lnSpc>
                <a:spcPct val="150000"/>
              </a:lnSpc>
              <a:buFont typeface="Arial" panose="020B0604020202020204" pitchFamily="34" charset="0"/>
              <a:buChar char="•"/>
            </a:pPr>
            <a:r>
              <a:rPr lang="en-US" sz="900" dirty="0">
                <a:latin typeface="Avenir Book" panose="02000503020000020003" pitchFamily="2" charset="0"/>
              </a:rPr>
              <a:t>Ensure compliance with local, state, and federal regulations</a:t>
            </a:r>
          </a:p>
          <a:p>
            <a:pPr marL="171450" indent="-171450">
              <a:lnSpc>
                <a:spcPct val="150000"/>
              </a:lnSpc>
              <a:buFont typeface="Arial" panose="020B0604020202020204" pitchFamily="34" charset="0"/>
              <a:buChar char="•"/>
            </a:pPr>
            <a:r>
              <a:rPr lang="en-US" sz="900" dirty="0">
                <a:latin typeface="Avenir Book" panose="02000503020000020003" pitchFamily="2" charset="0"/>
              </a:rPr>
              <a:t>Utilize performance management tools for team guidance and feedback</a:t>
            </a:r>
          </a:p>
          <a:p>
            <a:pPr marL="171450" indent="-171450">
              <a:lnSpc>
                <a:spcPct val="150000"/>
              </a:lnSpc>
              <a:buFont typeface="Arial" panose="020B0604020202020204" pitchFamily="34" charset="0"/>
              <a:buChar char="•"/>
            </a:pPr>
            <a:r>
              <a:rPr lang="en-US" sz="900" dirty="0">
                <a:latin typeface="Avenir Book" panose="02000503020000020003" pitchFamily="2" charset="0"/>
              </a:rPr>
              <a:t>Consistently apply company HR policies</a:t>
            </a:r>
          </a:p>
          <a:p>
            <a:pPr marL="171450" indent="-171450">
              <a:lnSpc>
                <a:spcPct val="150000"/>
              </a:lnSpc>
              <a:buFont typeface="Arial" panose="020B0604020202020204" pitchFamily="34" charset="0"/>
              <a:buChar char="•"/>
            </a:pPr>
            <a:r>
              <a:rPr lang="en-US" sz="900" dirty="0">
                <a:latin typeface="Avenir Book" panose="02000503020000020003" pitchFamily="2" charset="0"/>
              </a:rPr>
              <a:t>Manage organization charts and employee directory</a:t>
            </a:r>
          </a:p>
          <a:p>
            <a:pPr marL="171450" indent="-171450">
              <a:lnSpc>
                <a:spcPct val="150000"/>
              </a:lnSpc>
              <a:buFont typeface="Arial" panose="020B0604020202020204" pitchFamily="34" charset="0"/>
              <a:buChar char="•"/>
            </a:pPr>
            <a:r>
              <a:rPr lang="en-US" sz="900" dirty="0">
                <a:latin typeface="Avenir Book" panose="02000503020000020003" pitchFamily="2" charset="0"/>
              </a:rPr>
              <a:t>Align strategic HR goals with business initiatives in collaboration with management</a:t>
            </a:r>
          </a:p>
          <a:p>
            <a:pPr marL="171450" indent="-171450">
              <a:lnSpc>
                <a:spcPct val="150000"/>
              </a:lnSpc>
              <a:buFont typeface="Arial" panose="020B0604020202020204" pitchFamily="34" charset="0"/>
              <a:buChar char="•"/>
            </a:pPr>
            <a:r>
              <a:rPr lang="en-US" sz="900" dirty="0">
                <a:latin typeface="Avenir Book" panose="02000503020000020003" pitchFamily="2" charset="0"/>
              </a:rPr>
              <a:t>Maintain HR systems and processes</a:t>
            </a:r>
          </a:p>
          <a:p>
            <a:pPr marL="171450" indent="-171450">
              <a:lnSpc>
                <a:spcPct val="150000"/>
              </a:lnSpc>
              <a:buFont typeface="Arial" panose="020B0604020202020204" pitchFamily="34" charset="0"/>
              <a:buChar char="•"/>
            </a:pPr>
            <a:r>
              <a:rPr lang="en-US" sz="900" dirty="0">
                <a:latin typeface="Avenir Book" panose="02000503020000020003" pitchFamily="2" charset="0"/>
              </a:rPr>
              <a:t>Conduct performance and salary reviews</a:t>
            </a:r>
          </a:p>
          <a:p>
            <a:pPr marL="171450" indent="-171450">
              <a:lnSpc>
                <a:spcPct val="150000"/>
              </a:lnSpc>
              <a:buFont typeface="Arial" panose="020B0604020202020204" pitchFamily="34" charset="0"/>
              <a:buChar char="•"/>
            </a:pPr>
            <a:r>
              <a:rPr lang="en-US" sz="900" dirty="0">
                <a:latin typeface="Avenir Book" panose="02000503020000020003" pitchFamily="2" charset="0"/>
              </a:rPr>
              <a:t>Provide support and guidance to HR staff</a:t>
            </a:r>
          </a:p>
          <a:p>
            <a:pPr marL="171450" indent="-171450">
              <a:lnSpc>
                <a:spcPct val="150000"/>
              </a:lnSpc>
              <a:buFont typeface="Arial" panose="020B0604020202020204" pitchFamily="34" charset="0"/>
              <a:buChar char="•"/>
            </a:pPr>
            <a:r>
              <a:rPr lang="en-US" sz="900" dirty="0">
                <a:latin typeface="Avenir Book" panose="02000503020000020003" pitchFamily="2" charset="0"/>
              </a:rPr>
              <a:t>Analyze compensation and benefits trends</a:t>
            </a:r>
          </a:p>
          <a:p>
            <a:pPr marL="171450" indent="-171450">
              <a:lnSpc>
                <a:spcPct val="150000"/>
              </a:lnSpc>
              <a:buFont typeface="Arial" panose="020B0604020202020204" pitchFamily="34" charset="0"/>
              <a:buChar char="•"/>
            </a:pPr>
            <a:r>
              <a:rPr lang="en-US" sz="900" dirty="0">
                <a:latin typeface="Avenir Book" panose="02000503020000020003" pitchFamily="2" charset="0"/>
              </a:rPr>
              <a:t>Design and implement employee retention strategies</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HR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3534878"/>
          </a:xfrm>
          <a:prstGeom prst="rect">
            <a:avLst/>
          </a:prstGeom>
          <a:noFill/>
        </p:spPr>
        <p:txBody>
          <a:bodyPr wrap="square" rtlCol="0">
            <a:spAutoFit/>
          </a:bodyPr>
          <a:lstStyle/>
          <a:p>
            <a:pPr>
              <a:lnSpc>
                <a:spcPct val="150000"/>
              </a:lnSpc>
            </a:pPr>
            <a:r>
              <a:rPr lang="en-US" sz="1000" dirty="0">
                <a:latin typeface="Avenir Book" panose="02000503020000020003" pitchFamily="2" charset="0"/>
              </a:rPr>
              <a:t>• A bachelor’s degree in human resources, labor relations, organizational development, business or related area; relevant work experience may be a substitute</a:t>
            </a:r>
          </a:p>
          <a:p>
            <a:pPr>
              <a:lnSpc>
                <a:spcPct val="150000"/>
              </a:lnSpc>
            </a:pPr>
            <a:r>
              <a:rPr lang="en-US" sz="1000" dirty="0">
                <a:latin typeface="Avenir Book" panose="02000503020000020003" pitchFamily="2" charset="0"/>
              </a:rPr>
              <a:t>• Effective verbal and written communication skills</a:t>
            </a:r>
          </a:p>
          <a:p>
            <a:pPr>
              <a:lnSpc>
                <a:spcPct val="150000"/>
              </a:lnSpc>
            </a:pPr>
            <a:r>
              <a:rPr lang="en-US" sz="1000" dirty="0">
                <a:latin typeface="Avenir Book" panose="02000503020000020003" pitchFamily="2" charset="0"/>
              </a:rPr>
              <a:t>• Demonstrated proficiency in the Microsoft Office suite</a:t>
            </a:r>
          </a:p>
          <a:p>
            <a:pPr>
              <a:lnSpc>
                <a:spcPct val="150000"/>
              </a:lnSpc>
            </a:pPr>
            <a:r>
              <a:rPr lang="en-US" sz="1000" dirty="0">
                <a:latin typeface="Avenir Book" panose="02000503020000020003" pitchFamily="2" charset="0"/>
              </a:rPr>
              <a:t>• Experience with human resources information system (HRIS)</a:t>
            </a:r>
          </a:p>
          <a:p>
            <a:pPr>
              <a:lnSpc>
                <a:spcPct val="150000"/>
              </a:lnSpc>
            </a:pPr>
            <a:r>
              <a:rPr lang="en-US" sz="1000" dirty="0">
                <a:latin typeface="Avenir Book" panose="02000503020000020003" pitchFamily="2" charset="0"/>
              </a:rPr>
              <a:t>• Knowledge of a broad range of human resource strategies and practices, including compensation, performance management, safety, hiring and employee relations; able to apply these strategies and practices in compliance with employment regulations</a:t>
            </a:r>
          </a:p>
          <a:p>
            <a:pPr>
              <a:lnSpc>
                <a:spcPct val="150000"/>
              </a:lnSpc>
            </a:pPr>
            <a:r>
              <a:rPr lang="en-US" sz="1000" dirty="0">
                <a:latin typeface="Avenir Book" panose="02000503020000020003" pitchFamily="2" charset="0"/>
              </a:rPr>
              <a:t>• Ability to create a culture of diversity, inclusivity, collaboration and teamwork</a:t>
            </a:r>
          </a:p>
          <a:p>
            <a:pPr>
              <a:lnSpc>
                <a:spcPct val="150000"/>
              </a:lnSpc>
            </a:pPr>
            <a:r>
              <a:rPr lang="en-US" sz="1000" dirty="0">
                <a:latin typeface="Avenir Book" panose="02000503020000020003" pitchFamily="2" charset="0"/>
              </a:rPr>
              <a:t>• Experience with analyzing data to guide strategic employment planning</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98488"/>
          </a:xfrm>
          <a:prstGeom prst="rect">
            <a:avLst/>
          </a:prstGeom>
          <a:noFill/>
        </p:spPr>
        <p:txBody>
          <a:bodyPr wrap="square" rtlCol="0">
            <a:spAutoFit/>
          </a:bodyPr>
          <a:lstStyle/>
          <a:p>
            <a:pPr>
              <a:lnSpc>
                <a:spcPct val="150000"/>
              </a:lnSpc>
            </a:pPr>
            <a:r>
              <a:rPr lang="en-US" sz="1050" b="0" i="0" dirty="0">
                <a:solidFill>
                  <a:srgbClr val="000000"/>
                </a:solidFill>
                <a:effectLst/>
                <a:latin typeface="Avenir Book" panose="02000503020000020003" pitchFamily="2" charset="0"/>
              </a:rPr>
              <a:t>The HR Manager is responsible for coordinating all administrative activities related to an organization’s personnel. Their duties include developing recruitment strategies, implementing systems for managing staff benefits, payroll and behavior and onboarding new employees.</a:t>
            </a:r>
            <a:endParaRPr lang="en-US" sz="1050" dirty="0">
              <a:latin typeface="Avenir Book" panose="02000503020000020003" pitchFamily="2" charset="0"/>
            </a:endParaRPr>
          </a:p>
        </p:txBody>
      </p:sp>
    </p:spTree>
    <p:extLst>
      <p:ext uri="{BB962C8B-B14F-4D97-AF65-F5344CB8AC3E}">
        <p14:creationId xmlns:p14="http://schemas.microsoft.com/office/powerpoint/2010/main" val="2583615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4021614"/>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900" dirty="0">
                <a:latin typeface="Avenir Book" panose="02000503020000020003" pitchFamily="2" charset="0"/>
              </a:rPr>
              <a:t>Delegating cleaning and maintenance tasks to team members</a:t>
            </a:r>
          </a:p>
          <a:p>
            <a:pPr marL="171450" indent="-171450">
              <a:lnSpc>
                <a:spcPct val="150000"/>
              </a:lnSpc>
              <a:buFont typeface="Arial" panose="020B0604020202020204" pitchFamily="34" charset="0"/>
              <a:buChar char="•"/>
            </a:pPr>
            <a:r>
              <a:rPr lang="en-US" sz="900" dirty="0">
                <a:latin typeface="Avenir Book" panose="02000503020000020003" pitchFamily="2" charset="0"/>
              </a:rPr>
              <a:t>Monitoring the safety and cleanliness of interior and exterior areas, such as offices, conference rooms, parking lots and outdoor recreation spaces</a:t>
            </a:r>
          </a:p>
          <a:p>
            <a:pPr marL="171450" indent="-171450">
              <a:lnSpc>
                <a:spcPct val="150000"/>
              </a:lnSpc>
              <a:buFont typeface="Arial" panose="020B0604020202020204" pitchFamily="34" charset="0"/>
              <a:buChar char="•"/>
            </a:pPr>
            <a:r>
              <a:rPr lang="en-US" sz="900" dirty="0">
                <a:latin typeface="Avenir Book" panose="02000503020000020003" pitchFamily="2" charset="0"/>
              </a:rPr>
              <a:t>Performing routine maintenance on facilities and making repairs as needed</a:t>
            </a:r>
          </a:p>
          <a:p>
            <a:pPr marL="171450" indent="-171450">
              <a:lnSpc>
                <a:spcPct val="150000"/>
              </a:lnSpc>
              <a:buFont typeface="Arial" panose="020B0604020202020204" pitchFamily="34" charset="0"/>
              <a:buChar char="•"/>
            </a:pPr>
            <a:r>
              <a:rPr lang="en-US" sz="900" dirty="0">
                <a:latin typeface="Avenir Book" panose="02000503020000020003" pitchFamily="2" charset="0"/>
              </a:rPr>
              <a:t>Scheduling routine inspections and emergency repairs with outside vendors</a:t>
            </a:r>
          </a:p>
          <a:p>
            <a:pPr marL="171450" indent="-171450">
              <a:lnSpc>
                <a:spcPct val="150000"/>
              </a:lnSpc>
              <a:buFont typeface="Arial" panose="020B0604020202020204" pitchFamily="34" charset="0"/>
              <a:buChar char="•"/>
            </a:pPr>
            <a:r>
              <a:rPr lang="en-US" sz="900" dirty="0">
                <a:latin typeface="Avenir Book" panose="02000503020000020003" pitchFamily="2" charset="0"/>
              </a:rPr>
              <a:t>Ensuring proper security measures for the workplace, including collaborating with security system vendors or a team of security professionals</a:t>
            </a:r>
          </a:p>
          <a:p>
            <a:pPr marL="171450" indent="-171450">
              <a:lnSpc>
                <a:spcPct val="150000"/>
              </a:lnSpc>
              <a:buFont typeface="Arial" panose="020B0604020202020204" pitchFamily="34" charset="0"/>
              <a:buChar char="•"/>
            </a:pPr>
            <a:r>
              <a:rPr lang="en-US" sz="900" dirty="0">
                <a:latin typeface="Avenir Book" panose="02000503020000020003" pitchFamily="2" charset="0"/>
              </a:rPr>
              <a:t>Maintaining day-to-day operations of facilities, such as delegating or completing maintenance orders</a:t>
            </a:r>
          </a:p>
          <a:p>
            <a:pPr marL="171450" indent="-171450">
              <a:lnSpc>
                <a:spcPct val="150000"/>
              </a:lnSpc>
              <a:buFont typeface="Arial" panose="020B0604020202020204" pitchFamily="34" charset="0"/>
              <a:buChar char="•"/>
            </a:pPr>
            <a:r>
              <a:rPr lang="en-US" sz="900" dirty="0">
                <a:latin typeface="Avenir Book" panose="02000503020000020003" pitchFamily="2" charset="0"/>
              </a:rPr>
              <a:t>Creating reports on maintenance, repairs, safety and other occurrences for supervisors and other relevant staff</a:t>
            </a:r>
          </a:p>
          <a:p>
            <a:pPr marL="171450" indent="-171450">
              <a:lnSpc>
                <a:spcPct val="150000"/>
              </a:lnSpc>
              <a:buFont typeface="Arial" panose="020B0604020202020204" pitchFamily="34" charset="0"/>
              <a:buChar char="•"/>
            </a:pPr>
            <a:r>
              <a:rPr lang="en-US" sz="900" dirty="0">
                <a:latin typeface="Avenir Book" panose="02000503020000020003" pitchFamily="2" charset="0"/>
              </a:rPr>
              <a:t>Preparing facilities for changing weather conditions</a:t>
            </a:r>
          </a:p>
          <a:p>
            <a:pPr marL="171450" indent="-171450">
              <a:lnSpc>
                <a:spcPct val="150000"/>
              </a:lnSpc>
              <a:buFont typeface="Arial" panose="020B0604020202020204" pitchFamily="34" charset="0"/>
              <a:buChar char="•"/>
            </a:pPr>
            <a:r>
              <a:rPr lang="en-US" sz="900" dirty="0">
                <a:latin typeface="Avenir Book" panose="02000503020000020003" pitchFamily="2" charset="0"/>
              </a:rPr>
              <a:t>Collaborating with building owners and upper management on budgeting for facilities needs</a:t>
            </a:r>
          </a:p>
          <a:p>
            <a:pPr marL="171450" indent="-171450">
              <a:lnSpc>
                <a:spcPct val="150000"/>
              </a:lnSpc>
              <a:buFont typeface="Arial" panose="020B0604020202020204" pitchFamily="34" charset="0"/>
              <a:buChar char="•"/>
            </a:pPr>
            <a:endParaRPr lang="en-US" sz="900" dirty="0">
              <a:latin typeface="Avenir Book" panose="02000503020000020003" pitchFamily="2" charset="0"/>
            </a:endParaRP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Facility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2611549"/>
          </a:xfrm>
          <a:prstGeom prst="rect">
            <a:avLst/>
          </a:prstGeom>
          <a:noFill/>
        </p:spPr>
        <p:txBody>
          <a:bodyPr wrap="square" rtlCol="0">
            <a:spAutoFit/>
          </a:bodyPr>
          <a:lstStyle/>
          <a:p>
            <a:pPr>
              <a:lnSpc>
                <a:spcPct val="150000"/>
              </a:lnSpc>
            </a:pPr>
            <a:r>
              <a:rPr lang="en-US" sz="1000" dirty="0">
                <a:latin typeface="Avenir Book" panose="02000503020000020003" pitchFamily="2" charset="0"/>
              </a:rPr>
              <a:t>• Advanced mechanical skills and knowledge of plumbing, HVAC and other building systems</a:t>
            </a:r>
          </a:p>
          <a:p>
            <a:pPr>
              <a:lnSpc>
                <a:spcPct val="150000"/>
              </a:lnSpc>
            </a:pPr>
            <a:r>
              <a:rPr lang="en-US" sz="1000" dirty="0">
                <a:latin typeface="Avenir Book" panose="02000503020000020003" pitchFamily="2" charset="0"/>
              </a:rPr>
              <a:t>• Proficiency with repair tools and techniques</a:t>
            </a:r>
          </a:p>
          <a:p>
            <a:pPr>
              <a:lnSpc>
                <a:spcPct val="150000"/>
              </a:lnSpc>
            </a:pPr>
            <a:r>
              <a:rPr lang="en-US" sz="1000" dirty="0">
                <a:latin typeface="Avenir Book" panose="02000503020000020003" pitchFamily="2" charset="0"/>
              </a:rPr>
              <a:t>• Excellent communication and interpersonal skills, including the ability to speak with all levels of employees, guests, vendors and team members</a:t>
            </a:r>
          </a:p>
          <a:p>
            <a:pPr>
              <a:lnSpc>
                <a:spcPct val="150000"/>
              </a:lnSpc>
            </a:pPr>
            <a:r>
              <a:rPr lang="en-US" sz="1000" dirty="0">
                <a:highlight>
                  <a:srgbClr val="FFFF00"/>
                </a:highlight>
                <a:latin typeface="Avenir Book" panose="02000503020000020003" pitchFamily="2" charset="0"/>
              </a:rPr>
              <a:t>• Great time management, organization and prioritization abilities</a:t>
            </a:r>
          </a:p>
          <a:p>
            <a:pPr>
              <a:lnSpc>
                <a:spcPct val="150000"/>
              </a:lnSpc>
            </a:pPr>
            <a:r>
              <a:rPr lang="en-US" sz="1000" dirty="0">
                <a:latin typeface="Avenir Book" panose="02000503020000020003" pitchFamily="2" charset="0"/>
              </a:rPr>
              <a:t>• Keen attention to detail and efficient problem-solving skills</a:t>
            </a:r>
          </a:p>
          <a:p>
            <a:pPr>
              <a:lnSpc>
                <a:spcPct val="150000"/>
              </a:lnSpc>
            </a:pPr>
            <a:r>
              <a:rPr lang="en-US" sz="1000" dirty="0">
                <a:latin typeface="Avenir Book" panose="02000503020000020003" pitchFamily="2" charset="0"/>
              </a:rPr>
              <a:t>• Ability to lift heavy equipment and comfortable standing or walking for long periods of time</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The Facility Manager, or Maintenance Manager, maintains and oversees the Hub grounds, buildings and equipment to ensure that a workspace is safe and functional. Their duties include negotiating contracts with service providers, inspecting facilities to meet safety regulations and coordinating renovations and updates.</a:t>
            </a:r>
            <a:endParaRPr lang="en-US" sz="1000" dirty="0">
              <a:latin typeface="Avenir Book" panose="02000503020000020003" pitchFamily="2" charset="0"/>
            </a:endParaRPr>
          </a:p>
        </p:txBody>
      </p:sp>
    </p:spTree>
    <p:extLst>
      <p:ext uri="{BB962C8B-B14F-4D97-AF65-F5344CB8AC3E}">
        <p14:creationId xmlns:p14="http://schemas.microsoft.com/office/powerpoint/2010/main" val="2606764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3813865"/>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Collaborate with top management to develop and implement cross-channel promotional strategies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Oversee all advertising, sales promotion, and marketing activities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Analyze market trends to identify target audiences and opportunities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Ensure a positive public image with consistent media coverage of Hub initiatives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Manage a PR team, assisting in press releases and social media posts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Respond to media inquiries and release relevant information</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Build impactful public relations strategies to shape Hub perception globally</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Maintain strong connections with media representatives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Develop marketing strategies and organize promotional events, coordinating deliveries and staffing</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Review and optimize current marketing campaigns within budget constraints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Partner with product development and buying teams to estimate product demand</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Brainstorm advertising ideas with senior management</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Marketing &amp; PR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3765711"/>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Knowledge of marketing-related business practices, including advertising, market research, technology and budgeting</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Proficient with marketing-related software programs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A history of planning successful product launches and events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Effective communication skills and adaptable communication style for interacting with team members, upper management and clients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Time management and organization skills for planning and executing both large and small marketing projects and initiatives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Leadership skills to motivate team members and manage conflicts</a:t>
            </a:r>
          </a:p>
          <a:p>
            <a:pPr marL="171450" indent="-171450" algn="l">
              <a:lnSpc>
                <a:spcPct val="150000"/>
              </a:lnSpc>
              <a:buFont typeface="Arial" panose="020B0604020202020204" pitchFamily="34" charset="0"/>
              <a:buChar char="•"/>
            </a:pPr>
            <a:r>
              <a:rPr lang="en-US" sz="1000" b="0" i="0" dirty="0">
                <a:solidFill>
                  <a:schemeClr val="tx1">
                    <a:lumMod val="75000"/>
                    <a:lumOff val="25000"/>
                  </a:schemeClr>
                </a:solidFill>
                <a:effectLst/>
                <a:latin typeface="Avenir Book" panose="02000503020000020003" pitchFamily="2" charset="0"/>
              </a:rPr>
              <a:t>Analytical and problem-solving skills for coming up with ideas to increase demand for products and services</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The Facility Manager, or Maintenance Manager, maintains and oversees the Hub grounds, buildings and equipment to ensure that a workspace is safe and functional. Their duties include negotiating contracts with service providers, inspecting facilities to meet safety regulations and coordinating renovations and updates.</a:t>
            </a:r>
            <a:endParaRPr lang="en-US" sz="1000" dirty="0">
              <a:latin typeface="Avenir Book" panose="02000503020000020003" pitchFamily="2" charset="0"/>
            </a:endParaRPr>
          </a:p>
        </p:txBody>
      </p:sp>
    </p:spTree>
    <p:extLst>
      <p:ext uri="{BB962C8B-B14F-4D97-AF65-F5344CB8AC3E}">
        <p14:creationId xmlns:p14="http://schemas.microsoft.com/office/powerpoint/2010/main" val="3551878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4229363"/>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Perform financial management duties including generating financial data, compiling and submitting reports, analyzing industry trends and assessing the financial health of the company.</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Oversee the operations and development of the company’s finance departments including creating and reviewing policies, budgeting, recruiting, training and conducting regular assessments of financial procedures.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Supervise the preparation of quarterly and annual account reconciliations, monitor and enforce compliance with tax and financial reporting standards and assist with cash flow forecasting.</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Advise colleagues and executive management on decisions related to the company’s finances.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Supervise the documentation of the company’s financial status and forecasts.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Mediate between the organization, employees, stakeholders, shareholders and investors on financial issues for amicable resolution of differences.</a:t>
            </a:r>
          </a:p>
          <a:p>
            <a:pPr marL="171450" indent="-171450" algn="l">
              <a:lnSpc>
                <a:spcPct val="150000"/>
              </a:lnSpc>
              <a:buFont typeface="Arial" panose="020B0604020202020204" pitchFamily="34" charset="0"/>
              <a:buChar char="•"/>
            </a:pPr>
            <a:r>
              <a:rPr lang="en-US" sz="900" b="0" i="0" dirty="0">
                <a:solidFill>
                  <a:srgbClr val="0D0D0D"/>
                </a:solidFill>
                <a:effectLst/>
                <a:latin typeface="Avenir Book" panose="02000503020000020003" pitchFamily="2" charset="0"/>
              </a:rPr>
              <a:t>Create strategic business plans based on the analysis of the company’s status and financial forecasts.</a:t>
            </a:r>
          </a:p>
          <a:p>
            <a:pPr marL="171450" indent="-171450" algn="l">
              <a:lnSpc>
                <a:spcPct val="150000"/>
              </a:lnSpc>
              <a:buFont typeface="Arial" panose="020B0604020202020204" pitchFamily="34" charset="0"/>
              <a:buChar char="•"/>
            </a:pPr>
            <a:endParaRPr lang="en-US" sz="900" b="0" i="0" dirty="0">
              <a:solidFill>
                <a:srgbClr val="0D0D0D"/>
              </a:solidFill>
              <a:effectLst/>
              <a:latin typeface="Avenir Book" panose="02000503020000020003" pitchFamily="2" charset="0"/>
            </a:endParaRP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Accounts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2149884"/>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Proven knowledge of financial analysis and strategy</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Excellent verbal and written communication and presentation skills</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In-depth knowledge of financial reporting standards, tax regulations and industry legislation</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Analytical skills</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Attention to detail</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Interpersonal skills</a:t>
            </a:r>
          </a:p>
          <a:p>
            <a:pPr marL="171450" indent="-171450" algn="l">
              <a:lnSpc>
                <a:spcPct val="150000"/>
              </a:lnSpc>
              <a:buFont typeface="Arial" panose="020B0604020202020204" pitchFamily="34" charset="0"/>
              <a:buChar char="•"/>
            </a:pPr>
            <a:r>
              <a:rPr lang="en-US" sz="1000" b="0" i="0" dirty="0">
                <a:solidFill>
                  <a:srgbClr val="0D0D0D"/>
                </a:solidFill>
                <a:effectLst/>
                <a:latin typeface="Avenir Book" panose="02000503020000020003" pitchFamily="2" charset="0"/>
              </a:rPr>
              <a:t>Negotiation skills </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An IT Manager, or an IT Systems Administrator, manages the network and server infrastructure of a company. The primary duties are the security of the company’s servers, computer systems and electronic data, development and implementation of customized systems and overseeing all computer-related activities.</a:t>
            </a:r>
            <a:endParaRPr lang="en-US" sz="1000" dirty="0">
              <a:latin typeface="Avenir Book" panose="02000503020000020003" pitchFamily="2" charset="0"/>
            </a:endParaRPr>
          </a:p>
        </p:txBody>
      </p:sp>
    </p:spTree>
    <p:extLst>
      <p:ext uri="{BB962C8B-B14F-4D97-AF65-F5344CB8AC3E}">
        <p14:creationId xmlns:p14="http://schemas.microsoft.com/office/powerpoint/2010/main" val="218004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8066764"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 (Job Descriptions)</a:t>
            </a:r>
          </a:p>
        </p:txBody>
      </p:sp>
      <p:sp>
        <p:nvSpPr>
          <p:cNvPr id="37" name="TextBox 36">
            <a:extLst>
              <a:ext uri="{FF2B5EF4-FFF2-40B4-BE49-F238E27FC236}">
                <a16:creationId xmlns:a16="http://schemas.microsoft.com/office/drawing/2014/main" id="{E742C464-EBE5-684D-B208-148FA32CD1A2}"/>
              </a:ext>
            </a:extLst>
          </p:cNvPr>
          <p:cNvSpPr txBox="1"/>
          <p:nvPr/>
        </p:nvSpPr>
        <p:spPr>
          <a:xfrm>
            <a:off x="538618" y="2834464"/>
            <a:ext cx="4033382" cy="3215689"/>
          </a:xfrm>
          <a:prstGeom prst="rect">
            <a:avLst/>
          </a:prstGeom>
          <a:noFill/>
        </p:spPr>
        <p:txBody>
          <a:bodyPr wrap="square" rtlCol="0">
            <a:spAutoFit/>
          </a:bodyPr>
          <a:lstStyle/>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Oversee the IT infrastructure and ensure its reliability and security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Manage a team of IT professionals, providing leadership and guidance</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Develop and implement IT policies and procedures to ensure effective operations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Evaluate and recommend technology solutions to improve business processes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Coordinate with various departments to understand and address their IT needs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Ensure the timely and cost-effective procurement of IT equipment and software</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Implement and maintain data backup and recovery processes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Monitor network performance and troubleshoot issues promptly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Stay abreast of technological trends and advancements, recommending upgrades as needed</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Collaborate with cybersecurity professionals to ensure data and system security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Provide technical support to employees and address IT-related concerns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Develop and manage the IT budget effectively</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Implement and enforce IT governance and compliance measures</a:t>
            </a:r>
          </a:p>
          <a:p>
            <a:pPr marL="171450" indent="-171450"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Foster a culture of innovation and continuous improvement within the IT department.</a:t>
            </a:r>
          </a:p>
        </p:txBody>
      </p:sp>
      <p:sp>
        <p:nvSpPr>
          <p:cNvPr id="38" name="TextBox 37">
            <a:extLst>
              <a:ext uri="{FF2B5EF4-FFF2-40B4-BE49-F238E27FC236}">
                <a16:creationId xmlns:a16="http://schemas.microsoft.com/office/drawing/2014/main" id="{5B85D917-CA91-C84A-8C96-12BA33CB2DD0}"/>
              </a:ext>
            </a:extLst>
          </p:cNvPr>
          <p:cNvSpPr txBox="1"/>
          <p:nvPr/>
        </p:nvSpPr>
        <p:spPr>
          <a:xfrm>
            <a:off x="538618" y="1266415"/>
            <a:ext cx="4734839" cy="387542"/>
          </a:xfrm>
          <a:prstGeom prst="rect">
            <a:avLst/>
          </a:prstGeom>
          <a:noFill/>
        </p:spPr>
        <p:txBody>
          <a:bodyPr wrap="square" rtlCol="0">
            <a:spAutoFit/>
          </a:bodyPr>
          <a:lstStyle/>
          <a:p>
            <a:pPr algn="just">
              <a:lnSpc>
                <a:spcPct val="150000"/>
              </a:lnSpc>
            </a:pPr>
            <a:r>
              <a:rPr lang="en-US" sz="1400" b="1" dirty="0">
                <a:latin typeface="Avenir Book" panose="02000503020000020003" pitchFamily="2" charset="0"/>
              </a:rPr>
              <a:t>IT &amp; Marketing Manager</a:t>
            </a:r>
          </a:p>
        </p:txBody>
      </p:sp>
      <p:sp>
        <p:nvSpPr>
          <p:cNvPr id="2" name="TextBox 1">
            <a:extLst>
              <a:ext uri="{FF2B5EF4-FFF2-40B4-BE49-F238E27FC236}">
                <a16:creationId xmlns:a16="http://schemas.microsoft.com/office/drawing/2014/main" id="{9C4E221B-786E-FF7A-F9AF-B2E52E2AD1AE}"/>
              </a:ext>
            </a:extLst>
          </p:cNvPr>
          <p:cNvSpPr txBox="1"/>
          <p:nvPr/>
        </p:nvSpPr>
        <p:spPr>
          <a:xfrm>
            <a:off x="538618" y="2446922"/>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Responsibilities</a:t>
            </a:r>
          </a:p>
        </p:txBody>
      </p:sp>
      <p:sp>
        <p:nvSpPr>
          <p:cNvPr id="3" name="TextBox 2">
            <a:extLst>
              <a:ext uri="{FF2B5EF4-FFF2-40B4-BE49-F238E27FC236}">
                <a16:creationId xmlns:a16="http://schemas.microsoft.com/office/drawing/2014/main" id="{3DD67623-3C4E-25F8-6366-7458689295F4}"/>
              </a:ext>
            </a:extLst>
          </p:cNvPr>
          <p:cNvSpPr txBox="1"/>
          <p:nvPr/>
        </p:nvSpPr>
        <p:spPr>
          <a:xfrm>
            <a:off x="4757195" y="2792273"/>
            <a:ext cx="3767165" cy="3585020"/>
          </a:xfrm>
          <a:prstGeom prst="rect">
            <a:avLst/>
          </a:prstGeom>
          <a:noFill/>
        </p:spPr>
        <p:txBody>
          <a:bodyPr wrap="square" rtlCol="0">
            <a:spAutoFit/>
          </a:bodyPr>
          <a:lstStyle/>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Bachelor's degree in Computer Science, Information Technology, or a related field; Master's degree preferred</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Proven experience as an IT Manager or in a similar managerial role</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Strong leadership and team management skills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In-depth knowledge of IT systems, infrastructure, and cybersecurity principles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Proficient in evaluating and implementing technology solutions to meet business needs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Excellent understanding of IT policies, procedures, and governance</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Effective communication skills to collaborate with cross-functional teams and address IT concerns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Experience in budget management and cost-effective procurement of IT resources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Knowledge of data backup and recovery processes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Ability to troubleshoot and resolve network and system issues promptly</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Familiarity with industry trends and advancements in technology</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Strong organizational and project management skills</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Commitment to fostering a culture of innovation and continuous improvement</a:t>
            </a:r>
          </a:p>
          <a:p>
            <a:pPr algn="l">
              <a:lnSpc>
                <a:spcPct val="150000"/>
              </a:lnSpc>
              <a:buFont typeface="Arial" panose="020B0604020202020204" pitchFamily="34" charset="0"/>
              <a:buChar char="•"/>
            </a:pPr>
            <a:r>
              <a:rPr lang="en-US" sz="800" b="0" i="0" dirty="0">
                <a:solidFill>
                  <a:srgbClr val="0D0D0D"/>
                </a:solidFill>
                <a:effectLst/>
                <a:latin typeface="Avenir Book" panose="02000503020000020003" pitchFamily="2" charset="0"/>
              </a:rPr>
              <a:t>Relevant certifications (e.g., ITIL, PMP, CISSP) are a plus</a:t>
            </a:r>
          </a:p>
        </p:txBody>
      </p:sp>
      <p:sp>
        <p:nvSpPr>
          <p:cNvPr id="6" name="TextBox 5">
            <a:extLst>
              <a:ext uri="{FF2B5EF4-FFF2-40B4-BE49-F238E27FC236}">
                <a16:creationId xmlns:a16="http://schemas.microsoft.com/office/drawing/2014/main" id="{8BFB41F2-0AA2-185F-792D-928A6E3631FE}"/>
              </a:ext>
            </a:extLst>
          </p:cNvPr>
          <p:cNvSpPr txBox="1"/>
          <p:nvPr/>
        </p:nvSpPr>
        <p:spPr>
          <a:xfrm>
            <a:off x="4757195" y="2447477"/>
            <a:ext cx="3767165" cy="345351"/>
          </a:xfrm>
          <a:prstGeom prst="rect">
            <a:avLst/>
          </a:prstGeom>
          <a:noFill/>
        </p:spPr>
        <p:txBody>
          <a:bodyPr wrap="square" rtlCol="0">
            <a:spAutoFit/>
          </a:bodyPr>
          <a:lstStyle/>
          <a:p>
            <a:pPr>
              <a:lnSpc>
                <a:spcPct val="150000"/>
              </a:lnSpc>
            </a:pPr>
            <a:r>
              <a:rPr lang="en-US" sz="1200" b="1" dirty="0">
                <a:latin typeface="Avenir Book" panose="02000503020000020003" pitchFamily="2" charset="0"/>
              </a:rPr>
              <a:t>Skills &amp; Requirements</a:t>
            </a:r>
          </a:p>
        </p:txBody>
      </p:sp>
      <p:sp>
        <p:nvSpPr>
          <p:cNvPr id="7" name="TextBox 6">
            <a:extLst>
              <a:ext uri="{FF2B5EF4-FFF2-40B4-BE49-F238E27FC236}">
                <a16:creationId xmlns:a16="http://schemas.microsoft.com/office/drawing/2014/main" id="{37B72C0F-7816-FBBE-C84A-AAD2FAEBEB6E}"/>
              </a:ext>
            </a:extLst>
          </p:cNvPr>
          <p:cNvSpPr txBox="1"/>
          <p:nvPr/>
        </p:nvSpPr>
        <p:spPr>
          <a:xfrm>
            <a:off x="538618" y="1696148"/>
            <a:ext cx="7985741" cy="764889"/>
          </a:xfrm>
          <a:prstGeom prst="rect">
            <a:avLst/>
          </a:prstGeom>
          <a:noFill/>
        </p:spPr>
        <p:txBody>
          <a:bodyPr wrap="square" rtlCol="0">
            <a:spAutoFit/>
          </a:bodyPr>
          <a:lstStyle/>
          <a:p>
            <a:pPr>
              <a:lnSpc>
                <a:spcPct val="150000"/>
              </a:lnSpc>
            </a:pPr>
            <a:r>
              <a:rPr lang="en-US" sz="1000" b="0" i="0" dirty="0">
                <a:solidFill>
                  <a:srgbClr val="2D2D2D"/>
                </a:solidFill>
                <a:effectLst/>
                <a:latin typeface="Avenir Book" panose="02000503020000020003" pitchFamily="2" charset="0"/>
              </a:rPr>
              <a:t>An IT Manager, or an IT Systems Administrator, manages the network and server infrastructure of a company. The primary duties are the security of the company’s servers, computer systems and electronic data, development and implementation of customized systems and overseeing all computer-related activities.</a:t>
            </a:r>
            <a:endParaRPr lang="en-US" sz="1000" dirty="0">
              <a:latin typeface="Avenir Book" panose="02000503020000020003" pitchFamily="2" charset="0"/>
            </a:endParaRPr>
          </a:p>
        </p:txBody>
      </p:sp>
    </p:spTree>
    <p:extLst>
      <p:ext uri="{BB962C8B-B14F-4D97-AF65-F5344CB8AC3E}">
        <p14:creationId xmlns:p14="http://schemas.microsoft.com/office/powerpoint/2010/main" val="257173748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106956</TotalTime>
  <Words>2694</Words>
  <Application>Microsoft Macintosh PowerPoint</Application>
  <PresentationFormat>On-screen Show (4:3)</PresentationFormat>
  <Paragraphs>291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Avenir Black</vt:lpstr>
      <vt:lpstr>Avenir Book</vt:lpstr>
      <vt:lpstr>Calibri</vt:lpstr>
      <vt:lpstr>Calibri Light</vt:lpstr>
      <vt:lpstr>Roboto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Temi Kolawole</dc:creator>
  <cp:lastModifiedBy>Temi Kolawole</cp:lastModifiedBy>
  <cp:revision>196</cp:revision>
  <cp:lastPrinted>2024-04-02T10:42:45Z</cp:lastPrinted>
  <dcterms:created xsi:type="dcterms:W3CDTF">2020-11-24T00:12:57Z</dcterms:created>
  <dcterms:modified xsi:type="dcterms:W3CDTF">2025-03-12T15:45:22Z</dcterms:modified>
</cp:coreProperties>
</file>