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0"/>
  </p:notesMasterIdLst>
  <p:sldIdLst>
    <p:sldId id="256" r:id="rId2"/>
    <p:sldId id="257" r:id="rId3"/>
    <p:sldId id="264" r:id="rId4"/>
    <p:sldId id="265" r:id="rId5"/>
    <p:sldId id="266" r:id="rId6"/>
    <p:sldId id="267" r:id="rId7"/>
    <p:sldId id="262" r:id="rId8"/>
    <p:sldId id="261" r:id="rId9"/>
  </p:sldIdLst>
  <p:sldSz cx="9144000" cy="5143500" type="screen16x9"/>
  <p:notesSz cx="6858000" cy="9144000"/>
  <p:embeddedFontLst>
    <p:embeddedFont>
      <p:font typeface="Avenir" panose="02000503020000020003" pitchFamily="2" charset="0"/>
      <p:regular r:id="rId11"/>
      <p:italic r:id="rId12"/>
    </p:embeddedFont>
    <p:embeddedFont>
      <p:font typeface="Avenir Book" panose="02000503020000020003" pitchFamily="2" charset="0"/>
      <p:regular r:id="rId13"/>
      <p:italic r:id="rId14"/>
    </p:embeddedFont>
    <p:embeddedFont>
      <p:font typeface="Helvetica Neue" panose="02000503000000020004" pitchFamily="2" charset="0"/>
      <p:regular r:id="rId15"/>
      <p:bold r:id="rId16"/>
      <p:italic r:id="rId17"/>
      <p:boldItalic r:id="rId1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4624"/>
  </p:normalViewPr>
  <p:slideViewPr>
    <p:cSldViewPr snapToGrid="0">
      <p:cViewPr varScale="1">
        <p:scale>
          <a:sx n="123" d="100"/>
          <a:sy n="123" d="100"/>
        </p:scale>
        <p:origin x="1320" y="488"/>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18" Type="http://schemas.openxmlformats.org/officeDocument/2006/relationships/font" Target="fonts/font8.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font" Target="fonts/font7.fntdata"/><Relationship Id="rId2" Type="http://schemas.openxmlformats.org/officeDocument/2006/relationships/slide" Target="slides/slide1.xml"/><Relationship Id="rId16" Type="http://schemas.openxmlformats.org/officeDocument/2006/relationships/font" Target="fonts/font6.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font" Target="fonts/font5.fntdata"/><Relationship Id="rId10" Type="http://schemas.openxmlformats.org/officeDocument/2006/relationships/notesMaster" Target="notesMasters/notesMaster1.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4.fntdata"/><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p:cNvGrpSpPr/>
        <p:nvPr/>
      </p:nvGrpSpPr>
      <p:grpSpPr>
        <a:xfrm>
          <a:off x="0" y="0"/>
          <a:ext cx="0" cy="0"/>
          <a:chOff x="0" y="0"/>
          <a:chExt cx="0" cy="0"/>
        </a:xfrm>
      </p:grpSpPr>
      <p:sp>
        <p:nvSpPr>
          <p:cNvPr id="61" name="Google Shape;61;g361315e328b_0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 name="Google Shape;62;g361315e328b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a:extLst>
            <a:ext uri="{FF2B5EF4-FFF2-40B4-BE49-F238E27FC236}">
              <a16:creationId xmlns:a16="http://schemas.microsoft.com/office/drawing/2014/main" id="{5ADF8C29-E7E1-00AF-1CC1-F84A09D21D33}"/>
            </a:ext>
          </a:extLst>
        </p:cNvPr>
        <p:cNvGrpSpPr/>
        <p:nvPr/>
      </p:nvGrpSpPr>
      <p:grpSpPr>
        <a:xfrm>
          <a:off x="0" y="0"/>
          <a:ext cx="0" cy="0"/>
          <a:chOff x="0" y="0"/>
          <a:chExt cx="0" cy="0"/>
        </a:xfrm>
      </p:grpSpPr>
      <p:sp>
        <p:nvSpPr>
          <p:cNvPr id="61" name="Google Shape;61;g361315e328b_0_4:notes">
            <a:extLst>
              <a:ext uri="{FF2B5EF4-FFF2-40B4-BE49-F238E27FC236}">
                <a16:creationId xmlns:a16="http://schemas.microsoft.com/office/drawing/2014/main" id="{847B1ACD-9438-AC07-6B80-E501C8C3528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 name="Google Shape;62;g361315e328b_0_4:notes">
            <a:extLst>
              <a:ext uri="{FF2B5EF4-FFF2-40B4-BE49-F238E27FC236}">
                <a16:creationId xmlns:a16="http://schemas.microsoft.com/office/drawing/2014/main" id="{DA1AC1C8-4C44-656F-F22F-68231F92CCC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030312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a:extLst>
            <a:ext uri="{FF2B5EF4-FFF2-40B4-BE49-F238E27FC236}">
              <a16:creationId xmlns:a16="http://schemas.microsoft.com/office/drawing/2014/main" id="{C588D818-D518-C119-4F65-C91DC0295E93}"/>
            </a:ext>
          </a:extLst>
        </p:cNvPr>
        <p:cNvGrpSpPr/>
        <p:nvPr/>
      </p:nvGrpSpPr>
      <p:grpSpPr>
        <a:xfrm>
          <a:off x="0" y="0"/>
          <a:ext cx="0" cy="0"/>
          <a:chOff x="0" y="0"/>
          <a:chExt cx="0" cy="0"/>
        </a:xfrm>
      </p:grpSpPr>
      <p:sp>
        <p:nvSpPr>
          <p:cNvPr id="61" name="Google Shape;61;g361315e328b_0_4:notes">
            <a:extLst>
              <a:ext uri="{FF2B5EF4-FFF2-40B4-BE49-F238E27FC236}">
                <a16:creationId xmlns:a16="http://schemas.microsoft.com/office/drawing/2014/main" id="{6CBB980D-0807-20AD-C5CE-873CF661DD6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 name="Google Shape;62;g361315e328b_0_4:notes">
            <a:extLst>
              <a:ext uri="{FF2B5EF4-FFF2-40B4-BE49-F238E27FC236}">
                <a16:creationId xmlns:a16="http://schemas.microsoft.com/office/drawing/2014/main" id="{080F95DA-20AF-FA2C-A715-FE2BE41A5A4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130445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a:extLst>
            <a:ext uri="{FF2B5EF4-FFF2-40B4-BE49-F238E27FC236}">
              <a16:creationId xmlns:a16="http://schemas.microsoft.com/office/drawing/2014/main" id="{4C4A9A6F-EAF5-A622-13BB-908136420139}"/>
            </a:ext>
          </a:extLst>
        </p:cNvPr>
        <p:cNvGrpSpPr/>
        <p:nvPr/>
      </p:nvGrpSpPr>
      <p:grpSpPr>
        <a:xfrm>
          <a:off x="0" y="0"/>
          <a:ext cx="0" cy="0"/>
          <a:chOff x="0" y="0"/>
          <a:chExt cx="0" cy="0"/>
        </a:xfrm>
      </p:grpSpPr>
      <p:sp>
        <p:nvSpPr>
          <p:cNvPr id="61" name="Google Shape;61;g361315e328b_0_4:notes">
            <a:extLst>
              <a:ext uri="{FF2B5EF4-FFF2-40B4-BE49-F238E27FC236}">
                <a16:creationId xmlns:a16="http://schemas.microsoft.com/office/drawing/2014/main" id="{D8AAEFA8-3D21-3782-E1C3-73AB2A6553C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 name="Google Shape;62;g361315e328b_0_4:notes">
            <a:extLst>
              <a:ext uri="{FF2B5EF4-FFF2-40B4-BE49-F238E27FC236}">
                <a16:creationId xmlns:a16="http://schemas.microsoft.com/office/drawing/2014/main" id="{C207FDD9-8353-BB3C-87DE-6C31358741E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476364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a:extLst>
            <a:ext uri="{FF2B5EF4-FFF2-40B4-BE49-F238E27FC236}">
              <a16:creationId xmlns:a16="http://schemas.microsoft.com/office/drawing/2014/main" id="{794CE665-1F19-718D-E238-6099AD0085A4}"/>
            </a:ext>
          </a:extLst>
        </p:cNvPr>
        <p:cNvGrpSpPr/>
        <p:nvPr/>
      </p:nvGrpSpPr>
      <p:grpSpPr>
        <a:xfrm>
          <a:off x="0" y="0"/>
          <a:ext cx="0" cy="0"/>
          <a:chOff x="0" y="0"/>
          <a:chExt cx="0" cy="0"/>
        </a:xfrm>
      </p:grpSpPr>
      <p:sp>
        <p:nvSpPr>
          <p:cNvPr id="61" name="Google Shape;61;g361315e328b_0_4:notes">
            <a:extLst>
              <a:ext uri="{FF2B5EF4-FFF2-40B4-BE49-F238E27FC236}">
                <a16:creationId xmlns:a16="http://schemas.microsoft.com/office/drawing/2014/main" id="{8C350A04-D283-43D1-DF5E-ED78D5D83A9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 name="Google Shape;62;g361315e328b_0_4:notes">
            <a:extLst>
              <a:ext uri="{FF2B5EF4-FFF2-40B4-BE49-F238E27FC236}">
                <a16:creationId xmlns:a16="http://schemas.microsoft.com/office/drawing/2014/main" id="{6C00969A-6F12-9BDA-30E7-247D3E8A34D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831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a:extLst>
            <a:ext uri="{FF2B5EF4-FFF2-40B4-BE49-F238E27FC236}">
              <a16:creationId xmlns:a16="http://schemas.microsoft.com/office/drawing/2014/main" id="{AB228ABF-AA7E-896D-57ED-11C7D6B28AE1}"/>
            </a:ext>
          </a:extLst>
        </p:cNvPr>
        <p:cNvGrpSpPr/>
        <p:nvPr/>
      </p:nvGrpSpPr>
      <p:grpSpPr>
        <a:xfrm>
          <a:off x="0" y="0"/>
          <a:ext cx="0" cy="0"/>
          <a:chOff x="0" y="0"/>
          <a:chExt cx="0" cy="0"/>
        </a:xfrm>
      </p:grpSpPr>
      <p:sp>
        <p:nvSpPr>
          <p:cNvPr id="61" name="Google Shape;61;g361315e328b_0_4:notes">
            <a:extLst>
              <a:ext uri="{FF2B5EF4-FFF2-40B4-BE49-F238E27FC236}">
                <a16:creationId xmlns:a16="http://schemas.microsoft.com/office/drawing/2014/main" id="{E7E9F46F-8290-E7E8-DAE2-4611D54BD56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 name="Google Shape;62;g361315e328b_0_4:notes">
            <a:extLst>
              <a:ext uri="{FF2B5EF4-FFF2-40B4-BE49-F238E27FC236}">
                <a16:creationId xmlns:a16="http://schemas.microsoft.com/office/drawing/2014/main" id="{74D72024-2A71-B55C-B7FF-332E3EB7429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639883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361315e328b_0_1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361315e328b_0_1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2D14"/>
        </a:solidFill>
        <a:effectLst/>
      </p:bgPr>
    </p:bg>
    <p:spTree>
      <p:nvGrpSpPr>
        <p:cNvPr id="1" name="Shape 53"/>
        <p:cNvGrpSpPr/>
        <p:nvPr/>
      </p:nvGrpSpPr>
      <p:grpSpPr>
        <a:xfrm>
          <a:off x="0" y="0"/>
          <a:ext cx="0" cy="0"/>
          <a:chOff x="0" y="0"/>
          <a:chExt cx="0" cy="0"/>
        </a:xfrm>
      </p:grpSpPr>
      <p:pic>
        <p:nvPicPr>
          <p:cNvPr id="54" name="Google Shape;54;p13" title="Ihs bg.png"/>
          <p:cNvPicPr preferRelativeResize="0"/>
          <p:nvPr/>
        </p:nvPicPr>
        <p:blipFill>
          <a:blip r:embed="rId3">
            <a:alphaModFix amt="50000"/>
          </a:blip>
          <a:stretch>
            <a:fillRect/>
          </a:stretch>
        </p:blipFill>
        <p:spPr>
          <a:xfrm>
            <a:off x="0" y="-4463"/>
            <a:ext cx="9143997" cy="5147963"/>
          </a:xfrm>
          <a:prstGeom prst="rect">
            <a:avLst/>
          </a:prstGeom>
          <a:noFill/>
          <a:ln>
            <a:noFill/>
          </a:ln>
        </p:spPr>
      </p:pic>
      <p:sp>
        <p:nvSpPr>
          <p:cNvPr id="55" name="Google Shape;55;p13"/>
          <p:cNvSpPr txBox="1">
            <a:spLocks noGrp="1"/>
          </p:cNvSpPr>
          <p:nvPr>
            <p:ph type="ctrTitle"/>
          </p:nvPr>
        </p:nvSpPr>
        <p:spPr>
          <a:xfrm>
            <a:off x="414225" y="1697425"/>
            <a:ext cx="6381300" cy="10125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en" b="1" dirty="0">
                <a:solidFill>
                  <a:schemeClr val="lt1"/>
                </a:solidFill>
                <a:latin typeface="Helvetica Neue"/>
                <a:ea typeface="Helvetica Neue"/>
                <a:cs typeface="Helvetica Neue"/>
                <a:sym typeface="Helvetica Neue"/>
              </a:rPr>
              <a:t>Hiring Report</a:t>
            </a:r>
            <a:endParaRPr b="1" dirty="0">
              <a:solidFill>
                <a:schemeClr val="lt1"/>
              </a:solidFill>
              <a:latin typeface="Helvetica Neue"/>
              <a:ea typeface="Helvetica Neue"/>
              <a:cs typeface="Helvetica Neue"/>
              <a:sym typeface="Helvetica Neue"/>
            </a:endParaRPr>
          </a:p>
        </p:txBody>
      </p:sp>
      <p:sp>
        <p:nvSpPr>
          <p:cNvPr id="56" name="Google Shape;56;p13"/>
          <p:cNvSpPr txBox="1">
            <a:spLocks noGrp="1"/>
          </p:cNvSpPr>
          <p:nvPr>
            <p:ph type="subTitle" idx="1"/>
          </p:nvPr>
        </p:nvSpPr>
        <p:spPr>
          <a:xfrm>
            <a:off x="414225" y="2647950"/>
            <a:ext cx="2869500" cy="634200"/>
          </a:xfrm>
          <a:prstGeom prst="rect">
            <a:avLst/>
          </a:prstGeom>
        </p:spPr>
        <p:txBody>
          <a:bodyPr spcFirstLastPara="1" wrap="square" lIns="91425" tIns="91425" rIns="91425" bIns="91425" anchor="ctr" anchorCtr="0">
            <a:normAutofit fontScale="70000" lnSpcReduction="20000"/>
          </a:bodyPr>
          <a:lstStyle/>
          <a:p>
            <a:pPr marL="0" lvl="0" indent="0" algn="l" rtl="0">
              <a:spcBef>
                <a:spcPts val="0"/>
              </a:spcBef>
              <a:spcAft>
                <a:spcPts val="0"/>
              </a:spcAft>
              <a:buNone/>
            </a:pPr>
            <a:r>
              <a:rPr lang="en" sz="2600" dirty="0">
                <a:solidFill>
                  <a:schemeClr val="lt1"/>
                </a:solidFill>
                <a:latin typeface="Helvetica Neue"/>
                <a:ea typeface="Helvetica Neue"/>
                <a:cs typeface="Helvetica Neue"/>
                <a:sym typeface="Helvetica Neue"/>
              </a:rPr>
              <a:t>Initial Staff Hiring Exercise</a:t>
            </a:r>
            <a:endParaRPr sz="2600" dirty="0">
              <a:solidFill>
                <a:schemeClr val="lt1"/>
              </a:solidFill>
              <a:latin typeface="Helvetica Neue"/>
              <a:ea typeface="Helvetica Neue"/>
              <a:cs typeface="Helvetica Neue"/>
              <a:sym typeface="Helvetica Neue"/>
            </a:endParaRPr>
          </a:p>
        </p:txBody>
      </p:sp>
      <p:sp>
        <p:nvSpPr>
          <p:cNvPr id="57" name="Google Shape;57;p13"/>
          <p:cNvSpPr txBox="1">
            <a:spLocks noGrp="1"/>
          </p:cNvSpPr>
          <p:nvPr>
            <p:ph type="subTitle" idx="1"/>
          </p:nvPr>
        </p:nvSpPr>
        <p:spPr>
          <a:xfrm>
            <a:off x="414225" y="3785450"/>
            <a:ext cx="1380900" cy="330900"/>
          </a:xfrm>
          <a:prstGeom prst="rect">
            <a:avLst/>
          </a:prstGeom>
          <a:noFill/>
        </p:spPr>
        <p:txBody>
          <a:bodyPr spcFirstLastPara="1" wrap="square" lIns="91425" tIns="91425" rIns="91425" bIns="91425" anchor="ctr" anchorCtr="0">
            <a:normAutofit fontScale="85000" lnSpcReduction="20000"/>
          </a:bodyPr>
          <a:lstStyle/>
          <a:p>
            <a:pPr marL="0" lvl="0" indent="0" algn="l" rtl="0">
              <a:spcBef>
                <a:spcPts val="0"/>
              </a:spcBef>
              <a:spcAft>
                <a:spcPts val="0"/>
              </a:spcAft>
              <a:buNone/>
            </a:pPr>
            <a:r>
              <a:rPr lang="en" sz="1400" b="1" dirty="0">
                <a:solidFill>
                  <a:schemeClr val="lt1"/>
                </a:solidFill>
                <a:latin typeface="Helvetica Neue"/>
                <a:ea typeface="Helvetica Neue"/>
                <a:cs typeface="Helvetica Neue"/>
                <a:sym typeface="Helvetica Neue"/>
              </a:rPr>
              <a:t>June 5, 2025</a:t>
            </a:r>
            <a:endParaRPr sz="1400" b="1" dirty="0">
              <a:solidFill>
                <a:schemeClr val="lt1"/>
              </a:solidFill>
              <a:latin typeface="Helvetica Neue"/>
              <a:ea typeface="Helvetica Neue"/>
              <a:cs typeface="Helvetica Neue"/>
              <a:sym typeface="Helvetica Neue"/>
            </a:endParaRPr>
          </a:p>
        </p:txBody>
      </p:sp>
      <p:sp>
        <p:nvSpPr>
          <p:cNvPr id="58" name="Google Shape;58;p13"/>
          <p:cNvSpPr txBox="1">
            <a:spLocks noGrp="1"/>
          </p:cNvSpPr>
          <p:nvPr>
            <p:ph type="subTitle" idx="1"/>
          </p:nvPr>
        </p:nvSpPr>
        <p:spPr>
          <a:xfrm>
            <a:off x="414225" y="4282775"/>
            <a:ext cx="2317958" cy="330900"/>
          </a:xfrm>
          <a:prstGeom prst="rect">
            <a:avLst/>
          </a:prstGeom>
          <a:noFill/>
        </p:spPr>
        <p:txBody>
          <a:bodyPr spcFirstLastPara="1" wrap="square" lIns="91425" tIns="91425" rIns="91425" bIns="91425" anchor="ctr" anchorCtr="0">
            <a:normAutofit fontScale="70000" lnSpcReduction="20000"/>
          </a:bodyPr>
          <a:lstStyle/>
          <a:p>
            <a:pPr marL="0" lvl="0" indent="0" algn="l" rtl="0">
              <a:spcBef>
                <a:spcPts val="0"/>
              </a:spcBef>
              <a:spcAft>
                <a:spcPts val="0"/>
              </a:spcAft>
              <a:buNone/>
            </a:pPr>
            <a:r>
              <a:rPr lang="en" sz="1400" b="1" dirty="0">
                <a:solidFill>
                  <a:schemeClr val="lt1"/>
                </a:solidFill>
                <a:latin typeface="Helvetica Neue"/>
                <a:ea typeface="Helvetica Neue"/>
                <a:cs typeface="Helvetica Neue"/>
                <a:sym typeface="Helvetica Neue"/>
              </a:rPr>
              <a:t>Temi Kolawole, Managing Director</a:t>
            </a:r>
            <a:endParaRPr sz="1400" b="1" dirty="0">
              <a:solidFill>
                <a:schemeClr val="lt1"/>
              </a:solidFill>
              <a:latin typeface="Helvetica Neue"/>
              <a:ea typeface="Helvetica Neue"/>
              <a:cs typeface="Helvetica Neue"/>
              <a:sym typeface="Helvetica Neue"/>
            </a:endParaRPr>
          </a:p>
        </p:txBody>
      </p:sp>
      <p:pic>
        <p:nvPicPr>
          <p:cNvPr id="59" name="Google Shape;59;p13" title="IIH powered by IHS 2.png"/>
          <p:cNvPicPr preferRelativeResize="0"/>
          <p:nvPr/>
        </p:nvPicPr>
        <p:blipFill rotWithShape="1">
          <a:blip r:embed="rId4">
            <a:alphaModFix/>
          </a:blip>
          <a:srcRect/>
          <a:stretch/>
        </p:blipFill>
        <p:spPr>
          <a:xfrm>
            <a:off x="462525" y="550225"/>
            <a:ext cx="1870474" cy="790024"/>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3"/>
        <p:cNvGrpSpPr/>
        <p:nvPr/>
      </p:nvGrpSpPr>
      <p:grpSpPr>
        <a:xfrm>
          <a:off x="0" y="0"/>
          <a:ext cx="0" cy="0"/>
          <a:chOff x="0" y="0"/>
          <a:chExt cx="0" cy="0"/>
        </a:xfrm>
      </p:grpSpPr>
      <p:sp>
        <p:nvSpPr>
          <p:cNvPr id="64" name="Google Shape;64;p14"/>
          <p:cNvSpPr/>
          <p:nvPr/>
        </p:nvSpPr>
        <p:spPr>
          <a:xfrm>
            <a:off x="7525" y="7525"/>
            <a:ext cx="9144000" cy="620700"/>
          </a:xfrm>
          <a:prstGeom prst="rect">
            <a:avLst/>
          </a:prstGeom>
          <a:solidFill>
            <a:srgbClr val="002D1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65" name="Google Shape;65;p14" title="longer border.png"/>
          <p:cNvPicPr preferRelativeResize="0"/>
          <p:nvPr/>
        </p:nvPicPr>
        <p:blipFill>
          <a:blip r:embed="rId3">
            <a:alphaModFix/>
          </a:blip>
          <a:stretch>
            <a:fillRect/>
          </a:stretch>
        </p:blipFill>
        <p:spPr>
          <a:xfrm>
            <a:off x="0" y="445025"/>
            <a:ext cx="9144003" cy="183052"/>
          </a:xfrm>
          <a:prstGeom prst="rect">
            <a:avLst/>
          </a:prstGeom>
          <a:noFill/>
          <a:ln>
            <a:noFill/>
          </a:ln>
        </p:spPr>
      </p:pic>
      <p:sp>
        <p:nvSpPr>
          <p:cNvPr id="66" name="Google Shape;66;p14"/>
          <p:cNvSpPr txBox="1">
            <a:spLocks noGrp="1"/>
          </p:cNvSpPr>
          <p:nvPr>
            <p:ph type="title"/>
          </p:nvPr>
        </p:nvSpPr>
        <p:spPr>
          <a:xfrm>
            <a:off x="146025" y="91299"/>
            <a:ext cx="8520600" cy="285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1400" b="1" dirty="0">
                <a:solidFill>
                  <a:srgbClr val="EFFFEF"/>
                </a:solidFill>
                <a:latin typeface="Avenir Book" panose="02000503020000020003" pitchFamily="2" charset="0"/>
                <a:ea typeface="Helvetica Neue"/>
                <a:cs typeface="Helvetica Neue"/>
                <a:sym typeface="Helvetica Neue"/>
              </a:rPr>
              <a:t>Hiring Report</a:t>
            </a:r>
            <a:endParaRPr sz="1400" b="1" dirty="0">
              <a:solidFill>
                <a:srgbClr val="EFFFEF"/>
              </a:solidFill>
              <a:latin typeface="Avenir Book" panose="02000503020000020003" pitchFamily="2" charset="0"/>
              <a:ea typeface="Helvetica Neue"/>
              <a:cs typeface="Helvetica Neue"/>
              <a:sym typeface="Helvetica Neue"/>
            </a:endParaRPr>
          </a:p>
        </p:txBody>
      </p:sp>
      <p:sp>
        <p:nvSpPr>
          <p:cNvPr id="67" name="Google Shape;67;p14"/>
          <p:cNvSpPr txBox="1">
            <a:spLocks noGrp="1"/>
          </p:cNvSpPr>
          <p:nvPr>
            <p:ph type="body" idx="1"/>
          </p:nvPr>
        </p:nvSpPr>
        <p:spPr>
          <a:xfrm>
            <a:off x="319225" y="756830"/>
            <a:ext cx="8520600" cy="553650"/>
          </a:xfrm>
          <a:prstGeom prst="rect">
            <a:avLst/>
          </a:prstGeom>
        </p:spPr>
        <p:txBody>
          <a:bodyPr spcFirstLastPara="1" wrap="square" lIns="91425" tIns="91425" rIns="91425" bIns="91425" anchor="t" anchorCtr="0">
            <a:normAutofit/>
          </a:bodyPr>
          <a:lstStyle/>
          <a:p>
            <a:pPr marL="0" lvl="0" indent="0" algn="l" rtl="0">
              <a:lnSpc>
                <a:spcPct val="100000"/>
              </a:lnSpc>
              <a:spcBef>
                <a:spcPts val="0"/>
              </a:spcBef>
              <a:spcAft>
                <a:spcPts val="0"/>
              </a:spcAft>
              <a:buClr>
                <a:schemeClr val="dk1"/>
              </a:buClr>
              <a:buSzPts val="1100"/>
              <a:buFont typeface="Arial"/>
              <a:buNone/>
            </a:pPr>
            <a:r>
              <a:rPr lang="en-US" b="1" dirty="0">
                <a:solidFill>
                  <a:schemeClr val="dk1"/>
                </a:solidFill>
                <a:highlight>
                  <a:srgbClr val="FFFFFF"/>
                </a:highlight>
                <a:latin typeface="Avenir"/>
                <a:ea typeface="Avenir"/>
                <a:cs typeface="Avenir"/>
                <a:sym typeface="Avenir"/>
              </a:rPr>
              <a:t>Overview</a:t>
            </a:r>
            <a:endParaRPr b="1" dirty="0">
              <a:solidFill>
                <a:schemeClr val="dk1"/>
              </a:solidFill>
              <a:highlight>
                <a:srgbClr val="FFFFFF"/>
              </a:highlight>
              <a:latin typeface="Avenir"/>
              <a:ea typeface="Avenir"/>
              <a:cs typeface="Avenir"/>
              <a:sym typeface="Avenir"/>
            </a:endParaRPr>
          </a:p>
        </p:txBody>
      </p:sp>
      <p:cxnSp>
        <p:nvCxnSpPr>
          <p:cNvPr id="68" name="Google Shape;68;p14"/>
          <p:cNvCxnSpPr/>
          <p:nvPr/>
        </p:nvCxnSpPr>
        <p:spPr>
          <a:xfrm>
            <a:off x="-7525" y="4706725"/>
            <a:ext cx="9149400" cy="1800"/>
          </a:xfrm>
          <a:prstGeom prst="straightConnector1">
            <a:avLst/>
          </a:prstGeom>
          <a:noFill/>
          <a:ln w="9525" cap="flat" cmpd="sng">
            <a:solidFill>
              <a:srgbClr val="D9D9D9"/>
            </a:solidFill>
            <a:prstDash val="solid"/>
            <a:round/>
            <a:headEnd type="none" w="med" len="med"/>
            <a:tailEnd type="none" w="med" len="med"/>
          </a:ln>
        </p:spPr>
      </p:cxnSp>
      <p:pic>
        <p:nvPicPr>
          <p:cNvPr id="69" name="Google Shape;69;p14" title="IIH powered by IHS 1.png"/>
          <p:cNvPicPr preferRelativeResize="0"/>
          <p:nvPr/>
        </p:nvPicPr>
        <p:blipFill>
          <a:blip r:embed="rId4">
            <a:alphaModFix/>
          </a:blip>
          <a:stretch>
            <a:fillRect/>
          </a:stretch>
        </p:blipFill>
        <p:spPr>
          <a:xfrm>
            <a:off x="319225" y="4781674"/>
            <a:ext cx="676905" cy="285900"/>
          </a:xfrm>
          <a:prstGeom prst="rect">
            <a:avLst/>
          </a:prstGeom>
          <a:noFill/>
          <a:ln>
            <a:noFill/>
          </a:ln>
        </p:spPr>
      </p:pic>
      <p:sp>
        <p:nvSpPr>
          <p:cNvPr id="2" name="Google Shape;67;p14">
            <a:extLst>
              <a:ext uri="{FF2B5EF4-FFF2-40B4-BE49-F238E27FC236}">
                <a16:creationId xmlns:a16="http://schemas.microsoft.com/office/drawing/2014/main" id="{18EB6480-4F45-6F2C-BD77-52CDDBF97493}"/>
              </a:ext>
            </a:extLst>
          </p:cNvPr>
          <p:cNvSpPr txBox="1">
            <a:spLocks/>
          </p:cNvSpPr>
          <p:nvPr/>
        </p:nvSpPr>
        <p:spPr>
          <a:xfrm>
            <a:off x="218739" y="1251424"/>
            <a:ext cx="8520600" cy="339804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marL="114300" indent="0">
              <a:buNone/>
            </a:pPr>
            <a:r>
              <a:rPr lang="en-US" sz="1050" dirty="0">
                <a:solidFill>
                  <a:schemeClr val="tx1">
                    <a:lumMod val="85000"/>
                    <a:lumOff val="15000"/>
                  </a:schemeClr>
                </a:solidFill>
              </a:rPr>
              <a:t>The Ilorin Innovation Hub hiring process was conducted entirely digitally, from application to final interviews, except for two roles — Facility Manager and Facility Technician — which required physical assessments due to the nature of their responsibilities.</a:t>
            </a:r>
          </a:p>
          <a:p>
            <a:pPr marL="114300" indent="0">
              <a:buNone/>
            </a:pPr>
            <a:endParaRPr lang="en-US" sz="1050" dirty="0">
              <a:solidFill>
                <a:schemeClr val="tx1">
                  <a:lumMod val="85000"/>
                  <a:lumOff val="15000"/>
                </a:schemeClr>
              </a:solidFill>
            </a:endParaRPr>
          </a:p>
          <a:p>
            <a:pPr marL="114300" indent="0">
              <a:buNone/>
            </a:pPr>
            <a:r>
              <a:rPr lang="en-US" sz="1050" dirty="0">
                <a:solidFill>
                  <a:schemeClr val="tx1">
                    <a:lumMod val="85000"/>
                    <a:lumOff val="15000"/>
                  </a:schemeClr>
                </a:solidFill>
              </a:rPr>
              <a:t>During the process, it became clear that applicants for the Community Manager (Senior Associate) position did not meet expectations for a senior-level role. The role was therefore regraded to entry-level (Associate) to align with the candidate pool and allow room for growth.</a:t>
            </a:r>
          </a:p>
          <a:p>
            <a:pPr marL="114300" indent="0">
              <a:buNone/>
            </a:pPr>
            <a:endParaRPr lang="en-US" sz="1050" dirty="0">
              <a:solidFill>
                <a:schemeClr val="tx1">
                  <a:lumMod val="85000"/>
                  <a:lumOff val="15000"/>
                </a:schemeClr>
              </a:solidFill>
            </a:endParaRPr>
          </a:p>
          <a:p>
            <a:pPr marL="114300" indent="0">
              <a:buNone/>
            </a:pPr>
            <a:r>
              <a:rPr lang="en-US" sz="1050" dirty="0">
                <a:solidFill>
                  <a:schemeClr val="tx1">
                    <a:lumMod val="85000"/>
                    <a:lumOff val="15000"/>
                  </a:schemeClr>
                </a:solidFill>
              </a:rPr>
              <a:t>A key strategy was the prioritization of geographical representation: candidates of Kwara State origin were prioritized for community-facing and leadership roles, while external candidates were considered for internal support positions. This approach reflects the social dynamics of the Hub’s location. Additionally, for HR Associate candidates with no ties to Kwara (to ensure neutrality and prevent potential biases in the hiring process ) were shortlisted (3) and and direct interviews conducted by the MD. The best and most experienced candidate was selected who then continued the process of hiring for the rest of the staff.</a:t>
            </a:r>
            <a:br>
              <a:rPr lang="en-US" sz="1050" dirty="0">
                <a:solidFill>
                  <a:schemeClr val="tx1">
                    <a:lumMod val="85000"/>
                    <a:lumOff val="15000"/>
                  </a:schemeClr>
                </a:solidFill>
              </a:rPr>
            </a:br>
            <a:br>
              <a:rPr lang="en-US" sz="1050" dirty="0">
                <a:solidFill>
                  <a:schemeClr val="tx1">
                    <a:lumMod val="85000"/>
                    <a:lumOff val="15000"/>
                  </a:schemeClr>
                </a:solidFill>
              </a:rPr>
            </a:br>
            <a:r>
              <a:rPr lang="en-US" sz="1050" dirty="0">
                <a:solidFill>
                  <a:schemeClr val="tx1">
                    <a:lumMod val="85000"/>
                    <a:lumOff val="15000"/>
                  </a:schemeClr>
                </a:solidFill>
              </a:rPr>
              <a:t>To support already on-going activities, a graphic designer who has been working with us before Program Kick-Off was also engaged directly to preserve brand consistency. The Project Manager from </a:t>
            </a:r>
            <a:r>
              <a:rPr lang="en-US" sz="1050" dirty="0" err="1">
                <a:solidFill>
                  <a:schemeClr val="tx1">
                    <a:lumMod val="85000"/>
                    <a:lumOff val="15000"/>
                  </a:schemeClr>
                </a:solidFill>
              </a:rPr>
              <a:t>Geniserve</a:t>
            </a:r>
            <a:r>
              <a:rPr lang="en-US" sz="1050" dirty="0">
                <a:solidFill>
                  <a:schemeClr val="tx1">
                    <a:lumMod val="85000"/>
                    <a:lumOff val="15000"/>
                  </a:schemeClr>
                </a:solidFill>
              </a:rPr>
              <a:t> supported the MD on interviews for technical roles while the Director of Programs joined the MD for non-technical roles.</a:t>
            </a:r>
            <a:br>
              <a:rPr lang="en-US" sz="1050" dirty="0">
                <a:solidFill>
                  <a:schemeClr val="tx1">
                    <a:lumMod val="85000"/>
                    <a:lumOff val="15000"/>
                  </a:schemeClr>
                </a:solidFill>
              </a:rPr>
            </a:br>
            <a:br>
              <a:rPr lang="en-US" sz="1050" dirty="0">
                <a:solidFill>
                  <a:schemeClr val="tx1">
                    <a:lumMod val="85000"/>
                    <a:lumOff val="15000"/>
                  </a:schemeClr>
                </a:solidFill>
              </a:rPr>
            </a:br>
            <a:r>
              <a:rPr lang="en-US" sz="1050" dirty="0">
                <a:solidFill>
                  <a:schemeClr val="tx1">
                    <a:lumMod val="85000"/>
                    <a:lumOff val="15000"/>
                  </a:schemeClr>
                </a:solidFill>
              </a:rPr>
              <a:t>We were also able to achieve a balance in origin and gender among our staff.</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3">
          <a:extLst>
            <a:ext uri="{FF2B5EF4-FFF2-40B4-BE49-F238E27FC236}">
              <a16:creationId xmlns:a16="http://schemas.microsoft.com/office/drawing/2014/main" id="{B083882B-FC2D-83A1-2BD8-38DF9B5B6904}"/>
            </a:ext>
          </a:extLst>
        </p:cNvPr>
        <p:cNvGrpSpPr/>
        <p:nvPr/>
      </p:nvGrpSpPr>
      <p:grpSpPr>
        <a:xfrm>
          <a:off x="0" y="0"/>
          <a:ext cx="0" cy="0"/>
          <a:chOff x="0" y="0"/>
          <a:chExt cx="0" cy="0"/>
        </a:xfrm>
      </p:grpSpPr>
      <p:sp>
        <p:nvSpPr>
          <p:cNvPr id="64" name="Google Shape;64;p14">
            <a:extLst>
              <a:ext uri="{FF2B5EF4-FFF2-40B4-BE49-F238E27FC236}">
                <a16:creationId xmlns:a16="http://schemas.microsoft.com/office/drawing/2014/main" id="{CE5AC0E8-D477-BC47-6044-A693545A0E8D}"/>
              </a:ext>
            </a:extLst>
          </p:cNvPr>
          <p:cNvSpPr/>
          <p:nvPr/>
        </p:nvSpPr>
        <p:spPr>
          <a:xfrm>
            <a:off x="7525" y="7525"/>
            <a:ext cx="9144000" cy="620700"/>
          </a:xfrm>
          <a:prstGeom prst="rect">
            <a:avLst/>
          </a:prstGeom>
          <a:solidFill>
            <a:srgbClr val="002D1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65" name="Google Shape;65;p14" title="longer border.png">
            <a:extLst>
              <a:ext uri="{FF2B5EF4-FFF2-40B4-BE49-F238E27FC236}">
                <a16:creationId xmlns:a16="http://schemas.microsoft.com/office/drawing/2014/main" id="{D3F6953B-078E-C2A6-9E4A-DD1FF19E84B7}"/>
              </a:ext>
            </a:extLst>
          </p:cNvPr>
          <p:cNvPicPr preferRelativeResize="0"/>
          <p:nvPr/>
        </p:nvPicPr>
        <p:blipFill>
          <a:blip r:embed="rId3">
            <a:alphaModFix/>
          </a:blip>
          <a:stretch>
            <a:fillRect/>
          </a:stretch>
        </p:blipFill>
        <p:spPr>
          <a:xfrm>
            <a:off x="0" y="445025"/>
            <a:ext cx="9144003" cy="183052"/>
          </a:xfrm>
          <a:prstGeom prst="rect">
            <a:avLst/>
          </a:prstGeom>
          <a:noFill/>
          <a:ln>
            <a:noFill/>
          </a:ln>
        </p:spPr>
      </p:pic>
      <p:sp>
        <p:nvSpPr>
          <p:cNvPr id="66" name="Google Shape;66;p14">
            <a:extLst>
              <a:ext uri="{FF2B5EF4-FFF2-40B4-BE49-F238E27FC236}">
                <a16:creationId xmlns:a16="http://schemas.microsoft.com/office/drawing/2014/main" id="{11830951-05B0-B6C8-D64A-8F38D404C6D8}"/>
              </a:ext>
            </a:extLst>
          </p:cNvPr>
          <p:cNvSpPr txBox="1">
            <a:spLocks noGrp="1"/>
          </p:cNvSpPr>
          <p:nvPr>
            <p:ph type="title"/>
          </p:nvPr>
        </p:nvSpPr>
        <p:spPr>
          <a:xfrm>
            <a:off x="146025" y="91299"/>
            <a:ext cx="8520600" cy="285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1400" b="1" dirty="0">
                <a:solidFill>
                  <a:srgbClr val="EFFFEF"/>
                </a:solidFill>
                <a:latin typeface="Avenir Book" panose="02000503020000020003" pitchFamily="2" charset="0"/>
                <a:ea typeface="Helvetica Neue"/>
                <a:cs typeface="Helvetica Neue"/>
                <a:sym typeface="Helvetica Neue"/>
              </a:rPr>
              <a:t>Hiring Report</a:t>
            </a:r>
            <a:endParaRPr sz="1400" b="1" dirty="0">
              <a:solidFill>
                <a:srgbClr val="EFFFEF"/>
              </a:solidFill>
              <a:latin typeface="Avenir Book" panose="02000503020000020003" pitchFamily="2" charset="0"/>
              <a:ea typeface="Helvetica Neue"/>
              <a:cs typeface="Helvetica Neue"/>
              <a:sym typeface="Helvetica Neue"/>
            </a:endParaRPr>
          </a:p>
        </p:txBody>
      </p:sp>
      <p:cxnSp>
        <p:nvCxnSpPr>
          <p:cNvPr id="68" name="Google Shape;68;p14">
            <a:extLst>
              <a:ext uri="{FF2B5EF4-FFF2-40B4-BE49-F238E27FC236}">
                <a16:creationId xmlns:a16="http://schemas.microsoft.com/office/drawing/2014/main" id="{C2F1B62C-6A6A-14A9-CF31-2C36809D1118}"/>
              </a:ext>
            </a:extLst>
          </p:cNvPr>
          <p:cNvCxnSpPr/>
          <p:nvPr/>
        </p:nvCxnSpPr>
        <p:spPr>
          <a:xfrm>
            <a:off x="-7525" y="4706725"/>
            <a:ext cx="9149400" cy="1800"/>
          </a:xfrm>
          <a:prstGeom prst="straightConnector1">
            <a:avLst/>
          </a:prstGeom>
          <a:noFill/>
          <a:ln w="9525" cap="flat" cmpd="sng">
            <a:solidFill>
              <a:srgbClr val="D9D9D9"/>
            </a:solidFill>
            <a:prstDash val="solid"/>
            <a:round/>
            <a:headEnd type="none" w="med" len="med"/>
            <a:tailEnd type="none" w="med" len="med"/>
          </a:ln>
        </p:spPr>
      </p:cxnSp>
      <p:pic>
        <p:nvPicPr>
          <p:cNvPr id="69" name="Google Shape;69;p14" title="IIH powered by IHS 1.png">
            <a:extLst>
              <a:ext uri="{FF2B5EF4-FFF2-40B4-BE49-F238E27FC236}">
                <a16:creationId xmlns:a16="http://schemas.microsoft.com/office/drawing/2014/main" id="{A95C92D3-E17A-076F-6678-4EBD741F00C2}"/>
              </a:ext>
            </a:extLst>
          </p:cNvPr>
          <p:cNvPicPr preferRelativeResize="0"/>
          <p:nvPr/>
        </p:nvPicPr>
        <p:blipFill>
          <a:blip r:embed="rId4">
            <a:alphaModFix/>
          </a:blip>
          <a:stretch>
            <a:fillRect/>
          </a:stretch>
        </p:blipFill>
        <p:spPr>
          <a:xfrm>
            <a:off x="319225" y="4781674"/>
            <a:ext cx="676905" cy="285900"/>
          </a:xfrm>
          <a:prstGeom prst="rect">
            <a:avLst/>
          </a:prstGeom>
          <a:noFill/>
          <a:ln>
            <a:noFill/>
          </a:ln>
        </p:spPr>
      </p:pic>
      <p:sp>
        <p:nvSpPr>
          <p:cNvPr id="5" name="Google Shape;67;p14">
            <a:extLst>
              <a:ext uri="{FF2B5EF4-FFF2-40B4-BE49-F238E27FC236}">
                <a16:creationId xmlns:a16="http://schemas.microsoft.com/office/drawing/2014/main" id="{1732D18E-4D82-036B-03CF-86BDE5403E30}"/>
              </a:ext>
            </a:extLst>
          </p:cNvPr>
          <p:cNvSpPr txBox="1">
            <a:spLocks/>
          </p:cNvSpPr>
          <p:nvPr/>
        </p:nvSpPr>
        <p:spPr>
          <a:xfrm>
            <a:off x="319225" y="756830"/>
            <a:ext cx="8520600" cy="553650"/>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marL="0" indent="0">
              <a:lnSpc>
                <a:spcPct val="100000"/>
              </a:lnSpc>
              <a:buClr>
                <a:schemeClr val="dk1"/>
              </a:buClr>
              <a:buSzPts val="1100"/>
              <a:buNone/>
            </a:pPr>
            <a:r>
              <a:rPr lang="en-US" b="1" dirty="0">
                <a:solidFill>
                  <a:schemeClr val="dk1"/>
                </a:solidFill>
                <a:highlight>
                  <a:srgbClr val="FFFFFF"/>
                </a:highlight>
                <a:latin typeface="Avenir"/>
                <a:ea typeface="Avenir"/>
                <a:cs typeface="Avenir"/>
                <a:sym typeface="Avenir"/>
              </a:rPr>
              <a:t>Hiring Funnel Breakdown</a:t>
            </a:r>
          </a:p>
        </p:txBody>
      </p:sp>
      <p:graphicFrame>
        <p:nvGraphicFramePr>
          <p:cNvPr id="3" name="Table 2">
            <a:extLst>
              <a:ext uri="{FF2B5EF4-FFF2-40B4-BE49-F238E27FC236}">
                <a16:creationId xmlns:a16="http://schemas.microsoft.com/office/drawing/2014/main" id="{D7A6FC33-1F14-94A8-1220-47D225874E17}"/>
              </a:ext>
            </a:extLst>
          </p:cNvPr>
          <p:cNvGraphicFramePr>
            <a:graphicFrameLocks noGrp="1"/>
          </p:cNvGraphicFramePr>
          <p:nvPr>
            <p:extLst>
              <p:ext uri="{D42A27DB-BD31-4B8C-83A1-F6EECF244321}">
                <p14:modId xmlns:p14="http://schemas.microsoft.com/office/powerpoint/2010/main" val="2546731077"/>
              </p:ext>
            </p:extLst>
          </p:nvPr>
        </p:nvGraphicFramePr>
        <p:xfrm>
          <a:off x="306324" y="1383629"/>
          <a:ext cx="8521701" cy="2442896"/>
        </p:xfrm>
        <a:graphic>
          <a:graphicData uri="http://schemas.openxmlformats.org/drawingml/2006/table">
            <a:tbl>
              <a:tblPr/>
              <a:tblGrid>
                <a:gridCol w="2840567">
                  <a:extLst>
                    <a:ext uri="{9D8B030D-6E8A-4147-A177-3AD203B41FA5}">
                      <a16:colId xmlns:a16="http://schemas.microsoft.com/office/drawing/2014/main" val="4029900356"/>
                    </a:ext>
                  </a:extLst>
                </a:gridCol>
                <a:gridCol w="2840567">
                  <a:extLst>
                    <a:ext uri="{9D8B030D-6E8A-4147-A177-3AD203B41FA5}">
                      <a16:colId xmlns:a16="http://schemas.microsoft.com/office/drawing/2014/main" val="345403635"/>
                    </a:ext>
                  </a:extLst>
                </a:gridCol>
                <a:gridCol w="2840567">
                  <a:extLst>
                    <a:ext uri="{9D8B030D-6E8A-4147-A177-3AD203B41FA5}">
                      <a16:colId xmlns:a16="http://schemas.microsoft.com/office/drawing/2014/main" val="834283450"/>
                    </a:ext>
                  </a:extLst>
                </a:gridCol>
              </a:tblGrid>
              <a:tr h="304800">
                <a:tc>
                  <a:txBody>
                    <a:bodyPr/>
                    <a:lstStyle/>
                    <a:p>
                      <a:r>
                        <a:rPr lang="en-US" sz="1000" b="1" dirty="0"/>
                        <a:t>Stage</a:t>
                      </a:r>
                    </a:p>
                  </a:txBody>
                  <a:tcPr anchor="ctr">
                    <a:lnL>
                      <a:noFill/>
                    </a:lnL>
                    <a:lnR>
                      <a:noFill/>
                    </a:lnR>
                    <a:lnT>
                      <a:noFill/>
                    </a:lnT>
                    <a:lnB>
                      <a:noFill/>
                    </a:lnB>
                    <a:noFill/>
                  </a:tcPr>
                </a:tc>
                <a:tc>
                  <a:txBody>
                    <a:bodyPr/>
                    <a:lstStyle/>
                    <a:p>
                      <a:r>
                        <a:rPr lang="en-US" sz="1000" b="1"/>
                        <a:t>Count</a:t>
                      </a:r>
                    </a:p>
                  </a:txBody>
                  <a:tcPr anchor="ctr">
                    <a:lnL>
                      <a:noFill/>
                    </a:lnL>
                    <a:lnR>
                      <a:noFill/>
                    </a:lnR>
                    <a:lnT>
                      <a:noFill/>
                    </a:lnT>
                    <a:lnB>
                      <a:noFill/>
                    </a:lnB>
                    <a:noFill/>
                  </a:tcPr>
                </a:tc>
                <a:tc>
                  <a:txBody>
                    <a:bodyPr/>
                    <a:lstStyle/>
                    <a:p>
                      <a:r>
                        <a:rPr lang="en-US" sz="1000" b="1" dirty="0"/>
                        <a:t>Notes/Comments</a:t>
                      </a:r>
                    </a:p>
                  </a:txBody>
                  <a:tcPr anchor="ctr">
                    <a:lnL>
                      <a:noFill/>
                    </a:lnL>
                    <a:lnR>
                      <a:noFill/>
                    </a:lnR>
                    <a:lnT>
                      <a:noFill/>
                    </a:lnT>
                    <a:lnB>
                      <a:noFill/>
                    </a:lnB>
                    <a:noFill/>
                  </a:tcPr>
                </a:tc>
                <a:extLst>
                  <a:ext uri="{0D108BD9-81ED-4DB2-BD59-A6C34878D82A}">
                    <a16:rowId xmlns:a16="http://schemas.microsoft.com/office/drawing/2014/main" val="4111919973"/>
                  </a:ext>
                </a:extLst>
              </a:tr>
              <a:tr h="304800">
                <a:tc>
                  <a:txBody>
                    <a:bodyPr/>
                    <a:lstStyle/>
                    <a:p>
                      <a:r>
                        <a:rPr lang="en-US" sz="1000"/>
                        <a:t>Total Applications Received</a:t>
                      </a:r>
                    </a:p>
                  </a:txBody>
                  <a:tcPr anchor="ctr">
                    <a:lnL>
                      <a:noFill/>
                    </a:lnL>
                    <a:lnR>
                      <a:noFill/>
                    </a:lnR>
                    <a:lnT>
                      <a:noFill/>
                    </a:lnT>
                    <a:lnB>
                      <a:noFill/>
                    </a:lnB>
                    <a:noFill/>
                  </a:tcPr>
                </a:tc>
                <a:tc>
                  <a:txBody>
                    <a:bodyPr/>
                    <a:lstStyle/>
                    <a:p>
                      <a:r>
                        <a:rPr lang="en-US" sz="1000" dirty="0"/>
                        <a:t>356</a:t>
                      </a:r>
                    </a:p>
                  </a:txBody>
                  <a:tcPr anchor="ctr">
                    <a:lnL>
                      <a:noFill/>
                    </a:lnL>
                    <a:lnR>
                      <a:noFill/>
                    </a:lnR>
                    <a:lnT>
                      <a:noFill/>
                    </a:lnT>
                    <a:lnB>
                      <a:noFill/>
                    </a:lnB>
                    <a:noFill/>
                  </a:tcPr>
                </a:tc>
                <a:tc>
                  <a:txBody>
                    <a:bodyPr/>
                    <a:lstStyle/>
                    <a:p>
                      <a:r>
                        <a:rPr lang="en-US" sz="1000" dirty="0"/>
                        <a:t>Across 13 roles</a:t>
                      </a:r>
                    </a:p>
                  </a:txBody>
                  <a:tcPr anchor="ctr">
                    <a:lnL>
                      <a:noFill/>
                    </a:lnL>
                    <a:lnR>
                      <a:noFill/>
                    </a:lnR>
                    <a:lnT>
                      <a:noFill/>
                    </a:lnT>
                    <a:lnB>
                      <a:noFill/>
                    </a:lnB>
                    <a:noFill/>
                  </a:tcPr>
                </a:tc>
                <a:extLst>
                  <a:ext uri="{0D108BD9-81ED-4DB2-BD59-A6C34878D82A}">
                    <a16:rowId xmlns:a16="http://schemas.microsoft.com/office/drawing/2014/main" val="1441972316"/>
                  </a:ext>
                </a:extLst>
              </a:tr>
              <a:tr h="304800">
                <a:tc>
                  <a:txBody>
                    <a:bodyPr/>
                    <a:lstStyle/>
                    <a:p>
                      <a:r>
                        <a:rPr lang="en-US" sz="1000"/>
                        <a:t>Shortlisted Candidates</a:t>
                      </a:r>
                    </a:p>
                  </a:txBody>
                  <a:tcPr anchor="ctr">
                    <a:lnL>
                      <a:noFill/>
                    </a:lnL>
                    <a:lnR>
                      <a:noFill/>
                    </a:lnR>
                    <a:lnT>
                      <a:noFill/>
                    </a:lnT>
                    <a:lnB>
                      <a:noFill/>
                    </a:lnB>
                    <a:noFill/>
                  </a:tcPr>
                </a:tc>
                <a:tc>
                  <a:txBody>
                    <a:bodyPr/>
                    <a:lstStyle/>
                    <a:p>
                      <a:r>
                        <a:rPr lang="en-US" sz="1000"/>
                        <a:t>92</a:t>
                      </a:r>
                    </a:p>
                  </a:txBody>
                  <a:tcPr anchor="ctr">
                    <a:lnL>
                      <a:noFill/>
                    </a:lnL>
                    <a:lnR>
                      <a:noFill/>
                    </a:lnR>
                    <a:lnT>
                      <a:noFill/>
                    </a:lnT>
                    <a:lnB>
                      <a:noFill/>
                    </a:lnB>
                    <a:noFill/>
                  </a:tcPr>
                </a:tc>
                <a:tc>
                  <a:txBody>
                    <a:bodyPr/>
                    <a:lstStyle/>
                    <a:p>
                      <a:r>
                        <a:rPr lang="en-US" sz="1000"/>
                        <a:t>~26% shortlist rate overall</a:t>
                      </a:r>
                    </a:p>
                  </a:txBody>
                  <a:tcPr anchor="ctr">
                    <a:lnL>
                      <a:noFill/>
                    </a:lnL>
                    <a:lnR>
                      <a:noFill/>
                    </a:lnR>
                    <a:lnT>
                      <a:noFill/>
                    </a:lnT>
                    <a:lnB>
                      <a:noFill/>
                    </a:lnB>
                    <a:noFill/>
                  </a:tcPr>
                </a:tc>
                <a:extLst>
                  <a:ext uri="{0D108BD9-81ED-4DB2-BD59-A6C34878D82A}">
                    <a16:rowId xmlns:a16="http://schemas.microsoft.com/office/drawing/2014/main" val="1726077526"/>
                  </a:ext>
                </a:extLst>
              </a:tr>
              <a:tr h="304800">
                <a:tc>
                  <a:txBody>
                    <a:bodyPr/>
                    <a:lstStyle/>
                    <a:p>
                      <a:r>
                        <a:rPr lang="en-US" sz="1000"/>
                        <a:t>1st Round Interviews</a:t>
                      </a:r>
                    </a:p>
                  </a:txBody>
                  <a:tcPr anchor="ctr">
                    <a:lnL>
                      <a:noFill/>
                    </a:lnL>
                    <a:lnR>
                      <a:noFill/>
                    </a:lnR>
                    <a:lnT>
                      <a:noFill/>
                    </a:lnT>
                    <a:lnB>
                      <a:noFill/>
                    </a:lnB>
                    <a:noFill/>
                  </a:tcPr>
                </a:tc>
                <a:tc>
                  <a:txBody>
                    <a:bodyPr/>
                    <a:lstStyle/>
                    <a:p>
                      <a:r>
                        <a:rPr lang="en-US" sz="1000" dirty="0"/>
                        <a:t>92</a:t>
                      </a:r>
                    </a:p>
                  </a:txBody>
                  <a:tcPr anchor="ctr">
                    <a:lnL>
                      <a:noFill/>
                    </a:lnL>
                    <a:lnR>
                      <a:noFill/>
                    </a:lnR>
                    <a:lnT>
                      <a:noFill/>
                    </a:lnT>
                    <a:lnB>
                      <a:noFill/>
                    </a:lnB>
                    <a:noFill/>
                  </a:tcPr>
                </a:tc>
                <a:tc>
                  <a:txBody>
                    <a:bodyPr/>
                    <a:lstStyle/>
                    <a:p>
                      <a:r>
                        <a:rPr lang="en-US" sz="1000" dirty="0"/>
                        <a:t>Conducted virtually for all shortlisted</a:t>
                      </a:r>
                    </a:p>
                  </a:txBody>
                  <a:tcPr anchor="ctr">
                    <a:lnL>
                      <a:noFill/>
                    </a:lnL>
                    <a:lnR>
                      <a:noFill/>
                    </a:lnR>
                    <a:lnT>
                      <a:noFill/>
                    </a:lnT>
                    <a:lnB>
                      <a:noFill/>
                    </a:lnB>
                    <a:noFill/>
                  </a:tcPr>
                </a:tc>
                <a:extLst>
                  <a:ext uri="{0D108BD9-81ED-4DB2-BD59-A6C34878D82A}">
                    <a16:rowId xmlns:a16="http://schemas.microsoft.com/office/drawing/2014/main" val="40115645"/>
                  </a:ext>
                </a:extLst>
              </a:tr>
              <a:tr h="304800">
                <a:tc>
                  <a:txBody>
                    <a:bodyPr/>
                    <a:lstStyle/>
                    <a:p>
                      <a:r>
                        <a:rPr lang="en-US" sz="1000"/>
                        <a:t>2nd Round Interviews</a:t>
                      </a:r>
                    </a:p>
                  </a:txBody>
                  <a:tcPr anchor="ctr">
                    <a:lnL>
                      <a:noFill/>
                    </a:lnL>
                    <a:lnR>
                      <a:noFill/>
                    </a:lnR>
                    <a:lnT>
                      <a:noFill/>
                    </a:lnT>
                    <a:lnB>
                      <a:noFill/>
                    </a:lnB>
                    <a:noFill/>
                  </a:tcPr>
                </a:tc>
                <a:tc>
                  <a:txBody>
                    <a:bodyPr/>
                    <a:lstStyle/>
                    <a:p>
                      <a:r>
                        <a:rPr lang="en-US" sz="1000" dirty="0"/>
                        <a:t>17</a:t>
                      </a:r>
                    </a:p>
                  </a:txBody>
                  <a:tcPr anchor="ctr">
                    <a:lnL>
                      <a:noFill/>
                    </a:lnL>
                    <a:lnR>
                      <a:noFill/>
                    </a:lnR>
                    <a:lnT>
                      <a:noFill/>
                    </a:lnT>
                    <a:lnB>
                      <a:noFill/>
                    </a:lnB>
                    <a:noFill/>
                  </a:tcPr>
                </a:tc>
                <a:tc>
                  <a:txBody>
                    <a:bodyPr/>
                    <a:lstStyle/>
                    <a:p>
                      <a:r>
                        <a:rPr lang="en-US" sz="1000" dirty="0"/>
                        <a:t>3-5 top-tier candidates</a:t>
                      </a:r>
                    </a:p>
                  </a:txBody>
                  <a:tcPr anchor="ctr">
                    <a:lnL>
                      <a:noFill/>
                    </a:lnL>
                    <a:lnR>
                      <a:noFill/>
                    </a:lnR>
                    <a:lnT>
                      <a:noFill/>
                    </a:lnT>
                    <a:lnB>
                      <a:noFill/>
                    </a:lnB>
                    <a:noFill/>
                  </a:tcPr>
                </a:tc>
                <a:extLst>
                  <a:ext uri="{0D108BD9-81ED-4DB2-BD59-A6C34878D82A}">
                    <a16:rowId xmlns:a16="http://schemas.microsoft.com/office/drawing/2014/main" val="3901574725"/>
                  </a:ext>
                </a:extLst>
              </a:tr>
              <a:tr h="309296">
                <a:tc>
                  <a:txBody>
                    <a:bodyPr/>
                    <a:lstStyle/>
                    <a:p>
                      <a:r>
                        <a:rPr lang="en-US" sz="1000" dirty="0"/>
                        <a:t>Physical Interviews</a:t>
                      </a:r>
                    </a:p>
                  </a:txBody>
                  <a:tcPr anchor="ctr">
                    <a:lnL>
                      <a:noFill/>
                    </a:lnL>
                    <a:lnR>
                      <a:noFill/>
                    </a:lnR>
                    <a:lnT>
                      <a:noFill/>
                    </a:lnT>
                    <a:lnB>
                      <a:noFill/>
                    </a:lnB>
                    <a:noFill/>
                  </a:tcPr>
                </a:tc>
                <a:tc>
                  <a:txBody>
                    <a:bodyPr/>
                    <a:lstStyle/>
                    <a:p>
                      <a:r>
                        <a:rPr lang="en-US" sz="1000" dirty="0"/>
                        <a:t>5</a:t>
                      </a:r>
                    </a:p>
                  </a:txBody>
                  <a:tcPr anchor="ctr">
                    <a:lnL>
                      <a:noFill/>
                    </a:lnL>
                    <a:lnR>
                      <a:noFill/>
                    </a:lnR>
                    <a:lnT>
                      <a:noFill/>
                    </a:lnT>
                    <a:lnB>
                      <a:noFill/>
                    </a:lnB>
                    <a:noFill/>
                  </a:tcPr>
                </a:tc>
                <a:tc>
                  <a:txBody>
                    <a:bodyPr/>
                    <a:lstStyle/>
                    <a:p>
                      <a:r>
                        <a:rPr lang="en-US" sz="1000" dirty="0"/>
                        <a:t>Technical roles only</a:t>
                      </a:r>
                    </a:p>
                  </a:txBody>
                  <a:tcPr anchor="ctr">
                    <a:lnL>
                      <a:noFill/>
                    </a:lnL>
                    <a:lnR>
                      <a:noFill/>
                    </a:lnR>
                    <a:lnT>
                      <a:noFill/>
                    </a:lnT>
                    <a:lnB>
                      <a:noFill/>
                    </a:lnB>
                    <a:noFill/>
                  </a:tcPr>
                </a:tc>
                <a:extLst>
                  <a:ext uri="{0D108BD9-81ED-4DB2-BD59-A6C34878D82A}">
                    <a16:rowId xmlns:a16="http://schemas.microsoft.com/office/drawing/2014/main" val="1629858064"/>
                  </a:ext>
                </a:extLst>
              </a:tr>
              <a:tr h="304800">
                <a:tc>
                  <a:txBody>
                    <a:bodyPr/>
                    <a:lstStyle/>
                    <a:p>
                      <a:r>
                        <a:rPr lang="en-US" sz="1000"/>
                        <a:t>Offers Extended</a:t>
                      </a:r>
                    </a:p>
                  </a:txBody>
                  <a:tcPr anchor="ctr">
                    <a:lnL>
                      <a:noFill/>
                    </a:lnL>
                    <a:lnR>
                      <a:noFill/>
                    </a:lnR>
                    <a:lnT>
                      <a:noFill/>
                    </a:lnT>
                    <a:lnB>
                      <a:noFill/>
                    </a:lnB>
                    <a:noFill/>
                  </a:tcPr>
                </a:tc>
                <a:tc>
                  <a:txBody>
                    <a:bodyPr/>
                    <a:lstStyle/>
                    <a:p>
                      <a:r>
                        <a:rPr lang="en-US" sz="1000" dirty="0"/>
                        <a:t>15</a:t>
                      </a:r>
                    </a:p>
                  </a:txBody>
                  <a:tcPr anchor="ctr">
                    <a:lnL>
                      <a:noFill/>
                    </a:lnL>
                    <a:lnR>
                      <a:noFill/>
                    </a:lnR>
                    <a:lnT>
                      <a:noFill/>
                    </a:lnT>
                    <a:lnB>
                      <a:noFill/>
                    </a:lnB>
                    <a:noFill/>
                  </a:tcPr>
                </a:tc>
                <a:tc>
                  <a:txBody>
                    <a:bodyPr/>
                    <a:lstStyle/>
                    <a:p>
                      <a:r>
                        <a:rPr lang="en-US" sz="1000"/>
                        <a:t>Based on top candidates</a:t>
                      </a:r>
                    </a:p>
                  </a:txBody>
                  <a:tcPr anchor="ctr">
                    <a:lnL>
                      <a:noFill/>
                    </a:lnL>
                    <a:lnR>
                      <a:noFill/>
                    </a:lnR>
                    <a:lnT>
                      <a:noFill/>
                    </a:lnT>
                    <a:lnB>
                      <a:noFill/>
                    </a:lnB>
                    <a:noFill/>
                  </a:tcPr>
                </a:tc>
                <a:extLst>
                  <a:ext uri="{0D108BD9-81ED-4DB2-BD59-A6C34878D82A}">
                    <a16:rowId xmlns:a16="http://schemas.microsoft.com/office/drawing/2014/main" val="1614387731"/>
                  </a:ext>
                </a:extLst>
              </a:tr>
              <a:tr h="304800">
                <a:tc>
                  <a:txBody>
                    <a:bodyPr/>
                    <a:lstStyle/>
                    <a:p>
                      <a:r>
                        <a:rPr lang="en-US" sz="1000"/>
                        <a:t>Staff Hired</a:t>
                      </a:r>
                    </a:p>
                  </a:txBody>
                  <a:tcPr anchor="ctr">
                    <a:lnL>
                      <a:noFill/>
                    </a:lnL>
                    <a:lnR>
                      <a:noFill/>
                    </a:lnR>
                    <a:lnT>
                      <a:noFill/>
                    </a:lnT>
                    <a:lnB>
                      <a:noFill/>
                    </a:lnB>
                    <a:noFill/>
                  </a:tcPr>
                </a:tc>
                <a:tc>
                  <a:txBody>
                    <a:bodyPr/>
                    <a:lstStyle/>
                    <a:p>
                      <a:r>
                        <a:rPr lang="en-US" sz="1000" dirty="0"/>
                        <a:t>14</a:t>
                      </a:r>
                    </a:p>
                  </a:txBody>
                  <a:tcPr anchor="ctr">
                    <a:lnL>
                      <a:noFill/>
                    </a:lnL>
                    <a:lnR>
                      <a:noFill/>
                    </a:lnR>
                    <a:lnT>
                      <a:noFill/>
                    </a:lnT>
                    <a:lnB>
                      <a:noFill/>
                    </a:lnB>
                    <a:noFill/>
                  </a:tcPr>
                </a:tc>
                <a:tc>
                  <a:txBody>
                    <a:bodyPr/>
                    <a:lstStyle/>
                    <a:p>
                      <a:r>
                        <a:rPr lang="en-US" sz="1000" dirty="0"/>
                        <a:t>1 Pending onboarding</a:t>
                      </a:r>
                    </a:p>
                  </a:txBody>
                  <a:tcPr anchor="ctr">
                    <a:lnL>
                      <a:noFill/>
                    </a:lnL>
                    <a:lnR>
                      <a:noFill/>
                    </a:lnR>
                    <a:lnT>
                      <a:noFill/>
                    </a:lnT>
                    <a:lnB>
                      <a:noFill/>
                    </a:lnB>
                    <a:noFill/>
                  </a:tcPr>
                </a:tc>
                <a:extLst>
                  <a:ext uri="{0D108BD9-81ED-4DB2-BD59-A6C34878D82A}">
                    <a16:rowId xmlns:a16="http://schemas.microsoft.com/office/drawing/2014/main" val="179135095"/>
                  </a:ext>
                </a:extLst>
              </a:tr>
            </a:tbl>
          </a:graphicData>
        </a:graphic>
      </p:graphicFrame>
    </p:spTree>
    <p:extLst>
      <p:ext uri="{BB962C8B-B14F-4D97-AF65-F5344CB8AC3E}">
        <p14:creationId xmlns:p14="http://schemas.microsoft.com/office/powerpoint/2010/main" val="1169936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3">
          <a:extLst>
            <a:ext uri="{FF2B5EF4-FFF2-40B4-BE49-F238E27FC236}">
              <a16:creationId xmlns:a16="http://schemas.microsoft.com/office/drawing/2014/main" id="{65DD4D6E-82A2-7C0D-8CB9-7BE03A415B94}"/>
            </a:ext>
          </a:extLst>
        </p:cNvPr>
        <p:cNvGrpSpPr/>
        <p:nvPr/>
      </p:nvGrpSpPr>
      <p:grpSpPr>
        <a:xfrm>
          <a:off x="0" y="0"/>
          <a:ext cx="0" cy="0"/>
          <a:chOff x="0" y="0"/>
          <a:chExt cx="0" cy="0"/>
        </a:xfrm>
      </p:grpSpPr>
      <p:sp>
        <p:nvSpPr>
          <p:cNvPr id="64" name="Google Shape;64;p14">
            <a:extLst>
              <a:ext uri="{FF2B5EF4-FFF2-40B4-BE49-F238E27FC236}">
                <a16:creationId xmlns:a16="http://schemas.microsoft.com/office/drawing/2014/main" id="{7E91EB4E-ABCA-731C-F5D7-93F3DC6F6DA3}"/>
              </a:ext>
            </a:extLst>
          </p:cNvPr>
          <p:cNvSpPr/>
          <p:nvPr/>
        </p:nvSpPr>
        <p:spPr>
          <a:xfrm>
            <a:off x="7525" y="7525"/>
            <a:ext cx="9144000" cy="620700"/>
          </a:xfrm>
          <a:prstGeom prst="rect">
            <a:avLst/>
          </a:prstGeom>
          <a:solidFill>
            <a:srgbClr val="002D1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65" name="Google Shape;65;p14" title="longer border.png">
            <a:extLst>
              <a:ext uri="{FF2B5EF4-FFF2-40B4-BE49-F238E27FC236}">
                <a16:creationId xmlns:a16="http://schemas.microsoft.com/office/drawing/2014/main" id="{04E991D5-F49E-8273-F8BF-6CFB00A81556}"/>
              </a:ext>
            </a:extLst>
          </p:cNvPr>
          <p:cNvPicPr preferRelativeResize="0"/>
          <p:nvPr/>
        </p:nvPicPr>
        <p:blipFill>
          <a:blip r:embed="rId3">
            <a:alphaModFix/>
          </a:blip>
          <a:stretch>
            <a:fillRect/>
          </a:stretch>
        </p:blipFill>
        <p:spPr>
          <a:xfrm>
            <a:off x="0" y="445025"/>
            <a:ext cx="9144003" cy="183052"/>
          </a:xfrm>
          <a:prstGeom prst="rect">
            <a:avLst/>
          </a:prstGeom>
          <a:noFill/>
          <a:ln>
            <a:noFill/>
          </a:ln>
        </p:spPr>
      </p:pic>
      <p:sp>
        <p:nvSpPr>
          <p:cNvPr id="66" name="Google Shape;66;p14">
            <a:extLst>
              <a:ext uri="{FF2B5EF4-FFF2-40B4-BE49-F238E27FC236}">
                <a16:creationId xmlns:a16="http://schemas.microsoft.com/office/drawing/2014/main" id="{DF7BBE8F-17B7-68A1-0042-97F728BCEE89}"/>
              </a:ext>
            </a:extLst>
          </p:cNvPr>
          <p:cNvSpPr txBox="1">
            <a:spLocks noGrp="1"/>
          </p:cNvSpPr>
          <p:nvPr>
            <p:ph type="title"/>
          </p:nvPr>
        </p:nvSpPr>
        <p:spPr>
          <a:xfrm>
            <a:off x="146025" y="91299"/>
            <a:ext cx="8520600" cy="285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1400" b="1" dirty="0">
                <a:solidFill>
                  <a:srgbClr val="EFFFEF"/>
                </a:solidFill>
                <a:latin typeface="Avenir Book" panose="02000503020000020003" pitchFamily="2" charset="0"/>
                <a:ea typeface="Helvetica Neue"/>
                <a:cs typeface="Helvetica Neue"/>
                <a:sym typeface="Helvetica Neue"/>
              </a:rPr>
              <a:t>Hiring Report</a:t>
            </a:r>
            <a:endParaRPr sz="1400" b="1" dirty="0">
              <a:solidFill>
                <a:srgbClr val="EFFFEF"/>
              </a:solidFill>
              <a:latin typeface="Avenir Book" panose="02000503020000020003" pitchFamily="2" charset="0"/>
              <a:ea typeface="Helvetica Neue"/>
              <a:cs typeface="Helvetica Neue"/>
              <a:sym typeface="Helvetica Neue"/>
            </a:endParaRPr>
          </a:p>
        </p:txBody>
      </p:sp>
      <p:cxnSp>
        <p:nvCxnSpPr>
          <p:cNvPr id="68" name="Google Shape;68;p14">
            <a:extLst>
              <a:ext uri="{FF2B5EF4-FFF2-40B4-BE49-F238E27FC236}">
                <a16:creationId xmlns:a16="http://schemas.microsoft.com/office/drawing/2014/main" id="{BF186A1C-E796-7468-3441-084DC416C0A7}"/>
              </a:ext>
            </a:extLst>
          </p:cNvPr>
          <p:cNvCxnSpPr/>
          <p:nvPr/>
        </p:nvCxnSpPr>
        <p:spPr>
          <a:xfrm>
            <a:off x="-7525" y="4706725"/>
            <a:ext cx="9149400" cy="1800"/>
          </a:xfrm>
          <a:prstGeom prst="straightConnector1">
            <a:avLst/>
          </a:prstGeom>
          <a:noFill/>
          <a:ln w="9525" cap="flat" cmpd="sng">
            <a:solidFill>
              <a:srgbClr val="D9D9D9"/>
            </a:solidFill>
            <a:prstDash val="solid"/>
            <a:round/>
            <a:headEnd type="none" w="med" len="med"/>
            <a:tailEnd type="none" w="med" len="med"/>
          </a:ln>
        </p:spPr>
      </p:cxnSp>
      <p:pic>
        <p:nvPicPr>
          <p:cNvPr id="69" name="Google Shape;69;p14" title="IIH powered by IHS 1.png">
            <a:extLst>
              <a:ext uri="{FF2B5EF4-FFF2-40B4-BE49-F238E27FC236}">
                <a16:creationId xmlns:a16="http://schemas.microsoft.com/office/drawing/2014/main" id="{F739C7ED-A0A3-62CA-7AF3-C8D811FBF8C9}"/>
              </a:ext>
            </a:extLst>
          </p:cNvPr>
          <p:cNvPicPr preferRelativeResize="0"/>
          <p:nvPr/>
        </p:nvPicPr>
        <p:blipFill>
          <a:blip r:embed="rId4">
            <a:alphaModFix/>
          </a:blip>
          <a:stretch>
            <a:fillRect/>
          </a:stretch>
        </p:blipFill>
        <p:spPr>
          <a:xfrm>
            <a:off x="319225" y="4781674"/>
            <a:ext cx="676905" cy="285900"/>
          </a:xfrm>
          <a:prstGeom prst="rect">
            <a:avLst/>
          </a:prstGeom>
          <a:noFill/>
          <a:ln>
            <a:noFill/>
          </a:ln>
        </p:spPr>
      </p:pic>
      <p:sp>
        <p:nvSpPr>
          <p:cNvPr id="5" name="Google Shape;67;p14">
            <a:extLst>
              <a:ext uri="{FF2B5EF4-FFF2-40B4-BE49-F238E27FC236}">
                <a16:creationId xmlns:a16="http://schemas.microsoft.com/office/drawing/2014/main" id="{ED9E60B8-1E0A-2462-70C7-0E691340B1D8}"/>
              </a:ext>
            </a:extLst>
          </p:cNvPr>
          <p:cNvSpPr txBox="1">
            <a:spLocks/>
          </p:cNvSpPr>
          <p:nvPr/>
        </p:nvSpPr>
        <p:spPr>
          <a:xfrm>
            <a:off x="319225" y="756830"/>
            <a:ext cx="8520600" cy="553650"/>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marL="0" indent="0">
              <a:lnSpc>
                <a:spcPct val="100000"/>
              </a:lnSpc>
              <a:buClr>
                <a:schemeClr val="dk1"/>
              </a:buClr>
              <a:buSzPts val="1100"/>
              <a:buNone/>
            </a:pPr>
            <a:r>
              <a:rPr lang="en-US" b="1" dirty="0">
                <a:solidFill>
                  <a:schemeClr val="dk1"/>
                </a:solidFill>
                <a:highlight>
                  <a:srgbClr val="FFFFFF"/>
                </a:highlight>
                <a:latin typeface="Avenir"/>
                <a:ea typeface="Avenir"/>
                <a:cs typeface="Avenir"/>
                <a:sym typeface="Avenir"/>
              </a:rPr>
              <a:t>Role-Specific Breakdown</a:t>
            </a:r>
          </a:p>
        </p:txBody>
      </p:sp>
      <p:graphicFrame>
        <p:nvGraphicFramePr>
          <p:cNvPr id="2" name="Table 1">
            <a:extLst>
              <a:ext uri="{FF2B5EF4-FFF2-40B4-BE49-F238E27FC236}">
                <a16:creationId xmlns:a16="http://schemas.microsoft.com/office/drawing/2014/main" id="{C69D60DE-C30F-206F-2FF7-EAC4BE54EEBE}"/>
              </a:ext>
            </a:extLst>
          </p:cNvPr>
          <p:cNvGraphicFramePr>
            <a:graphicFrameLocks noGrp="1"/>
          </p:cNvGraphicFramePr>
          <p:nvPr>
            <p:extLst>
              <p:ext uri="{D42A27DB-BD31-4B8C-83A1-F6EECF244321}">
                <p14:modId xmlns:p14="http://schemas.microsoft.com/office/powerpoint/2010/main" val="142550344"/>
              </p:ext>
            </p:extLst>
          </p:nvPr>
        </p:nvGraphicFramePr>
        <p:xfrm>
          <a:off x="439349" y="1253849"/>
          <a:ext cx="8385425" cy="3090757"/>
        </p:xfrm>
        <a:graphic>
          <a:graphicData uri="http://schemas.openxmlformats.org/drawingml/2006/table">
            <a:tbl>
              <a:tblPr firstRow="1" firstCol="1" bandRow="1">
                <a:tableStyleId>{2D5ABB26-0587-4C30-8999-92F81FD0307C}</a:tableStyleId>
              </a:tblPr>
              <a:tblGrid>
                <a:gridCol w="1677085">
                  <a:extLst>
                    <a:ext uri="{9D8B030D-6E8A-4147-A177-3AD203B41FA5}">
                      <a16:colId xmlns:a16="http://schemas.microsoft.com/office/drawing/2014/main" val="1119904027"/>
                    </a:ext>
                  </a:extLst>
                </a:gridCol>
                <a:gridCol w="1677085">
                  <a:extLst>
                    <a:ext uri="{9D8B030D-6E8A-4147-A177-3AD203B41FA5}">
                      <a16:colId xmlns:a16="http://schemas.microsoft.com/office/drawing/2014/main" val="1723764354"/>
                    </a:ext>
                  </a:extLst>
                </a:gridCol>
                <a:gridCol w="1677085">
                  <a:extLst>
                    <a:ext uri="{9D8B030D-6E8A-4147-A177-3AD203B41FA5}">
                      <a16:colId xmlns:a16="http://schemas.microsoft.com/office/drawing/2014/main" val="212118695"/>
                    </a:ext>
                  </a:extLst>
                </a:gridCol>
                <a:gridCol w="1677085">
                  <a:extLst>
                    <a:ext uri="{9D8B030D-6E8A-4147-A177-3AD203B41FA5}">
                      <a16:colId xmlns:a16="http://schemas.microsoft.com/office/drawing/2014/main" val="788226760"/>
                    </a:ext>
                  </a:extLst>
                </a:gridCol>
                <a:gridCol w="1677085">
                  <a:extLst>
                    <a:ext uri="{9D8B030D-6E8A-4147-A177-3AD203B41FA5}">
                      <a16:colId xmlns:a16="http://schemas.microsoft.com/office/drawing/2014/main" val="3178675409"/>
                    </a:ext>
                  </a:extLst>
                </a:gridCol>
              </a:tblGrid>
              <a:tr h="252833">
                <a:tc>
                  <a:txBody>
                    <a:bodyPr/>
                    <a:lstStyle/>
                    <a:p>
                      <a:pPr marL="0" marR="0">
                        <a:lnSpc>
                          <a:spcPct val="115000"/>
                        </a:lnSpc>
                        <a:spcAft>
                          <a:spcPts val="1000"/>
                        </a:spcAft>
                      </a:pPr>
                      <a:r>
                        <a:rPr lang="en-US" sz="700" b="1" dirty="0">
                          <a:effectLst/>
                          <a:latin typeface="+mj-lt"/>
                        </a:rPr>
                        <a:t>Job Title</a:t>
                      </a:r>
                      <a:endParaRPr lang="en-US" sz="700" b="1" dirty="0">
                        <a:effectLst/>
                        <a:latin typeface="+mj-lt"/>
                        <a:ea typeface="MS Mincho" panose="02020609040205080304" pitchFamily="49" charset="-128"/>
                        <a:cs typeface="Times New Roman" panose="02020603050405020304" pitchFamily="18" charset="0"/>
                      </a:endParaRPr>
                    </a:p>
                  </a:txBody>
                  <a:tcPr marL="40541" marR="40541" marT="0" marB="0"/>
                </a:tc>
                <a:tc>
                  <a:txBody>
                    <a:bodyPr/>
                    <a:lstStyle/>
                    <a:p>
                      <a:pPr marL="0" marR="0">
                        <a:lnSpc>
                          <a:spcPct val="115000"/>
                        </a:lnSpc>
                        <a:spcAft>
                          <a:spcPts val="1000"/>
                        </a:spcAft>
                      </a:pPr>
                      <a:r>
                        <a:rPr lang="en-US" sz="700" b="1">
                          <a:effectLst/>
                          <a:latin typeface="+mj-lt"/>
                        </a:rPr>
                        <a:t>Applicants</a:t>
                      </a:r>
                      <a:endParaRPr lang="en-US" sz="700" b="1">
                        <a:effectLst/>
                        <a:latin typeface="+mj-lt"/>
                        <a:ea typeface="MS Mincho" panose="02020609040205080304" pitchFamily="49" charset="-128"/>
                        <a:cs typeface="Times New Roman" panose="02020603050405020304" pitchFamily="18" charset="0"/>
                      </a:endParaRPr>
                    </a:p>
                  </a:txBody>
                  <a:tcPr marL="40541" marR="40541" marT="0" marB="0"/>
                </a:tc>
                <a:tc>
                  <a:txBody>
                    <a:bodyPr/>
                    <a:lstStyle/>
                    <a:p>
                      <a:pPr marL="0" marR="0">
                        <a:lnSpc>
                          <a:spcPct val="115000"/>
                        </a:lnSpc>
                        <a:spcAft>
                          <a:spcPts val="1000"/>
                        </a:spcAft>
                      </a:pPr>
                      <a:r>
                        <a:rPr lang="en-US" sz="700" b="1">
                          <a:effectLst/>
                          <a:latin typeface="+mj-lt"/>
                        </a:rPr>
                        <a:t>Shortlisted</a:t>
                      </a:r>
                      <a:endParaRPr lang="en-US" sz="700" b="1">
                        <a:effectLst/>
                        <a:latin typeface="+mj-lt"/>
                        <a:ea typeface="MS Mincho" panose="02020609040205080304" pitchFamily="49" charset="-128"/>
                        <a:cs typeface="Times New Roman" panose="02020603050405020304" pitchFamily="18" charset="0"/>
                      </a:endParaRPr>
                    </a:p>
                  </a:txBody>
                  <a:tcPr marL="40541" marR="40541" marT="0" marB="0"/>
                </a:tc>
                <a:tc>
                  <a:txBody>
                    <a:bodyPr/>
                    <a:lstStyle/>
                    <a:p>
                      <a:pPr marL="0" marR="0">
                        <a:lnSpc>
                          <a:spcPct val="115000"/>
                        </a:lnSpc>
                        <a:spcAft>
                          <a:spcPts val="1000"/>
                        </a:spcAft>
                      </a:pPr>
                      <a:r>
                        <a:rPr lang="en-US" sz="700" b="1">
                          <a:effectLst/>
                          <a:latin typeface="+mj-lt"/>
                        </a:rPr>
                        <a:t>% Shortlisted</a:t>
                      </a:r>
                      <a:endParaRPr lang="en-US" sz="700" b="1">
                        <a:effectLst/>
                        <a:latin typeface="+mj-lt"/>
                        <a:ea typeface="MS Mincho" panose="02020609040205080304" pitchFamily="49" charset="-128"/>
                        <a:cs typeface="Times New Roman" panose="02020603050405020304" pitchFamily="18" charset="0"/>
                      </a:endParaRPr>
                    </a:p>
                  </a:txBody>
                  <a:tcPr marL="40541" marR="40541" marT="0" marB="0"/>
                </a:tc>
                <a:tc>
                  <a:txBody>
                    <a:bodyPr/>
                    <a:lstStyle/>
                    <a:p>
                      <a:pPr marL="0" marR="0">
                        <a:lnSpc>
                          <a:spcPct val="115000"/>
                        </a:lnSpc>
                        <a:spcAft>
                          <a:spcPts val="1000"/>
                        </a:spcAft>
                      </a:pPr>
                      <a:r>
                        <a:rPr lang="en-US" sz="700" b="1" dirty="0">
                          <a:effectLst/>
                          <a:latin typeface="+mj-lt"/>
                        </a:rPr>
                        <a:t>Interviewers</a:t>
                      </a:r>
                      <a:endParaRPr lang="en-US" sz="700" b="1" dirty="0">
                        <a:effectLst/>
                        <a:latin typeface="+mj-lt"/>
                        <a:ea typeface="MS Mincho" panose="02020609040205080304" pitchFamily="49" charset="-128"/>
                        <a:cs typeface="Times New Roman" panose="02020603050405020304" pitchFamily="18" charset="0"/>
                      </a:endParaRPr>
                    </a:p>
                  </a:txBody>
                  <a:tcPr marL="40541" marR="40541" marT="0" marB="0"/>
                </a:tc>
                <a:extLst>
                  <a:ext uri="{0D108BD9-81ED-4DB2-BD59-A6C34878D82A}">
                    <a16:rowId xmlns:a16="http://schemas.microsoft.com/office/drawing/2014/main" val="2622733200"/>
                  </a:ext>
                </a:extLst>
              </a:tr>
              <a:tr h="234553">
                <a:tc>
                  <a:txBody>
                    <a:bodyPr/>
                    <a:lstStyle/>
                    <a:p>
                      <a:pPr marL="0" marR="0">
                        <a:lnSpc>
                          <a:spcPct val="115000"/>
                        </a:lnSpc>
                        <a:spcAft>
                          <a:spcPts val="1000"/>
                        </a:spcAft>
                      </a:pPr>
                      <a:r>
                        <a:rPr lang="en-US" sz="700">
                          <a:effectLst/>
                          <a:latin typeface="+mj-lt"/>
                        </a:rPr>
                        <a:t>Finance Associate</a:t>
                      </a:r>
                      <a:endParaRPr lang="en-US" sz="700">
                        <a:effectLst/>
                        <a:latin typeface="+mj-lt"/>
                        <a:ea typeface="MS Mincho" panose="02020609040205080304" pitchFamily="49" charset="-128"/>
                        <a:cs typeface="Times New Roman" panose="02020603050405020304" pitchFamily="18" charset="0"/>
                      </a:endParaRPr>
                    </a:p>
                  </a:txBody>
                  <a:tcPr marL="40541" marR="40541" marT="0" marB="0"/>
                </a:tc>
                <a:tc>
                  <a:txBody>
                    <a:bodyPr/>
                    <a:lstStyle/>
                    <a:p>
                      <a:pPr marL="0" marR="0">
                        <a:lnSpc>
                          <a:spcPct val="115000"/>
                        </a:lnSpc>
                        <a:spcAft>
                          <a:spcPts val="1000"/>
                        </a:spcAft>
                      </a:pPr>
                      <a:r>
                        <a:rPr lang="en-US" sz="700">
                          <a:effectLst/>
                          <a:latin typeface="+mj-lt"/>
                        </a:rPr>
                        <a:t>23</a:t>
                      </a:r>
                      <a:endParaRPr lang="en-US" sz="700">
                        <a:effectLst/>
                        <a:latin typeface="+mj-lt"/>
                        <a:ea typeface="MS Mincho" panose="02020609040205080304" pitchFamily="49" charset="-128"/>
                        <a:cs typeface="Times New Roman" panose="02020603050405020304" pitchFamily="18" charset="0"/>
                      </a:endParaRPr>
                    </a:p>
                  </a:txBody>
                  <a:tcPr marL="40541" marR="40541" marT="0" marB="0"/>
                </a:tc>
                <a:tc>
                  <a:txBody>
                    <a:bodyPr/>
                    <a:lstStyle/>
                    <a:p>
                      <a:pPr marL="0" marR="0">
                        <a:lnSpc>
                          <a:spcPct val="115000"/>
                        </a:lnSpc>
                        <a:spcAft>
                          <a:spcPts val="1000"/>
                        </a:spcAft>
                      </a:pPr>
                      <a:r>
                        <a:rPr lang="en-US" sz="700">
                          <a:effectLst/>
                          <a:latin typeface="+mj-lt"/>
                        </a:rPr>
                        <a:t>9</a:t>
                      </a:r>
                      <a:endParaRPr lang="en-US" sz="700">
                        <a:effectLst/>
                        <a:latin typeface="+mj-lt"/>
                        <a:ea typeface="MS Mincho" panose="02020609040205080304" pitchFamily="49" charset="-128"/>
                        <a:cs typeface="Times New Roman" panose="02020603050405020304" pitchFamily="18" charset="0"/>
                      </a:endParaRPr>
                    </a:p>
                  </a:txBody>
                  <a:tcPr marL="40541" marR="40541" marT="0" marB="0"/>
                </a:tc>
                <a:tc>
                  <a:txBody>
                    <a:bodyPr/>
                    <a:lstStyle/>
                    <a:p>
                      <a:pPr marL="0" marR="0">
                        <a:lnSpc>
                          <a:spcPct val="115000"/>
                        </a:lnSpc>
                        <a:spcAft>
                          <a:spcPts val="1000"/>
                        </a:spcAft>
                      </a:pPr>
                      <a:r>
                        <a:rPr lang="en-US" sz="700">
                          <a:effectLst/>
                          <a:latin typeface="+mj-lt"/>
                        </a:rPr>
                        <a:t>39%</a:t>
                      </a:r>
                      <a:endParaRPr lang="en-US" sz="700">
                        <a:effectLst/>
                        <a:latin typeface="+mj-lt"/>
                        <a:ea typeface="MS Mincho" panose="02020609040205080304" pitchFamily="49" charset="-128"/>
                        <a:cs typeface="Times New Roman" panose="02020603050405020304" pitchFamily="18" charset="0"/>
                      </a:endParaRPr>
                    </a:p>
                  </a:txBody>
                  <a:tcPr marL="40541" marR="40541" marT="0" marB="0"/>
                </a:tc>
                <a:tc>
                  <a:txBody>
                    <a:bodyPr/>
                    <a:lstStyle/>
                    <a:p>
                      <a:pPr marL="0" marR="0">
                        <a:lnSpc>
                          <a:spcPct val="115000"/>
                        </a:lnSpc>
                        <a:spcAft>
                          <a:spcPts val="1000"/>
                        </a:spcAft>
                      </a:pPr>
                      <a:r>
                        <a:rPr lang="en-US" sz="700">
                          <a:effectLst/>
                          <a:latin typeface="+mj-lt"/>
                        </a:rPr>
                        <a:t>Zumah, Temi</a:t>
                      </a:r>
                      <a:endParaRPr lang="en-US" sz="700">
                        <a:effectLst/>
                        <a:latin typeface="+mj-lt"/>
                        <a:ea typeface="MS Mincho" panose="02020609040205080304" pitchFamily="49" charset="-128"/>
                        <a:cs typeface="Times New Roman" panose="02020603050405020304" pitchFamily="18" charset="0"/>
                      </a:endParaRPr>
                    </a:p>
                  </a:txBody>
                  <a:tcPr marL="40541" marR="40541" marT="0" marB="0"/>
                </a:tc>
                <a:extLst>
                  <a:ext uri="{0D108BD9-81ED-4DB2-BD59-A6C34878D82A}">
                    <a16:rowId xmlns:a16="http://schemas.microsoft.com/office/drawing/2014/main" val="3473667721"/>
                  </a:ext>
                </a:extLst>
              </a:tr>
              <a:tr h="234553">
                <a:tc>
                  <a:txBody>
                    <a:bodyPr/>
                    <a:lstStyle/>
                    <a:p>
                      <a:pPr marL="0" marR="0">
                        <a:lnSpc>
                          <a:spcPct val="115000"/>
                        </a:lnSpc>
                        <a:spcAft>
                          <a:spcPts val="1000"/>
                        </a:spcAft>
                      </a:pPr>
                      <a:r>
                        <a:rPr lang="en-US" sz="700" dirty="0">
                          <a:effectLst/>
                          <a:latin typeface="+mj-lt"/>
                        </a:rPr>
                        <a:t>Community Manager</a:t>
                      </a:r>
                      <a:endParaRPr lang="en-US" sz="700" dirty="0">
                        <a:effectLst/>
                        <a:latin typeface="+mj-lt"/>
                        <a:ea typeface="MS Mincho" panose="02020609040205080304" pitchFamily="49" charset="-128"/>
                        <a:cs typeface="Times New Roman" panose="02020603050405020304" pitchFamily="18" charset="0"/>
                      </a:endParaRPr>
                    </a:p>
                  </a:txBody>
                  <a:tcPr marL="40541" marR="40541" marT="0" marB="0"/>
                </a:tc>
                <a:tc>
                  <a:txBody>
                    <a:bodyPr/>
                    <a:lstStyle/>
                    <a:p>
                      <a:pPr marL="0" marR="0">
                        <a:lnSpc>
                          <a:spcPct val="115000"/>
                        </a:lnSpc>
                        <a:spcAft>
                          <a:spcPts val="1000"/>
                        </a:spcAft>
                      </a:pPr>
                      <a:r>
                        <a:rPr lang="en-US" sz="700">
                          <a:effectLst/>
                          <a:latin typeface="+mj-lt"/>
                        </a:rPr>
                        <a:t>53</a:t>
                      </a:r>
                      <a:endParaRPr lang="en-US" sz="700">
                        <a:effectLst/>
                        <a:latin typeface="+mj-lt"/>
                        <a:ea typeface="MS Mincho" panose="02020609040205080304" pitchFamily="49" charset="-128"/>
                        <a:cs typeface="Times New Roman" panose="02020603050405020304" pitchFamily="18" charset="0"/>
                      </a:endParaRPr>
                    </a:p>
                  </a:txBody>
                  <a:tcPr marL="40541" marR="40541" marT="0" marB="0"/>
                </a:tc>
                <a:tc>
                  <a:txBody>
                    <a:bodyPr/>
                    <a:lstStyle/>
                    <a:p>
                      <a:pPr marL="0" marR="0">
                        <a:lnSpc>
                          <a:spcPct val="115000"/>
                        </a:lnSpc>
                        <a:spcAft>
                          <a:spcPts val="1000"/>
                        </a:spcAft>
                      </a:pPr>
                      <a:r>
                        <a:rPr lang="en-US" sz="700">
                          <a:effectLst/>
                          <a:latin typeface="+mj-lt"/>
                        </a:rPr>
                        <a:t>13</a:t>
                      </a:r>
                      <a:endParaRPr lang="en-US" sz="700">
                        <a:effectLst/>
                        <a:latin typeface="+mj-lt"/>
                        <a:ea typeface="MS Mincho" panose="02020609040205080304" pitchFamily="49" charset="-128"/>
                        <a:cs typeface="Times New Roman" panose="02020603050405020304" pitchFamily="18" charset="0"/>
                      </a:endParaRPr>
                    </a:p>
                  </a:txBody>
                  <a:tcPr marL="40541" marR="40541" marT="0" marB="0"/>
                </a:tc>
                <a:tc>
                  <a:txBody>
                    <a:bodyPr/>
                    <a:lstStyle/>
                    <a:p>
                      <a:pPr marL="0" marR="0">
                        <a:lnSpc>
                          <a:spcPct val="115000"/>
                        </a:lnSpc>
                        <a:spcAft>
                          <a:spcPts val="1000"/>
                        </a:spcAft>
                      </a:pPr>
                      <a:r>
                        <a:rPr lang="en-US" sz="700">
                          <a:effectLst/>
                          <a:latin typeface="+mj-lt"/>
                        </a:rPr>
                        <a:t>25%</a:t>
                      </a:r>
                      <a:endParaRPr lang="en-US" sz="700">
                        <a:effectLst/>
                        <a:latin typeface="+mj-lt"/>
                        <a:ea typeface="MS Mincho" panose="02020609040205080304" pitchFamily="49" charset="-128"/>
                        <a:cs typeface="Times New Roman" panose="02020603050405020304" pitchFamily="18" charset="0"/>
                      </a:endParaRPr>
                    </a:p>
                  </a:txBody>
                  <a:tcPr marL="40541" marR="40541" marT="0" marB="0"/>
                </a:tc>
                <a:tc>
                  <a:txBody>
                    <a:bodyPr/>
                    <a:lstStyle/>
                    <a:p>
                      <a:pPr marL="0" marR="0">
                        <a:lnSpc>
                          <a:spcPct val="115000"/>
                        </a:lnSpc>
                        <a:spcAft>
                          <a:spcPts val="1000"/>
                        </a:spcAft>
                      </a:pPr>
                      <a:r>
                        <a:rPr lang="en-US" sz="700">
                          <a:effectLst/>
                          <a:latin typeface="+mj-lt"/>
                        </a:rPr>
                        <a:t>Zumah, Temi</a:t>
                      </a:r>
                      <a:endParaRPr lang="en-US" sz="700">
                        <a:effectLst/>
                        <a:latin typeface="+mj-lt"/>
                        <a:ea typeface="MS Mincho" panose="02020609040205080304" pitchFamily="49" charset="-128"/>
                        <a:cs typeface="Times New Roman" panose="02020603050405020304" pitchFamily="18" charset="0"/>
                      </a:endParaRPr>
                    </a:p>
                  </a:txBody>
                  <a:tcPr marL="40541" marR="40541" marT="0" marB="0"/>
                </a:tc>
                <a:extLst>
                  <a:ext uri="{0D108BD9-81ED-4DB2-BD59-A6C34878D82A}">
                    <a16:rowId xmlns:a16="http://schemas.microsoft.com/office/drawing/2014/main" val="1088220312"/>
                  </a:ext>
                </a:extLst>
              </a:tr>
              <a:tr h="234553">
                <a:tc>
                  <a:txBody>
                    <a:bodyPr/>
                    <a:lstStyle/>
                    <a:p>
                      <a:pPr marL="0" marR="0">
                        <a:lnSpc>
                          <a:spcPct val="115000"/>
                        </a:lnSpc>
                        <a:spcAft>
                          <a:spcPts val="1000"/>
                        </a:spcAft>
                      </a:pPr>
                      <a:r>
                        <a:rPr lang="en-US" sz="700">
                          <a:effectLst/>
                          <a:latin typeface="+mj-lt"/>
                        </a:rPr>
                        <a:t>IT Manager</a:t>
                      </a:r>
                      <a:endParaRPr lang="en-US" sz="700">
                        <a:effectLst/>
                        <a:latin typeface="+mj-lt"/>
                        <a:ea typeface="MS Mincho" panose="02020609040205080304" pitchFamily="49" charset="-128"/>
                        <a:cs typeface="Times New Roman" panose="02020603050405020304" pitchFamily="18" charset="0"/>
                      </a:endParaRPr>
                    </a:p>
                  </a:txBody>
                  <a:tcPr marL="40541" marR="40541" marT="0" marB="0"/>
                </a:tc>
                <a:tc>
                  <a:txBody>
                    <a:bodyPr/>
                    <a:lstStyle/>
                    <a:p>
                      <a:pPr marL="0" marR="0">
                        <a:lnSpc>
                          <a:spcPct val="115000"/>
                        </a:lnSpc>
                        <a:spcAft>
                          <a:spcPts val="1000"/>
                        </a:spcAft>
                      </a:pPr>
                      <a:r>
                        <a:rPr lang="en-US" sz="700">
                          <a:effectLst/>
                          <a:latin typeface="+mj-lt"/>
                        </a:rPr>
                        <a:t>26</a:t>
                      </a:r>
                      <a:endParaRPr lang="en-US" sz="700">
                        <a:effectLst/>
                        <a:latin typeface="+mj-lt"/>
                        <a:ea typeface="MS Mincho" panose="02020609040205080304" pitchFamily="49" charset="-128"/>
                        <a:cs typeface="Times New Roman" panose="02020603050405020304" pitchFamily="18" charset="0"/>
                      </a:endParaRPr>
                    </a:p>
                  </a:txBody>
                  <a:tcPr marL="40541" marR="40541" marT="0" marB="0"/>
                </a:tc>
                <a:tc>
                  <a:txBody>
                    <a:bodyPr/>
                    <a:lstStyle/>
                    <a:p>
                      <a:pPr marL="0" marR="0">
                        <a:lnSpc>
                          <a:spcPct val="115000"/>
                        </a:lnSpc>
                        <a:spcAft>
                          <a:spcPts val="1000"/>
                        </a:spcAft>
                      </a:pPr>
                      <a:r>
                        <a:rPr lang="en-US" sz="700">
                          <a:effectLst/>
                          <a:latin typeface="+mj-lt"/>
                        </a:rPr>
                        <a:t>9</a:t>
                      </a:r>
                      <a:endParaRPr lang="en-US" sz="700">
                        <a:effectLst/>
                        <a:latin typeface="+mj-lt"/>
                        <a:ea typeface="MS Mincho" panose="02020609040205080304" pitchFamily="49" charset="-128"/>
                        <a:cs typeface="Times New Roman" panose="02020603050405020304" pitchFamily="18" charset="0"/>
                      </a:endParaRPr>
                    </a:p>
                  </a:txBody>
                  <a:tcPr marL="40541" marR="40541" marT="0" marB="0"/>
                </a:tc>
                <a:tc>
                  <a:txBody>
                    <a:bodyPr/>
                    <a:lstStyle/>
                    <a:p>
                      <a:pPr marL="0" marR="0">
                        <a:lnSpc>
                          <a:spcPct val="115000"/>
                        </a:lnSpc>
                        <a:spcAft>
                          <a:spcPts val="1000"/>
                        </a:spcAft>
                      </a:pPr>
                      <a:r>
                        <a:rPr lang="en-US" sz="700">
                          <a:effectLst/>
                          <a:latin typeface="+mj-lt"/>
                        </a:rPr>
                        <a:t>35%</a:t>
                      </a:r>
                      <a:endParaRPr lang="en-US" sz="700">
                        <a:effectLst/>
                        <a:latin typeface="+mj-lt"/>
                        <a:ea typeface="MS Mincho" panose="02020609040205080304" pitchFamily="49" charset="-128"/>
                        <a:cs typeface="Times New Roman" panose="02020603050405020304" pitchFamily="18" charset="0"/>
                      </a:endParaRPr>
                    </a:p>
                  </a:txBody>
                  <a:tcPr marL="40541" marR="40541" marT="0" marB="0"/>
                </a:tc>
                <a:tc>
                  <a:txBody>
                    <a:bodyPr/>
                    <a:lstStyle/>
                    <a:p>
                      <a:pPr marL="0" marR="0">
                        <a:lnSpc>
                          <a:spcPct val="115000"/>
                        </a:lnSpc>
                        <a:spcAft>
                          <a:spcPts val="1000"/>
                        </a:spcAft>
                      </a:pPr>
                      <a:r>
                        <a:rPr lang="en-US" sz="700">
                          <a:effectLst/>
                          <a:latin typeface="+mj-lt"/>
                        </a:rPr>
                        <a:t>Temi, PM</a:t>
                      </a:r>
                      <a:endParaRPr lang="en-US" sz="700">
                        <a:effectLst/>
                        <a:latin typeface="+mj-lt"/>
                        <a:ea typeface="MS Mincho" panose="02020609040205080304" pitchFamily="49" charset="-128"/>
                        <a:cs typeface="Times New Roman" panose="02020603050405020304" pitchFamily="18" charset="0"/>
                      </a:endParaRPr>
                    </a:p>
                  </a:txBody>
                  <a:tcPr marL="40541" marR="40541" marT="0" marB="0"/>
                </a:tc>
                <a:extLst>
                  <a:ext uri="{0D108BD9-81ED-4DB2-BD59-A6C34878D82A}">
                    <a16:rowId xmlns:a16="http://schemas.microsoft.com/office/drawing/2014/main" val="3635384681"/>
                  </a:ext>
                </a:extLst>
              </a:tr>
              <a:tr h="234553">
                <a:tc>
                  <a:txBody>
                    <a:bodyPr/>
                    <a:lstStyle/>
                    <a:p>
                      <a:pPr marL="0" marR="0">
                        <a:lnSpc>
                          <a:spcPct val="115000"/>
                        </a:lnSpc>
                        <a:spcAft>
                          <a:spcPts val="1000"/>
                        </a:spcAft>
                      </a:pPr>
                      <a:r>
                        <a:rPr lang="en-US" sz="700">
                          <a:effectLst/>
                          <a:latin typeface="+mj-lt"/>
                        </a:rPr>
                        <a:t>IT Support Associate</a:t>
                      </a:r>
                      <a:endParaRPr lang="en-US" sz="700">
                        <a:effectLst/>
                        <a:latin typeface="+mj-lt"/>
                        <a:ea typeface="MS Mincho" panose="02020609040205080304" pitchFamily="49" charset="-128"/>
                        <a:cs typeface="Times New Roman" panose="02020603050405020304" pitchFamily="18" charset="0"/>
                      </a:endParaRPr>
                    </a:p>
                  </a:txBody>
                  <a:tcPr marL="40541" marR="40541" marT="0" marB="0"/>
                </a:tc>
                <a:tc>
                  <a:txBody>
                    <a:bodyPr/>
                    <a:lstStyle/>
                    <a:p>
                      <a:pPr marL="0" marR="0">
                        <a:lnSpc>
                          <a:spcPct val="115000"/>
                        </a:lnSpc>
                        <a:spcAft>
                          <a:spcPts val="1000"/>
                        </a:spcAft>
                      </a:pPr>
                      <a:r>
                        <a:rPr lang="en-US" sz="700">
                          <a:effectLst/>
                          <a:latin typeface="+mj-lt"/>
                        </a:rPr>
                        <a:t>55</a:t>
                      </a:r>
                      <a:endParaRPr lang="en-US" sz="700">
                        <a:effectLst/>
                        <a:latin typeface="+mj-lt"/>
                        <a:ea typeface="MS Mincho" panose="02020609040205080304" pitchFamily="49" charset="-128"/>
                        <a:cs typeface="Times New Roman" panose="02020603050405020304" pitchFamily="18" charset="0"/>
                      </a:endParaRPr>
                    </a:p>
                  </a:txBody>
                  <a:tcPr marL="40541" marR="40541" marT="0" marB="0"/>
                </a:tc>
                <a:tc>
                  <a:txBody>
                    <a:bodyPr/>
                    <a:lstStyle/>
                    <a:p>
                      <a:pPr marL="0" marR="0">
                        <a:lnSpc>
                          <a:spcPct val="115000"/>
                        </a:lnSpc>
                        <a:spcAft>
                          <a:spcPts val="1000"/>
                        </a:spcAft>
                      </a:pPr>
                      <a:r>
                        <a:rPr lang="en-US" sz="700">
                          <a:effectLst/>
                          <a:latin typeface="+mj-lt"/>
                        </a:rPr>
                        <a:t>17</a:t>
                      </a:r>
                      <a:endParaRPr lang="en-US" sz="700">
                        <a:effectLst/>
                        <a:latin typeface="+mj-lt"/>
                        <a:ea typeface="MS Mincho" panose="02020609040205080304" pitchFamily="49" charset="-128"/>
                        <a:cs typeface="Times New Roman" panose="02020603050405020304" pitchFamily="18" charset="0"/>
                      </a:endParaRPr>
                    </a:p>
                  </a:txBody>
                  <a:tcPr marL="40541" marR="40541" marT="0" marB="0"/>
                </a:tc>
                <a:tc>
                  <a:txBody>
                    <a:bodyPr/>
                    <a:lstStyle/>
                    <a:p>
                      <a:pPr marL="0" marR="0">
                        <a:lnSpc>
                          <a:spcPct val="115000"/>
                        </a:lnSpc>
                        <a:spcAft>
                          <a:spcPts val="1000"/>
                        </a:spcAft>
                      </a:pPr>
                      <a:r>
                        <a:rPr lang="en-US" sz="700">
                          <a:effectLst/>
                          <a:latin typeface="+mj-lt"/>
                        </a:rPr>
                        <a:t>31%</a:t>
                      </a:r>
                      <a:endParaRPr lang="en-US" sz="700">
                        <a:effectLst/>
                        <a:latin typeface="+mj-lt"/>
                        <a:ea typeface="MS Mincho" panose="02020609040205080304" pitchFamily="49" charset="-128"/>
                        <a:cs typeface="Times New Roman" panose="02020603050405020304" pitchFamily="18" charset="0"/>
                      </a:endParaRPr>
                    </a:p>
                  </a:txBody>
                  <a:tcPr marL="40541" marR="40541" marT="0" marB="0"/>
                </a:tc>
                <a:tc>
                  <a:txBody>
                    <a:bodyPr/>
                    <a:lstStyle/>
                    <a:p>
                      <a:pPr marL="0" marR="0">
                        <a:lnSpc>
                          <a:spcPct val="115000"/>
                        </a:lnSpc>
                        <a:spcAft>
                          <a:spcPts val="1000"/>
                        </a:spcAft>
                      </a:pPr>
                      <a:r>
                        <a:rPr lang="en-US" sz="700">
                          <a:effectLst/>
                          <a:latin typeface="+mj-lt"/>
                        </a:rPr>
                        <a:t>Temi, PM</a:t>
                      </a:r>
                      <a:endParaRPr lang="en-US" sz="700">
                        <a:effectLst/>
                        <a:latin typeface="+mj-lt"/>
                        <a:ea typeface="MS Mincho" panose="02020609040205080304" pitchFamily="49" charset="-128"/>
                        <a:cs typeface="Times New Roman" panose="02020603050405020304" pitchFamily="18" charset="0"/>
                      </a:endParaRPr>
                    </a:p>
                  </a:txBody>
                  <a:tcPr marL="40541" marR="40541" marT="0" marB="0"/>
                </a:tc>
                <a:extLst>
                  <a:ext uri="{0D108BD9-81ED-4DB2-BD59-A6C34878D82A}">
                    <a16:rowId xmlns:a16="http://schemas.microsoft.com/office/drawing/2014/main" val="154780285"/>
                  </a:ext>
                </a:extLst>
              </a:tr>
              <a:tr h="281939">
                <a:tc>
                  <a:txBody>
                    <a:bodyPr/>
                    <a:lstStyle/>
                    <a:p>
                      <a:pPr marL="0" marR="0">
                        <a:lnSpc>
                          <a:spcPct val="115000"/>
                        </a:lnSpc>
                        <a:spcAft>
                          <a:spcPts val="1000"/>
                        </a:spcAft>
                      </a:pPr>
                      <a:r>
                        <a:rPr lang="en-US" sz="700">
                          <a:effectLst/>
                          <a:latin typeface="+mj-lt"/>
                        </a:rPr>
                        <a:t>Content &amp; Marketing Lead</a:t>
                      </a:r>
                      <a:endParaRPr lang="en-US" sz="700">
                        <a:effectLst/>
                        <a:latin typeface="+mj-lt"/>
                        <a:ea typeface="MS Mincho" panose="02020609040205080304" pitchFamily="49" charset="-128"/>
                        <a:cs typeface="Times New Roman" panose="02020603050405020304" pitchFamily="18" charset="0"/>
                      </a:endParaRPr>
                    </a:p>
                  </a:txBody>
                  <a:tcPr marL="40541" marR="40541" marT="0" marB="0"/>
                </a:tc>
                <a:tc>
                  <a:txBody>
                    <a:bodyPr/>
                    <a:lstStyle/>
                    <a:p>
                      <a:pPr marL="0" marR="0">
                        <a:lnSpc>
                          <a:spcPct val="115000"/>
                        </a:lnSpc>
                        <a:spcAft>
                          <a:spcPts val="1000"/>
                        </a:spcAft>
                      </a:pPr>
                      <a:r>
                        <a:rPr lang="en-US" sz="700">
                          <a:effectLst/>
                          <a:latin typeface="+mj-lt"/>
                        </a:rPr>
                        <a:t>14</a:t>
                      </a:r>
                      <a:endParaRPr lang="en-US" sz="700">
                        <a:effectLst/>
                        <a:latin typeface="+mj-lt"/>
                        <a:ea typeface="MS Mincho" panose="02020609040205080304" pitchFamily="49" charset="-128"/>
                        <a:cs typeface="Times New Roman" panose="02020603050405020304" pitchFamily="18" charset="0"/>
                      </a:endParaRPr>
                    </a:p>
                  </a:txBody>
                  <a:tcPr marL="40541" marR="40541" marT="0" marB="0"/>
                </a:tc>
                <a:tc>
                  <a:txBody>
                    <a:bodyPr/>
                    <a:lstStyle/>
                    <a:p>
                      <a:pPr marL="0" marR="0">
                        <a:lnSpc>
                          <a:spcPct val="115000"/>
                        </a:lnSpc>
                        <a:spcAft>
                          <a:spcPts val="1000"/>
                        </a:spcAft>
                      </a:pPr>
                      <a:r>
                        <a:rPr lang="en-US" sz="700">
                          <a:effectLst/>
                          <a:latin typeface="+mj-lt"/>
                        </a:rPr>
                        <a:t>6</a:t>
                      </a:r>
                      <a:endParaRPr lang="en-US" sz="700">
                        <a:effectLst/>
                        <a:latin typeface="+mj-lt"/>
                        <a:ea typeface="MS Mincho" panose="02020609040205080304" pitchFamily="49" charset="-128"/>
                        <a:cs typeface="Times New Roman" panose="02020603050405020304" pitchFamily="18" charset="0"/>
                      </a:endParaRPr>
                    </a:p>
                  </a:txBody>
                  <a:tcPr marL="40541" marR="40541" marT="0" marB="0"/>
                </a:tc>
                <a:tc>
                  <a:txBody>
                    <a:bodyPr/>
                    <a:lstStyle/>
                    <a:p>
                      <a:pPr marL="0" marR="0">
                        <a:lnSpc>
                          <a:spcPct val="115000"/>
                        </a:lnSpc>
                        <a:spcAft>
                          <a:spcPts val="1000"/>
                        </a:spcAft>
                      </a:pPr>
                      <a:r>
                        <a:rPr lang="en-US" sz="700">
                          <a:effectLst/>
                          <a:latin typeface="+mj-lt"/>
                        </a:rPr>
                        <a:t>43%</a:t>
                      </a:r>
                      <a:endParaRPr lang="en-US" sz="700">
                        <a:effectLst/>
                        <a:latin typeface="+mj-lt"/>
                        <a:ea typeface="MS Mincho" panose="02020609040205080304" pitchFamily="49" charset="-128"/>
                        <a:cs typeface="Times New Roman" panose="02020603050405020304" pitchFamily="18" charset="0"/>
                      </a:endParaRPr>
                    </a:p>
                  </a:txBody>
                  <a:tcPr marL="40541" marR="40541" marT="0" marB="0"/>
                </a:tc>
                <a:tc>
                  <a:txBody>
                    <a:bodyPr/>
                    <a:lstStyle/>
                    <a:p>
                      <a:pPr marL="0" marR="0">
                        <a:lnSpc>
                          <a:spcPct val="115000"/>
                        </a:lnSpc>
                        <a:spcAft>
                          <a:spcPts val="1000"/>
                        </a:spcAft>
                      </a:pPr>
                      <a:r>
                        <a:rPr lang="en-US" sz="700">
                          <a:effectLst/>
                          <a:latin typeface="+mj-lt"/>
                        </a:rPr>
                        <a:t>Temi, HR</a:t>
                      </a:r>
                      <a:endParaRPr lang="en-US" sz="700">
                        <a:effectLst/>
                        <a:latin typeface="+mj-lt"/>
                        <a:ea typeface="MS Mincho" panose="02020609040205080304" pitchFamily="49" charset="-128"/>
                        <a:cs typeface="Times New Roman" panose="02020603050405020304" pitchFamily="18" charset="0"/>
                      </a:endParaRPr>
                    </a:p>
                  </a:txBody>
                  <a:tcPr marL="40541" marR="40541" marT="0" marB="0"/>
                </a:tc>
                <a:extLst>
                  <a:ext uri="{0D108BD9-81ED-4DB2-BD59-A6C34878D82A}">
                    <a16:rowId xmlns:a16="http://schemas.microsoft.com/office/drawing/2014/main" val="720844554"/>
                  </a:ext>
                </a:extLst>
              </a:tr>
              <a:tr h="248680">
                <a:tc>
                  <a:txBody>
                    <a:bodyPr/>
                    <a:lstStyle/>
                    <a:p>
                      <a:pPr marL="0" marR="0">
                        <a:lnSpc>
                          <a:spcPct val="115000"/>
                        </a:lnSpc>
                        <a:spcAft>
                          <a:spcPts val="1000"/>
                        </a:spcAft>
                      </a:pPr>
                      <a:r>
                        <a:rPr lang="en-US" sz="700" dirty="0">
                          <a:effectLst/>
                          <a:latin typeface="+mj-lt"/>
                        </a:rPr>
                        <a:t>HR Associate</a:t>
                      </a:r>
                      <a:endParaRPr lang="en-US" sz="700" dirty="0">
                        <a:effectLst/>
                        <a:latin typeface="+mj-lt"/>
                        <a:ea typeface="MS Mincho" panose="02020609040205080304" pitchFamily="49" charset="-128"/>
                        <a:cs typeface="Times New Roman" panose="02020603050405020304" pitchFamily="18" charset="0"/>
                      </a:endParaRPr>
                    </a:p>
                  </a:txBody>
                  <a:tcPr marL="40541" marR="40541" marT="0" marB="0"/>
                </a:tc>
                <a:tc>
                  <a:txBody>
                    <a:bodyPr/>
                    <a:lstStyle/>
                    <a:p>
                      <a:pPr marL="0" marR="0">
                        <a:lnSpc>
                          <a:spcPct val="115000"/>
                        </a:lnSpc>
                        <a:spcAft>
                          <a:spcPts val="1000"/>
                        </a:spcAft>
                      </a:pPr>
                      <a:r>
                        <a:rPr lang="en-US" sz="700" dirty="0">
                          <a:effectLst/>
                          <a:latin typeface="+mj-lt"/>
                        </a:rPr>
                        <a:t>61</a:t>
                      </a:r>
                      <a:endParaRPr lang="en-US" sz="700" dirty="0">
                        <a:effectLst/>
                        <a:latin typeface="+mj-lt"/>
                        <a:ea typeface="MS Mincho" panose="02020609040205080304" pitchFamily="49" charset="-128"/>
                        <a:cs typeface="Times New Roman" panose="02020603050405020304" pitchFamily="18" charset="0"/>
                      </a:endParaRPr>
                    </a:p>
                  </a:txBody>
                  <a:tcPr marL="40541" marR="40541" marT="0" marB="0"/>
                </a:tc>
                <a:tc>
                  <a:txBody>
                    <a:bodyPr/>
                    <a:lstStyle/>
                    <a:p>
                      <a:pPr marL="0" marR="0">
                        <a:lnSpc>
                          <a:spcPct val="115000"/>
                        </a:lnSpc>
                        <a:spcAft>
                          <a:spcPts val="1000"/>
                        </a:spcAft>
                      </a:pPr>
                      <a:r>
                        <a:rPr lang="en-US" sz="700">
                          <a:effectLst/>
                          <a:latin typeface="+mj-lt"/>
                        </a:rPr>
                        <a:t>3</a:t>
                      </a:r>
                      <a:endParaRPr lang="en-US" sz="700">
                        <a:effectLst/>
                        <a:latin typeface="+mj-lt"/>
                        <a:ea typeface="MS Mincho" panose="02020609040205080304" pitchFamily="49" charset="-128"/>
                        <a:cs typeface="Times New Roman" panose="02020603050405020304" pitchFamily="18" charset="0"/>
                      </a:endParaRPr>
                    </a:p>
                  </a:txBody>
                  <a:tcPr marL="40541" marR="40541" marT="0" marB="0"/>
                </a:tc>
                <a:tc>
                  <a:txBody>
                    <a:bodyPr/>
                    <a:lstStyle/>
                    <a:p>
                      <a:pPr marL="0" marR="0">
                        <a:lnSpc>
                          <a:spcPct val="115000"/>
                        </a:lnSpc>
                        <a:spcAft>
                          <a:spcPts val="1000"/>
                        </a:spcAft>
                      </a:pPr>
                      <a:r>
                        <a:rPr lang="en-US" sz="700">
                          <a:effectLst/>
                          <a:latin typeface="+mj-lt"/>
                        </a:rPr>
                        <a:t>5%</a:t>
                      </a:r>
                      <a:endParaRPr lang="en-US" sz="700">
                        <a:effectLst/>
                        <a:latin typeface="+mj-lt"/>
                        <a:ea typeface="MS Mincho" panose="02020609040205080304" pitchFamily="49" charset="-128"/>
                        <a:cs typeface="Times New Roman" panose="02020603050405020304" pitchFamily="18" charset="0"/>
                      </a:endParaRPr>
                    </a:p>
                  </a:txBody>
                  <a:tcPr marL="40541" marR="40541" marT="0" marB="0"/>
                </a:tc>
                <a:tc>
                  <a:txBody>
                    <a:bodyPr/>
                    <a:lstStyle/>
                    <a:p>
                      <a:pPr marL="0" marR="0">
                        <a:lnSpc>
                          <a:spcPct val="115000"/>
                        </a:lnSpc>
                        <a:spcAft>
                          <a:spcPts val="1000"/>
                        </a:spcAft>
                      </a:pPr>
                      <a:r>
                        <a:rPr lang="en-US" sz="700">
                          <a:effectLst/>
                          <a:latin typeface="+mj-lt"/>
                        </a:rPr>
                        <a:t>Temi</a:t>
                      </a:r>
                      <a:endParaRPr lang="en-US" sz="700">
                        <a:effectLst/>
                        <a:latin typeface="+mj-lt"/>
                        <a:ea typeface="MS Mincho" panose="02020609040205080304" pitchFamily="49" charset="-128"/>
                        <a:cs typeface="Times New Roman" panose="02020603050405020304" pitchFamily="18" charset="0"/>
                      </a:endParaRPr>
                    </a:p>
                  </a:txBody>
                  <a:tcPr marL="40541" marR="40541" marT="0" marB="0"/>
                </a:tc>
                <a:extLst>
                  <a:ext uri="{0D108BD9-81ED-4DB2-BD59-A6C34878D82A}">
                    <a16:rowId xmlns:a16="http://schemas.microsoft.com/office/drawing/2014/main" val="499742280"/>
                  </a:ext>
                </a:extLst>
              </a:tr>
              <a:tr h="248682">
                <a:tc>
                  <a:txBody>
                    <a:bodyPr/>
                    <a:lstStyle/>
                    <a:p>
                      <a:pPr marL="0" marR="0">
                        <a:lnSpc>
                          <a:spcPct val="115000"/>
                        </a:lnSpc>
                        <a:spcAft>
                          <a:spcPts val="1000"/>
                        </a:spcAft>
                      </a:pPr>
                      <a:r>
                        <a:rPr lang="en-US" sz="700" dirty="0">
                          <a:effectLst/>
                          <a:latin typeface="+mj-lt"/>
                        </a:rPr>
                        <a:t>Graphics &amp; Visual Design</a:t>
                      </a:r>
                      <a:endParaRPr lang="en-US" sz="700" dirty="0">
                        <a:effectLst/>
                        <a:latin typeface="+mj-lt"/>
                        <a:ea typeface="MS Mincho" panose="02020609040205080304" pitchFamily="49" charset="-128"/>
                        <a:cs typeface="Times New Roman" panose="02020603050405020304" pitchFamily="18" charset="0"/>
                      </a:endParaRPr>
                    </a:p>
                  </a:txBody>
                  <a:tcPr marL="40541" marR="40541" marT="0" marB="0"/>
                </a:tc>
                <a:tc>
                  <a:txBody>
                    <a:bodyPr/>
                    <a:lstStyle/>
                    <a:p>
                      <a:pPr marL="0" marR="0">
                        <a:lnSpc>
                          <a:spcPct val="115000"/>
                        </a:lnSpc>
                        <a:spcAft>
                          <a:spcPts val="1000"/>
                        </a:spcAft>
                      </a:pPr>
                      <a:r>
                        <a:rPr lang="en-US" sz="700">
                          <a:effectLst/>
                          <a:latin typeface="+mj-lt"/>
                        </a:rPr>
                        <a:t>11</a:t>
                      </a:r>
                      <a:endParaRPr lang="en-US" sz="700">
                        <a:effectLst/>
                        <a:latin typeface="+mj-lt"/>
                        <a:ea typeface="MS Mincho" panose="02020609040205080304" pitchFamily="49" charset="-128"/>
                        <a:cs typeface="Times New Roman" panose="02020603050405020304" pitchFamily="18" charset="0"/>
                      </a:endParaRPr>
                    </a:p>
                  </a:txBody>
                  <a:tcPr marL="40541" marR="40541" marT="0" marB="0"/>
                </a:tc>
                <a:tc>
                  <a:txBody>
                    <a:bodyPr/>
                    <a:lstStyle/>
                    <a:p>
                      <a:pPr marL="0" marR="0">
                        <a:lnSpc>
                          <a:spcPct val="115000"/>
                        </a:lnSpc>
                        <a:spcAft>
                          <a:spcPts val="1000"/>
                        </a:spcAft>
                      </a:pPr>
                      <a:r>
                        <a:rPr lang="en-US" sz="700">
                          <a:effectLst/>
                          <a:latin typeface="+mj-lt"/>
                        </a:rPr>
                        <a:t>7</a:t>
                      </a:r>
                      <a:endParaRPr lang="en-US" sz="700">
                        <a:effectLst/>
                        <a:latin typeface="+mj-lt"/>
                        <a:ea typeface="MS Mincho" panose="02020609040205080304" pitchFamily="49" charset="-128"/>
                        <a:cs typeface="Times New Roman" panose="02020603050405020304" pitchFamily="18" charset="0"/>
                      </a:endParaRPr>
                    </a:p>
                  </a:txBody>
                  <a:tcPr marL="40541" marR="40541" marT="0" marB="0"/>
                </a:tc>
                <a:tc>
                  <a:txBody>
                    <a:bodyPr/>
                    <a:lstStyle/>
                    <a:p>
                      <a:pPr marL="0" marR="0">
                        <a:lnSpc>
                          <a:spcPct val="115000"/>
                        </a:lnSpc>
                        <a:spcAft>
                          <a:spcPts val="1000"/>
                        </a:spcAft>
                      </a:pPr>
                      <a:r>
                        <a:rPr lang="en-US" sz="700" dirty="0">
                          <a:effectLst/>
                          <a:latin typeface="+mj-lt"/>
                        </a:rPr>
                        <a:t>64%</a:t>
                      </a:r>
                      <a:endParaRPr lang="en-US" sz="700" dirty="0">
                        <a:effectLst/>
                        <a:latin typeface="+mj-lt"/>
                        <a:ea typeface="MS Mincho" panose="02020609040205080304" pitchFamily="49" charset="-128"/>
                        <a:cs typeface="Times New Roman" panose="02020603050405020304" pitchFamily="18" charset="0"/>
                      </a:endParaRPr>
                    </a:p>
                  </a:txBody>
                  <a:tcPr marL="40541" marR="40541" marT="0" marB="0"/>
                </a:tc>
                <a:tc>
                  <a:txBody>
                    <a:bodyPr/>
                    <a:lstStyle/>
                    <a:p>
                      <a:pPr marL="0" marR="0">
                        <a:lnSpc>
                          <a:spcPct val="115000"/>
                        </a:lnSpc>
                        <a:spcAft>
                          <a:spcPts val="1000"/>
                        </a:spcAft>
                      </a:pPr>
                      <a:r>
                        <a:rPr lang="en-US" sz="700">
                          <a:effectLst/>
                          <a:latin typeface="+mj-lt"/>
                        </a:rPr>
                        <a:t>Temi</a:t>
                      </a:r>
                      <a:endParaRPr lang="en-US" sz="700">
                        <a:effectLst/>
                        <a:latin typeface="+mj-lt"/>
                        <a:ea typeface="MS Mincho" panose="02020609040205080304" pitchFamily="49" charset="-128"/>
                        <a:cs typeface="Times New Roman" panose="02020603050405020304" pitchFamily="18" charset="0"/>
                      </a:endParaRPr>
                    </a:p>
                  </a:txBody>
                  <a:tcPr marL="40541" marR="40541" marT="0" marB="0"/>
                </a:tc>
                <a:extLst>
                  <a:ext uri="{0D108BD9-81ED-4DB2-BD59-A6C34878D82A}">
                    <a16:rowId xmlns:a16="http://schemas.microsoft.com/office/drawing/2014/main" val="3256937442"/>
                  </a:ext>
                </a:extLst>
              </a:tr>
              <a:tr h="201312">
                <a:tc>
                  <a:txBody>
                    <a:bodyPr/>
                    <a:lstStyle/>
                    <a:p>
                      <a:pPr marL="0" marR="0">
                        <a:lnSpc>
                          <a:spcPct val="115000"/>
                        </a:lnSpc>
                        <a:spcAft>
                          <a:spcPts val="1000"/>
                        </a:spcAft>
                      </a:pPr>
                      <a:r>
                        <a:rPr lang="en-US" sz="700" dirty="0">
                          <a:effectLst/>
                          <a:latin typeface="+mj-lt"/>
                        </a:rPr>
                        <a:t>Front Desk Associate</a:t>
                      </a:r>
                      <a:endParaRPr lang="en-US" sz="700" dirty="0">
                        <a:effectLst/>
                        <a:latin typeface="+mj-lt"/>
                        <a:ea typeface="MS Mincho" panose="02020609040205080304" pitchFamily="49" charset="-128"/>
                        <a:cs typeface="Times New Roman" panose="02020603050405020304" pitchFamily="18" charset="0"/>
                      </a:endParaRPr>
                    </a:p>
                  </a:txBody>
                  <a:tcPr marL="40541" marR="40541" marT="0" marB="0"/>
                </a:tc>
                <a:tc>
                  <a:txBody>
                    <a:bodyPr/>
                    <a:lstStyle/>
                    <a:p>
                      <a:pPr marL="0" marR="0">
                        <a:lnSpc>
                          <a:spcPct val="115000"/>
                        </a:lnSpc>
                        <a:spcAft>
                          <a:spcPts val="1000"/>
                        </a:spcAft>
                      </a:pPr>
                      <a:r>
                        <a:rPr lang="en-US" sz="700">
                          <a:effectLst/>
                          <a:latin typeface="+mj-lt"/>
                        </a:rPr>
                        <a:t>43</a:t>
                      </a:r>
                      <a:endParaRPr lang="en-US" sz="700">
                        <a:effectLst/>
                        <a:latin typeface="+mj-lt"/>
                        <a:ea typeface="MS Mincho" panose="02020609040205080304" pitchFamily="49" charset="-128"/>
                        <a:cs typeface="Times New Roman" panose="02020603050405020304" pitchFamily="18" charset="0"/>
                      </a:endParaRPr>
                    </a:p>
                  </a:txBody>
                  <a:tcPr marL="40541" marR="40541" marT="0" marB="0"/>
                </a:tc>
                <a:tc>
                  <a:txBody>
                    <a:bodyPr/>
                    <a:lstStyle/>
                    <a:p>
                      <a:pPr marL="0" marR="0">
                        <a:lnSpc>
                          <a:spcPct val="115000"/>
                        </a:lnSpc>
                        <a:spcAft>
                          <a:spcPts val="1000"/>
                        </a:spcAft>
                      </a:pPr>
                      <a:r>
                        <a:rPr lang="en-US" sz="700">
                          <a:effectLst/>
                          <a:latin typeface="+mj-lt"/>
                        </a:rPr>
                        <a:t>8</a:t>
                      </a:r>
                      <a:endParaRPr lang="en-US" sz="700">
                        <a:effectLst/>
                        <a:latin typeface="+mj-lt"/>
                        <a:ea typeface="MS Mincho" panose="02020609040205080304" pitchFamily="49" charset="-128"/>
                        <a:cs typeface="Times New Roman" panose="02020603050405020304" pitchFamily="18" charset="0"/>
                      </a:endParaRPr>
                    </a:p>
                  </a:txBody>
                  <a:tcPr marL="40541" marR="40541" marT="0" marB="0"/>
                </a:tc>
                <a:tc>
                  <a:txBody>
                    <a:bodyPr/>
                    <a:lstStyle/>
                    <a:p>
                      <a:pPr marL="0" marR="0">
                        <a:lnSpc>
                          <a:spcPct val="115000"/>
                        </a:lnSpc>
                        <a:spcAft>
                          <a:spcPts val="1000"/>
                        </a:spcAft>
                      </a:pPr>
                      <a:r>
                        <a:rPr lang="en-US" sz="700">
                          <a:effectLst/>
                          <a:latin typeface="+mj-lt"/>
                        </a:rPr>
                        <a:t>19%</a:t>
                      </a:r>
                      <a:endParaRPr lang="en-US" sz="700">
                        <a:effectLst/>
                        <a:latin typeface="+mj-lt"/>
                        <a:ea typeface="MS Mincho" panose="02020609040205080304" pitchFamily="49" charset="-128"/>
                        <a:cs typeface="Times New Roman" panose="02020603050405020304" pitchFamily="18" charset="0"/>
                      </a:endParaRPr>
                    </a:p>
                  </a:txBody>
                  <a:tcPr marL="40541" marR="40541" marT="0" marB="0"/>
                </a:tc>
                <a:tc>
                  <a:txBody>
                    <a:bodyPr/>
                    <a:lstStyle/>
                    <a:p>
                      <a:pPr marL="0" marR="0">
                        <a:lnSpc>
                          <a:spcPct val="115000"/>
                        </a:lnSpc>
                        <a:spcAft>
                          <a:spcPts val="1000"/>
                        </a:spcAft>
                      </a:pPr>
                      <a:r>
                        <a:rPr lang="en-US" sz="700">
                          <a:effectLst/>
                          <a:latin typeface="+mj-lt"/>
                        </a:rPr>
                        <a:t>Temi, HR</a:t>
                      </a:r>
                      <a:endParaRPr lang="en-US" sz="700">
                        <a:effectLst/>
                        <a:latin typeface="+mj-lt"/>
                        <a:ea typeface="MS Mincho" panose="02020609040205080304" pitchFamily="49" charset="-128"/>
                        <a:cs typeface="Times New Roman" panose="02020603050405020304" pitchFamily="18" charset="0"/>
                      </a:endParaRPr>
                    </a:p>
                  </a:txBody>
                  <a:tcPr marL="40541" marR="40541" marT="0" marB="0"/>
                </a:tc>
                <a:extLst>
                  <a:ext uri="{0D108BD9-81ED-4DB2-BD59-A6C34878D82A}">
                    <a16:rowId xmlns:a16="http://schemas.microsoft.com/office/drawing/2014/main" val="4038420614"/>
                  </a:ext>
                </a:extLst>
              </a:tr>
              <a:tr h="213155">
                <a:tc>
                  <a:txBody>
                    <a:bodyPr/>
                    <a:lstStyle/>
                    <a:p>
                      <a:pPr marL="0" marR="0">
                        <a:lnSpc>
                          <a:spcPct val="115000"/>
                        </a:lnSpc>
                        <a:spcAft>
                          <a:spcPts val="1000"/>
                        </a:spcAft>
                      </a:pPr>
                      <a:r>
                        <a:rPr lang="en-US" sz="700">
                          <a:effectLst/>
                          <a:latin typeface="+mj-lt"/>
                        </a:rPr>
                        <a:t>Front Desk Support</a:t>
                      </a:r>
                      <a:endParaRPr lang="en-US" sz="700">
                        <a:effectLst/>
                        <a:latin typeface="+mj-lt"/>
                        <a:ea typeface="MS Mincho" panose="02020609040205080304" pitchFamily="49" charset="-128"/>
                        <a:cs typeface="Times New Roman" panose="02020603050405020304" pitchFamily="18" charset="0"/>
                      </a:endParaRPr>
                    </a:p>
                  </a:txBody>
                  <a:tcPr marL="40541" marR="40541" marT="0" marB="0"/>
                </a:tc>
                <a:tc>
                  <a:txBody>
                    <a:bodyPr/>
                    <a:lstStyle/>
                    <a:p>
                      <a:pPr marL="0" marR="0">
                        <a:lnSpc>
                          <a:spcPct val="115000"/>
                        </a:lnSpc>
                        <a:spcAft>
                          <a:spcPts val="1000"/>
                        </a:spcAft>
                      </a:pPr>
                      <a:r>
                        <a:rPr lang="en-US" sz="700">
                          <a:effectLst/>
                          <a:latin typeface="+mj-lt"/>
                        </a:rPr>
                        <a:t>34</a:t>
                      </a:r>
                      <a:endParaRPr lang="en-US" sz="700">
                        <a:effectLst/>
                        <a:latin typeface="+mj-lt"/>
                        <a:ea typeface="MS Mincho" panose="02020609040205080304" pitchFamily="49" charset="-128"/>
                        <a:cs typeface="Times New Roman" panose="02020603050405020304" pitchFamily="18" charset="0"/>
                      </a:endParaRPr>
                    </a:p>
                  </a:txBody>
                  <a:tcPr marL="40541" marR="40541" marT="0" marB="0"/>
                </a:tc>
                <a:tc>
                  <a:txBody>
                    <a:bodyPr/>
                    <a:lstStyle/>
                    <a:p>
                      <a:pPr marL="0" marR="0">
                        <a:lnSpc>
                          <a:spcPct val="115000"/>
                        </a:lnSpc>
                        <a:spcAft>
                          <a:spcPts val="1000"/>
                        </a:spcAft>
                      </a:pPr>
                      <a:r>
                        <a:rPr lang="en-US" sz="700">
                          <a:effectLst/>
                          <a:latin typeface="+mj-lt"/>
                        </a:rPr>
                        <a:t>9</a:t>
                      </a:r>
                      <a:endParaRPr lang="en-US" sz="700">
                        <a:effectLst/>
                        <a:latin typeface="+mj-lt"/>
                        <a:ea typeface="MS Mincho" panose="02020609040205080304" pitchFamily="49" charset="-128"/>
                        <a:cs typeface="Times New Roman" panose="02020603050405020304" pitchFamily="18" charset="0"/>
                      </a:endParaRPr>
                    </a:p>
                  </a:txBody>
                  <a:tcPr marL="40541" marR="40541" marT="0" marB="0"/>
                </a:tc>
                <a:tc>
                  <a:txBody>
                    <a:bodyPr/>
                    <a:lstStyle/>
                    <a:p>
                      <a:pPr marL="0" marR="0">
                        <a:lnSpc>
                          <a:spcPct val="115000"/>
                        </a:lnSpc>
                        <a:spcAft>
                          <a:spcPts val="1000"/>
                        </a:spcAft>
                      </a:pPr>
                      <a:r>
                        <a:rPr lang="en-US" sz="700">
                          <a:effectLst/>
                          <a:latin typeface="+mj-lt"/>
                        </a:rPr>
                        <a:t>26%</a:t>
                      </a:r>
                      <a:endParaRPr lang="en-US" sz="700">
                        <a:effectLst/>
                        <a:latin typeface="+mj-lt"/>
                        <a:ea typeface="MS Mincho" panose="02020609040205080304" pitchFamily="49" charset="-128"/>
                        <a:cs typeface="Times New Roman" panose="02020603050405020304" pitchFamily="18" charset="0"/>
                      </a:endParaRPr>
                    </a:p>
                  </a:txBody>
                  <a:tcPr marL="40541" marR="40541" marT="0" marB="0"/>
                </a:tc>
                <a:tc>
                  <a:txBody>
                    <a:bodyPr/>
                    <a:lstStyle/>
                    <a:p>
                      <a:pPr marL="0" marR="0">
                        <a:lnSpc>
                          <a:spcPct val="115000"/>
                        </a:lnSpc>
                        <a:spcAft>
                          <a:spcPts val="1000"/>
                        </a:spcAft>
                      </a:pPr>
                      <a:r>
                        <a:rPr lang="en-US" sz="700">
                          <a:effectLst/>
                          <a:latin typeface="+mj-lt"/>
                        </a:rPr>
                        <a:t>HR</a:t>
                      </a:r>
                      <a:endParaRPr lang="en-US" sz="700">
                        <a:effectLst/>
                        <a:latin typeface="+mj-lt"/>
                        <a:ea typeface="MS Mincho" panose="02020609040205080304" pitchFamily="49" charset="-128"/>
                        <a:cs typeface="Times New Roman" panose="02020603050405020304" pitchFamily="18" charset="0"/>
                      </a:endParaRPr>
                    </a:p>
                  </a:txBody>
                  <a:tcPr marL="40541" marR="40541" marT="0" marB="0"/>
                </a:tc>
                <a:extLst>
                  <a:ext uri="{0D108BD9-81ED-4DB2-BD59-A6C34878D82A}">
                    <a16:rowId xmlns:a16="http://schemas.microsoft.com/office/drawing/2014/main" val="1009622114"/>
                  </a:ext>
                </a:extLst>
              </a:tr>
              <a:tr h="236838">
                <a:tc>
                  <a:txBody>
                    <a:bodyPr/>
                    <a:lstStyle/>
                    <a:p>
                      <a:pPr marL="0" marR="0">
                        <a:lnSpc>
                          <a:spcPct val="115000"/>
                        </a:lnSpc>
                        <a:spcAft>
                          <a:spcPts val="1000"/>
                        </a:spcAft>
                      </a:pPr>
                      <a:r>
                        <a:rPr lang="en-US" sz="700">
                          <a:effectLst/>
                          <a:latin typeface="+mj-lt"/>
                        </a:rPr>
                        <a:t>Facility Technician</a:t>
                      </a:r>
                      <a:endParaRPr lang="en-US" sz="700">
                        <a:effectLst/>
                        <a:latin typeface="+mj-lt"/>
                        <a:ea typeface="MS Mincho" panose="02020609040205080304" pitchFamily="49" charset="-128"/>
                        <a:cs typeface="Times New Roman" panose="02020603050405020304" pitchFamily="18" charset="0"/>
                      </a:endParaRPr>
                    </a:p>
                  </a:txBody>
                  <a:tcPr marL="40541" marR="40541" marT="0" marB="0"/>
                </a:tc>
                <a:tc>
                  <a:txBody>
                    <a:bodyPr/>
                    <a:lstStyle/>
                    <a:p>
                      <a:pPr marL="0" marR="0">
                        <a:lnSpc>
                          <a:spcPct val="115000"/>
                        </a:lnSpc>
                        <a:spcAft>
                          <a:spcPts val="1000"/>
                        </a:spcAft>
                      </a:pPr>
                      <a:r>
                        <a:rPr lang="en-US" sz="700">
                          <a:effectLst/>
                          <a:latin typeface="+mj-lt"/>
                        </a:rPr>
                        <a:t>16</a:t>
                      </a:r>
                      <a:endParaRPr lang="en-US" sz="700">
                        <a:effectLst/>
                        <a:latin typeface="+mj-lt"/>
                        <a:ea typeface="MS Mincho" panose="02020609040205080304" pitchFamily="49" charset="-128"/>
                        <a:cs typeface="Times New Roman" panose="02020603050405020304" pitchFamily="18" charset="0"/>
                      </a:endParaRPr>
                    </a:p>
                  </a:txBody>
                  <a:tcPr marL="40541" marR="40541" marT="0" marB="0"/>
                </a:tc>
                <a:tc>
                  <a:txBody>
                    <a:bodyPr/>
                    <a:lstStyle/>
                    <a:p>
                      <a:pPr marL="0" marR="0">
                        <a:lnSpc>
                          <a:spcPct val="115000"/>
                        </a:lnSpc>
                        <a:spcAft>
                          <a:spcPts val="1000"/>
                        </a:spcAft>
                      </a:pPr>
                      <a:r>
                        <a:rPr lang="en-US" sz="700">
                          <a:effectLst/>
                          <a:latin typeface="+mj-lt"/>
                        </a:rPr>
                        <a:t>5</a:t>
                      </a:r>
                      <a:endParaRPr lang="en-US" sz="700">
                        <a:effectLst/>
                        <a:latin typeface="+mj-lt"/>
                        <a:ea typeface="MS Mincho" panose="02020609040205080304" pitchFamily="49" charset="-128"/>
                        <a:cs typeface="Times New Roman" panose="02020603050405020304" pitchFamily="18" charset="0"/>
                      </a:endParaRPr>
                    </a:p>
                  </a:txBody>
                  <a:tcPr marL="40541" marR="40541" marT="0" marB="0"/>
                </a:tc>
                <a:tc>
                  <a:txBody>
                    <a:bodyPr/>
                    <a:lstStyle/>
                    <a:p>
                      <a:pPr marL="0" marR="0">
                        <a:lnSpc>
                          <a:spcPct val="115000"/>
                        </a:lnSpc>
                        <a:spcAft>
                          <a:spcPts val="1000"/>
                        </a:spcAft>
                      </a:pPr>
                      <a:r>
                        <a:rPr lang="en-US" sz="700">
                          <a:effectLst/>
                          <a:latin typeface="+mj-lt"/>
                        </a:rPr>
                        <a:t>31%</a:t>
                      </a:r>
                      <a:endParaRPr lang="en-US" sz="700">
                        <a:effectLst/>
                        <a:latin typeface="+mj-lt"/>
                        <a:ea typeface="MS Mincho" panose="02020609040205080304" pitchFamily="49" charset="-128"/>
                        <a:cs typeface="Times New Roman" panose="02020603050405020304" pitchFamily="18" charset="0"/>
                      </a:endParaRPr>
                    </a:p>
                  </a:txBody>
                  <a:tcPr marL="40541" marR="40541" marT="0" marB="0"/>
                </a:tc>
                <a:tc>
                  <a:txBody>
                    <a:bodyPr/>
                    <a:lstStyle/>
                    <a:p>
                      <a:pPr marL="0" marR="0">
                        <a:lnSpc>
                          <a:spcPct val="115000"/>
                        </a:lnSpc>
                        <a:spcAft>
                          <a:spcPts val="1000"/>
                        </a:spcAft>
                      </a:pPr>
                      <a:r>
                        <a:rPr lang="en-US" sz="700">
                          <a:effectLst/>
                          <a:latin typeface="+mj-lt"/>
                        </a:rPr>
                        <a:t>Temi, PM</a:t>
                      </a:r>
                      <a:endParaRPr lang="en-US" sz="700">
                        <a:effectLst/>
                        <a:latin typeface="+mj-lt"/>
                        <a:ea typeface="MS Mincho" panose="02020609040205080304" pitchFamily="49" charset="-128"/>
                        <a:cs typeface="Times New Roman" panose="02020603050405020304" pitchFamily="18" charset="0"/>
                      </a:endParaRPr>
                    </a:p>
                  </a:txBody>
                  <a:tcPr marL="40541" marR="40541" marT="0" marB="0"/>
                </a:tc>
                <a:extLst>
                  <a:ext uri="{0D108BD9-81ED-4DB2-BD59-A6C34878D82A}">
                    <a16:rowId xmlns:a16="http://schemas.microsoft.com/office/drawing/2014/main" val="2131175742"/>
                  </a:ext>
                </a:extLst>
              </a:tr>
              <a:tr h="234553">
                <a:tc>
                  <a:txBody>
                    <a:bodyPr/>
                    <a:lstStyle/>
                    <a:p>
                      <a:pPr marL="0" marR="0">
                        <a:lnSpc>
                          <a:spcPct val="115000"/>
                        </a:lnSpc>
                        <a:spcAft>
                          <a:spcPts val="1000"/>
                        </a:spcAft>
                      </a:pPr>
                      <a:r>
                        <a:rPr lang="en-US" sz="700" dirty="0">
                          <a:effectLst/>
                          <a:latin typeface="+mj-lt"/>
                        </a:rPr>
                        <a:t>Facility Manager</a:t>
                      </a:r>
                      <a:endParaRPr lang="en-US" sz="700" dirty="0">
                        <a:effectLst/>
                        <a:latin typeface="+mj-lt"/>
                        <a:ea typeface="MS Mincho" panose="02020609040205080304" pitchFamily="49" charset="-128"/>
                        <a:cs typeface="Times New Roman" panose="02020603050405020304" pitchFamily="18" charset="0"/>
                      </a:endParaRPr>
                    </a:p>
                  </a:txBody>
                  <a:tcPr marL="40541" marR="40541" marT="0" marB="0"/>
                </a:tc>
                <a:tc>
                  <a:txBody>
                    <a:bodyPr/>
                    <a:lstStyle/>
                    <a:p>
                      <a:pPr marL="0" marR="0">
                        <a:lnSpc>
                          <a:spcPct val="115000"/>
                        </a:lnSpc>
                        <a:spcAft>
                          <a:spcPts val="1000"/>
                        </a:spcAft>
                      </a:pPr>
                      <a:r>
                        <a:rPr lang="en-US" sz="700">
                          <a:effectLst/>
                          <a:latin typeface="+mj-lt"/>
                        </a:rPr>
                        <a:t>18</a:t>
                      </a:r>
                      <a:endParaRPr lang="en-US" sz="700">
                        <a:effectLst/>
                        <a:latin typeface="+mj-lt"/>
                        <a:ea typeface="MS Mincho" panose="02020609040205080304" pitchFamily="49" charset="-128"/>
                        <a:cs typeface="Times New Roman" panose="02020603050405020304" pitchFamily="18" charset="0"/>
                      </a:endParaRPr>
                    </a:p>
                  </a:txBody>
                  <a:tcPr marL="40541" marR="40541" marT="0" marB="0"/>
                </a:tc>
                <a:tc>
                  <a:txBody>
                    <a:bodyPr/>
                    <a:lstStyle/>
                    <a:p>
                      <a:pPr marL="0" marR="0">
                        <a:lnSpc>
                          <a:spcPct val="115000"/>
                        </a:lnSpc>
                        <a:spcAft>
                          <a:spcPts val="1000"/>
                        </a:spcAft>
                      </a:pPr>
                      <a:r>
                        <a:rPr lang="en-US" sz="700">
                          <a:effectLst/>
                          <a:latin typeface="+mj-lt"/>
                        </a:rPr>
                        <a:t>6</a:t>
                      </a:r>
                      <a:endParaRPr lang="en-US" sz="700">
                        <a:effectLst/>
                        <a:latin typeface="+mj-lt"/>
                        <a:ea typeface="MS Mincho" panose="02020609040205080304" pitchFamily="49" charset="-128"/>
                        <a:cs typeface="Times New Roman" panose="02020603050405020304" pitchFamily="18" charset="0"/>
                      </a:endParaRPr>
                    </a:p>
                  </a:txBody>
                  <a:tcPr marL="40541" marR="40541" marT="0" marB="0"/>
                </a:tc>
                <a:tc>
                  <a:txBody>
                    <a:bodyPr/>
                    <a:lstStyle/>
                    <a:p>
                      <a:pPr marL="0" marR="0">
                        <a:lnSpc>
                          <a:spcPct val="115000"/>
                        </a:lnSpc>
                        <a:spcAft>
                          <a:spcPts val="1000"/>
                        </a:spcAft>
                      </a:pPr>
                      <a:r>
                        <a:rPr lang="en-US" sz="700">
                          <a:effectLst/>
                          <a:latin typeface="+mj-lt"/>
                        </a:rPr>
                        <a:t>33%</a:t>
                      </a:r>
                      <a:endParaRPr lang="en-US" sz="700">
                        <a:effectLst/>
                        <a:latin typeface="+mj-lt"/>
                        <a:ea typeface="MS Mincho" panose="02020609040205080304" pitchFamily="49" charset="-128"/>
                        <a:cs typeface="Times New Roman" panose="02020603050405020304" pitchFamily="18" charset="0"/>
                      </a:endParaRPr>
                    </a:p>
                  </a:txBody>
                  <a:tcPr marL="40541" marR="40541" marT="0" marB="0"/>
                </a:tc>
                <a:tc>
                  <a:txBody>
                    <a:bodyPr/>
                    <a:lstStyle/>
                    <a:p>
                      <a:pPr marL="0" marR="0">
                        <a:lnSpc>
                          <a:spcPct val="115000"/>
                        </a:lnSpc>
                        <a:spcAft>
                          <a:spcPts val="1000"/>
                        </a:spcAft>
                      </a:pPr>
                      <a:r>
                        <a:rPr lang="en-US" sz="700" dirty="0">
                          <a:effectLst/>
                          <a:latin typeface="+mj-lt"/>
                        </a:rPr>
                        <a:t>Temi, PM</a:t>
                      </a:r>
                      <a:endParaRPr lang="en-US" sz="700" dirty="0">
                        <a:effectLst/>
                        <a:latin typeface="+mj-lt"/>
                        <a:ea typeface="MS Mincho" panose="02020609040205080304" pitchFamily="49" charset="-128"/>
                        <a:cs typeface="Times New Roman" panose="02020603050405020304" pitchFamily="18" charset="0"/>
                      </a:endParaRPr>
                    </a:p>
                  </a:txBody>
                  <a:tcPr marL="40541" marR="40541" marT="0" marB="0"/>
                </a:tc>
                <a:extLst>
                  <a:ext uri="{0D108BD9-81ED-4DB2-BD59-A6C34878D82A}">
                    <a16:rowId xmlns:a16="http://schemas.microsoft.com/office/drawing/2014/main" val="4253384479"/>
                  </a:ext>
                </a:extLst>
              </a:tr>
              <a:tr h="234553">
                <a:tc>
                  <a:txBody>
                    <a:bodyPr/>
                    <a:lstStyle/>
                    <a:p>
                      <a:pPr marL="0" marR="0">
                        <a:lnSpc>
                          <a:spcPct val="115000"/>
                        </a:lnSpc>
                        <a:spcAft>
                          <a:spcPts val="1000"/>
                        </a:spcAft>
                      </a:pPr>
                      <a:r>
                        <a:rPr lang="en-US" sz="700" dirty="0">
                          <a:effectLst/>
                          <a:latin typeface="+mj-lt"/>
                          <a:ea typeface="MS Mincho" panose="02020609040205080304" pitchFamily="49" charset="-128"/>
                          <a:cs typeface="Times New Roman" panose="02020603050405020304" pitchFamily="18" charset="0"/>
                        </a:rPr>
                        <a:t>Social Media Manager</a:t>
                      </a:r>
                    </a:p>
                  </a:txBody>
                  <a:tcPr marL="40541" marR="40541" marT="0" marB="0"/>
                </a:tc>
                <a:tc>
                  <a:txBody>
                    <a:bodyPr/>
                    <a:lstStyle/>
                    <a:p>
                      <a:pPr marL="0" marR="0">
                        <a:lnSpc>
                          <a:spcPct val="115000"/>
                        </a:lnSpc>
                        <a:spcAft>
                          <a:spcPts val="1000"/>
                        </a:spcAft>
                      </a:pPr>
                      <a:r>
                        <a:rPr lang="en-US" sz="700" dirty="0">
                          <a:effectLst/>
                          <a:latin typeface="+mj-lt"/>
                          <a:ea typeface="MS Mincho" panose="02020609040205080304" pitchFamily="49" charset="-128"/>
                          <a:cs typeface="Times New Roman" panose="02020603050405020304" pitchFamily="18" charset="0"/>
                        </a:rPr>
                        <a:t>2</a:t>
                      </a:r>
                    </a:p>
                  </a:txBody>
                  <a:tcPr marL="40541" marR="40541" marT="0" marB="0"/>
                </a:tc>
                <a:tc>
                  <a:txBody>
                    <a:bodyPr/>
                    <a:lstStyle/>
                    <a:p>
                      <a:pPr marL="0" marR="0">
                        <a:lnSpc>
                          <a:spcPct val="115000"/>
                        </a:lnSpc>
                        <a:spcAft>
                          <a:spcPts val="1000"/>
                        </a:spcAft>
                      </a:pPr>
                      <a:r>
                        <a:rPr lang="en-US" sz="700" dirty="0">
                          <a:effectLst/>
                          <a:latin typeface="+mj-lt"/>
                          <a:ea typeface="MS Mincho" panose="02020609040205080304" pitchFamily="49" charset="-128"/>
                          <a:cs typeface="Times New Roman" panose="02020603050405020304" pitchFamily="18" charset="0"/>
                        </a:rPr>
                        <a:t>1</a:t>
                      </a:r>
                    </a:p>
                  </a:txBody>
                  <a:tcPr marL="40541" marR="40541" marT="0" marB="0"/>
                </a:tc>
                <a:tc>
                  <a:txBody>
                    <a:bodyPr/>
                    <a:lstStyle/>
                    <a:p>
                      <a:pPr marL="0" marR="0">
                        <a:lnSpc>
                          <a:spcPct val="115000"/>
                        </a:lnSpc>
                        <a:spcAft>
                          <a:spcPts val="1000"/>
                        </a:spcAft>
                      </a:pPr>
                      <a:r>
                        <a:rPr lang="en-US" sz="700" dirty="0">
                          <a:effectLst/>
                          <a:latin typeface="+mj-lt"/>
                          <a:ea typeface="MS Mincho" panose="02020609040205080304" pitchFamily="49" charset="-128"/>
                          <a:cs typeface="Times New Roman" panose="02020603050405020304" pitchFamily="18" charset="0"/>
                        </a:rPr>
                        <a:t>50%</a:t>
                      </a:r>
                    </a:p>
                  </a:txBody>
                  <a:tcPr marL="40541" marR="40541" marT="0" marB="0"/>
                </a:tc>
                <a:tc>
                  <a:txBody>
                    <a:bodyPr/>
                    <a:lstStyle/>
                    <a:p>
                      <a:pPr marL="0" marR="0">
                        <a:lnSpc>
                          <a:spcPct val="115000"/>
                        </a:lnSpc>
                        <a:spcAft>
                          <a:spcPts val="1000"/>
                        </a:spcAft>
                      </a:pPr>
                      <a:r>
                        <a:rPr lang="en-US" sz="700" dirty="0">
                          <a:effectLst/>
                          <a:latin typeface="+mj-lt"/>
                          <a:ea typeface="MS Mincho" panose="02020609040205080304" pitchFamily="49" charset="-128"/>
                          <a:cs typeface="Times New Roman" panose="02020603050405020304" pitchFamily="18" charset="0"/>
                        </a:rPr>
                        <a:t>Temi, HR</a:t>
                      </a:r>
                    </a:p>
                  </a:txBody>
                  <a:tcPr marL="40541" marR="40541" marT="0" marB="0"/>
                </a:tc>
                <a:extLst>
                  <a:ext uri="{0D108BD9-81ED-4DB2-BD59-A6C34878D82A}">
                    <a16:rowId xmlns:a16="http://schemas.microsoft.com/office/drawing/2014/main" val="186365887"/>
                  </a:ext>
                </a:extLst>
              </a:tr>
            </a:tbl>
          </a:graphicData>
        </a:graphic>
      </p:graphicFrame>
    </p:spTree>
    <p:extLst>
      <p:ext uri="{BB962C8B-B14F-4D97-AF65-F5344CB8AC3E}">
        <p14:creationId xmlns:p14="http://schemas.microsoft.com/office/powerpoint/2010/main" val="27798715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3">
          <a:extLst>
            <a:ext uri="{FF2B5EF4-FFF2-40B4-BE49-F238E27FC236}">
              <a16:creationId xmlns:a16="http://schemas.microsoft.com/office/drawing/2014/main" id="{E45D923C-3437-33B2-7737-2D44450C836F}"/>
            </a:ext>
          </a:extLst>
        </p:cNvPr>
        <p:cNvGrpSpPr/>
        <p:nvPr/>
      </p:nvGrpSpPr>
      <p:grpSpPr>
        <a:xfrm>
          <a:off x="0" y="0"/>
          <a:ext cx="0" cy="0"/>
          <a:chOff x="0" y="0"/>
          <a:chExt cx="0" cy="0"/>
        </a:xfrm>
      </p:grpSpPr>
      <p:sp>
        <p:nvSpPr>
          <p:cNvPr id="64" name="Google Shape;64;p14">
            <a:extLst>
              <a:ext uri="{FF2B5EF4-FFF2-40B4-BE49-F238E27FC236}">
                <a16:creationId xmlns:a16="http://schemas.microsoft.com/office/drawing/2014/main" id="{BF683115-5F1F-2ACE-7B0D-5F8E45D4FEF8}"/>
              </a:ext>
            </a:extLst>
          </p:cNvPr>
          <p:cNvSpPr/>
          <p:nvPr/>
        </p:nvSpPr>
        <p:spPr>
          <a:xfrm>
            <a:off x="7525" y="7525"/>
            <a:ext cx="9144000" cy="620700"/>
          </a:xfrm>
          <a:prstGeom prst="rect">
            <a:avLst/>
          </a:prstGeom>
          <a:solidFill>
            <a:srgbClr val="002D1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65" name="Google Shape;65;p14" title="longer border.png">
            <a:extLst>
              <a:ext uri="{FF2B5EF4-FFF2-40B4-BE49-F238E27FC236}">
                <a16:creationId xmlns:a16="http://schemas.microsoft.com/office/drawing/2014/main" id="{9ED24514-1B7D-2855-2F76-C860CB1394F8}"/>
              </a:ext>
            </a:extLst>
          </p:cNvPr>
          <p:cNvPicPr preferRelativeResize="0"/>
          <p:nvPr/>
        </p:nvPicPr>
        <p:blipFill>
          <a:blip r:embed="rId3">
            <a:alphaModFix/>
          </a:blip>
          <a:stretch>
            <a:fillRect/>
          </a:stretch>
        </p:blipFill>
        <p:spPr>
          <a:xfrm>
            <a:off x="0" y="445025"/>
            <a:ext cx="9144003" cy="183052"/>
          </a:xfrm>
          <a:prstGeom prst="rect">
            <a:avLst/>
          </a:prstGeom>
          <a:noFill/>
          <a:ln>
            <a:noFill/>
          </a:ln>
        </p:spPr>
      </p:pic>
      <p:sp>
        <p:nvSpPr>
          <p:cNvPr id="66" name="Google Shape;66;p14">
            <a:extLst>
              <a:ext uri="{FF2B5EF4-FFF2-40B4-BE49-F238E27FC236}">
                <a16:creationId xmlns:a16="http://schemas.microsoft.com/office/drawing/2014/main" id="{96770D2B-2F70-71E1-AE2B-CE9D87A71357}"/>
              </a:ext>
            </a:extLst>
          </p:cNvPr>
          <p:cNvSpPr txBox="1">
            <a:spLocks noGrp="1"/>
          </p:cNvSpPr>
          <p:nvPr>
            <p:ph type="title"/>
          </p:nvPr>
        </p:nvSpPr>
        <p:spPr>
          <a:xfrm>
            <a:off x="146025" y="91299"/>
            <a:ext cx="8520600" cy="285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1400" b="1" dirty="0">
                <a:solidFill>
                  <a:srgbClr val="EFFFEF"/>
                </a:solidFill>
                <a:latin typeface="Avenir Book" panose="02000503020000020003" pitchFamily="2" charset="0"/>
                <a:ea typeface="Helvetica Neue"/>
                <a:cs typeface="Helvetica Neue"/>
                <a:sym typeface="Helvetica Neue"/>
              </a:rPr>
              <a:t>Hiring Report</a:t>
            </a:r>
            <a:endParaRPr sz="1400" b="1" dirty="0">
              <a:solidFill>
                <a:srgbClr val="EFFFEF"/>
              </a:solidFill>
              <a:latin typeface="Avenir Book" panose="02000503020000020003" pitchFamily="2" charset="0"/>
              <a:ea typeface="Helvetica Neue"/>
              <a:cs typeface="Helvetica Neue"/>
              <a:sym typeface="Helvetica Neue"/>
            </a:endParaRPr>
          </a:p>
        </p:txBody>
      </p:sp>
      <p:cxnSp>
        <p:nvCxnSpPr>
          <p:cNvPr id="68" name="Google Shape;68;p14">
            <a:extLst>
              <a:ext uri="{FF2B5EF4-FFF2-40B4-BE49-F238E27FC236}">
                <a16:creationId xmlns:a16="http://schemas.microsoft.com/office/drawing/2014/main" id="{AB9F22C7-6155-278F-8835-29E44663D930}"/>
              </a:ext>
            </a:extLst>
          </p:cNvPr>
          <p:cNvCxnSpPr/>
          <p:nvPr/>
        </p:nvCxnSpPr>
        <p:spPr>
          <a:xfrm>
            <a:off x="-7525" y="4706725"/>
            <a:ext cx="9149400" cy="1800"/>
          </a:xfrm>
          <a:prstGeom prst="straightConnector1">
            <a:avLst/>
          </a:prstGeom>
          <a:noFill/>
          <a:ln w="9525" cap="flat" cmpd="sng">
            <a:solidFill>
              <a:srgbClr val="D9D9D9"/>
            </a:solidFill>
            <a:prstDash val="solid"/>
            <a:round/>
            <a:headEnd type="none" w="med" len="med"/>
            <a:tailEnd type="none" w="med" len="med"/>
          </a:ln>
        </p:spPr>
      </p:cxnSp>
      <p:pic>
        <p:nvPicPr>
          <p:cNvPr id="69" name="Google Shape;69;p14" title="IIH powered by IHS 1.png">
            <a:extLst>
              <a:ext uri="{FF2B5EF4-FFF2-40B4-BE49-F238E27FC236}">
                <a16:creationId xmlns:a16="http://schemas.microsoft.com/office/drawing/2014/main" id="{FDCCAC88-056C-8098-E8B0-C9019D56CF9E}"/>
              </a:ext>
            </a:extLst>
          </p:cNvPr>
          <p:cNvPicPr preferRelativeResize="0"/>
          <p:nvPr/>
        </p:nvPicPr>
        <p:blipFill>
          <a:blip r:embed="rId4">
            <a:alphaModFix/>
          </a:blip>
          <a:stretch>
            <a:fillRect/>
          </a:stretch>
        </p:blipFill>
        <p:spPr>
          <a:xfrm>
            <a:off x="319225" y="4781674"/>
            <a:ext cx="676905" cy="285900"/>
          </a:xfrm>
          <a:prstGeom prst="rect">
            <a:avLst/>
          </a:prstGeom>
          <a:noFill/>
          <a:ln>
            <a:noFill/>
          </a:ln>
        </p:spPr>
      </p:pic>
      <p:sp>
        <p:nvSpPr>
          <p:cNvPr id="5" name="Google Shape;67;p14">
            <a:extLst>
              <a:ext uri="{FF2B5EF4-FFF2-40B4-BE49-F238E27FC236}">
                <a16:creationId xmlns:a16="http://schemas.microsoft.com/office/drawing/2014/main" id="{96809D9C-57B8-9ED4-A543-0048B63B41AF}"/>
              </a:ext>
            </a:extLst>
          </p:cNvPr>
          <p:cNvSpPr txBox="1">
            <a:spLocks/>
          </p:cNvSpPr>
          <p:nvPr/>
        </p:nvSpPr>
        <p:spPr>
          <a:xfrm>
            <a:off x="319225" y="756830"/>
            <a:ext cx="8520600" cy="553650"/>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marL="0" indent="0">
              <a:lnSpc>
                <a:spcPct val="100000"/>
              </a:lnSpc>
              <a:buClr>
                <a:schemeClr val="dk1"/>
              </a:buClr>
              <a:buSzPts val="1100"/>
              <a:buNone/>
            </a:pPr>
            <a:r>
              <a:rPr lang="en-US" b="1" dirty="0">
                <a:solidFill>
                  <a:schemeClr val="dk1"/>
                </a:solidFill>
                <a:highlight>
                  <a:srgbClr val="FFFFFF"/>
                </a:highlight>
                <a:latin typeface="Avenir"/>
                <a:ea typeface="Avenir"/>
                <a:cs typeface="Avenir"/>
                <a:sym typeface="Avenir"/>
              </a:rPr>
              <a:t>Role-Specific Breakdown</a:t>
            </a:r>
          </a:p>
        </p:txBody>
      </p:sp>
      <p:graphicFrame>
        <p:nvGraphicFramePr>
          <p:cNvPr id="4" name="Table 3">
            <a:extLst>
              <a:ext uri="{FF2B5EF4-FFF2-40B4-BE49-F238E27FC236}">
                <a16:creationId xmlns:a16="http://schemas.microsoft.com/office/drawing/2014/main" id="{170418AC-0E2D-D4A0-3D38-F83B5CBB61E3}"/>
              </a:ext>
            </a:extLst>
          </p:cNvPr>
          <p:cNvGraphicFramePr>
            <a:graphicFrameLocks noGrp="1"/>
          </p:cNvGraphicFramePr>
          <p:nvPr>
            <p:extLst>
              <p:ext uri="{D42A27DB-BD31-4B8C-83A1-F6EECF244321}">
                <p14:modId xmlns:p14="http://schemas.microsoft.com/office/powerpoint/2010/main" val="1004918456"/>
              </p:ext>
            </p:extLst>
          </p:nvPr>
        </p:nvGraphicFramePr>
        <p:xfrm>
          <a:off x="319225" y="1310480"/>
          <a:ext cx="8521699" cy="3253734"/>
        </p:xfrm>
        <a:graphic>
          <a:graphicData uri="http://schemas.openxmlformats.org/drawingml/2006/table">
            <a:tbl>
              <a:tblPr>
                <a:tableStyleId>{2D5ABB26-0587-4C30-8999-92F81FD0307C}</a:tableStyleId>
              </a:tblPr>
              <a:tblGrid>
                <a:gridCol w="385855">
                  <a:extLst>
                    <a:ext uri="{9D8B030D-6E8A-4147-A177-3AD203B41FA5}">
                      <a16:colId xmlns:a16="http://schemas.microsoft.com/office/drawing/2014/main" val="373052345"/>
                    </a:ext>
                  </a:extLst>
                </a:gridCol>
                <a:gridCol w="2335575">
                  <a:extLst>
                    <a:ext uri="{9D8B030D-6E8A-4147-A177-3AD203B41FA5}">
                      <a16:colId xmlns:a16="http://schemas.microsoft.com/office/drawing/2014/main" val="2749987422"/>
                    </a:ext>
                  </a:extLst>
                </a:gridCol>
                <a:gridCol w="1509311">
                  <a:extLst>
                    <a:ext uri="{9D8B030D-6E8A-4147-A177-3AD203B41FA5}">
                      <a16:colId xmlns:a16="http://schemas.microsoft.com/office/drawing/2014/main" val="2556621459"/>
                    </a:ext>
                  </a:extLst>
                </a:gridCol>
                <a:gridCol w="1344058">
                  <a:extLst>
                    <a:ext uri="{9D8B030D-6E8A-4147-A177-3AD203B41FA5}">
                      <a16:colId xmlns:a16="http://schemas.microsoft.com/office/drawing/2014/main" val="558628749"/>
                    </a:ext>
                  </a:extLst>
                </a:gridCol>
                <a:gridCol w="1535359">
                  <a:extLst>
                    <a:ext uri="{9D8B030D-6E8A-4147-A177-3AD203B41FA5}">
                      <a16:colId xmlns:a16="http://schemas.microsoft.com/office/drawing/2014/main" val="2668891617"/>
                    </a:ext>
                  </a:extLst>
                </a:gridCol>
                <a:gridCol w="1411541">
                  <a:extLst>
                    <a:ext uri="{9D8B030D-6E8A-4147-A177-3AD203B41FA5}">
                      <a16:colId xmlns:a16="http://schemas.microsoft.com/office/drawing/2014/main" val="1086956129"/>
                    </a:ext>
                  </a:extLst>
                </a:gridCol>
              </a:tblGrid>
              <a:tr h="202614">
                <a:tc>
                  <a:txBody>
                    <a:bodyPr/>
                    <a:lstStyle/>
                    <a:p>
                      <a:pPr algn="l" fontAlgn="b"/>
                      <a:endParaRPr lang="en-US" sz="1100" b="1" i="0" u="none" strike="noStrike" dirty="0">
                        <a:solidFill>
                          <a:srgbClr val="000000"/>
                        </a:solidFill>
                        <a:effectLst/>
                        <a:latin typeface="Avenir Book" panose="02000503020000020003" pitchFamily="2" charset="0"/>
                      </a:endParaRPr>
                    </a:p>
                  </a:txBody>
                  <a:tcPr marL="8939" marR="8939" marT="8939" marB="0" anchor="b"/>
                </a:tc>
                <a:tc>
                  <a:txBody>
                    <a:bodyPr/>
                    <a:lstStyle/>
                    <a:p>
                      <a:pPr algn="l" fontAlgn="b"/>
                      <a:r>
                        <a:rPr lang="en-US" sz="1100" b="1" u="none" strike="noStrike" dirty="0">
                          <a:effectLst/>
                        </a:rPr>
                        <a:t>Role</a:t>
                      </a:r>
                      <a:endParaRPr lang="en-US" sz="1100" b="1" i="0" u="none" strike="noStrike" dirty="0">
                        <a:solidFill>
                          <a:srgbClr val="000000"/>
                        </a:solidFill>
                        <a:effectLst/>
                        <a:latin typeface="Avenir Book" panose="02000503020000020003" pitchFamily="2" charset="0"/>
                      </a:endParaRPr>
                    </a:p>
                  </a:txBody>
                  <a:tcPr marL="8939" marR="8939" marT="8939" marB="0" anchor="b"/>
                </a:tc>
                <a:tc>
                  <a:txBody>
                    <a:bodyPr/>
                    <a:lstStyle/>
                    <a:p>
                      <a:pPr algn="l" fontAlgn="b"/>
                      <a:r>
                        <a:rPr lang="en-US" sz="1100" b="1" u="none" strike="noStrike" dirty="0">
                          <a:effectLst/>
                        </a:rPr>
                        <a:t>Grade</a:t>
                      </a:r>
                      <a:endParaRPr lang="en-US" sz="1100" b="1" i="0" u="none" strike="noStrike" dirty="0">
                        <a:solidFill>
                          <a:srgbClr val="000000"/>
                        </a:solidFill>
                        <a:effectLst/>
                        <a:latin typeface="Avenir Book" panose="02000503020000020003" pitchFamily="2" charset="0"/>
                      </a:endParaRPr>
                    </a:p>
                  </a:txBody>
                  <a:tcPr marL="8939" marR="8939" marT="8939" marB="0" anchor="b"/>
                </a:tc>
                <a:tc>
                  <a:txBody>
                    <a:bodyPr/>
                    <a:lstStyle/>
                    <a:p>
                      <a:pPr algn="l" fontAlgn="b"/>
                      <a:r>
                        <a:rPr lang="en-US" sz="1100" b="1" u="none" strike="noStrike">
                          <a:effectLst/>
                        </a:rPr>
                        <a:t>State of Orgin</a:t>
                      </a:r>
                      <a:endParaRPr lang="en-US" sz="1100" b="1" i="0" u="none" strike="noStrike">
                        <a:solidFill>
                          <a:srgbClr val="000000"/>
                        </a:solidFill>
                        <a:effectLst/>
                        <a:latin typeface="Avenir Book" panose="02000503020000020003" pitchFamily="2" charset="0"/>
                      </a:endParaRPr>
                    </a:p>
                  </a:txBody>
                  <a:tcPr marL="8939" marR="8939" marT="8939" marB="0" anchor="b"/>
                </a:tc>
                <a:tc>
                  <a:txBody>
                    <a:bodyPr/>
                    <a:lstStyle/>
                    <a:p>
                      <a:pPr algn="l" fontAlgn="b"/>
                      <a:endParaRPr lang="en-US" sz="1100" b="1" i="0" u="none" strike="noStrike" dirty="0">
                        <a:solidFill>
                          <a:srgbClr val="000000"/>
                        </a:solidFill>
                        <a:effectLst/>
                        <a:latin typeface="Avenir Book" panose="02000503020000020003" pitchFamily="2" charset="0"/>
                      </a:endParaRPr>
                    </a:p>
                  </a:txBody>
                  <a:tcPr marL="8939" marR="8939" marT="8939" marB="0" anchor="b"/>
                </a:tc>
                <a:tc>
                  <a:txBody>
                    <a:bodyPr/>
                    <a:lstStyle/>
                    <a:p>
                      <a:pPr algn="l" fontAlgn="b"/>
                      <a:r>
                        <a:rPr lang="en-US" sz="1100" b="1" u="none" strike="noStrike" dirty="0">
                          <a:effectLst/>
                        </a:rPr>
                        <a:t>Date of Resumption</a:t>
                      </a:r>
                      <a:endParaRPr lang="en-US" sz="1100" b="1" i="0" u="none" strike="noStrike" dirty="0">
                        <a:solidFill>
                          <a:srgbClr val="000000"/>
                        </a:solidFill>
                        <a:effectLst/>
                        <a:latin typeface="Avenir Book" panose="02000503020000020003" pitchFamily="2" charset="0"/>
                      </a:endParaRPr>
                    </a:p>
                  </a:txBody>
                  <a:tcPr marL="8939" marR="8939" marT="8939" marB="0" anchor="b"/>
                </a:tc>
                <a:extLst>
                  <a:ext uri="{0D108BD9-81ED-4DB2-BD59-A6C34878D82A}">
                    <a16:rowId xmlns:a16="http://schemas.microsoft.com/office/drawing/2014/main" val="2047376585"/>
                  </a:ext>
                </a:extLst>
              </a:tr>
              <a:tr h="190695">
                <a:tc>
                  <a:txBody>
                    <a:bodyPr/>
                    <a:lstStyle/>
                    <a:p>
                      <a:pPr algn="l" fontAlgn="b"/>
                      <a:r>
                        <a:rPr lang="en-US" sz="900" b="0" i="0" u="none" strike="noStrike" dirty="0">
                          <a:solidFill>
                            <a:srgbClr val="000000"/>
                          </a:solidFill>
                          <a:effectLst/>
                          <a:latin typeface="Avenir Book" panose="02000503020000020003" pitchFamily="2" charset="0"/>
                        </a:rPr>
                        <a:t>1</a:t>
                      </a:r>
                    </a:p>
                  </a:txBody>
                  <a:tcPr marL="8939" marR="8939" marT="8939" marB="0" anchor="b"/>
                </a:tc>
                <a:tc>
                  <a:txBody>
                    <a:bodyPr/>
                    <a:lstStyle/>
                    <a:p>
                      <a:pPr algn="l" fontAlgn="b"/>
                      <a:r>
                        <a:rPr lang="en-US" sz="900" u="none" strike="noStrike">
                          <a:effectLst/>
                        </a:rPr>
                        <a:t>Managing Director</a:t>
                      </a:r>
                      <a:endParaRPr lang="en-US" sz="900" b="0" i="0" u="none" strike="noStrike">
                        <a:solidFill>
                          <a:srgbClr val="000000"/>
                        </a:solidFill>
                        <a:effectLst/>
                        <a:latin typeface="Avenir Book" panose="02000503020000020003" pitchFamily="2" charset="0"/>
                      </a:endParaRPr>
                    </a:p>
                  </a:txBody>
                  <a:tcPr marL="8939" marR="8939" marT="8939" marB="0" anchor="b"/>
                </a:tc>
                <a:tc>
                  <a:txBody>
                    <a:bodyPr/>
                    <a:lstStyle/>
                    <a:p>
                      <a:pPr algn="l" fontAlgn="b"/>
                      <a:r>
                        <a:rPr lang="en-US" sz="900" u="none" strike="noStrike">
                          <a:effectLst/>
                        </a:rPr>
                        <a:t>Managing director</a:t>
                      </a:r>
                      <a:endParaRPr lang="en-US" sz="900" b="0" i="0" u="none" strike="noStrike">
                        <a:solidFill>
                          <a:srgbClr val="000000"/>
                        </a:solidFill>
                        <a:effectLst/>
                        <a:latin typeface="Avenir Book" panose="02000503020000020003" pitchFamily="2" charset="0"/>
                      </a:endParaRPr>
                    </a:p>
                  </a:txBody>
                  <a:tcPr marL="8939" marR="8939" marT="8939" marB="0" anchor="b"/>
                </a:tc>
                <a:tc>
                  <a:txBody>
                    <a:bodyPr/>
                    <a:lstStyle/>
                    <a:p>
                      <a:pPr algn="l" fontAlgn="b"/>
                      <a:r>
                        <a:rPr lang="en-US" sz="900" u="none" strike="noStrike">
                          <a:effectLst/>
                        </a:rPr>
                        <a:t>Kwara</a:t>
                      </a:r>
                      <a:endParaRPr lang="en-US" sz="900" b="0" i="0" u="none" strike="noStrike">
                        <a:solidFill>
                          <a:srgbClr val="000000"/>
                        </a:solidFill>
                        <a:effectLst/>
                        <a:latin typeface="Avenir Book" panose="02000503020000020003" pitchFamily="2" charset="0"/>
                      </a:endParaRPr>
                    </a:p>
                  </a:txBody>
                  <a:tcPr marL="8939" marR="8939" marT="8939" marB="0" anchor="b"/>
                </a:tc>
                <a:tc>
                  <a:txBody>
                    <a:bodyPr/>
                    <a:lstStyle/>
                    <a:p>
                      <a:pPr algn="l" fontAlgn="b"/>
                      <a:r>
                        <a:rPr lang="en-US" sz="900" u="none" strike="noStrike" dirty="0">
                          <a:effectLst/>
                        </a:rPr>
                        <a:t>Kwara South</a:t>
                      </a:r>
                      <a:endParaRPr lang="en-US" sz="900" b="0" i="0" u="none" strike="noStrike" dirty="0">
                        <a:solidFill>
                          <a:srgbClr val="000000"/>
                        </a:solidFill>
                        <a:effectLst/>
                        <a:latin typeface="Avenir Book" panose="02000503020000020003" pitchFamily="2" charset="0"/>
                      </a:endParaRPr>
                    </a:p>
                  </a:txBody>
                  <a:tcPr marL="8939" marR="8939" marT="8939" marB="0" anchor="b"/>
                </a:tc>
                <a:tc>
                  <a:txBody>
                    <a:bodyPr/>
                    <a:lstStyle/>
                    <a:p>
                      <a:pPr algn="l" fontAlgn="b"/>
                      <a:r>
                        <a:rPr lang="en-US" sz="900" u="none" strike="noStrike">
                          <a:effectLst/>
                        </a:rPr>
                        <a:t>March 3rd</a:t>
                      </a:r>
                      <a:endParaRPr lang="en-US" sz="900" b="0" i="0" u="none" strike="noStrike">
                        <a:solidFill>
                          <a:srgbClr val="000000"/>
                        </a:solidFill>
                        <a:effectLst/>
                        <a:latin typeface="Avenir Book" panose="02000503020000020003" pitchFamily="2" charset="0"/>
                      </a:endParaRPr>
                    </a:p>
                  </a:txBody>
                  <a:tcPr marL="8939" marR="8939" marT="8939" marB="0" anchor="b"/>
                </a:tc>
                <a:extLst>
                  <a:ext uri="{0D108BD9-81ED-4DB2-BD59-A6C34878D82A}">
                    <a16:rowId xmlns:a16="http://schemas.microsoft.com/office/drawing/2014/main" val="1556493584"/>
                  </a:ext>
                </a:extLst>
              </a:tr>
              <a:tr h="190695">
                <a:tc>
                  <a:txBody>
                    <a:bodyPr/>
                    <a:lstStyle/>
                    <a:p>
                      <a:pPr algn="l" fontAlgn="b"/>
                      <a:r>
                        <a:rPr lang="en-US" sz="900" b="0" i="0" u="none" strike="noStrike" dirty="0">
                          <a:solidFill>
                            <a:srgbClr val="000000"/>
                          </a:solidFill>
                          <a:effectLst/>
                          <a:latin typeface="Avenir Book" panose="02000503020000020003" pitchFamily="2" charset="0"/>
                        </a:rPr>
                        <a:t>2</a:t>
                      </a:r>
                    </a:p>
                  </a:txBody>
                  <a:tcPr marL="8939" marR="8939" marT="8939" marB="0" anchor="b"/>
                </a:tc>
                <a:tc>
                  <a:txBody>
                    <a:bodyPr/>
                    <a:lstStyle/>
                    <a:p>
                      <a:pPr algn="l" fontAlgn="b"/>
                      <a:r>
                        <a:rPr lang="en-US" sz="900" u="none" strike="noStrike" dirty="0">
                          <a:effectLst/>
                        </a:rPr>
                        <a:t>Director of Programs</a:t>
                      </a:r>
                      <a:endParaRPr lang="en-US" sz="900" b="0" i="0" u="none" strike="noStrike" dirty="0">
                        <a:solidFill>
                          <a:srgbClr val="000000"/>
                        </a:solidFill>
                        <a:effectLst/>
                        <a:latin typeface="Avenir Book" panose="02000503020000020003" pitchFamily="2" charset="0"/>
                      </a:endParaRPr>
                    </a:p>
                  </a:txBody>
                  <a:tcPr marL="8939" marR="8939" marT="8939" marB="0" anchor="b"/>
                </a:tc>
                <a:tc>
                  <a:txBody>
                    <a:bodyPr/>
                    <a:lstStyle/>
                    <a:p>
                      <a:pPr algn="l" fontAlgn="b"/>
                      <a:r>
                        <a:rPr lang="en-US" sz="900" u="none" strike="noStrike">
                          <a:effectLst/>
                        </a:rPr>
                        <a:t>Director 1</a:t>
                      </a:r>
                      <a:endParaRPr lang="en-US" sz="900" b="0" i="0" u="none" strike="noStrike">
                        <a:solidFill>
                          <a:srgbClr val="000000"/>
                        </a:solidFill>
                        <a:effectLst/>
                        <a:latin typeface="Avenir Book" panose="02000503020000020003" pitchFamily="2" charset="0"/>
                      </a:endParaRPr>
                    </a:p>
                  </a:txBody>
                  <a:tcPr marL="8939" marR="8939" marT="8939" marB="0" anchor="b"/>
                </a:tc>
                <a:tc>
                  <a:txBody>
                    <a:bodyPr/>
                    <a:lstStyle/>
                    <a:p>
                      <a:pPr algn="l" fontAlgn="b"/>
                      <a:r>
                        <a:rPr lang="en-US" sz="900" u="none" strike="noStrike">
                          <a:effectLst/>
                        </a:rPr>
                        <a:t>Kwara</a:t>
                      </a:r>
                      <a:endParaRPr lang="en-US" sz="900" b="0" i="0" u="none" strike="noStrike">
                        <a:solidFill>
                          <a:srgbClr val="000000"/>
                        </a:solidFill>
                        <a:effectLst/>
                        <a:latin typeface="Avenir Book" panose="02000503020000020003" pitchFamily="2" charset="0"/>
                      </a:endParaRPr>
                    </a:p>
                  </a:txBody>
                  <a:tcPr marL="8939" marR="8939" marT="8939" marB="0" anchor="b"/>
                </a:tc>
                <a:tc>
                  <a:txBody>
                    <a:bodyPr/>
                    <a:lstStyle/>
                    <a:p>
                      <a:pPr algn="l" fontAlgn="b"/>
                      <a:r>
                        <a:rPr lang="en-US" sz="900" u="none" strike="noStrike" dirty="0">
                          <a:effectLst/>
                        </a:rPr>
                        <a:t>Kwara Central</a:t>
                      </a:r>
                      <a:endParaRPr lang="en-US" sz="900" b="0" i="0" u="none" strike="noStrike" dirty="0">
                        <a:solidFill>
                          <a:srgbClr val="000000"/>
                        </a:solidFill>
                        <a:effectLst/>
                        <a:latin typeface="Avenir Book" panose="02000503020000020003" pitchFamily="2" charset="0"/>
                      </a:endParaRPr>
                    </a:p>
                  </a:txBody>
                  <a:tcPr marL="8939" marR="8939" marT="8939" marB="0" anchor="b"/>
                </a:tc>
                <a:tc>
                  <a:txBody>
                    <a:bodyPr/>
                    <a:lstStyle/>
                    <a:p>
                      <a:pPr algn="l" fontAlgn="b"/>
                      <a:r>
                        <a:rPr lang="en-US" sz="900" u="none" strike="noStrike">
                          <a:effectLst/>
                        </a:rPr>
                        <a:t>May 5th</a:t>
                      </a:r>
                      <a:endParaRPr lang="en-US" sz="900" b="0" i="0" u="none" strike="noStrike">
                        <a:solidFill>
                          <a:srgbClr val="000000"/>
                        </a:solidFill>
                        <a:effectLst/>
                        <a:latin typeface="Avenir Book" panose="02000503020000020003" pitchFamily="2" charset="0"/>
                      </a:endParaRPr>
                    </a:p>
                  </a:txBody>
                  <a:tcPr marL="8939" marR="8939" marT="8939" marB="0" anchor="b"/>
                </a:tc>
                <a:extLst>
                  <a:ext uri="{0D108BD9-81ED-4DB2-BD59-A6C34878D82A}">
                    <a16:rowId xmlns:a16="http://schemas.microsoft.com/office/drawing/2014/main" val="3324813709"/>
                  </a:ext>
                </a:extLst>
              </a:tr>
              <a:tr h="190695">
                <a:tc>
                  <a:txBody>
                    <a:bodyPr/>
                    <a:lstStyle/>
                    <a:p>
                      <a:pPr algn="l" fontAlgn="b"/>
                      <a:r>
                        <a:rPr lang="en-US" sz="900" b="0" i="0" u="none" strike="noStrike" dirty="0">
                          <a:solidFill>
                            <a:srgbClr val="000000"/>
                          </a:solidFill>
                          <a:effectLst/>
                          <a:latin typeface="Avenir Book" panose="02000503020000020003" pitchFamily="2" charset="0"/>
                        </a:rPr>
                        <a:t>3</a:t>
                      </a:r>
                    </a:p>
                  </a:txBody>
                  <a:tcPr marL="8939" marR="8939" marT="8939" marB="0" anchor="b"/>
                </a:tc>
                <a:tc>
                  <a:txBody>
                    <a:bodyPr/>
                    <a:lstStyle/>
                    <a:p>
                      <a:pPr algn="l" fontAlgn="b"/>
                      <a:r>
                        <a:rPr lang="en-US" sz="900" u="none" strike="noStrike">
                          <a:effectLst/>
                        </a:rPr>
                        <a:t>IT Manager</a:t>
                      </a:r>
                      <a:endParaRPr lang="en-US" sz="900" b="0" i="0" u="none" strike="noStrike">
                        <a:solidFill>
                          <a:srgbClr val="000000"/>
                        </a:solidFill>
                        <a:effectLst/>
                        <a:latin typeface="Avenir Book" panose="02000503020000020003" pitchFamily="2" charset="0"/>
                      </a:endParaRPr>
                    </a:p>
                  </a:txBody>
                  <a:tcPr marL="8939" marR="8939" marT="8939" marB="0" anchor="b"/>
                </a:tc>
                <a:tc>
                  <a:txBody>
                    <a:bodyPr/>
                    <a:lstStyle/>
                    <a:p>
                      <a:pPr algn="l" fontAlgn="b"/>
                      <a:r>
                        <a:rPr lang="en-US" sz="900" u="none" strike="noStrike">
                          <a:effectLst/>
                        </a:rPr>
                        <a:t>Senior Associate</a:t>
                      </a:r>
                      <a:endParaRPr lang="en-US" sz="900" b="0" i="0" u="none" strike="noStrike">
                        <a:solidFill>
                          <a:srgbClr val="000000"/>
                        </a:solidFill>
                        <a:effectLst/>
                        <a:latin typeface="Avenir Book" panose="02000503020000020003" pitchFamily="2" charset="0"/>
                      </a:endParaRPr>
                    </a:p>
                  </a:txBody>
                  <a:tcPr marL="8939" marR="8939" marT="8939" marB="0" anchor="b"/>
                </a:tc>
                <a:tc>
                  <a:txBody>
                    <a:bodyPr/>
                    <a:lstStyle/>
                    <a:p>
                      <a:pPr algn="l" fontAlgn="b"/>
                      <a:r>
                        <a:rPr lang="en-US" sz="900" u="none" strike="noStrike">
                          <a:effectLst/>
                        </a:rPr>
                        <a:t>Kwara</a:t>
                      </a:r>
                      <a:endParaRPr lang="en-US" sz="900" b="0" i="0" u="none" strike="noStrike">
                        <a:solidFill>
                          <a:srgbClr val="000000"/>
                        </a:solidFill>
                        <a:effectLst/>
                        <a:latin typeface="Avenir Book" panose="02000503020000020003" pitchFamily="2" charset="0"/>
                      </a:endParaRPr>
                    </a:p>
                  </a:txBody>
                  <a:tcPr marL="8939" marR="8939" marT="8939" marB="0" anchor="b"/>
                </a:tc>
                <a:tc>
                  <a:txBody>
                    <a:bodyPr/>
                    <a:lstStyle/>
                    <a:p>
                      <a:pPr algn="l" fontAlgn="b"/>
                      <a:r>
                        <a:rPr lang="en-US" sz="900" u="none" strike="noStrike" dirty="0">
                          <a:effectLst/>
                        </a:rPr>
                        <a:t>Kwara South</a:t>
                      </a:r>
                      <a:endParaRPr lang="en-US" sz="900" b="0" i="0" u="none" strike="noStrike" dirty="0">
                        <a:solidFill>
                          <a:srgbClr val="000000"/>
                        </a:solidFill>
                        <a:effectLst/>
                        <a:latin typeface="Avenir Book" panose="02000503020000020003" pitchFamily="2" charset="0"/>
                      </a:endParaRPr>
                    </a:p>
                  </a:txBody>
                  <a:tcPr marL="8939" marR="8939" marT="8939" marB="0" anchor="b"/>
                </a:tc>
                <a:tc>
                  <a:txBody>
                    <a:bodyPr/>
                    <a:lstStyle/>
                    <a:p>
                      <a:pPr algn="l" fontAlgn="b"/>
                      <a:r>
                        <a:rPr lang="en-US" sz="900" u="none" strike="noStrike">
                          <a:effectLst/>
                        </a:rPr>
                        <a:t>May 15th</a:t>
                      </a:r>
                      <a:endParaRPr lang="en-US" sz="900" b="0" i="0" u="none" strike="noStrike">
                        <a:solidFill>
                          <a:srgbClr val="000000"/>
                        </a:solidFill>
                        <a:effectLst/>
                        <a:latin typeface="Avenir Book" panose="02000503020000020003" pitchFamily="2" charset="0"/>
                      </a:endParaRPr>
                    </a:p>
                  </a:txBody>
                  <a:tcPr marL="8939" marR="8939" marT="8939" marB="0" anchor="b"/>
                </a:tc>
                <a:extLst>
                  <a:ext uri="{0D108BD9-81ED-4DB2-BD59-A6C34878D82A}">
                    <a16:rowId xmlns:a16="http://schemas.microsoft.com/office/drawing/2014/main" val="2100123352"/>
                  </a:ext>
                </a:extLst>
              </a:tr>
              <a:tr h="190695">
                <a:tc>
                  <a:txBody>
                    <a:bodyPr/>
                    <a:lstStyle/>
                    <a:p>
                      <a:pPr algn="l" fontAlgn="b"/>
                      <a:r>
                        <a:rPr lang="en-US" sz="900" b="0" i="0" u="none" strike="noStrike" dirty="0">
                          <a:solidFill>
                            <a:srgbClr val="000000"/>
                          </a:solidFill>
                          <a:effectLst/>
                          <a:latin typeface="Avenir Book" panose="02000503020000020003" pitchFamily="2" charset="0"/>
                        </a:rPr>
                        <a:t>4</a:t>
                      </a:r>
                    </a:p>
                  </a:txBody>
                  <a:tcPr marL="8939" marR="8939" marT="8939" marB="0" anchor="b"/>
                </a:tc>
                <a:tc>
                  <a:txBody>
                    <a:bodyPr/>
                    <a:lstStyle/>
                    <a:p>
                      <a:pPr algn="l" fontAlgn="b"/>
                      <a:r>
                        <a:rPr lang="en-US" sz="900" u="none" strike="noStrike" dirty="0">
                          <a:effectLst/>
                        </a:rPr>
                        <a:t>Front Desk Associate</a:t>
                      </a:r>
                      <a:endParaRPr lang="en-US" sz="900" b="0" i="0" u="none" strike="noStrike" dirty="0">
                        <a:solidFill>
                          <a:srgbClr val="000000"/>
                        </a:solidFill>
                        <a:effectLst/>
                        <a:latin typeface="Avenir Book" panose="02000503020000020003" pitchFamily="2" charset="0"/>
                      </a:endParaRPr>
                    </a:p>
                  </a:txBody>
                  <a:tcPr marL="8939" marR="8939" marT="8939" marB="0" anchor="b"/>
                </a:tc>
                <a:tc>
                  <a:txBody>
                    <a:bodyPr/>
                    <a:lstStyle/>
                    <a:p>
                      <a:pPr algn="l" fontAlgn="b"/>
                      <a:r>
                        <a:rPr lang="en-US" sz="900" u="none" strike="noStrike">
                          <a:effectLst/>
                        </a:rPr>
                        <a:t>Associate</a:t>
                      </a:r>
                      <a:endParaRPr lang="en-US" sz="900" b="0" i="0" u="none" strike="noStrike">
                        <a:solidFill>
                          <a:srgbClr val="000000"/>
                        </a:solidFill>
                        <a:effectLst/>
                        <a:latin typeface="Avenir Book" panose="02000503020000020003" pitchFamily="2" charset="0"/>
                      </a:endParaRPr>
                    </a:p>
                  </a:txBody>
                  <a:tcPr marL="8939" marR="8939" marT="8939" marB="0" anchor="b"/>
                </a:tc>
                <a:tc>
                  <a:txBody>
                    <a:bodyPr/>
                    <a:lstStyle/>
                    <a:p>
                      <a:pPr algn="l" fontAlgn="b"/>
                      <a:r>
                        <a:rPr lang="en-US" sz="900" u="none" strike="noStrike">
                          <a:effectLst/>
                        </a:rPr>
                        <a:t>Cross River</a:t>
                      </a:r>
                      <a:endParaRPr lang="en-US" sz="900" b="0" i="0" u="none" strike="noStrike">
                        <a:solidFill>
                          <a:srgbClr val="000000"/>
                        </a:solidFill>
                        <a:effectLst/>
                        <a:latin typeface="Avenir Book" panose="02000503020000020003" pitchFamily="2" charset="0"/>
                      </a:endParaRPr>
                    </a:p>
                  </a:txBody>
                  <a:tcPr marL="8939" marR="8939" marT="8939" marB="0" anchor="b"/>
                </a:tc>
                <a:tc>
                  <a:txBody>
                    <a:bodyPr/>
                    <a:lstStyle/>
                    <a:p>
                      <a:pPr algn="l" fontAlgn="b"/>
                      <a:endParaRPr lang="en-US" sz="900" b="0" i="0" u="none" strike="noStrike" dirty="0">
                        <a:solidFill>
                          <a:srgbClr val="000000"/>
                        </a:solidFill>
                        <a:effectLst/>
                        <a:latin typeface="Avenir Book" panose="02000503020000020003" pitchFamily="2" charset="0"/>
                      </a:endParaRPr>
                    </a:p>
                  </a:txBody>
                  <a:tcPr marL="8939" marR="8939" marT="8939" marB="0" anchor="b"/>
                </a:tc>
                <a:tc>
                  <a:txBody>
                    <a:bodyPr/>
                    <a:lstStyle/>
                    <a:p>
                      <a:pPr algn="l" fontAlgn="b"/>
                      <a:r>
                        <a:rPr lang="en-US" sz="900" u="none" strike="noStrike">
                          <a:effectLst/>
                        </a:rPr>
                        <a:t>May 15th</a:t>
                      </a:r>
                      <a:endParaRPr lang="en-US" sz="900" b="0" i="0" u="none" strike="noStrike">
                        <a:solidFill>
                          <a:srgbClr val="000000"/>
                        </a:solidFill>
                        <a:effectLst/>
                        <a:latin typeface="Avenir Book" panose="02000503020000020003" pitchFamily="2" charset="0"/>
                      </a:endParaRPr>
                    </a:p>
                  </a:txBody>
                  <a:tcPr marL="8939" marR="8939" marT="8939" marB="0" anchor="b"/>
                </a:tc>
                <a:extLst>
                  <a:ext uri="{0D108BD9-81ED-4DB2-BD59-A6C34878D82A}">
                    <a16:rowId xmlns:a16="http://schemas.microsoft.com/office/drawing/2014/main" val="1720745892"/>
                  </a:ext>
                </a:extLst>
              </a:tr>
              <a:tr h="190695">
                <a:tc>
                  <a:txBody>
                    <a:bodyPr/>
                    <a:lstStyle/>
                    <a:p>
                      <a:pPr algn="l" fontAlgn="b"/>
                      <a:r>
                        <a:rPr lang="en-US" sz="900" b="0" i="0" u="none" strike="noStrike" dirty="0">
                          <a:solidFill>
                            <a:srgbClr val="000000"/>
                          </a:solidFill>
                          <a:effectLst/>
                          <a:latin typeface="Avenir Book" panose="02000503020000020003" pitchFamily="2" charset="0"/>
                        </a:rPr>
                        <a:t>5</a:t>
                      </a:r>
                    </a:p>
                  </a:txBody>
                  <a:tcPr marL="8939" marR="8939" marT="8939" marB="0" anchor="b"/>
                </a:tc>
                <a:tc>
                  <a:txBody>
                    <a:bodyPr/>
                    <a:lstStyle/>
                    <a:p>
                      <a:pPr algn="l" fontAlgn="b"/>
                      <a:r>
                        <a:rPr lang="en-US" sz="900" u="none" strike="noStrike" dirty="0">
                          <a:effectLst/>
                        </a:rPr>
                        <a:t>HR Associate</a:t>
                      </a:r>
                      <a:endParaRPr lang="en-US" sz="900" b="0" i="0" u="none" strike="noStrike" dirty="0">
                        <a:solidFill>
                          <a:srgbClr val="000000"/>
                        </a:solidFill>
                        <a:effectLst/>
                        <a:latin typeface="Avenir Book" panose="02000503020000020003" pitchFamily="2" charset="0"/>
                      </a:endParaRPr>
                    </a:p>
                  </a:txBody>
                  <a:tcPr marL="8939" marR="8939" marT="8939" marB="0" anchor="b"/>
                </a:tc>
                <a:tc>
                  <a:txBody>
                    <a:bodyPr/>
                    <a:lstStyle/>
                    <a:p>
                      <a:pPr algn="l" fontAlgn="b"/>
                      <a:r>
                        <a:rPr lang="en-US" sz="900" u="none" strike="noStrike">
                          <a:effectLst/>
                        </a:rPr>
                        <a:t>Associate</a:t>
                      </a:r>
                      <a:endParaRPr lang="en-US" sz="900" b="0" i="0" u="none" strike="noStrike">
                        <a:solidFill>
                          <a:srgbClr val="000000"/>
                        </a:solidFill>
                        <a:effectLst/>
                        <a:latin typeface="Avenir Book" panose="02000503020000020003" pitchFamily="2" charset="0"/>
                      </a:endParaRPr>
                    </a:p>
                  </a:txBody>
                  <a:tcPr marL="8939" marR="8939" marT="8939" marB="0" anchor="b"/>
                </a:tc>
                <a:tc>
                  <a:txBody>
                    <a:bodyPr/>
                    <a:lstStyle/>
                    <a:p>
                      <a:pPr algn="l" fontAlgn="b"/>
                      <a:r>
                        <a:rPr lang="en-US" sz="900" u="none" strike="noStrike">
                          <a:effectLst/>
                        </a:rPr>
                        <a:t>Abia</a:t>
                      </a:r>
                      <a:endParaRPr lang="en-US" sz="900" b="0" i="0" u="none" strike="noStrike">
                        <a:solidFill>
                          <a:srgbClr val="000000"/>
                        </a:solidFill>
                        <a:effectLst/>
                        <a:latin typeface="Avenir Book" panose="02000503020000020003" pitchFamily="2" charset="0"/>
                      </a:endParaRPr>
                    </a:p>
                  </a:txBody>
                  <a:tcPr marL="8939" marR="8939" marT="8939" marB="0" anchor="b"/>
                </a:tc>
                <a:tc>
                  <a:txBody>
                    <a:bodyPr/>
                    <a:lstStyle/>
                    <a:p>
                      <a:pPr algn="l" fontAlgn="b"/>
                      <a:endParaRPr lang="en-US" sz="900" b="0" i="0" u="none" strike="noStrike" dirty="0">
                        <a:solidFill>
                          <a:srgbClr val="000000"/>
                        </a:solidFill>
                        <a:effectLst/>
                        <a:latin typeface="Avenir Book" panose="02000503020000020003" pitchFamily="2" charset="0"/>
                      </a:endParaRPr>
                    </a:p>
                  </a:txBody>
                  <a:tcPr marL="8939" marR="8939" marT="8939" marB="0" anchor="b"/>
                </a:tc>
                <a:tc>
                  <a:txBody>
                    <a:bodyPr/>
                    <a:lstStyle/>
                    <a:p>
                      <a:pPr algn="l" fontAlgn="b"/>
                      <a:r>
                        <a:rPr lang="en-US" sz="900" u="none" strike="noStrike">
                          <a:effectLst/>
                        </a:rPr>
                        <a:t>May 5th</a:t>
                      </a:r>
                      <a:endParaRPr lang="en-US" sz="900" b="0" i="0" u="none" strike="noStrike">
                        <a:solidFill>
                          <a:srgbClr val="000000"/>
                        </a:solidFill>
                        <a:effectLst/>
                        <a:latin typeface="Avenir Book" panose="02000503020000020003" pitchFamily="2" charset="0"/>
                      </a:endParaRPr>
                    </a:p>
                  </a:txBody>
                  <a:tcPr marL="8939" marR="8939" marT="8939" marB="0" anchor="b"/>
                </a:tc>
                <a:extLst>
                  <a:ext uri="{0D108BD9-81ED-4DB2-BD59-A6C34878D82A}">
                    <a16:rowId xmlns:a16="http://schemas.microsoft.com/office/drawing/2014/main" val="314578284"/>
                  </a:ext>
                </a:extLst>
              </a:tr>
              <a:tr h="190695">
                <a:tc>
                  <a:txBody>
                    <a:bodyPr/>
                    <a:lstStyle/>
                    <a:p>
                      <a:pPr algn="l" fontAlgn="b"/>
                      <a:r>
                        <a:rPr lang="en-US" sz="900" b="0" i="0" u="none" strike="noStrike" dirty="0">
                          <a:solidFill>
                            <a:srgbClr val="000000"/>
                          </a:solidFill>
                          <a:effectLst/>
                          <a:latin typeface="Avenir Book" panose="02000503020000020003" pitchFamily="2" charset="0"/>
                        </a:rPr>
                        <a:t>6</a:t>
                      </a:r>
                    </a:p>
                  </a:txBody>
                  <a:tcPr marL="8939" marR="8939" marT="8939" marB="0" anchor="b"/>
                </a:tc>
                <a:tc>
                  <a:txBody>
                    <a:bodyPr/>
                    <a:lstStyle/>
                    <a:p>
                      <a:pPr algn="l" fontAlgn="b"/>
                      <a:r>
                        <a:rPr lang="en-US" sz="900" u="none" strike="noStrike">
                          <a:effectLst/>
                        </a:rPr>
                        <a:t>IT Support Associate</a:t>
                      </a:r>
                      <a:endParaRPr lang="en-US" sz="900" b="0" i="0" u="none" strike="noStrike">
                        <a:solidFill>
                          <a:srgbClr val="000000"/>
                        </a:solidFill>
                        <a:effectLst/>
                        <a:latin typeface="Avenir Book" panose="02000503020000020003" pitchFamily="2" charset="0"/>
                      </a:endParaRPr>
                    </a:p>
                  </a:txBody>
                  <a:tcPr marL="8939" marR="8939" marT="8939" marB="0" anchor="b"/>
                </a:tc>
                <a:tc>
                  <a:txBody>
                    <a:bodyPr/>
                    <a:lstStyle/>
                    <a:p>
                      <a:pPr algn="l" fontAlgn="b"/>
                      <a:r>
                        <a:rPr lang="en-US" sz="900" u="none" strike="noStrike">
                          <a:effectLst/>
                        </a:rPr>
                        <a:t>Associate</a:t>
                      </a:r>
                      <a:endParaRPr lang="en-US" sz="900" b="0" i="0" u="none" strike="noStrike">
                        <a:solidFill>
                          <a:srgbClr val="000000"/>
                        </a:solidFill>
                        <a:effectLst/>
                        <a:latin typeface="Avenir Book" panose="02000503020000020003" pitchFamily="2" charset="0"/>
                      </a:endParaRPr>
                    </a:p>
                  </a:txBody>
                  <a:tcPr marL="8939" marR="8939" marT="8939" marB="0" anchor="b"/>
                </a:tc>
                <a:tc>
                  <a:txBody>
                    <a:bodyPr/>
                    <a:lstStyle/>
                    <a:p>
                      <a:pPr algn="l" fontAlgn="b"/>
                      <a:r>
                        <a:rPr lang="en-US" sz="900" u="none" strike="noStrike">
                          <a:effectLst/>
                        </a:rPr>
                        <a:t>Kwara</a:t>
                      </a:r>
                      <a:endParaRPr lang="en-US" sz="900" b="0" i="0" u="none" strike="noStrike">
                        <a:solidFill>
                          <a:srgbClr val="000000"/>
                        </a:solidFill>
                        <a:effectLst/>
                        <a:latin typeface="Avenir Book" panose="02000503020000020003" pitchFamily="2" charset="0"/>
                      </a:endParaRPr>
                    </a:p>
                  </a:txBody>
                  <a:tcPr marL="8939" marR="8939" marT="8939" marB="0" anchor="b"/>
                </a:tc>
                <a:tc>
                  <a:txBody>
                    <a:bodyPr/>
                    <a:lstStyle/>
                    <a:p>
                      <a:pPr algn="l" fontAlgn="b"/>
                      <a:r>
                        <a:rPr lang="en-US" sz="900" u="none" strike="noStrike" dirty="0">
                          <a:effectLst/>
                        </a:rPr>
                        <a:t>Kwara South</a:t>
                      </a:r>
                      <a:endParaRPr lang="en-US" sz="900" b="0" i="0" u="none" strike="noStrike" dirty="0">
                        <a:solidFill>
                          <a:srgbClr val="000000"/>
                        </a:solidFill>
                        <a:effectLst/>
                        <a:latin typeface="Avenir Book" panose="02000503020000020003" pitchFamily="2" charset="0"/>
                      </a:endParaRPr>
                    </a:p>
                  </a:txBody>
                  <a:tcPr marL="8939" marR="8939" marT="8939" marB="0" anchor="b"/>
                </a:tc>
                <a:tc>
                  <a:txBody>
                    <a:bodyPr/>
                    <a:lstStyle/>
                    <a:p>
                      <a:pPr algn="l" fontAlgn="b"/>
                      <a:r>
                        <a:rPr lang="en-US" sz="900" u="none" strike="noStrike">
                          <a:effectLst/>
                        </a:rPr>
                        <a:t>May 15th</a:t>
                      </a:r>
                      <a:endParaRPr lang="en-US" sz="900" b="0" i="0" u="none" strike="noStrike">
                        <a:solidFill>
                          <a:srgbClr val="000000"/>
                        </a:solidFill>
                        <a:effectLst/>
                        <a:latin typeface="Avenir Book" panose="02000503020000020003" pitchFamily="2" charset="0"/>
                      </a:endParaRPr>
                    </a:p>
                  </a:txBody>
                  <a:tcPr marL="8939" marR="8939" marT="8939" marB="0" anchor="b"/>
                </a:tc>
                <a:extLst>
                  <a:ext uri="{0D108BD9-81ED-4DB2-BD59-A6C34878D82A}">
                    <a16:rowId xmlns:a16="http://schemas.microsoft.com/office/drawing/2014/main" val="1237174966"/>
                  </a:ext>
                </a:extLst>
              </a:tr>
              <a:tr h="190695">
                <a:tc>
                  <a:txBody>
                    <a:bodyPr/>
                    <a:lstStyle/>
                    <a:p>
                      <a:pPr algn="l" fontAlgn="b"/>
                      <a:r>
                        <a:rPr lang="en-US" sz="900" b="0" i="0" u="none" strike="noStrike" dirty="0">
                          <a:solidFill>
                            <a:srgbClr val="000000"/>
                          </a:solidFill>
                          <a:effectLst/>
                          <a:latin typeface="Avenir Book" panose="02000503020000020003" pitchFamily="2" charset="0"/>
                        </a:rPr>
                        <a:t>7</a:t>
                      </a:r>
                    </a:p>
                  </a:txBody>
                  <a:tcPr marL="8939" marR="8939" marT="8939" marB="0" anchor="b"/>
                </a:tc>
                <a:tc>
                  <a:txBody>
                    <a:bodyPr/>
                    <a:lstStyle/>
                    <a:p>
                      <a:pPr algn="l" fontAlgn="b"/>
                      <a:r>
                        <a:rPr lang="en-US" sz="900" u="none" strike="noStrike">
                          <a:effectLst/>
                        </a:rPr>
                        <a:t>IT Support Associate</a:t>
                      </a:r>
                      <a:endParaRPr lang="en-US" sz="900" b="0" i="0" u="none" strike="noStrike">
                        <a:solidFill>
                          <a:srgbClr val="000000"/>
                        </a:solidFill>
                        <a:effectLst/>
                        <a:latin typeface="Avenir Book" panose="02000503020000020003" pitchFamily="2" charset="0"/>
                      </a:endParaRPr>
                    </a:p>
                  </a:txBody>
                  <a:tcPr marL="8939" marR="8939" marT="8939" marB="0" anchor="b"/>
                </a:tc>
                <a:tc>
                  <a:txBody>
                    <a:bodyPr/>
                    <a:lstStyle/>
                    <a:p>
                      <a:pPr algn="l" fontAlgn="b"/>
                      <a:r>
                        <a:rPr lang="en-US" sz="900" u="none" strike="noStrike" dirty="0">
                          <a:effectLst/>
                        </a:rPr>
                        <a:t>Associate</a:t>
                      </a:r>
                      <a:endParaRPr lang="en-US" sz="900" b="0" i="0" u="none" strike="noStrike" dirty="0">
                        <a:solidFill>
                          <a:srgbClr val="000000"/>
                        </a:solidFill>
                        <a:effectLst/>
                        <a:latin typeface="Avenir Book" panose="02000503020000020003" pitchFamily="2" charset="0"/>
                      </a:endParaRPr>
                    </a:p>
                  </a:txBody>
                  <a:tcPr marL="8939" marR="8939" marT="8939" marB="0" anchor="b"/>
                </a:tc>
                <a:tc>
                  <a:txBody>
                    <a:bodyPr/>
                    <a:lstStyle/>
                    <a:p>
                      <a:pPr algn="l" fontAlgn="b"/>
                      <a:r>
                        <a:rPr lang="en-US" sz="900" u="none" strike="noStrike">
                          <a:effectLst/>
                        </a:rPr>
                        <a:t>Abia</a:t>
                      </a:r>
                      <a:endParaRPr lang="en-US" sz="900" b="0" i="0" u="none" strike="noStrike">
                        <a:solidFill>
                          <a:srgbClr val="000000"/>
                        </a:solidFill>
                        <a:effectLst/>
                        <a:latin typeface="Avenir Book" panose="02000503020000020003" pitchFamily="2" charset="0"/>
                      </a:endParaRPr>
                    </a:p>
                  </a:txBody>
                  <a:tcPr marL="8939" marR="8939" marT="8939" marB="0" anchor="b"/>
                </a:tc>
                <a:tc>
                  <a:txBody>
                    <a:bodyPr/>
                    <a:lstStyle/>
                    <a:p>
                      <a:pPr algn="l" fontAlgn="b"/>
                      <a:endParaRPr lang="en-US" sz="900" b="0" i="0" u="none" strike="noStrike" dirty="0">
                        <a:solidFill>
                          <a:srgbClr val="000000"/>
                        </a:solidFill>
                        <a:effectLst/>
                        <a:latin typeface="Avenir Book" panose="02000503020000020003" pitchFamily="2" charset="0"/>
                      </a:endParaRPr>
                    </a:p>
                  </a:txBody>
                  <a:tcPr marL="8939" marR="8939" marT="8939" marB="0" anchor="b"/>
                </a:tc>
                <a:tc>
                  <a:txBody>
                    <a:bodyPr/>
                    <a:lstStyle/>
                    <a:p>
                      <a:pPr algn="l" fontAlgn="b"/>
                      <a:r>
                        <a:rPr lang="en-US" sz="900" u="none" strike="noStrike">
                          <a:effectLst/>
                        </a:rPr>
                        <a:t>May 15th</a:t>
                      </a:r>
                      <a:endParaRPr lang="en-US" sz="900" b="0" i="0" u="none" strike="noStrike">
                        <a:solidFill>
                          <a:srgbClr val="000000"/>
                        </a:solidFill>
                        <a:effectLst/>
                        <a:latin typeface="Avenir Book" panose="02000503020000020003" pitchFamily="2" charset="0"/>
                      </a:endParaRPr>
                    </a:p>
                  </a:txBody>
                  <a:tcPr marL="8939" marR="8939" marT="8939" marB="0" anchor="b"/>
                </a:tc>
                <a:extLst>
                  <a:ext uri="{0D108BD9-81ED-4DB2-BD59-A6C34878D82A}">
                    <a16:rowId xmlns:a16="http://schemas.microsoft.com/office/drawing/2014/main" val="1263171309"/>
                  </a:ext>
                </a:extLst>
              </a:tr>
              <a:tr h="190695">
                <a:tc>
                  <a:txBody>
                    <a:bodyPr/>
                    <a:lstStyle/>
                    <a:p>
                      <a:pPr algn="l" fontAlgn="b"/>
                      <a:r>
                        <a:rPr lang="en-US" sz="900" b="0" i="0" u="none" strike="noStrike" dirty="0">
                          <a:solidFill>
                            <a:srgbClr val="000000"/>
                          </a:solidFill>
                          <a:effectLst/>
                          <a:latin typeface="Avenir Book" panose="02000503020000020003" pitchFamily="2" charset="0"/>
                        </a:rPr>
                        <a:t>8</a:t>
                      </a:r>
                    </a:p>
                  </a:txBody>
                  <a:tcPr marL="8939" marR="8939" marT="8939" marB="0" anchor="b"/>
                </a:tc>
                <a:tc>
                  <a:txBody>
                    <a:bodyPr/>
                    <a:lstStyle/>
                    <a:p>
                      <a:pPr algn="l" fontAlgn="b"/>
                      <a:r>
                        <a:rPr lang="en-US" sz="900" u="none" strike="noStrike" dirty="0">
                          <a:effectLst/>
                        </a:rPr>
                        <a:t>Graphics &amp; Design Associate</a:t>
                      </a:r>
                      <a:endParaRPr lang="en-US" sz="900" b="0" i="0" u="none" strike="noStrike" dirty="0">
                        <a:solidFill>
                          <a:srgbClr val="000000"/>
                        </a:solidFill>
                        <a:effectLst/>
                        <a:latin typeface="Avenir Book" panose="02000503020000020003" pitchFamily="2" charset="0"/>
                      </a:endParaRPr>
                    </a:p>
                  </a:txBody>
                  <a:tcPr marL="8939" marR="8939" marT="8939" marB="0" anchor="b"/>
                </a:tc>
                <a:tc>
                  <a:txBody>
                    <a:bodyPr/>
                    <a:lstStyle/>
                    <a:p>
                      <a:pPr algn="l" fontAlgn="b"/>
                      <a:r>
                        <a:rPr lang="en-US" sz="900" u="none" strike="noStrike">
                          <a:effectLst/>
                        </a:rPr>
                        <a:t>Associate</a:t>
                      </a:r>
                      <a:endParaRPr lang="en-US" sz="900" b="0" i="0" u="none" strike="noStrike">
                        <a:solidFill>
                          <a:srgbClr val="000000"/>
                        </a:solidFill>
                        <a:effectLst/>
                        <a:latin typeface="Avenir Book" panose="02000503020000020003" pitchFamily="2" charset="0"/>
                      </a:endParaRPr>
                    </a:p>
                  </a:txBody>
                  <a:tcPr marL="8939" marR="8939" marT="8939" marB="0" anchor="b"/>
                </a:tc>
                <a:tc>
                  <a:txBody>
                    <a:bodyPr/>
                    <a:lstStyle/>
                    <a:p>
                      <a:pPr algn="l" fontAlgn="b"/>
                      <a:r>
                        <a:rPr lang="en-US" sz="900" u="none" strike="noStrike">
                          <a:effectLst/>
                        </a:rPr>
                        <a:t>Kwara</a:t>
                      </a:r>
                      <a:endParaRPr lang="en-US" sz="900" b="0" i="0" u="none" strike="noStrike">
                        <a:solidFill>
                          <a:srgbClr val="000000"/>
                        </a:solidFill>
                        <a:effectLst/>
                        <a:latin typeface="Avenir Book" panose="02000503020000020003" pitchFamily="2" charset="0"/>
                      </a:endParaRPr>
                    </a:p>
                  </a:txBody>
                  <a:tcPr marL="8939" marR="8939" marT="8939" marB="0" anchor="b"/>
                </a:tc>
                <a:tc>
                  <a:txBody>
                    <a:bodyPr/>
                    <a:lstStyle/>
                    <a:p>
                      <a:pPr algn="l" fontAlgn="b"/>
                      <a:r>
                        <a:rPr lang="en-US" sz="900" u="none" strike="noStrike" dirty="0">
                          <a:effectLst/>
                        </a:rPr>
                        <a:t>Kwara South</a:t>
                      </a:r>
                      <a:endParaRPr lang="en-US" sz="900" b="0" i="0" u="none" strike="noStrike" dirty="0">
                        <a:solidFill>
                          <a:srgbClr val="000000"/>
                        </a:solidFill>
                        <a:effectLst/>
                        <a:latin typeface="Avenir Book" panose="02000503020000020003" pitchFamily="2" charset="0"/>
                      </a:endParaRPr>
                    </a:p>
                  </a:txBody>
                  <a:tcPr marL="8939" marR="8939" marT="8939" marB="0" anchor="b"/>
                </a:tc>
                <a:tc>
                  <a:txBody>
                    <a:bodyPr/>
                    <a:lstStyle/>
                    <a:p>
                      <a:pPr algn="l" fontAlgn="b"/>
                      <a:r>
                        <a:rPr lang="en-US" sz="900" u="none" strike="noStrike">
                          <a:effectLst/>
                        </a:rPr>
                        <a:t>May 5th</a:t>
                      </a:r>
                      <a:endParaRPr lang="en-US" sz="900" b="0" i="0" u="none" strike="noStrike">
                        <a:solidFill>
                          <a:srgbClr val="000000"/>
                        </a:solidFill>
                        <a:effectLst/>
                        <a:latin typeface="Avenir Book" panose="02000503020000020003" pitchFamily="2" charset="0"/>
                      </a:endParaRPr>
                    </a:p>
                  </a:txBody>
                  <a:tcPr marL="8939" marR="8939" marT="8939" marB="0" anchor="b"/>
                </a:tc>
                <a:extLst>
                  <a:ext uri="{0D108BD9-81ED-4DB2-BD59-A6C34878D82A}">
                    <a16:rowId xmlns:a16="http://schemas.microsoft.com/office/drawing/2014/main" val="1244234981"/>
                  </a:ext>
                </a:extLst>
              </a:tr>
              <a:tr h="190695">
                <a:tc>
                  <a:txBody>
                    <a:bodyPr/>
                    <a:lstStyle/>
                    <a:p>
                      <a:pPr algn="l" fontAlgn="b"/>
                      <a:r>
                        <a:rPr lang="en-US" sz="900" b="0" i="0" u="none" strike="noStrike" dirty="0">
                          <a:solidFill>
                            <a:srgbClr val="000000"/>
                          </a:solidFill>
                          <a:effectLst/>
                          <a:latin typeface="Avenir Book" panose="02000503020000020003" pitchFamily="2" charset="0"/>
                        </a:rPr>
                        <a:t>9</a:t>
                      </a:r>
                    </a:p>
                  </a:txBody>
                  <a:tcPr marL="8939" marR="8939" marT="8939" marB="0" anchor="b"/>
                </a:tc>
                <a:tc>
                  <a:txBody>
                    <a:bodyPr/>
                    <a:lstStyle/>
                    <a:p>
                      <a:pPr algn="l" fontAlgn="b"/>
                      <a:r>
                        <a:rPr lang="en-US" sz="900" u="none" strike="noStrike">
                          <a:effectLst/>
                        </a:rPr>
                        <a:t>Finance Associate</a:t>
                      </a:r>
                      <a:endParaRPr lang="en-US" sz="900" b="0" i="0" u="none" strike="noStrike">
                        <a:solidFill>
                          <a:srgbClr val="000000"/>
                        </a:solidFill>
                        <a:effectLst/>
                        <a:latin typeface="Avenir Book" panose="02000503020000020003" pitchFamily="2" charset="0"/>
                      </a:endParaRPr>
                    </a:p>
                  </a:txBody>
                  <a:tcPr marL="8939" marR="8939" marT="8939" marB="0" anchor="b"/>
                </a:tc>
                <a:tc>
                  <a:txBody>
                    <a:bodyPr/>
                    <a:lstStyle/>
                    <a:p>
                      <a:pPr algn="l" fontAlgn="b"/>
                      <a:r>
                        <a:rPr lang="en-US" sz="900" u="none" strike="noStrike">
                          <a:effectLst/>
                        </a:rPr>
                        <a:t>Associate</a:t>
                      </a:r>
                      <a:endParaRPr lang="en-US" sz="900" b="0" i="0" u="none" strike="noStrike">
                        <a:solidFill>
                          <a:srgbClr val="000000"/>
                        </a:solidFill>
                        <a:effectLst/>
                        <a:latin typeface="Avenir Book" panose="02000503020000020003" pitchFamily="2" charset="0"/>
                      </a:endParaRPr>
                    </a:p>
                  </a:txBody>
                  <a:tcPr marL="8939" marR="8939" marT="8939" marB="0" anchor="b"/>
                </a:tc>
                <a:tc>
                  <a:txBody>
                    <a:bodyPr/>
                    <a:lstStyle/>
                    <a:p>
                      <a:pPr algn="l" fontAlgn="b"/>
                      <a:r>
                        <a:rPr lang="en-US" sz="900" u="none" strike="noStrike">
                          <a:effectLst/>
                        </a:rPr>
                        <a:t>Kwara</a:t>
                      </a:r>
                      <a:endParaRPr lang="en-US" sz="900" b="0" i="0" u="none" strike="noStrike">
                        <a:solidFill>
                          <a:srgbClr val="000000"/>
                        </a:solidFill>
                        <a:effectLst/>
                        <a:latin typeface="Avenir Book" panose="02000503020000020003" pitchFamily="2" charset="0"/>
                      </a:endParaRPr>
                    </a:p>
                  </a:txBody>
                  <a:tcPr marL="8939" marR="8939" marT="8939" marB="0" anchor="b"/>
                </a:tc>
                <a:tc>
                  <a:txBody>
                    <a:bodyPr/>
                    <a:lstStyle/>
                    <a:p>
                      <a:pPr algn="l" fontAlgn="b"/>
                      <a:r>
                        <a:rPr lang="en-US" sz="900" u="none" strike="noStrike" dirty="0">
                          <a:effectLst/>
                        </a:rPr>
                        <a:t>Kwara Central</a:t>
                      </a:r>
                      <a:endParaRPr lang="en-US" sz="900" b="0" i="0" u="none" strike="noStrike" dirty="0">
                        <a:solidFill>
                          <a:srgbClr val="000000"/>
                        </a:solidFill>
                        <a:effectLst/>
                        <a:latin typeface="Avenir Book" panose="02000503020000020003" pitchFamily="2" charset="0"/>
                      </a:endParaRPr>
                    </a:p>
                  </a:txBody>
                  <a:tcPr marL="8939" marR="8939" marT="8939" marB="0" anchor="b"/>
                </a:tc>
                <a:tc>
                  <a:txBody>
                    <a:bodyPr/>
                    <a:lstStyle/>
                    <a:p>
                      <a:pPr algn="l" fontAlgn="b"/>
                      <a:r>
                        <a:rPr lang="en-US" sz="900" u="none" strike="noStrike">
                          <a:effectLst/>
                        </a:rPr>
                        <a:t>June 2nd</a:t>
                      </a:r>
                      <a:endParaRPr lang="en-US" sz="900" b="0" i="0" u="none" strike="noStrike">
                        <a:solidFill>
                          <a:srgbClr val="000000"/>
                        </a:solidFill>
                        <a:effectLst/>
                        <a:latin typeface="Avenir Book" panose="02000503020000020003" pitchFamily="2" charset="0"/>
                      </a:endParaRPr>
                    </a:p>
                  </a:txBody>
                  <a:tcPr marL="8939" marR="8939" marT="8939" marB="0" anchor="b"/>
                </a:tc>
                <a:extLst>
                  <a:ext uri="{0D108BD9-81ED-4DB2-BD59-A6C34878D82A}">
                    <a16:rowId xmlns:a16="http://schemas.microsoft.com/office/drawing/2014/main" val="3707073858"/>
                  </a:ext>
                </a:extLst>
              </a:tr>
              <a:tr h="190695">
                <a:tc>
                  <a:txBody>
                    <a:bodyPr/>
                    <a:lstStyle/>
                    <a:p>
                      <a:pPr algn="l" fontAlgn="b"/>
                      <a:r>
                        <a:rPr lang="en-US" sz="900" b="0" i="0" u="none" strike="noStrike" dirty="0">
                          <a:solidFill>
                            <a:srgbClr val="000000"/>
                          </a:solidFill>
                          <a:effectLst/>
                          <a:latin typeface="Avenir Book" panose="02000503020000020003" pitchFamily="2" charset="0"/>
                        </a:rPr>
                        <a:t>10</a:t>
                      </a:r>
                    </a:p>
                  </a:txBody>
                  <a:tcPr marL="8939" marR="8939" marT="8939" marB="0" anchor="b"/>
                </a:tc>
                <a:tc>
                  <a:txBody>
                    <a:bodyPr/>
                    <a:lstStyle/>
                    <a:p>
                      <a:pPr algn="l" fontAlgn="b"/>
                      <a:r>
                        <a:rPr lang="en-US" sz="900" u="none" strike="noStrike">
                          <a:effectLst/>
                        </a:rPr>
                        <a:t>Content &amp; Marketing Lead</a:t>
                      </a:r>
                      <a:endParaRPr lang="en-US" sz="900" b="0" i="0" u="none" strike="noStrike">
                        <a:solidFill>
                          <a:srgbClr val="000000"/>
                        </a:solidFill>
                        <a:effectLst/>
                        <a:latin typeface="Avenir Book" panose="02000503020000020003" pitchFamily="2" charset="0"/>
                      </a:endParaRPr>
                    </a:p>
                  </a:txBody>
                  <a:tcPr marL="8939" marR="8939" marT="8939" marB="0" anchor="b"/>
                </a:tc>
                <a:tc>
                  <a:txBody>
                    <a:bodyPr/>
                    <a:lstStyle/>
                    <a:p>
                      <a:pPr algn="l" fontAlgn="b"/>
                      <a:r>
                        <a:rPr lang="en-US" sz="900" u="none" strike="noStrike">
                          <a:effectLst/>
                        </a:rPr>
                        <a:t>Associate</a:t>
                      </a:r>
                      <a:endParaRPr lang="en-US" sz="900" b="0" i="0" u="none" strike="noStrike">
                        <a:solidFill>
                          <a:srgbClr val="000000"/>
                        </a:solidFill>
                        <a:effectLst/>
                        <a:latin typeface="Avenir Book" panose="02000503020000020003" pitchFamily="2" charset="0"/>
                      </a:endParaRPr>
                    </a:p>
                  </a:txBody>
                  <a:tcPr marL="8939" marR="8939" marT="8939" marB="0" anchor="b"/>
                </a:tc>
                <a:tc>
                  <a:txBody>
                    <a:bodyPr/>
                    <a:lstStyle/>
                    <a:p>
                      <a:pPr algn="l" fontAlgn="b"/>
                      <a:r>
                        <a:rPr lang="en-US" sz="900" u="none" strike="noStrike">
                          <a:effectLst/>
                        </a:rPr>
                        <a:t>Kwara</a:t>
                      </a:r>
                      <a:endParaRPr lang="en-US" sz="900" b="0" i="0" u="none" strike="noStrike">
                        <a:solidFill>
                          <a:srgbClr val="000000"/>
                        </a:solidFill>
                        <a:effectLst/>
                        <a:latin typeface="Avenir Book" panose="02000503020000020003" pitchFamily="2" charset="0"/>
                      </a:endParaRPr>
                    </a:p>
                  </a:txBody>
                  <a:tcPr marL="8939" marR="8939" marT="8939" marB="0" anchor="b"/>
                </a:tc>
                <a:tc>
                  <a:txBody>
                    <a:bodyPr/>
                    <a:lstStyle/>
                    <a:p>
                      <a:pPr algn="l" fontAlgn="b"/>
                      <a:r>
                        <a:rPr lang="en-US" sz="900" b="0" i="0" u="none" strike="noStrike" dirty="0">
                          <a:solidFill>
                            <a:srgbClr val="000000"/>
                          </a:solidFill>
                          <a:effectLst/>
                          <a:latin typeface="Avenir Book" panose="02000503020000020003" pitchFamily="2" charset="0"/>
                        </a:rPr>
                        <a:t>Kwara Central</a:t>
                      </a:r>
                    </a:p>
                  </a:txBody>
                  <a:tcPr marL="8939" marR="8939" marT="8939" marB="0" anchor="b"/>
                </a:tc>
                <a:tc>
                  <a:txBody>
                    <a:bodyPr/>
                    <a:lstStyle/>
                    <a:p>
                      <a:pPr algn="l" fontAlgn="b"/>
                      <a:r>
                        <a:rPr lang="en-US" sz="900" u="none" strike="noStrike">
                          <a:effectLst/>
                        </a:rPr>
                        <a:t>June 2nd</a:t>
                      </a:r>
                      <a:endParaRPr lang="en-US" sz="900" b="0" i="0" u="none" strike="noStrike">
                        <a:solidFill>
                          <a:srgbClr val="000000"/>
                        </a:solidFill>
                        <a:effectLst/>
                        <a:latin typeface="Avenir Book" panose="02000503020000020003" pitchFamily="2" charset="0"/>
                      </a:endParaRPr>
                    </a:p>
                  </a:txBody>
                  <a:tcPr marL="8939" marR="8939" marT="8939" marB="0" anchor="b"/>
                </a:tc>
                <a:extLst>
                  <a:ext uri="{0D108BD9-81ED-4DB2-BD59-A6C34878D82A}">
                    <a16:rowId xmlns:a16="http://schemas.microsoft.com/office/drawing/2014/main" val="3166066356"/>
                  </a:ext>
                </a:extLst>
              </a:tr>
              <a:tr h="190695">
                <a:tc>
                  <a:txBody>
                    <a:bodyPr/>
                    <a:lstStyle/>
                    <a:p>
                      <a:pPr algn="l" fontAlgn="b"/>
                      <a:r>
                        <a:rPr lang="en-US" sz="900" b="0" i="0" u="none" strike="noStrike" dirty="0">
                          <a:solidFill>
                            <a:srgbClr val="000000"/>
                          </a:solidFill>
                          <a:effectLst/>
                          <a:latin typeface="Avenir Book" panose="02000503020000020003" pitchFamily="2" charset="0"/>
                        </a:rPr>
                        <a:t>11</a:t>
                      </a:r>
                    </a:p>
                  </a:txBody>
                  <a:tcPr marL="8939" marR="8939" marT="8939" marB="0" anchor="b"/>
                </a:tc>
                <a:tc>
                  <a:txBody>
                    <a:bodyPr/>
                    <a:lstStyle/>
                    <a:p>
                      <a:pPr algn="l" fontAlgn="b"/>
                      <a:r>
                        <a:rPr lang="en-US" sz="900" u="none" strike="noStrike">
                          <a:effectLst/>
                        </a:rPr>
                        <a:t>Community Manager</a:t>
                      </a:r>
                      <a:endParaRPr lang="en-US" sz="900" b="0" i="0" u="none" strike="noStrike">
                        <a:solidFill>
                          <a:srgbClr val="000000"/>
                        </a:solidFill>
                        <a:effectLst/>
                        <a:latin typeface="Avenir Book" panose="02000503020000020003" pitchFamily="2" charset="0"/>
                      </a:endParaRPr>
                    </a:p>
                  </a:txBody>
                  <a:tcPr marL="8939" marR="8939" marT="8939" marB="0" anchor="b"/>
                </a:tc>
                <a:tc>
                  <a:txBody>
                    <a:bodyPr/>
                    <a:lstStyle/>
                    <a:p>
                      <a:pPr algn="l" fontAlgn="b"/>
                      <a:r>
                        <a:rPr lang="en-US" sz="900" u="none" strike="noStrike">
                          <a:effectLst/>
                        </a:rPr>
                        <a:t>Associate</a:t>
                      </a:r>
                      <a:endParaRPr lang="en-US" sz="900" b="0" i="0" u="none" strike="noStrike">
                        <a:solidFill>
                          <a:srgbClr val="000000"/>
                        </a:solidFill>
                        <a:effectLst/>
                        <a:latin typeface="Avenir Book" panose="02000503020000020003" pitchFamily="2" charset="0"/>
                      </a:endParaRPr>
                    </a:p>
                  </a:txBody>
                  <a:tcPr marL="8939" marR="8939" marT="8939" marB="0" anchor="b"/>
                </a:tc>
                <a:tc>
                  <a:txBody>
                    <a:bodyPr/>
                    <a:lstStyle/>
                    <a:p>
                      <a:pPr algn="l" fontAlgn="b"/>
                      <a:r>
                        <a:rPr lang="en-US" sz="900" u="none" strike="noStrike">
                          <a:effectLst/>
                        </a:rPr>
                        <a:t>Kwara</a:t>
                      </a:r>
                      <a:endParaRPr lang="en-US" sz="900" b="0" i="0" u="none" strike="noStrike">
                        <a:solidFill>
                          <a:srgbClr val="000000"/>
                        </a:solidFill>
                        <a:effectLst/>
                        <a:latin typeface="Avenir Book" panose="02000503020000020003" pitchFamily="2" charset="0"/>
                      </a:endParaRPr>
                    </a:p>
                  </a:txBody>
                  <a:tcPr marL="8939" marR="8939" marT="8939" marB="0" anchor="b"/>
                </a:tc>
                <a:tc>
                  <a:txBody>
                    <a:bodyPr/>
                    <a:lstStyle/>
                    <a:p>
                      <a:pPr algn="l" fontAlgn="b"/>
                      <a:r>
                        <a:rPr lang="en-US" sz="900" u="none" strike="noStrike" dirty="0">
                          <a:effectLst/>
                        </a:rPr>
                        <a:t>Kwara South</a:t>
                      </a:r>
                      <a:endParaRPr lang="en-US" sz="900" b="0" i="0" u="none" strike="noStrike" dirty="0">
                        <a:solidFill>
                          <a:srgbClr val="000000"/>
                        </a:solidFill>
                        <a:effectLst/>
                        <a:latin typeface="Avenir Book" panose="02000503020000020003" pitchFamily="2" charset="0"/>
                      </a:endParaRPr>
                    </a:p>
                  </a:txBody>
                  <a:tcPr marL="8939" marR="8939" marT="8939" marB="0" anchor="b"/>
                </a:tc>
                <a:tc>
                  <a:txBody>
                    <a:bodyPr/>
                    <a:lstStyle/>
                    <a:p>
                      <a:pPr algn="l" fontAlgn="b"/>
                      <a:r>
                        <a:rPr lang="en-US" sz="900" u="none" strike="noStrike">
                          <a:effectLst/>
                        </a:rPr>
                        <a:t>June 16th</a:t>
                      </a:r>
                      <a:endParaRPr lang="en-US" sz="900" b="0" i="0" u="none" strike="noStrike">
                        <a:solidFill>
                          <a:srgbClr val="000000"/>
                        </a:solidFill>
                        <a:effectLst/>
                        <a:latin typeface="Avenir Book" panose="02000503020000020003" pitchFamily="2" charset="0"/>
                      </a:endParaRPr>
                    </a:p>
                  </a:txBody>
                  <a:tcPr marL="8939" marR="8939" marT="8939" marB="0" anchor="b"/>
                </a:tc>
                <a:extLst>
                  <a:ext uri="{0D108BD9-81ED-4DB2-BD59-A6C34878D82A}">
                    <a16:rowId xmlns:a16="http://schemas.microsoft.com/office/drawing/2014/main" val="1045554829"/>
                  </a:ext>
                </a:extLst>
              </a:tr>
              <a:tr h="190695">
                <a:tc>
                  <a:txBody>
                    <a:bodyPr/>
                    <a:lstStyle/>
                    <a:p>
                      <a:pPr algn="l" fontAlgn="b"/>
                      <a:r>
                        <a:rPr lang="en-US" sz="900" b="0" i="0" u="none" strike="noStrike" dirty="0">
                          <a:solidFill>
                            <a:srgbClr val="000000"/>
                          </a:solidFill>
                          <a:effectLst/>
                          <a:latin typeface="Avenir Book" panose="02000503020000020003" pitchFamily="2" charset="0"/>
                        </a:rPr>
                        <a:t>12</a:t>
                      </a:r>
                    </a:p>
                  </a:txBody>
                  <a:tcPr marL="8939" marR="8939" marT="8939" marB="0" anchor="b"/>
                </a:tc>
                <a:tc>
                  <a:txBody>
                    <a:bodyPr/>
                    <a:lstStyle/>
                    <a:p>
                      <a:pPr algn="l" fontAlgn="b"/>
                      <a:r>
                        <a:rPr lang="en-US" sz="900" u="none" strike="noStrike">
                          <a:effectLst/>
                        </a:rPr>
                        <a:t>Social Media Manager</a:t>
                      </a:r>
                      <a:endParaRPr lang="en-US" sz="900" b="0" i="0" u="none" strike="noStrike">
                        <a:solidFill>
                          <a:srgbClr val="000000"/>
                        </a:solidFill>
                        <a:effectLst/>
                        <a:latin typeface="Avenir Book" panose="02000503020000020003" pitchFamily="2" charset="0"/>
                      </a:endParaRPr>
                    </a:p>
                  </a:txBody>
                  <a:tcPr marL="8939" marR="8939" marT="8939" marB="0" anchor="b"/>
                </a:tc>
                <a:tc>
                  <a:txBody>
                    <a:bodyPr/>
                    <a:lstStyle/>
                    <a:p>
                      <a:pPr algn="l" fontAlgn="b"/>
                      <a:r>
                        <a:rPr lang="en-US" sz="900" u="none" strike="noStrike">
                          <a:effectLst/>
                        </a:rPr>
                        <a:t>Associate</a:t>
                      </a:r>
                      <a:endParaRPr lang="en-US" sz="900" b="0" i="0" u="none" strike="noStrike">
                        <a:solidFill>
                          <a:srgbClr val="000000"/>
                        </a:solidFill>
                        <a:effectLst/>
                        <a:latin typeface="Avenir Book" panose="02000503020000020003" pitchFamily="2" charset="0"/>
                      </a:endParaRPr>
                    </a:p>
                  </a:txBody>
                  <a:tcPr marL="8939" marR="8939" marT="8939" marB="0" anchor="b"/>
                </a:tc>
                <a:tc>
                  <a:txBody>
                    <a:bodyPr/>
                    <a:lstStyle/>
                    <a:p>
                      <a:pPr algn="l" fontAlgn="b"/>
                      <a:r>
                        <a:rPr lang="en-US" sz="900" u="none" strike="noStrike">
                          <a:effectLst/>
                        </a:rPr>
                        <a:t>Kwara</a:t>
                      </a:r>
                      <a:endParaRPr lang="en-US" sz="900" b="0" i="0" u="none" strike="noStrike">
                        <a:solidFill>
                          <a:srgbClr val="000000"/>
                        </a:solidFill>
                        <a:effectLst/>
                        <a:latin typeface="Avenir Book" panose="02000503020000020003" pitchFamily="2" charset="0"/>
                      </a:endParaRPr>
                    </a:p>
                  </a:txBody>
                  <a:tcPr marL="8939" marR="8939" marT="8939" marB="0" anchor="b"/>
                </a:tc>
                <a:tc>
                  <a:txBody>
                    <a:bodyPr/>
                    <a:lstStyle/>
                    <a:p>
                      <a:pPr algn="l" fontAlgn="b"/>
                      <a:r>
                        <a:rPr lang="en-US" sz="900" u="none" strike="noStrike" dirty="0">
                          <a:effectLst/>
                        </a:rPr>
                        <a:t>Kwara South</a:t>
                      </a:r>
                      <a:endParaRPr lang="en-US" sz="900" b="0" i="0" u="none" strike="noStrike" dirty="0">
                        <a:solidFill>
                          <a:srgbClr val="000000"/>
                        </a:solidFill>
                        <a:effectLst/>
                        <a:latin typeface="Avenir Book" panose="02000503020000020003" pitchFamily="2" charset="0"/>
                      </a:endParaRPr>
                    </a:p>
                  </a:txBody>
                  <a:tcPr marL="8939" marR="8939" marT="8939" marB="0" anchor="b"/>
                </a:tc>
                <a:tc>
                  <a:txBody>
                    <a:bodyPr/>
                    <a:lstStyle/>
                    <a:p>
                      <a:pPr algn="l" fontAlgn="b"/>
                      <a:r>
                        <a:rPr lang="en-US" sz="900" u="none" strike="noStrike">
                          <a:effectLst/>
                        </a:rPr>
                        <a:t>June 2nd</a:t>
                      </a:r>
                      <a:endParaRPr lang="en-US" sz="900" b="0" i="0" u="none" strike="noStrike">
                        <a:solidFill>
                          <a:srgbClr val="000000"/>
                        </a:solidFill>
                        <a:effectLst/>
                        <a:latin typeface="Avenir Book" panose="02000503020000020003" pitchFamily="2" charset="0"/>
                      </a:endParaRPr>
                    </a:p>
                  </a:txBody>
                  <a:tcPr marL="8939" marR="8939" marT="8939" marB="0" anchor="b"/>
                </a:tc>
                <a:extLst>
                  <a:ext uri="{0D108BD9-81ED-4DB2-BD59-A6C34878D82A}">
                    <a16:rowId xmlns:a16="http://schemas.microsoft.com/office/drawing/2014/main" val="3618333241"/>
                  </a:ext>
                </a:extLst>
              </a:tr>
              <a:tr h="190695">
                <a:tc>
                  <a:txBody>
                    <a:bodyPr/>
                    <a:lstStyle/>
                    <a:p>
                      <a:pPr algn="l" fontAlgn="b"/>
                      <a:r>
                        <a:rPr lang="en-US" sz="900" b="0" i="0" u="none" strike="noStrike" dirty="0">
                          <a:solidFill>
                            <a:srgbClr val="000000"/>
                          </a:solidFill>
                          <a:effectLst/>
                          <a:latin typeface="Avenir Book" panose="02000503020000020003" pitchFamily="2" charset="0"/>
                        </a:rPr>
                        <a:t>13</a:t>
                      </a:r>
                    </a:p>
                  </a:txBody>
                  <a:tcPr marL="8939" marR="8939" marT="8939" marB="0" anchor="b"/>
                </a:tc>
                <a:tc>
                  <a:txBody>
                    <a:bodyPr/>
                    <a:lstStyle/>
                    <a:p>
                      <a:pPr algn="l" fontAlgn="b"/>
                      <a:r>
                        <a:rPr lang="en-US" sz="900" u="none" strike="noStrike" dirty="0">
                          <a:effectLst/>
                        </a:rPr>
                        <a:t>Front Desk Support</a:t>
                      </a:r>
                      <a:endParaRPr lang="en-US" sz="900" b="0" i="0" u="none" strike="noStrike" dirty="0">
                        <a:solidFill>
                          <a:srgbClr val="000000"/>
                        </a:solidFill>
                        <a:effectLst/>
                        <a:latin typeface="Avenir Book" panose="02000503020000020003" pitchFamily="2" charset="0"/>
                      </a:endParaRPr>
                    </a:p>
                  </a:txBody>
                  <a:tcPr marL="8939" marR="8939" marT="8939" marB="0" anchor="b"/>
                </a:tc>
                <a:tc>
                  <a:txBody>
                    <a:bodyPr/>
                    <a:lstStyle/>
                    <a:p>
                      <a:pPr algn="l" fontAlgn="b"/>
                      <a:r>
                        <a:rPr lang="en-US" sz="900" u="none" strike="noStrike">
                          <a:effectLst/>
                        </a:rPr>
                        <a:t>Support Staff 1</a:t>
                      </a:r>
                      <a:endParaRPr lang="en-US" sz="900" b="0" i="0" u="none" strike="noStrike">
                        <a:solidFill>
                          <a:srgbClr val="000000"/>
                        </a:solidFill>
                        <a:effectLst/>
                        <a:latin typeface="Avenir Book" panose="02000503020000020003" pitchFamily="2" charset="0"/>
                      </a:endParaRPr>
                    </a:p>
                  </a:txBody>
                  <a:tcPr marL="8939" marR="8939" marT="8939" marB="0" anchor="b"/>
                </a:tc>
                <a:tc>
                  <a:txBody>
                    <a:bodyPr/>
                    <a:lstStyle/>
                    <a:p>
                      <a:pPr algn="l" fontAlgn="b"/>
                      <a:r>
                        <a:rPr lang="en-US" sz="900" u="none" strike="noStrike">
                          <a:effectLst/>
                        </a:rPr>
                        <a:t>Kwara</a:t>
                      </a:r>
                      <a:endParaRPr lang="en-US" sz="900" b="0" i="0" u="none" strike="noStrike">
                        <a:solidFill>
                          <a:srgbClr val="000000"/>
                        </a:solidFill>
                        <a:effectLst/>
                        <a:latin typeface="Avenir Book" panose="02000503020000020003" pitchFamily="2" charset="0"/>
                      </a:endParaRPr>
                    </a:p>
                  </a:txBody>
                  <a:tcPr marL="8939" marR="8939" marT="8939" marB="0" anchor="b"/>
                </a:tc>
                <a:tc>
                  <a:txBody>
                    <a:bodyPr/>
                    <a:lstStyle/>
                    <a:p>
                      <a:pPr algn="l" fontAlgn="b"/>
                      <a:r>
                        <a:rPr lang="en-US" sz="900" u="none" strike="noStrike" dirty="0">
                          <a:effectLst/>
                        </a:rPr>
                        <a:t>Kwara North</a:t>
                      </a:r>
                      <a:endParaRPr lang="en-US" sz="900" b="0" i="0" u="none" strike="noStrike" dirty="0">
                        <a:solidFill>
                          <a:srgbClr val="000000"/>
                        </a:solidFill>
                        <a:effectLst/>
                        <a:latin typeface="Avenir Book" panose="02000503020000020003" pitchFamily="2" charset="0"/>
                      </a:endParaRPr>
                    </a:p>
                  </a:txBody>
                  <a:tcPr marL="8939" marR="8939" marT="8939" marB="0" anchor="b"/>
                </a:tc>
                <a:tc>
                  <a:txBody>
                    <a:bodyPr/>
                    <a:lstStyle/>
                    <a:p>
                      <a:pPr algn="l" fontAlgn="b"/>
                      <a:r>
                        <a:rPr lang="en-US" sz="900" u="none" strike="noStrike">
                          <a:effectLst/>
                        </a:rPr>
                        <a:t>June 9th</a:t>
                      </a:r>
                      <a:endParaRPr lang="en-US" sz="900" b="0" i="0" u="none" strike="noStrike">
                        <a:solidFill>
                          <a:srgbClr val="000000"/>
                        </a:solidFill>
                        <a:effectLst/>
                        <a:latin typeface="Avenir Book" panose="02000503020000020003" pitchFamily="2" charset="0"/>
                      </a:endParaRPr>
                    </a:p>
                  </a:txBody>
                  <a:tcPr marL="8939" marR="8939" marT="8939" marB="0" anchor="b"/>
                </a:tc>
                <a:extLst>
                  <a:ext uri="{0D108BD9-81ED-4DB2-BD59-A6C34878D82A}">
                    <a16:rowId xmlns:a16="http://schemas.microsoft.com/office/drawing/2014/main" val="3203656824"/>
                  </a:ext>
                </a:extLst>
              </a:tr>
              <a:tr h="190695">
                <a:tc>
                  <a:txBody>
                    <a:bodyPr/>
                    <a:lstStyle/>
                    <a:p>
                      <a:pPr algn="l" fontAlgn="b"/>
                      <a:r>
                        <a:rPr lang="en-US" sz="900" b="0" i="0" u="none" strike="noStrike" dirty="0">
                          <a:solidFill>
                            <a:srgbClr val="000000"/>
                          </a:solidFill>
                          <a:effectLst/>
                          <a:latin typeface="Avenir Book" panose="02000503020000020003" pitchFamily="2" charset="0"/>
                        </a:rPr>
                        <a:t>14</a:t>
                      </a:r>
                    </a:p>
                  </a:txBody>
                  <a:tcPr marL="8939" marR="8939" marT="8939" marB="0" anchor="b"/>
                </a:tc>
                <a:tc>
                  <a:txBody>
                    <a:bodyPr/>
                    <a:lstStyle/>
                    <a:p>
                      <a:pPr algn="l" fontAlgn="b"/>
                      <a:r>
                        <a:rPr lang="en-US" sz="900" u="none" strike="noStrike" dirty="0">
                          <a:effectLst/>
                        </a:rPr>
                        <a:t>Facility Manager</a:t>
                      </a:r>
                      <a:endParaRPr lang="en-US" sz="900" b="0" i="0" u="none" strike="noStrike" dirty="0">
                        <a:solidFill>
                          <a:srgbClr val="000000"/>
                        </a:solidFill>
                        <a:effectLst/>
                        <a:latin typeface="Avenir Book" panose="02000503020000020003" pitchFamily="2" charset="0"/>
                      </a:endParaRPr>
                    </a:p>
                  </a:txBody>
                  <a:tcPr marL="8939" marR="8939" marT="8939" marB="0" anchor="b"/>
                </a:tc>
                <a:tc>
                  <a:txBody>
                    <a:bodyPr/>
                    <a:lstStyle/>
                    <a:p>
                      <a:pPr algn="l" fontAlgn="b"/>
                      <a:r>
                        <a:rPr lang="en-US" sz="900" u="none" strike="noStrike">
                          <a:effectLst/>
                        </a:rPr>
                        <a:t>Associate</a:t>
                      </a:r>
                      <a:endParaRPr lang="en-US" sz="900" b="0" i="0" u="none" strike="noStrike">
                        <a:solidFill>
                          <a:srgbClr val="000000"/>
                        </a:solidFill>
                        <a:effectLst/>
                        <a:latin typeface="Avenir Book" panose="02000503020000020003" pitchFamily="2" charset="0"/>
                      </a:endParaRPr>
                    </a:p>
                  </a:txBody>
                  <a:tcPr marL="8939" marR="8939" marT="8939" marB="0" anchor="b"/>
                </a:tc>
                <a:tc>
                  <a:txBody>
                    <a:bodyPr/>
                    <a:lstStyle/>
                    <a:p>
                      <a:pPr algn="l" fontAlgn="b"/>
                      <a:r>
                        <a:rPr lang="en-US" sz="900" u="none" strike="noStrike">
                          <a:effectLst/>
                        </a:rPr>
                        <a:t>Kwara</a:t>
                      </a:r>
                      <a:endParaRPr lang="en-US" sz="900" b="0" i="0" u="none" strike="noStrike">
                        <a:solidFill>
                          <a:srgbClr val="000000"/>
                        </a:solidFill>
                        <a:effectLst/>
                        <a:latin typeface="Avenir Book" panose="02000503020000020003" pitchFamily="2" charset="0"/>
                      </a:endParaRPr>
                    </a:p>
                  </a:txBody>
                  <a:tcPr marL="8939" marR="8939" marT="8939" marB="0" anchor="b"/>
                </a:tc>
                <a:tc>
                  <a:txBody>
                    <a:bodyPr/>
                    <a:lstStyle/>
                    <a:p>
                      <a:pPr algn="l" fontAlgn="b"/>
                      <a:r>
                        <a:rPr lang="en-US" sz="900" u="none" strike="noStrike" dirty="0">
                          <a:effectLst/>
                        </a:rPr>
                        <a:t>Kwara Central</a:t>
                      </a:r>
                      <a:endParaRPr lang="en-US" sz="900" b="0" i="0" u="none" strike="noStrike" dirty="0">
                        <a:solidFill>
                          <a:srgbClr val="000000"/>
                        </a:solidFill>
                        <a:effectLst/>
                        <a:latin typeface="Avenir Book" panose="02000503020000020003" pitchFamily="2" charset="0"/>
                      </a:endParaRPr>
                    </a:p>
                  </a:txBody>
                  <a:tcPr marL="8939" marR="8939" marT="8939" marB="0" anchor="b"/>
                </a:tc>
                <a:tc>
                  <a:txBody>
                    <a:bodyPr/>
                    <a:lstStyle/>
                    <a:p>
                      <a:pPr algn="l" fontAlgn="b"/>
                      <a:r>
                        <a:rPr lang="en-US" sz="900" u="none" strike="noStrike">
                          <a:effectLst/>
                        </a:rPr>
                        <a:t>June 2nd</a:t>
                      </a:r>
                      <a:endParaRPr lang="en-US" sz="900" b="0" i="0" u="none" strike="noStrike">
                        <a:solidFill>
                          <a:srgbClr val="000000"/>
                        </a:solidFill>
                        <a:effectLst/>
                        <a:latin typeface="Avenir Book" panose="02000503020000020003" pitchFamily="2" charset="0"/>
                      </a:endParaRPr>
                    </a:p>
                  </a:txBody>
                  <a:tcPr marL="8939" marR="8939" marT="8939" marB="0" anchor="b"/>
                </a:tc>
                <a:extLst>
                  <a:ext uri="{0D108BD9-81ED-4DB2-BD59-A6C34878D82A}">
                    <a16:rowId xmlns:a16="http://schemas.microsoft.com/office/drawing/2014/main" val="2432900325"/>
                  </a:ext>
                </a:extLst>
              </a:tr>
              <a:tr h="190695">
                <a:tc>
                  <a:txBody>
                    <a:bodyPr/>
                    <a:lstStyle/>
                    <a:p>
                      <a:pPr algn="l" fontAlgn="b"/>
                      <a:r>
                        <a:rPr lang="en-US" sz="900" b="0" i="0" u="none" strike="noStrike" dirty="0">
                          <a:solidFill>
                            <a:srgbClr val="000000"/>
                          </a:solidFill>
                          <a:effectLst/>
                          <a:latin typeface="Avenir Book" panose="02000503020000020003" pitchFamily="2" charset="0"/>
                        </a:rPr>
                        <a:t>15</a:t>
                      </a:r>
                    </a:p>
                  </a:txBody>
                  <a:tcPr marL="8939" marR="8939" marT="8939" marB="0" anchor="b"/>
                </a:tc>
                <a:tc>
                  <a:txBody>
                    <a:bodyPr/>
                    <a:lstStyle/>
                    <a:p>
                      <a:pPr algn="l" fontAlgn="b"/>
                      <a:r>
                        <a:rPr lang="en-US" sz="900" u="none" strike="noStrike">
                          <a:effectLst/>
                        </a:rPr>
                        <a:t>Facility Technician</a:t>
                      </a:r>
                      <a:endParaRPr lang="en-US" sz="900" b="0" i="0" u="none" strike="noStrike">
                        <a:solidFill>
                          <a:srgbClr val="000000"/>
                        </a:solidFill>
                        <a:effectLst/>
                        <a:latin typeface="Avenir Book" panose="02000503020000020003" pitchFamily="2" charset="0"/>
                      </a:endParaRPr>
                    </a:p>
                  </a:txBody>
                  <a:tcPr marL="8939" marR="8939" marT="8939" marB="0" anchor="b"/>
                </a:tc>
                <a:tc>
                  <a:txBody>
                    <a:bodyPr/>
                    <a:lstStyle/>
                    <a:p>
                      <a:pPr algn="l" fontAlgn="b"/>
                      <a:r>
                        <a:rPr lang="en-US" sz="900" u="none" strike="noStrike">
                          <a:effectLst/>
                        </a:rPr>
                        <a:t>Support Staff 1</a:t>
                      </a:r>
                      <a:endParaRPr lang="en-US" sz="900" b="0" i="0" u="none" strike="noStrike">
                        <a:solidFill>
                          <a:srgbClr val="000000"/>
                        </a:solidFill>
                        <a:effectLst/>
                        <a:latin typeface="Avenir Book" panose="02000503020000020003" pitchFamily="2" charset="0"/>
                      </a:endParaRPr>
                    </a:p>
                  </a:txBody>
                  <a:tcPr marL="8939" marR="8939" marT="8939" marB="0" anchor="b"/>
                </a:tc>
                <a:tc>
                  <a:txBody>
                    <a:bodyPr/>
                    <a:lstStyle/>
                    <a:p>
                      <a:pPr algn="l" fontAlgn="b"/>
                      <a:r>
                        <a:rPr lang="en-US" sz="900" u="none" strike="noStrike">
                          <a:effectLst/>
                        </a:rPr>
                        <a:t>Kwara</a:t>
                      </a:r>
                      <a:endParaRPr lang="en-US" sz="900" b="0" i="0" u="none" strike="noStrike">
                        <a:solidFill>
                          <a:srgbClr val="000000"/>
                        </a:solidFill>
                        <a:effectLst/>
                        <a:latin typeface="Avenir Book" panose="02000503020000020003" pitchFamily="2" charset="0"/>
                      </a:endParaRPr>
                    </a:p>
                  </a:txBody>
                  <a:tcPr marL="8939" marR="8939" marT="8939" marB="0" anchor="b"/>
                </a:tc>
                <a:tc>
                  <a:txBody>
                    <a:bodyPr/>
                    <a:lstStyle/>
                    <a:p>
                      <a:pPr algn="l" fontAlgn="b"/>
                      <a:r>
                        <a:rPr lang="en-US" sz="900" u="none" strike="noStrike" dirty="0">
                          <a:effectLst/>
                        </a:rPr>
                        <a:t>Kwara Central</a:t>
                      </a:r>
                      <a:endParaRPr lang="en-US" sz="900" b="0" i="0" u="none" strike="noStrike" dirty="0">
                        <a:solidFill>
                          <a:srgbClr val="000000"/>
                        </a:solidFill>
                        <a:effectLst/>
                        <a:latin typeface="Avenir Book" panose="02000503020000020003" pitchFamily="2" charset="0"/>
                      </a:endParaRPr>
                    </a:p>
                  </a:txBody>
                  <a:tcPr marL="8939" marR="8939" marT="8939" marB="0" anchor="b"/>
                </a:tc>
                <a:tc>
                  <a:txBody>
                    <a:bodyPr/>
                    <a:lstStyle/>
                    <a:p>
                      <a:pPr algn="l" fontAlgn="b"/>
                      <a:r>
                        <a:rPr lang="en-US" sz="900" u="none" strike="noStrike">
                          <a:effectLst/>
                        </a:rPr>
                        <a:t>June 2nd</a:t>
                      </a:r>
                      <a:endParaRPr lang="en-US" sz="900" b="0" i="0" u="none" strike="noStrike">
                        <a:solidFill>
                          <a:srgbClr val="000000"/>
                        </a:solidFill>
                        <a:effectLst/>
                        <a:latin typeface="Avenir Book" panose="02000503020000020003" pitchFamily="2" charset="0"/>
                      </a:endParaRPr>
                    </a:p>
                  </a:txBody>
                  <a:tcPr marL="8939" marR="8939" marT="8939" marB="0" anchor="b"/>
                </a:tc>
                <a:extLst>
                  <a:ext uri="{0D108BD9-81ED-4DB2-BD59-A6C34878D82A}">
                    <a16:rowId xmlns:a16="http://schemas.microsoft.com/office/drawing/2014/main" val="2447404923"/>
                  </a:ext>
                </a:extLst>
              </a:tr>
              <a:tr h="190695">
                <a:tc>
                  <a:txBody>
                    <a:bodyPr/>
                    <a:lstStyle/>
                    <a:p>
                      <a:pPr algn="l" fontAlgn="b"/>
                      <a:r>
                        <a:rPr lang="en-US" sz="900" b="0" i="0" u="none" strike="noStrike" dirty="0">
                          <a:solidFill>
                            <a:srgbClr val="000000"/>
                          </a:solidFill>
                          <a:effectLst/>
                          <a:latin typeface="Avenir Book" panose="02000503020000020003" pitchFamily="2" charset="0"/>
                        </a:rPr>
                        <a:t>16</a:t>
                      </a:r>
                    </a:p>
                  </a:txBody>
                  <a:tcPr marL="8939" marR="8939" marT="8939" marB="0" anchor="b"/>
                </a:tc>
                <a:tc>
                  <a:txBody>
                    <a:bodyPr/>
                    <a:lstStyle/>
                    <a:p>
                      <a:pPr algn="l" fontAlgn="b"/>
                      <a:r>
                        <a:rPr lang="en-US" sz="900" u="none" strike="noStrike">
                          <a:effectLst/>
                        </a:rPr>
                        <a:t>Driver</a:t>
                      </a:r>
                      <a:endParaRPr lang="en-US" sz="900" b="0" i="0" u="none" strike="noStrike">
                        <a:solidFill>
                          <a:srgbClr val="000000"/>
                        </a:solidFill>
                        <a:effectLst/>
                        <a:latin typeface="Avenir Book" panose="02000503020000020003" pitchFamily="2" charset="0"/>
                      </a:endParaRPr>
                    </a:p>
                  </a:txBody>
                  <a:tcPr marL="8939" marR="8939" marT="8939" marB="0" anchor="b"/>
                </a:tc>
                <a:tc>
                  <a:txBody>
                    <a:bodyPr/>
                    <a:lstStyle/>
                    <a:p>
                      <a:pPr algn="l" fontAlgn="b"/>
                      <a:r>
                        <a:rPr lang="en-US" sz="900" u="none" strike="noStrike">
                          <a:effectLst/>
                        </a:rPr>
                        <a:t>Support Staff 1</a:t>
                      </a:r>
                      <a:endParaRPr lang="en-US" sz="900" b="0" i="0" u="none" strike="noStrike">
                        <a:solidFill>
                          <a:srgbClr val="000000"/>
                        </a:solidFill>
                        <a:effectLst/>
                        <a:latin typeface="Avenir Book" panose="02000503020000020003" pitchFamily="2" charset="0"/>
                      </a:endParaRPr>
                    </a:p>
                  </a:txBody>
                  <a:tcPr marL="8939" marR="8939" marT="8939" marB="0" anchor="b"/>
                </a:tc>
                <a:tc>
                  <a:txBody>
                    <a:bodyPr/>
                    <a:lstStyle/>
                    <a:p>
                      <a:pPr algn="l" fontAlgn="b"/>
                      <a:r>
                        <a:rPr lang="en-US" sz="900" u="none" strike="noStrike">
                          <a:effectLst/>
                        </a:rPr>
                        <a:t>Kwara</a:t>
                      </a:r>
                      <a:endParaRPr lang="en-US" sz="900" b="0" i="0" u="none" strike="noStrike">
                        <a:solidFill>
                          <a:srgbClr val="000000"/>
                        </a:solidFill>
                        <a:effectLst/>
                        <a:latin typeface="Avenir Book" panose="02000503020000020003" pitchFamily="2" charset="0"/>
                      </a:endParaRPr>
                    </a:p>
                  </a:txBody>
                  <a:tcPr marL="8939" marR="8939" marT="8939" marB="0" anchor="b"/>
                </a:tc>
                <a:tc>
                  <a:txBody>
                    <a:bodyPr/>
                    <a:lstStyle/>
                    <a:p>
                      <a:pPr algn="l" fontAlgn="b"/>
                      <a:r>
                        <a:rPr lang="en-US" sz="900" b="0" i="0" u="none" strike="noStrike" dirty="0">
                          <a:solidFill>
                            <a:srgbClr val="000000"/>
                          </a:solidFill>
                          <a:effectLst/>
                          <a:latin typeface="Avenir Book" panose="02000503020000020003" pitchFamily="2" charset="0"/>
                        </a:rPr>
                        <a:t>Kwara South</a:t>
                      </a:r>
                    </a:p>
                  </a:txBody>
                  <a:tcPr marL="8939" marR="8939" marT="8939" marB="0" anchor="b"/>
                </a:tc>
                <a:tc>
                  <a:txBody>
                    <a:bodyPr/>
                    <a:lstStyle/>
                    <a:p>
                      <a:pPr algn="l" fontAlgn="b"/>
                      <a:r>
                        <a:rPr lang="en-US" sz="900" u="none" strike="noStrike" dirty="0">
                          <a:effectLst/>
                        </a:rPr>
                        <a:t>March 3rd</a:t>
                      </a:r>
                      <a:endParaRPr lang="en-US" sz="900" b="0" i="0" u="none" strike="noStrike" dirty="0">
                        <a:solidFill>
                          <a:srgbClr val="000000"/>
                        </a:solidFill>
                        <a:effectLst/>
                        <a:latin typeface="Avenir Book" panose="02000503020000020003" pitchFamily="2" charset="0"/>
                      </a:endParaRPr>
                    </a:p>
                  </a:txBody>
                  <a:tcPr marL="8939" marR="8939" marT="8939" marB="0" anchor="b"/>
                </a:tc>
                <a:extLst>
                  <a:ext uri="{0D108BD9-81ED-4DB2-BD59-A6C34878D82A}">
                    <a16:rowId xmlns:a16="http://schemas.microsoft.com/office/drawing/2014/main" val="1089465386"/>
                  </a:ext>
                </a:extLst>
              </a:tr>
            </a:tbl>
          </a:graphicData>
        </a:graphic>
      </p:graphicFrame>
    </p:spTree>
    <p:extLst>
      <p:ext uri="{BB962C8B-B14F-4D97-AF65-F5344CB8AC3E}">
        <p14:creationId xmlns:p14="http://schemas.microsoft.com/office/powerpoint/2010/main" val="20578985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3">
          <a:extLst>
            <a:ext uri="{FF2B5EF4-FFF2-40B4-BE49-F238E27FC236}">
              <a16:creationId xmlns:a16="http://schemas.microsoft.com/office/drawing/2014/main" id="{546AE607-7EA4-7000-E4D5-A894C929FC6B}"/>
            </a:ext>
          </a:extLst>
        </p:cNvPr>
        <p:cNvGrpSpPr/>
        <p:nvPr/>
      </p:nvGrpSpPr>
      <p:grpSpPr>
        <a:xfrm>
          <a:off x="0" y="0"/>
          <a:ext cx="0" cy="0"/>
          <a:chOff x="0" y="0"/>
          <a:chExt cx="0" cy="0"/>
        </a:xfrm>
      </p:grpSpPr>
      <p:sp>
        <p:nvSpPr>
          <p:cNvPr id="64" name="Google Shape;64;p14">
            <a:extLst>
              <a:ext uri="{FF2B5EF4-FFF2-40B4-BE49-F238E27FC236}">
                <a16:creationId xmlns:a16="http://schemas.microsoft.com/office/drawing/2014/main" id="{3D872AE8-ABDC-13D5-E5AD-79133189A3FB}"/>
              </a:ext>
            </a:extLst>
          </p:cNvPr>
          <p:cNvSpPr/>
          <p:nvPr/>
        </p:nvSpPr>
        <p:spPr>
          <a:xfrm>
            <a:off x="7525" y="7525"/>
            <a:ext cx="9144000" cy="620700"/>
          </a:xfrm>
          <a:prstGeom prst="rect">
            <a:avLst/>
          </a:prstGeom>
          <a:solidFill>
            <a:srgbClr val="002D1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65" name="Google Shape;65;p14" title="longer border.png">
            <a:extLst>
              <a:ext uri="{FF2B5EF4-FFF2-40B4-BE49-F238E27FC236}">
                <a16:creationId xmlns:a16="http://schemas.microsoft.com/office/drawing/2014/main" id="{5FC6FB4C-496B-7316-382F-7997755056B0}"/>
              </a:ext>
            </a:extLst>
          </p:cNvPr>
          <p:cNvPicPr preferRelativeResize="0"/>
          <p:nvPr/>
        </p:nvPicPr>
        <p:blipFill>
          <a:blip r:embed="rId3">
            <a:alphaModFix/>
          </a:blip>
          <a:stretch>
            <a:fillRect/>
          </a:stretch>
        </p:blipFill>
        <p:spPr>
          <a:xfrm>
            <a:off x="0" y="445025"/>
            <a:ext cx="9144003" cy="183052"/>
          </a:xfrm>
          <a:prstGeom prst="rect">
            <a:avLst/>
          </a:prstGeom>
          <a:noFill/>
          <a:ln>
            <a:noFill/>
          </a:ln>
        </p:spPr>
      </p:pic>
      <p:sp>
        <p:nvSpPr>
          <p:cNvPr id="66" name="Google Shape;66;p14">
            <a:extLst>
              <a:ext uri="{FF2B5EF4-FFF2-40B4-BE49-F238E27FC236}">
                <a16:creationId xmlns:a16="http://schemas.microsoft.com/office/drawing/2014/main" id="{7BA2A34C-D565-FF75-BA6B-626D1AC6F1C5}"/>
              </a:ext>
            </a:extLst>
          </p:cNvPr>
          <p:cNvSpPr txBox="1">
            <a:spLocks noGrp="1"/>
          </p:cNvSpPr>
          <p:nvPr>
            <p:ph type="title"/>
          </p:nvPr>
        </p:nvSpPr>
        <p:spPr>
          <a:xfrm>
            <a:off x="146025" y="91299"/>
            <a:ext cx="8520600" cy="285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1400" b="1" dirty="0">
                <a:solidFill>
                  <a:srgbClr val="EFFFEF"/>
                </a:solidFill>
                <a:latin typeface="Avenir Book" panose="02000503020000020003" pitchFamily="2" charset="0"/>
                <a:ea typeface="Helvetica Neue"/>
                <a:cs typeface="Helvetica Neue"/>
                <a:sym typeface="Helvetica Neue"/>
              </a:rPr>
              <a:t>Hiring Report</a:t>
            </a:r>
            <a:endParaRPr sz="1400" b="1" dirty="0">
              <a:solidFill>
                <a:srgbClr val="EFFFEF"/>
              </a:solidFill>
              <a:latin typeface="Avenir Book" panose="02000503020000020003" pitchFamily="2" charset="0"/>
              <a:ea typeface="Helvetica Neue"/>
              <a:cs typeface="Helvetica Neue"/>
              <a:sym typeface="Helvetica Neue"/>
            </a:endParaRPr>
          </a:p>
        </p:txBody>
      </p:sp>
      <p:cxnSp>
        <p:nvCxnSpPr>
          <p:cNvPr id="68" name="Google Shape;68;p14">
            <a:extLst>
              <a:ext uri="{FF2B5EF4-FFF2-40B4-BE49-F238E27FC236}">
                <a16:creationId xmlns:a16="http://schemas.microsoft.com/office/drawing/2014/main" id="{952727BE-B4AB-22F3-E47F-7EB15FAAD59C}"/>
              </a:ext>
            </a:extLst>
          </p:cNvPr>
          <p:cNvCxnSpPr/>
          <p:nvPr/>
        </p:nvCxnSpPr>
        <p:spPr>
          <a:xfrm>
            <a:off x="-7525" y="4706725"/>
            <a:ext cx="9149400" cy="1800"/>
          </a:xfrm>
          <a:prstGeom prst="straightConnector1">
            <a:avLst/>
          </a:prstGeom>
          <a:noFill/>
          <a:ln w="9525" cap="flat" cmpd="sng">
            <a:solidFill>
              <a:srgbClr val="D9D9D9"/>
            </a:solidFill>
            <a:prstDash val="solid"/>
            <a:round/>
            <a:headEnd type="none" w="med" len="med"/>
            <a:tailEnd type="none" w="med" len="med"/>
          </a:ln>
        </p:spPr>
      </p:cxnSp>
      <p:pic>
        <p:nvPicPr>
          <p:cNvPr id="69" name="Google Shape;69;p14" title="IIH powered by IHS 1.png">
            <a:extLst>
              <a:ext uri="{FF2B5EF4-FFF2-40B4-BE49-F238E27FC236}">
                <a16:creationId xmlns:a16="http://schemas.microsoft.com/office/drawing/2014/main" id="{7B8F98FC-B18D-B128-87E9-6C292FF62759}"/>
              </a:ext>
            </a:extLst>
          </p:cNvPr>
          <p:cNvPicPr preferRelativeResize="0"/>
          <p:nvPr/>
        </p:nvPicPr>
        <p:blipFill>
          <a:blip r:embed="rId4">
            <a:alphaModFix/>
          </a:blip>
          <a:stretch>
            <a:fillRect/>
          </a:stretch>
        </p:blipFill>
        <p:spPr>
          <a:xfrm>
            <a:off x="319225" y="4781674"/>
            <a:ext cx="676905" cy="285900"/>
          </a:xfrm>
          <a:prstGeom prst="rect">
            <a:avLst/>
          </a:prstGeom>
          <a:noFill/>
          <a:ln>
            <a:noFill/>
          </a:ln>
        </p:spPr>
      </p:pic>
      <p:sp>
        <p:nvSpPr>
          <p:cNvPr id="5" name="Google Shape;67;p14">
            <a:extLst>
              <a:ext uri="{FF2B5EF4-FFF2-40B4-BE49-F238E27FC236}">
                <a16:creationId xmlns:a16="http://schemas.microsoft.com/office/drawing/2014/main" id="{D9874635-367C-2441-74D8-E435C117EB68}"/>
              </a:ext>
            </a:extLst>
          </p:cNvPr>
          <p:cNvSpPr txBox="1">
            <a:spLocks/>
          </p:cNvSpPr>
          <p:nvPr/>
        </p:nvSpPr>
        <p:spPr>
          <a:xfrm>
            <a:off x="319225" y="756830"/>
            <a:ext cx="8520600" cy="553650"/>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marL="0" indent="0">
              <a:lnSpc>
                <a:spcPct val="100000"/>
              </a:lnSpc>
              <a:buClr>
                <a:schemeClr val="dk1"/>
              </a:buClr>
              <a:buSzPts val="1100"/>
              <a:buNone/>
            </a:pPr>
            <a:r>
              <a:rPr lang="en-US" b="1" dirty="0">
                <a:solidFill>
                  <a:schemeClr val="dk1"/>
                </a:solidFill>
                <a:highlight>
                  <a:srgbClr val="FFFFFF"/>
                </a:highlight>
                <a:latin typeface="Avenir"/>
                <a:ea typeface="Avenir"/>
                <a:cs typeface="Avenir"/>
                <a:sym typeface="Avenir"/>
              </a:rPr>
              <a:t>Geo Spread of Staff</a:t>
            </a:r>
          </a:p>
        </p:txBody>
      </p:sp>
      <p:graphicFrame>
        <p:nvGraphicFramePr>
          <p:cNvPr id="2" name="Table 1">
            <a:extLst>
              <a:ext uri="{FF2B5EF4-FFF2-40B4-BE49-F238E27FC236}">
                <a16:creationId xmlns:a16="http://schemas.microsoft.com/office/drawing/2014/main" id="{D851FFD8-211A-9C61-3DD1-D35D9D9B192A}"/>
              </a:ext>
            </a:extLst>
          </p:cNvPr>
          <p:cNvGraphicFramePr>
            <a:graphicFrameLocks noGrp="1"/>
          </p:cNvGraphicFramePr>
          <p:nvPr>
            <p:extLst>
              <p:ext uri="{D42A27DB-BD31-4B8C-83A1-F6EECF244321}">
                <p14:modId xmlns:p14="http://schemas.microsoft.com/office/powerpoint/2010/main" val="1102457390"/>
              </p:ext>
            </p:extLst>
          </p:nvPr>
        </p:nvGraphicFramePr>
        <p:xfrm>
          <a:off x="1120309" y="1511559"/>
          <a:ext cx="3088134" cy="1574758"/>
        </p:xfrm>
        <a:graphic>
          <a:graphicData uri="http://schemas.openxmlformats.org/drawingml/2006/table">
            <a:tbl>
              <a:tblPr firstRow="1" bandRow="1">
                <a:tableStyleId>{2D5ABB26-0587-4C30-8999-92F81FD0307C}</a:tableStyleId>
              </a:tblPr>
              <a:tblGrid>
                <a:gridCol w="1391537">
                  <a:extLst>
                    <a:ext uri="{9D8B030D-6E8A-4147-A177-3AD203B41FA5}">
                      <a16:colId xmlns:a16="http://schemas.microsoft.com/office/drawing/2014/main" val="2672028145"/>
                    </a:ext>
                  </a:extLst>
                </a:gridCol>
                <a:gridCol w="617709">
                  <a:extLst>
                    <a:ext uri="{9D8B030D-6E8A-4147-A177-3AD203B41FA5}">
                      <a16:colId xmlns:a16="http://schemas.microsoft.com/office/drawing/2014/main" val="1089863776"/>
                    </a:ext>
                  </a:extLst>
                </a:gridCol>
                <a:gridCol w="1078888">
                  <a:extLst>
                    <a:ext uri="{9D8B030D-6E8A-4147-A177-3AD203B41FA5}">
                      <a16:colId xmlns:a16="http://schemas.microsoft.com/office/drawing/2014/main" val="1134349400"/>
                    </a:ext>
                  </a:extLst>
                </a:gridCol>
              </a:tblGrid>
              <a:tr h="464556">
                <a:tc>
                  <a:txBody>
                    <a:bodyPr/>
                    <a:lstStyle/>
                    <a:p>
                      <a:r>
                        <a:rPr lang="en-US" sz="1600" b="1" dirty="0">
                          <a:solidFill>
                            <a:schemeClr val="tx1">
                              <a:lumMod val="85000"/>
                              <a:lumOff val="15000"/>
                            </a:schemeClr>
                          </a:solidFill>
                        </a:rPr>
                        <a:t>By Origin</a:t>
                      </a:r>
                    </a:p>
                  </a:txBody>
                  <a:tcPr/>
                </a:tc>
                <a:tc>
                  <a:txBody>
                    <a:bodyPr/>
                    <a:lstStyle/>
                    <a:p>
                      <a:endParaRPr lang="en-US" sz="1600" b="1" dirty="0">
                        <a:solidFill>
                          <a:schemeClr val="tx1">
                            <a:lumMod val="85000"/>
                            <a:lumOff val="15000"/>
                          </a:schemeClr>
                        </a:solidFill>
                      </a:endParaRPr>
                    </a:p>
                  </a:txBody>
                  <a:tcPr/>
                </a:tc>
                <a:tc>
                  <a:txBody>
                    <a:bodyPr/>
                    <a:lstStyle/>
                    <a:p>
                      <a:endParaRPr lang="en-US" sz="1600" b="1" dirty="0">
                        <a:solidFill>
                          <a:schemeClr val="tx1">
                            <a:lumMod val="85000"/>
                            <a:lumOff val="15000"/>
                          </a:schemeClr>
                        </a:solidFill>
                      </a:endParaRPr>
                    </a:p>
                  </a:txBody>
                  <a:tcPr/>
                </a:tc>
                <a:extLst>
                  <a:ext uri="{0D108BD9-81ED-4DB2-BD59-A6C34878D82A}">
                    <a16:rowId xmlns:a16="http://schemas.microsoft.com/office/drawing/2014/main" val="1944138050"/>
                  </a:ext>
                </a:extLst>
              </a:tr>
              <a:tr h="464556">
                <a:tc>
                  <a:txBody>
                    <a:bodyPr/>
                    <a:lstStyle/>
                    <a:p>
                      <a:r>
                        <a:rPr lang="en-US" sz="1600" dirty="0">
                          <a:solidFill>
                            <a:schemeClr val="tx1">
                              <a:lumMod val="85000"/>
                              <a:lumOff val="15000"/>
                            </a:schemeClr>
                          </a:solidFill>
                        </a:rPr>
                        <a:t>Kwara</a:t>
                      </a:r>
                    </a:p>
                  </a:txBody>
                  <a:tcPr/>
                </a:tc>
                <a:tc>
                  <a:txBody>
                    <a:bodyPr/>
                    <a:lstStyle/>
                    <a:p>
                      <a:r>
                        <a:rPr lang="en-US" sz="1600" dirty="0">
                          <a:solidFill>
                            <a:schemeClr val="tx1">
                              <a:lumMod val="85000"/>
                              <a:lumOff val="15000"/>
                            </a:schemeClr>
                          </a:solidFill>
                        </a:rPr>
                        <a:t>13</a:t>
                      </a:r>
                    </a:p>
                  </a:txBody>
                  <a:tcPr/>
                </a:tc>
                <a:tc>
                  <a:txBody>
                    <a:bodyPr/>
                    <a:lstStyle/>
                    <a:p>
                      <a:r>
                        <a:rPr lang="en-US" sz="1600" dirty="0">
                          <a:solidFill>
                            <a:schemeClr val="tx1">
                              <a:lumMod val="85000"/>
                              <a:lumOff val="15000"/>
                            </a:schemeClr>
                          </a:solidFill>
                        </a:rPr>
                        <a:t>77%</a:t>
                      </a:r>
                    </a:p>
                  </a:txBody>
                  <a:tcPr/>
                </a:tc>
                <a:extLst>
                  <a:ext uri="{0D108BD9-81ED-4DB2-BD59-A6C34878D82A}">
                    <a16:rowId xmlns:a16="http://schemas.microsoft.com/office/drawing/2014/main" val="2542704154"/>
                  </a:ext>
                </a:extLst>
              </a:tr>
              <a:tr h="645646">
                <a:tc>
                  <a:txBody>
                    <a:bodyPr/>
                    <a:lstStyle/>
                    <a:p>
                      <a:r>
                        <a:rPr lang="en-US" sz="1600" dirty="0">
                          <a:solidFill>
                            <a:schemeClr val="tx1">
                              <a:lumMod val="85000"/>
                              <a:lumOff val="15000"/>
                            </a:schemeClr>
                          </a:solidFill>
                        </a:rPr>
                        <a:t>Non-Kwara</a:t>
                      </a:r>
                    </a:p>
                  </a:txBody>
                  <a:tcPr/>
                </a:tc>
                <a:tc>
                  <a:txBody>
                    <a:bodyPr/>
                    <a:lstStyle/>
                    <a:p>
                      <a:r>
                        <a:rPr lang="en-US" sz="1600" dirty="0">
                          <a:solidFill>
                            <a:schemeClr val="tx1">
                              <a:lumMod val="85000"/>
                              <a:lumOff val="15000"/>
                            </a:schemeClr>
                          </a:solidFill>
                        </a:rPr>
                        <a:t>3</a:t>
                      </a:r>
                    </a:p>
                  </a:txBody>
                  <a:tcPr/>
                </a:tc>
                <a:tc>
                  <a:txBody>
                    <a:bodyPr/>
                    <a:lstStyle/>
                    <a:p>
                      <a:r>
                        <a:rPr lang="en-US" sz="1600" dirty="0">
                          <a:solidFill>
                            <a:schemeClr val="tx1">
                              <a:lumMod val="85000"/>
                              <a:lumOff val="15000"/>
                            </a:schemeClr>
                          </a:solidFill>
                        </a:rPr>
                        <a:t>23%</a:t>
                      </a:r>
                    </a:p>
                  </a:txBody>
                  <a:tcPr/>
                </a:tc>
                <a:extLst>
                  <a:ext uri="{0D108BD9-81ED-4DB2-BD59-A6C34878D82A}">
                    <a16:rowId xmlns:a16="http://schemas.microsoft.com/office/drawing/2014/main" val="1855549846"/>
                  </a:ext>
                </a:extLst>
              </a:tr>
            </a:tbl>
          </a:graphicData>
        </a:graphic>
      </p:graphicFrame>
      <p:graphicFrame>
        <p:nvGraphicFramePr>
          <p:cNvPr id="4" name="Table 3">
            <a:extLst>
              <a:ext uri="{FF2B5EF4-FFF2-40B4-BE49-F238E27FC236}">
                <a16:creationId xmlns:a16="http://schemas.microsoft.com/office/drawing/2014/main" id="{ED4CABF3-599B-2424-C9BB-3C75C2041AAC}"/>
              </a:ext>
            </a:extLst>
          </p:cNvPr>
          <p:cNvGraphicFramePr>
            <a:graphicFrameLocks noGrp="1"/>
          </p:cNvGraphicFramePr>
          <p:nvPr>
            <p:extLst>
              <p:ext uri="{D42A27DB-BD31-4B8C-83A1-F6EECF244321}">
                <p14:modId xmlns:p14="http://schemas.microsoft.com/office/powerpoint/2010/main" val="427926366"/>
              </p:ext>
            </p:extLst>
          </p:nvPr>
        </p:nvGraphicFramePr>
        <p:xfrm>
          <a:off x="4809124" y="1511559"/>
          <a:ext cx="3088134" cy="1574758"/>
        </p:xfrm>
        <a:graphic>
          <a:graphicData uri="http://schemas.openxmlformats.org/drawingml/2006/table">
            <a:tbl>
              <a:tblPr firstRow="1" bandRow="1">
                <a:tableStyleId>{2D5ABB26-0587-4C30-8999-92F81FD0307C}</a:tableStyleId>
              </a:tblPr>
              <a:tblGrid>
                <a:gridCol w="1415406">
                  <a:extLst>
                    <a:ext uri="{9D8B030D-6E8A-4147-A177-3AD203B41FA5}">
                      <a16:colId xmlns:a16="http://schemas.microsoft.com/office/drawing/2014/main" val="2672028145"/>
                    </a:ext>
                  </a:extLst>
                </a:gridCol>
                <a:gridCol w="815248">
                  <a:extLst>
                    <a:ext uri="{9D8B030D-6E8A-4147-A177-3AD203B41FA5}">
                      <a16:colId xmlns:a16="http://schemas.microsoft.com/office/drawing/2014/main" val="1701984406"/>
                    </a:ext>
                  </a:extLst>
                </a:gridCol>
                <a:gridCol w="857480">
                  <a:extLst>
                    <a:ext uri="{9D8B030D-6E8A-4147-A177-3AD203B41FA5}">
                      <a16:colId xmlns:a16="http://schemas.microsoft.com/office/drawing/2014/main" val="1134349400"/>
                    </a:ext>
                  </a:extLst>
                </a:gridCol>
              </a:tblGrid>
              <a:tr h="464556">
                <a:tc>
                  <a:txBody>
                    <a:bodyPr/>
                    <a:lstStyle/>
                    <a:p>
                      <a:r>
                        <a:rPr lang="en-US" sz="1600" b="1" dirty="0">
                          <a:solidFill>
                            <a:schemeClr val="tx1">
                              <a:lumMod val="85000"/>
                              <a:lumOff val="15000"/>
                            </a:schemeClr>
                          </a:solidFill>
                        </a:rPr>
                        <a:t>By Gender</a:t>
                      </a:r>
                    </a:p>
                  </a:txBody>
                  <a:tcPr/>
                </a:tc>
                <a:tc>
                  <a:txBody>
                    <a:bodyPr/>
                    <a:lstStyle/>
                    <a:p>
                      <a:endParaRPr lang="en-US" sz="1600" b="1" dirty="0">
                        <a:solidFill>
                          <a:schemeClr val="tx1">
                            <a:lumMod val="85000"/>
                            <a:lumOff val="15000"/>
                          </a:schemeClr>
                        </a:solidFill>
                      </a:endParaRPr>
                    </a:p>
                  </a:txBody>
                  <a:tcPr/>
                </a:tc>
                <a:tc>
                  <a:txBody>
                    <a:bodyPr/>
                    <a:lstStyle/>
                    <a:p>
                      <a:endParaRPr lang="en-US" sz="1600" b="1" dirty="0">
                        <a:solidFill>
                          <a:schemeClr val="tx1">
                            <a:lumMod val="85000"/>
                            <a:lumOff val="15000"/>
                          </a:schemeClr>
                        </a:solidFill>
                      </a:endParaRPr>
                    </a:p>
                  </a:txBody>
                  <a:tcPr/>
                </a:tc>
                <a:extLst>
                  <a:ext uri="{0D108BD9-81ED-4DB2-BD59-A6C34878D82A}">
                    <a16:rowId xmlns:a16="http://schemas.microsoft.com/office/drawing/2014/main" val="1315816160"/>
                  </a:ext>
                </a:extLst>
              </a:tr>
              <a:tr h="464556">
                <a:tc>
                  <a:txBody>
                    <a:bodyPr/>
                    <a:lstStyle/>
                    <a:p>
                      <a:r>
                        <a:rPr lang="en-US" sz="1600" dirty="0">
                          <a:solidFill>
                            <a:schemeClr val="tx1">
                              <a:lumMod val="85000"/>
                              <a:lumOff val="15000"/>
                            </a:schemeClr>
                          </a:solidFill>
                        </a:rPr>
                        <a:t>Male</a:t>
                      </a:r>
                    </a:p>
                  </a:txBody>
                  <a:tcPr/>
                </a:tc>
                <a:tc>
                  <a:txBody>
                    <a:bodyPr/>
                    <a:lstStyle/>
                    <a:p>
                      <a:r>
                        <a:rPr lang="en-US" sz="1600" dirty="0">
                          <a:solidFill>
                            <a:schemeClr val="tx1">
                              <a:lumMod val="85000"/>
                              <a:lumOff val="15000"/>
                            </a:schemeClr>
                          </a:solidFill>
                        </a:rPr>
                        <a:t>7</a:t>
                      </a:r>
                    </a:p>
                  </a:txBody>
                  <a:tcPr/>
                </a:tc>
                <a:tc>
                  <a:txBody>
                    <a:bodyPr/>
                    <a:lstStyle/>
                    <a:p>
                      <a:r>
                        <a:rPr lang="en-US" sz="1600" dirty="0">
                          <a:solidFill>
                            <a:schemeClr val="tx1">
                              <a:lumMod val="85000"/>
                              <a:lumOff val="15000"/>
                            </a:schemeClr>
                          </a:solidFill>
                        </a:rPr>
                        <a:t>43%</a:t>
                      </a:r>
                    </a:p>
                  </a:txBody>
                  <a:tcPr/>
                </a:tc>
                <a:extLst>
                  <a:ext uri="{0D108BD9-81ED-4DB2-BD59-A6C34878D82A}">
                    <a16:rowId xmlns:a16="http://schemas.microsoft.com/office/drawing/2014/main" val="2542704154"/>
                  </a:ext>
                </a:extLst>
              </a:tr>
              <a:tr h="645646">
                <a:tc>
                  <a:txBody>
                    <a:bodyPr/>
                    <a:lstStyle/>
                    <a:p>
                      <a:r>
                        <a:rPr lang="en-US" sz="1600" dirty="0">
                          <a:solidFill>
                            <a:schemeClr val="tx1">
                              <a:lumMod val="85000"/>
                              <a:lumOff val="15000"/>
                            </a:schemeClr>
                          </a:solidFill>
                        </a:rPr>
                        <a:t>Female</a:t>
                      </a:r>
                    </a:p>
                  </a:txBody>
                  <a:tcPr/>
                </a:tc>
                <a:tc>
                  <a:txBody>
                    <a:bodyPr/>
                    <a:lstStyle/>
                    <a:p>
                      <a:r>
                        <a:rPr lang="en-US" sz="1600" dirty="0">
                          <a:solidFill>
                            <a:schemeClr val="tx1">
                              <a:lumMod val="85000"/>
                              <a:lumOff val="15000"/>
                            </a:schemeClr>
                          </a:solidFill>
                        </a:rPr>
                        <a:t>9</a:t>
                      </a:r>
                    </a:p>
                  </a:txBody>
                  <a:tcPr/>
                </a:tc>
                <a:tc>
                  <a:txBody>
                    <a:bodyPr/>
                    <a:lstStyle/>
                    <a:p>
                      <a:r>
                        <a:rPr lang="en-US" sz="1600" dirty="0">
                          <a:solidFill>
                            <a:schemeClr val="tx1">
                              <a:lumMod val="85000"/>
                              <a:lumOff val="15000"/>
                            </a:schemeClr>
                          </a:solidFill>
                        </a:rPr>
                        <a:t>57%</a:t>
                      </a:r>
                    </a:p>
                  </a:txBody>
                  <a:tcPr/>
                </a:tc>
                <a:extLst>
                  <a:ext uri="{0D108BD9-81ED-4DB2-BD59-A6C34878D82A}">
                    <a16:rowId xmlns:a16="http://schemas.microsoft.com/office/drawing/2014/main" val="1855549846"/>
                  </a:ext>
                </a:extLst>
              </a:tr>
            </a:tbl>
          </a:graphicData>
        </a:graphic>
      </p:graphicFrame>
      <p:graphicFrame>
        <p:nvGraphicFramePr>
          <p:cNvPr id="6" name="Table 5">
            <a:extLst>
              <a:ext uri="{FF2B5EF4-FFF2-40B4-BE49-F238E27FC236}">
                <a16:creationId xmlns:a16="http://schemas.microsoft.com/office/drawing/2014/main" id="{0A22C8B4-F662-5417-DD23-49D8007E4848}"/>
              </a:ext>
            </a:extLst>
          </p:cNvPr>
          <p:cNvGraphicFramePr>
            <a:graphicFrameLocks noGrp="1"/>
          </p:cNvGraphicFramePr>
          <p:nvPr>
            <p:extLst>
              <p:ext uri="{D42A27DB-BD31-4B8C-83A1-F6EECF244321}">
                <p14:modId xmlns:p14="http://schemas.microsoft.com/office/powerpoint/2010/main" val="99947706"/>
              </p:ext>
            </p:extLst>
          </p:nvPr>
        </p:nvGraphicFramePr>
        <p:xfrm>
          <a:off x="1120309" y="3042651"/>
          <a:ext cx="3088134" cy="1285422"/>
        </p:xfrm>
        <a:graphic>
          <a:graphicData uri="http://schemas.openxmlformats.org/drawingml/2006/table">
            <a:tbl>
              <a:tblPr firstRow="1" bandRow="1">
                <a:tableStyleId>{2D5ABB26-0587-4C30-8999-92F81FD0307C}</a:tableStyleId>
              </a:tblPr>
              <a:tblGrid>
                <a:gridCol w="1747070">
                  <a:extLst>
                    <a:ext uri="{9D8B030D-6E8A-4147-A177-3AD203B41FA5}">
                      <a16:colId xmlns:a16="http://schemas.microsoft.com/office/drawing/2014/main" val="2672028145"/>
                    </a:ext>
                  </a:extLst>
                </a:gridCol>
                <a:gridCol w="1341064">
                  <a:extLst>
                    <a:ext uri="{9D8B030D-6E8A-4147-A177-3AD203B41FA5}">
                      <a16:colId xmlns:a16="http://schemas.microsoft.com/office/drawing/2014/main" val="1134349400"/>
                    </a:ext>
                  </a:extLst>
                </a:gridCol>
              </a:tblGrid>
              <a:tr h="339929">
                <a:tc>
                  <a:txBody>
                    <a:bodyPr/>
                    <a:lstStyle/>
                    <a:p>
                      <a:r>
                        <a:rPr lang="en-US" sz="1200" b="1" dirty="0">
                          <a:solidFill>
                            <a:schemeClr val="tx1">
                              <a:lumMod val="85000"/>
                              <a:lumOff val="15000"/>
                            </a:schemeClr>
                          </a:solidFill>
                        </a:rPr>
                        <a:t>Within Kwara</a:t>
                      </a:r>
                    </a:p>
                  </a:txBody>
                  <a:tcPr/>
                </a:tc>
                <a:tc>
                  <a:txBody>
                    <a:bodyPr/>
                    <a:lstStyle/>
                    <a:p>
                      <a:endParaRPr lang="en-US" sz="1200" b="1" dirty="0">
                        <a:solidFill>
                          <a:schemeClr val="tx1">
                            <a:lumMod val="85000"/>
                            <a:lumOff val="15000"/>
                          </a:schemeClr>
                        </a:solidFill>
                      </a:endParaRPr>
                    </a:p>
                  </a:txBody>
                  <a:tcPr/>
                </a:tc>
                <a:extLst>
                  <a:ext uri="{0D108BD9-81ED-4DB2-BD59-A6C34878D82A}">
                    <a16:rowId xmlns:a16="http://schemas.microsoft.com/office/drawing/2014/main" val="1944138050"/>
                  </a:ext>
                </a:extLst>
              </a:tr>
              <a:tr h="352540">
                <a:tc>
                  <a:txBody>
                    <a:bodyPr/>
                    <a:lstStyle/>
                    <a:p>
                      <a:r>
                        <a:rPr lang="en-US" sz="1200" dirty="0">
                          <a:solidFill>
                            <a:schemeClr val="tx1">
                              <a:lumMod val="85000"/>
                              <a:lumOff val="15000"/>
                            </a:schemeClr>
                          </a:solidFill>
                        </a:rPr>
                        <a:t>Kwara Central</a:t>
                      </a:r>
                    </a:p>
                  </a:txBody>
                  <a:tcPr/>
                </a:tc>
                <a:tc>
                  <a:txBody>
                    <a:bodyPr/>
                    <a:lstStyle/>
                    <a:p>
                      <a:r>
                        <a:rPr lang="en-US" sz="1200" dirty="0">
                          <a:solidFill>
                            <a:schemeClr val="tx1">
                              <a:lumMod val="85000"/>
                              <a:lumOff val="15000"/>
                            </a:schemeClr>
                          </a:solidFill>
                        </a:rPr>
                        <a:t>5</a:t>
                      </a:r>
                    </a:p>
                  </a:txBody>
                  <a:tcPr/>
                </a:tc>
                <a:extLst>
                  <a:ext uri="{0D108BD9-81ED-4DB2-BD59-A6C34878D82A}">
                    <a16:rowId xmlns:a16="http://schemas.microsoft.com/office/drawing/2014/main" val="2542704154"/>
                  </a:ext>
                </a:extLst>
              </a:tr>
              <a:tr h="297455">
                <a:tc>
                  <a:txBody>
                    <a:bodyPr/>
                    <a:lstStyle/>
                    <a:p>
                      <a:r>
                        <a:rPr lang="en-US" sz="1200" dirty="0">
                          <a:solidFill>
                            <a:schemeClr val="tx1">
                              <a:lumMod val="85000"/>
                              <a:lumOff val="15000"/>
                            </a:schemeClr>
                          </a:solidFill>
                        </a:rPr>
                        <a:t>Kwara South</a:t>
                      </a:r>
                    </a:p>
                  </a:txBody>
                  <a:tcPr/>
                </a:tc>
                <a:tc>
                  <a:txBody>
                    <a:bodyPr/>
                    <a:lstStyle/>
                    <a:p>
                      <a:r>
                        <a:rPr lang="en-US" sz="1200" dirty="0">
                          <a:solidFill>
                            <a:schemeClr val="tx1">
                              <a:lumMod val="85000"/>
                              <a:lumOff val="15000"/>
                            </a:schemeClr>
                          </a:solidFill>
                        </a:rPr>
                        <a:t>7</a:t>
                      </a:r>
                    </a:p>
                  </a:txBody>
                  <a:tcPr/>
                </a:tc>
                <a:extLst>
                  <a:ext uri="{0D108BD9-81ED-4DB2-BD59-A6C34878D82A}">
                    <a16:rowId xmlns:a16="http://schemas.microsoft.com/office/drawing/2014/main" val="1855549846"/>
                  </a:ext>
                </a:extLst>
              </a:tr>
              <a:tr h="295498">
                <a:tc>
                  <a:txBody>
                    <a:bodyPr/>
                    <a:lstStyle/>
                    <a:p>
                      <a:r>
                        <a:rPr lang="en-US" sz="1200" dirty="0">
                          <a:solidFill>
                            <a:schemeClr val="tx1">
                              <a:lumMod val="85000"/>
                              <a:lumOff val="15000"/>
                            </a:schemeClr>
                          </a:solidFill>
                        </a:rPr>
                        <a:t>Kwara North</a:t>
                      </a:r>
                    </a:p>
                  </a:txBody>
                  <a:tcPr/>
                </a:tc>
                <a:tc>
                  <a:txBody>
                    <a:bodyPr/>
                    <a:lstStyle/>
                    <a:p>
                      <a:r>
                        <a:rPr lang="en-US" sz="1200" dirty="0">
                          <a:solidFill>
                            <a:schemeClr val="tx1">
                              <a:lumMod val="85000"/>
                              <a:lumOff val="15000"/>
                            </a:schemeClr>
                          </a:solidFill>
                        </a:rPr>
                        <a:t>1</a:t>
                      </a:r>
                    </a:p>
                  </a:txBody>
                  <a:tcPr/>
                </a:tc>
                <a:extLst>
                  <a:ext uri="{0D108BD9-81ED-4DB2-BD59-A6C34878D82A}">
                    <a16:rowId xmlns:a16="http://schemas.microsoft.com/office/drawing/2014/main" val="122227219"/>
                  </a:ext>
                </a:extLst>
              </a:tr>
            </a:tbl>
          </a:graphicData>
        </a:graphic>
      </p:graphicFrame>
    </p:spTree>
    <p:extLst>
      <p:ext uri="{BB962C8B-B14F-4D97-AF65-F5344CB8AC3E}">
        <p14:creationId xmlns:p14="http://schemas.microsoft.com/office/powerpoint/2010/main" val="19161324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3">
          <a:extLst>
            <a:ext uri="{FF2B5EF4-FFF2-40B4-BE49-F238E27FC236}">
              <a16:creationId xmlns:a16="http://schemas.microsoft.com/office/drawing/2014/main" id="{B566DC39-E915-2332-CD02-7C69CFF9F6D5}"/>
            </a:ext>
          </a:extLst>
        </p:cNvPr>
        <p:cNvGrpSpPr/>
        <p:nvPr/>
      </p:nvGrpSpPr>
      <p:grpSpPr>
        <a:xfrm>
          <a:off x="0" y="0"/>
          <a:ext cx="0" cy="0"/>
          <a:chOff x="0" y="0"/>
          <a:chExt cx="0" cy="0"/>
        </a:xfrm>
      </p:grpSpPr>
      <p:sp>
        <p:nvSpPr>
          <p:cNvPr id="64" name="Google Shape;64;p14">
            <a:extLst>
              <a:ext uri="{FF2B5EF4-FFF2-40B4-BE49-F238E27FC236}">
                <a16:creationId xmlns:a16="http://schemas.microsoft.com/office/drawing/2014/main" id="{D89DB122-240E-A7ED-C0B5-A860AE475172}"/>
              </a:ext>
            </a:extLst>
          </p:cNvPr>
          <p:cNvSpPr/>
          <p:nvPr/>
        </p:nvSpPr>
        <p:spPr>
          <a:xfrm>
            <a:off x="7525" y="7525"/>
            <a:ext cx="9144000" cy="620700"/>
          </a:xfrm>
          <a:prstGeom prst="rect">
            <a:avLst/>
          </a:prstGeom>
          <a:solidFill>
            <a:srgbClr val="002D1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65" name="Google Shape;65;p14" title="longer border.png">
            <a:extLst>
              <a:ext uri="{FF2B5EF4-FFF2-40B4-BE49-F238E27FC236}">
                <a16:creationId xmlns:a16="http://schemas.microsoft.com/office/drawing/2014/main" id="{2CD808A7-ABB8-FFA7-AA25-5C4869A86312}"/>
              </a:ext>
            </a:extLst>
          </p:cNvPr>
          <p:cNvPicPr preferRelativeResize="0"/>
          <p:nvPr/>
        </p:nvPicPr>
        <p:blipFill>
          <a:blip r:embed="rId3">
            <a:alphaModFix/>
          </a:blip>
          <a:stretch>
            <a:fillRect/>
          </a:stretch>
        </p:blipFill>
        <p:spPr>
          <a:xfrm>
            <a:off x="0" y="445025"/>
            <a:ext cx="9144003" cy="183052"/>
          </a:xfrm>
          <a:prstGeom prst="rect">
            <a:avLst/>
          </a:prstGeom>
          <a:noFill/>
          <a:ln>
            <a:noFill/>
          </a:ln>
        </p:spPr>
      </p:pic>
      <p:sp>
        <p:nvSpPr>
          <p:cNvPr id="66" name="Google Shape;66;p14">
            <a:extLst>
              <a:ext uri="{FF2B5EF4-FFF2-40B4-BE49-F238E27FC236}">
                <a16:creationId xmlns:a16="http://schemas.microsoft.com/office/drawing/2014/main" id="{9CF33288-8203-4B6A-45D6-3394784C7C59}"/>
              </a:ext>
            </a:extLst>
          </p:cNvPr>
          <p:cNvSpPr txBox="1">
            <a:spLocks noGrp="1"/>
          </p:cNvSpPr>
          <p:nvPr>
            <p:ph type="title"/>
          </p:nvPr>
        </p:nvSpPr>
        <p:spPr>
          <a:xfrm>
            <a:off x="146025" y="91299"/>
            <a:ext cx="8520600" cy="285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1400" b="1" dirty="0">
                <a:solidFill>
                  <a:srgbClr val="EFFFEF"/>
                </a:solidFill>
                <a:latin typeface="Avenir Book" panose="02000503020000020003" pitchFamily="2" charset="0"/>
                <a:ea typeface="Helvetica Neue"/>
                <a:cs typeface="Helvetica Neue"/>
                <a:sym typeface="Helvetica Neue"/>
              </a:rPr>
              <a:t>Hiring Report</a:t>
            </a:r>
            <a:endParaRPr sz="1400" b="1" dirty="0">
              <a:solidFill>
                <a:srgbClr val="EFFFEF"/>
              </a:solidFill>
              <a:latin typeface="Avenir Book" panose="02000503020000020003" pitchFamily="2" charset="0"/>
              <a:ea typeface="Helvetica Neue"/>
              <a:cs typeface="Helvetica Neue"/>
              <a:sym typeface="Helvetica Neue"/>
            </a:endParaRPr>
          </a:p>
        </p:txBody>
      </p:sp>
      <p:cxnSp>
        <p:nvCxnSpPr>
          <p:cNvPr id="68" name="Google Shape;68;p14">
            <a:extLst>
              <a:ext uri="{FF2B5EF4-FFF2-40B4-BE49-F238E27FC236}">
                <a16:creationId xmlns:a16="http://schemas.microsoft.com/office/drawing/2014/main" id="{40BAFC58-BB25-A8AD-3445-23A7B852F540}"/>
              </a:ext>
            </a:extLst>
          </p:cNvPr>
          <p:cNvCxnSpPr/>
          <p:nvPr/>
        </p:nvCxnSpPr>
        <p:spPr>
          <a:xfrm>
            <a:off x="-7525" y="4706725"/>
            <a:ext cx="9149400" cy="1800"/>
          </a:xfrm>
          <a:prstGeom prst="straightConnector1">
            <a:avLst/>
          </a:prstGeom>
          <a:noFill/>
          <a:ln w="9525" cap="flat" cmpd="sng">
            <a:solidFill>
              <a:srgbClr val="D9D9D9"/>
            </a:solidFill>
            <a:prstDash val="solid"/>
            <a:round/>
            <a:headEnd type="none" w="med" len="med"/>
            <a:tailEnd type="none" w="med" len="med"/>
          </a:ln>
        </p:spPr>
      </p:cxnSp>
      <p:pic>
        <p:nvPicPr>
          <p:cNvPr id="69" name="Google Shape;69;p14" title="IIH powered by IHS 1.png">
            <a:extLst>
              <a:ext uri="{FF2B5EF4-FFF2-40B4-BE49-F238E27FC236}">
                <a16:creationId xmlns:a16="http://schemas.microsoft.com/office/drawing/2014/main" id="{7BE3E627-7C3F-CBA2-35FE-5309C9F515B5}"/>
              </a:ext>
            </a:extLst>
          </p:cNvPr>
          <p:cNvPicPr preferRelativeResize="0"/>
          <p:nvPr/>
        </p:nvPicPr>
        <p:blipFill>
          <a:blip r:embed="rId4">
            <a:alphaModFix/>
          </a:blip>
          <a:stretch>
            <a:fillRect/>
          </a:stretch>
        </p:blipFill>
        <p:spPr>
          <a:xfrm>
            <a:off x="319225" y="4781674"/>
            <a:ext cx="676905" cy="285900"/>
          </a:xfrm>
          <a:prstGeom prst="rect">
            <a:avLst/>
          </a:prstGeom>
          <a:noFill/>
          <a:ln>
            <a:noFill/>
          </a:ln>
        </p:spPr>
      </p:pic>
      <p:sp>
        <p:nvSpPr>
          <p:cNvPr id="2" name="Google Shape;67;p14">
            <a:extLst>
              <a:ext uri="{FF2B5EF4-FFF2-40B4-BE49-F238E27FC236}">
                <a16:creationId xmlns:a16="http://schemas.microsoft.com/office/drawing/2014/main" id="{143DD6E2-0A0A-693B-1C80-DE2DF2F0D702}"/>
              </a:ext>
            </a:extLst>
          </p:cNvPr>
          <p:cNvSpPr txBox="1">
            <a:spLocks/>
          </p:cNvSpPr>
          <p:nvPr/>
        </p:nvSpPr>
        <p:spPr>
          <a:xfrm>
            <a:off x="304175" y="1310480"/>
            <a:ext cx="4267825" cy="356639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marL="114300" indent="0">
              <a:buNone/>
            </a:pPr>
            <a:r>
              <a:rPr lang="en-US" sz="900" dirty="0">
                <a:solidFill>
                  <a:schemeClr val="tx1">
                    <a:lumMod val="85000"/>
                    <a:lumOff val="15000"/>
                  </a:schemeClr>
                </a:solidFill>
              </a:rPr>
              <a:t>Due to the regrading of the Community Manager role and the decision to onboard only one Facility Technician for now, there has been a significant reduction in projected payroll costs. This cost saving enabled the accommodation of an additional critical role: the </a:t>
            </a:r>
            <a:r>
              <a:rPr lang="en-US" sz="900" b="1" dirty="0">
                <a:solidFill>
                  <a:schemeClr val="tx1">
                    <a:lumMod val="85000"/>
                    <a:lumOff val="15000"/>
                  </a:schemeClr>
                </a:solidFill>
              </a:rPr>
              <a:t>Social Media Manager</a:t>
            </a:r>
            <a:r>
              <a:rPr lang="en-US" sz="900" dirty="0">
                <a:solidFill>
                  <a:schemeClr val="tx1">
                    <a:lumMod val="85000"/>
                    <a:lumOff val="15000"/>
                  </a:schemeClr>
                </a:solidFill>
              </a:rPr>
              <a:t>.</a:t>
            </a:r>
          </a:p>
          <a:p>
            <a:pPr marL="114300" indent="0">
              <a:buNone/>
            </a:pPr>
            <a:endParaRPr lang="en-US" sz="900" b="1" dirty="0">
              <a:solidFill>
                <a:schemeClr val="tx1">
                  <a:lumMod val="85000"/>
                  <a:lumOff val="15000"/>
                </a:schemeClr>
              </a:solidFill>
            </a:endParaRPr>
          </a:p>
          <a:p>
            <a:pPr marL="114300" indent="0">
              <a:buNone/>
            </a:pPr>
            <a:r>
              <a:rPr lang="en-US" sz="900" b="1" dirty="0">
                <a:solidFill>
                  <a:schemeClr val="tx1">
                    <a:lumMod val="85000"/>
                    <a:lumOff val="15000"/>
                  </a:schemeClr>
                </a:solidFill>
              </a:rPr>
              <a:t>Justification for Social Media Manager Role</a:t>
            </a:r>
          </a:p>
          <a:p>
            <a:pPr marL="114300" indent="0">
              <a:buNone/>
            </a:pPr>
            <a:r>
              <a:rPr lang="en-US" sz="900" dirty="0">
                <a:solidFill>
                  <a:schemeClr val="tx1">
                    <a:lumMod val="85000"/>
                    <a:lumOff val="15000"/>
                  </a:schemeClr>
                </a:solidFill>
              </a:rPr>
              <a:t>From inception, most of the Ilorin Innovation Hub’s visibility and momentum have been driven through </a:t>
            </a:r>
            <a:r>
              <a:rPr lang="en-US" sz="900" b="1" dirty="0">
                <a:solidFill>
                  <a:schemeClr val="tx1">
                    <a:lumMod val="85000"/>
                    <a:lumOff val="15000"/>
                  </a:schemeClr>
                </a:solidFill>
              </a:rPr>
              <a:t>online platforms</a:t>
            </a:r>
            <a:r>
              <a:rPr lang="en-US" sz="900" dirty="0">
                <a:solidFill>
                  <a:schemeClr val="tx1">
                    <a:lumMod val="85000"/>
                    <a:lumOff val="15000"/>
                  </a:schemeClr>
                </a:solidFill>
              </a:rPr>
              <a:t>, with communications, promotions, and announcements largely </a:t>
            </a:r>
            <a:r>
              <a:rPr lang="en-US" sz="900" b="1" dirty="0">
                <a:solidFill>
                  <a:schemeClr val="tx1">
                    <a:lumMod val="85000"/>
                    <a:lumOff val="15000"/>
                  </a:schemeClr>
                </a:solidFill>
              </a:rPr>
              <a:t>handled directly by the Managing Director (MD)</a:t>
            </a:r>
            <a:r>
              <a:rPr lang="en-US" sz="900" dirty="0">
                <a:solidFill>
                  <a:schemeClr val="tx1">
                    <a:lumMod val="85000"/>
                    <a:lumOff val="15000"/>
                  </a:schemeClr>
                </a:solidFill>
              </a:rPr>
              <a:t>. This includes strategic content and daily engagement across:</a:t>
            </a:r>
          </a:p>
          <a:p>
            <a:pPr marL="114300" indent="0">
              <a:buNone/>
            </a:pPr>
            <a:endParaRPr lang="en-US" sz="900" b="1" dirty="0">
              <a:solidFill>
                <a:schemeClr val="tx1">
                  <a:lumMod val="85000"/>
                  <a:lumOff val="15000"/>
                </a:schemeClr>
              </a:solidFill>
            </a:endParaRPr>
          </a:p>
          <a:p>
            <a:pPr marL="114300" indent="0">
              <a:buNone/>
            </a:pPr>
            <a:r>
              <a:rPr lang="en-US" sz="900" b="1" dirty="0">
                <a:solidFill>
                  <a:schemeClr val="tx1">
                    <a:lumMod val="85000"/>
                    <a:lumOff val="15000"/>
                  </a:schemeClr>
                </a:solidFill>
              </a:rPr>
              <a:t>Twitter/X</a:t>
            </a:r>
            <a:endParaRPr lang="en-US" sz="900" dirty="0">
              <a:solidFill>
                <a:schemeClr val="tx1">
                  <a:lumMod val="85000"/>
                  <a:lumOff val="15000"/>
                </a:schemeClr>
              </a:solidFill>
            </a:endParaRPr>
          </a:p>
          <a:p>
            <a:pPr marL="114300" indent="0">
              <a:buNone/>
            </a:pPr>
            <a:r>
              <a:rPr lang="en-US" sz="900" b="1" dirty="0">
                <a:solidFill>
                  <a:schemeClr val="tx1">
                    <a:lumMod val="85000"/>
                    <a:lumOff val="15000"/>
                  </a:schemeClr>
                </a:solidFill>
              </a:rPr>
              <a:t>Instagram</a:t>
            </a:r>
            <a:endParaRPr lang="en-US" sz="900" dirty="0">
              <a:solidFill>
                <a:schemeClr val="tx1">
                  <a:lumMod val="85000"/>
                  <a:lumOff val="15000"/>
                </a:schemeClr>
              </a:solidFill>
            </a:endParaRPr>
          </a:p>
          <a:p>
            <a:pPr marL="114300" indent="0">
              <a:buNone/>
            </a:pPr>
            <a:r>
              <a:rPr lang="en-US" sz="900" b="1" dirty="0">
                <a:solidFill>
                  <a:schemeClr val="tx1">
                    <a:lumMod val="85000"/>
                    <a:lumOff val="15000"/>
                  </a:schemeClr>
                </a:solidFill>
              </a:rPr>
              <a:t>LinkedIn</a:t>
            </a:r>
            <a:endParaRPr lang="en-US" sz="900" dirty="0">
              <a:solidFill>
                <a:schemeClr val="tx1">
                  <a:lumMod val="85000"/>
                  <a:lumOff val="15000"/>
                </a:schemeClr>
              </a:solidFill>
            </a:endParaRPr>
          </a:p>
          <a:p>
            <a:pPr marL="114300" indent="0">
              <a:buNone/>
            </a:pPr>
            <a:r>
              <a:rPr lang="en-US" sz="900" b="1" dirty="0">
                <a:solidFill>
                  <a:schemeClr val="tx1">
                    <a:lumMod val="85000"/>
                    <a:lumOff val="15000"/>
                  </a:schemeClr>
                </a:solidFill>
              </a:rPr>
              <a:t>Facebook</a:t>
            </a:r>
            <a:br>
              <a:rPr lang="en-US" sz="900" b="1" dirty="0">
                <a:solidFill>
                  <a:schemeClr val="tx1">
                    <a:lumMod val="85000"/>
                    <a:lumOff val="15000"/>
                  </a:schemeClr>
                </a:solidFill>
              </a:rPr>
            </a:br>
            <a:r>
              <a:rPr lang="en-US" sz="900" b="1" dirty="0">
                <a:solidFill>
                  <a:schemeClr val="tx1">
                    <a:lumMod val="85000"/>
                    <a:lumOff val="15000"/>
                  </a:schemeClr>
                </a:solidFill>
              </a:rPr>
              <a:t>Tik Tok</a:t>
            </a:r>
            <a:endParaRPr lang="en-US" sz="900" dirty="0">
              <a:solidFill>
                <a:schemeClr val="tx1">
                  <a:lumMod val="85000"/>
                  <a:lumOff val="15000"/>
                </a:schemeClr>
              </a:solidFill>
            </a:endParaRPr>
          </a:p>
          <a:p>
            <a:pPr marL="114300" indent="0">
              <a:buNone/>
            </a:pPr>
            <a:r>
              <a:rPr lang="en-US" sz="900" b="1" dirty="0">
                <a:solidFill>
                  <a:schemeClr val="tx1">
                    <a:lumMod val="85000"/>
                    <a:lumOff val="15000"/>
                  </a:schemeClr>
                </a:solidFill>
              </a:rPr>
              <a:t>WhatsApp</a:t>
            </a:r>
            <a:endParaRPr lang="en-US" sz="900" dirty="0">
              <a:solidFill>
                <a:schemeClr val="tx1">
                  <a:lumMod val="85000"/>
                  <a:lumOff val="15000"/>
                </a:schemeClr>
              </a:solidFill>
            </a:endParaRPr>
          </a:p>
        </p:txBody>
      </p:sp>
      <p:sp>
        <p:nvSpPr>
          <p:cNvPr id="5" name="Google Shape;67;p14">
            <a:extLst>
              <a:ext uri="{FF2B5EF4-FFF2-40B4-BE49-F238E27FC236}">
                <a16:creationId xmlns:a16="http://schemas.microsoft.com/office/drawing/2014/main" id="{89928592-4875-A1B0-DB5D-CCF3B5E66F6E}"/>
              </a:ext>
            </a:extLst>
          </p:cNvPr>
          <p:cNvSpPr txBox="1">
            <a:spLocks/>
          </p:cNvSpPr>
          <p:nvPr/>
        </p:nvSpPr>
        <p:spPr>
          <a:xfrm>
            <a:off x="319225" y="756830"/>
            <a:ext cx="8520600" cy="553650"/>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marL="0" indent="0">
              <a:lnSpc>
                <a:spcPct val="100000"/>
              </a:lnSpc>
              <a:buClr>
                <a:schemeClr val="dk1"/>
              </a:buClr>
              <a:buSzPts val="1100"/>
              <a:buNone/>
            </a:pPr>
            <a:r>
              <a:rPr lang="en-US" b="1" dirty="0">
                <a:solidFill>
                  <a:schemeClr val="dk1"/>
                </a:solidFill>
                <a:highlight>
                  <a:srgbClr val="FFFFFF"/>
                </a:highlight>
                <a:latin typeface="Avenir"/>
                <a:ea typeface="Avenir"/>
                <a:cs typeface="Avenir"/>
                <a:sym typeface="Avenir"/>
              </a:rPr>
              <a:t>Strategic Role Adjustment &amp; Payroll Optimization</a:t>
            </a:r>
          </a:p>
        </p:txBody>
      </p:sp>
      <p:sp>
        <p:nvSpPr>
          <p:cNvPr id="6" name="Google Shape;67;p14">
            <a:extLst>
              <a:ext uri="{FF2B5EF4-FFF2-40B4-BE49-F238E27FC236}">
                <a16:creationId xmlns:a16="http://schemas.microsoft.com/office/drawing/2014/main" id="{A5399645-0131-D967-494D-BECCE2550115}"/>
              </a:ext>
            </a:extLst>
          </p:cNvPr>
          <p:cNvSpPr txBox="1">
            <a:spLocks/>
          </p:cNvSpPr>
          <p:nvPr/>
        </p:nvSpPr>
        <p:spPr>
          <a:xfrm>
            <a:off x="4723025" y="1310480"/>
            <a:ext cx="4267825" cy="356639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marL="114300" indent="0">
              <a:buNone/>
            </a:pPr>
            <a:r>
              <a:rPr lang="en-US" sz="900" dirty="0">
                <a:solidFill>
                  <a:schemeClr val="tx1">
                    <a:lumMod val="85000"/>
                    <a:lumOff val="15000"/>
                  </a:schemeClr>
                </a:solidFill>
              </a:rPr>
              <a:t>As the Hub scales in visibility, programming, and partnerships, maintaining consistency, responsiveness, and a proactive digital presence is no longer feasible as a one-person responsibility. The </a:t>
            </a:r>
            <a:r>
              <a:rPr lang="en-US" sz="900" b="1" dirty="0">
                <a:solidFill>
                  <a:schemeClr val="tx1">
                    <a:lumMod val="85000"/>
                    <a:lumOff val="15000"/>
                  </a:schemeClr>
                </a:solidFill>
              </a:rPr>
              <a:t>Social Media Manager</a:t>
            </a:r>
            <a:r>
              <a:rPr lang="en-US" sz="900" dirty="0">
                <a:solidFill>
                  <a:schemeClr val="tx1">
                    <a:lumMod val="85000"/>
                    <a:lumOff val="15000"/>
                  </a:schemeClr>
                </a:solidFill>
              </a:rPr>
              <a:t> will be responsible for:</a:t>
            </a:r>
          </a:p>
          <a:p>
            <a:pPr marL="114300" indent="0">
              <a:buNone/>
            </a:pPr>
            <a:endParaRPr lang="en-US" sz="900" dirty="0">
              <a:solidFill>
                <a:schemeClr val="tx1">
                  <a:lumMod val="85000"/>
                  <a:lumOff val="15000"/>
                </a:schemeClr>
              </a:solidFill>
            </a:endParaRPr>
          </a:p>
          <a:p>
            <a:pPr>
              <a:buFont typeface="Arial" panose="020B0604020202020204" pitchFamily="34" charset="0"/>
              <a:buChar char="•"/>
            </a:pPr>
            <a:r>
              <a:rPr lang="en-US" sz="900" dirty="0">
                <a:solidFill>
                  <a:schemeClr val="tx1">
                    <a:lumMod val="85000"/>
                    <a:lumOff val="15000"/>
                  </a:schemeClr>
                </a:solidFill>
              </a:rPr>
              <a:t>Content creation and scheduling</a:t>
            </a:r>
          </a:p>
          <a:p>
            <a:pPr>
              <a:buFont typeface="Arial" panose="020B0604020202020204" pitchFamily="34" charset="0"/>
              <a:buChar char="•"/>
            </a:pPr>
            <a:r>
              <a:rPr lang="en-US" sz="900" dirty="0">
                <a:solidFill>
                  <a:schemeClr val="tx1">
                    <a:lumMod val="85000"/>
                    <a:lumOff val="15000"/>
                  </a:schemeClr>
                </a:solidFill>
              </a:rPr>
              <a:t>Community engagement and support</a:t>
            </a:r>
          </a:p>
          <a:p>
            <a:pPr>
              <a:buFont typeface="Arial" panose="020B0604020202020204" pitchFamily="34" charset="0"/>
              <a:buChar char="•"/>
            </a:pPr>
            <a:r>
              <a:rPr lang="en-US" sz="900" dirty="0">
                <a:solidFill>
                  <a:schemeClr val="tx1">
                    <a:lumMod val="85000"/>
                    <a:lumOff val="15000"/>
                  </a:schemeClr>
                </a:solidFill>
              </a:rPr>
              <a:t>Timely coverage of programs and events</a:t>
            </a:r>
          </a:p>
          <a:p>
            <a:pPr>
              <a:buFont typeface="Arial" panose="020B0604020202020204" pitchFamily="34" charset="0"/>
              <a:buChar char="•"/>
            </a:pPr>
            <a:r>
              <a:rPr lang="en-US" sz="900" dirty="0">
                <a:solidFill>
                  <a:schemeClr val="tx1">
                    <a:lumMod val="85000"/>
                    <a:lumOff val="15000"/>
                  </a:schemeClr>
                </a:solidFill>
              </a:rPr>
              <a:t>Growth and analytics tracking</a:t>
            </a:r>
          </a:p>
          <a:p>
            <a:pPr>
              <a:buFont typeface="Arial" panose="020B0604020202020204" pitchFamily="34" charset="0"/>
              <a:buChar char="•"/>
            </a:pPr>
            <a:r>
              <a:rPr lang="en-US" sz="900" dirty="0">
                <a:solidFill>
                  <a:schemeClr val="tx1">
                    <a:lumMod val="85000"/>
                    <a:lumOff val="15000"/>
                  </a:schemeClr>
                </a:solidFill>
              </a:rPr>
              <a:t>Elevating the voice of the Hub consistently across platforms</a:t>
            </a:r>
          </a:p>
          <a:p>
            <a:pPr>
              <a:buFont typeface="Arial" panose="020B0604020202020204" pitchFamily="34" charset="0"/>
              <a:buChar char="•"/>
            </a:pPr>
            <a:r>
              <a:rPr lang="en-US" sz="900" dirty="0">
                <a:solidFill>
                  <a:schemeClr val="tx1">
                    <a:lumMod val="85000"/>
                    <a:lumOff val="15000"/>
                  </a:schemeClr>
                </a:solidFill>
              </a:rPr>
              <a:t>Responding to enquiries and messages</a:t>
            </a:r>
          </a:p>
          <a:p>
            <a:pPr marL="114300" indent="0">
              <a:buNone/>
            </a:pPr>
            <a:endParaRPr lang="en-US" sz="900" dirty="0">
              <a:solidFill>
                <a:schemeClr val="tx1">
                  <a:lumMod val="85000"/>
                  <a:lumOff val="15000"/>
                </a:schemeClr>
              </a:solidFill>
            </a:endParaRPr>
          </a:p>
          <a:p>
            <a:pPr marL="114300" indent="0">
              <a:buNone/>
            </a:pPr>
            <a:r>
              <a:rPr lang="en-US" sz="900" dirty="0">
                <a:solidFill>
                  <a:schemeClr val="tx1">
                    <a:lumMod val="85000"/>
                    <a:lumOff val="15000"/>
                  </a:schemeClr>
                </a:solidFill>
              </a:rPr>
              <a:t>This role is crucial to ensuring that the Hub continues to build a </a:t>
            </a:r>
            <a:r>
              <a:rPr lang="en-US" sz="900" b="1" dirty="0">
                <a:solidFill>
                  <a:schemeClr val="tx1">
                    <a:lumMod val="85000"/>
                    <a:lumOff val="15000"/>
                  </a:schemeClr>
                </a:solidFill>
              </a:rPr>
              <a:t>tech-forward, media-savvy image</a:t>
            </a:r>
            <a:r>
              <a:rPr lang="en-US" sz="900" dirty="0">
                <a:solidFill>
                  <a:schemeClr val="tx1">
                    <a:lumMod val="85000"/>
                    <a:lumOff val="15000"/>
                  </a:schemeClr>
                </a:solidFill>
              </a:rPr>
              <a:t> while reducing reliance on senior executive time for operational digital marketing.</a:t>
            </a:r>
          </a:p>
        </p:txBody>
      </p:sp>
    </p:spTree>
    <p:extLst>
      <p:ext uri="{BB962C8B-B14F-4D97-AF65-F5344CB8AC3E}">
        <p14:creationId xmlns:p14="http://schemas.microsoft.com/office/powerpoint/2010/main" val="36006806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2D14"/>
        </a:solidFill>
        <a:effectLst/>
      </p:bgPr>
    </p:bg>
    <p:spTree>
      <p:nvGrpSpPr>
        <p:cNvPr id="1" name="Shape 114"/>
        <p:cNvGrpSpPr/>
        <p:nvPr/>
      </p:nvGrpSpPr>
      <p:grpSpPr>
        <a:xfrm>
          <a:off x="0" y="0"/>
          <a:ext cx="0" cy="0"/>
          <a:chOff x="0" y="0"/>
          <a:chExt cx="0" cy="0"/>
        </a:xfrm>
      </p:grpSpPr>
      <p:pic>
        <p:nvPicPr>
          <p:cNvPr id="115" name="Google Shape;115;p18" title="Ihs bg.png"/>
          <p:cNvPicPr preferRelativeResize="0"/>
          <p:nvPr/>
        </p:nvPicPr>
        <p:blipFill>
          <a:blip r:embed="rId3">
            <a:alphaModFix amt="50000"/>
          </a:blip>
          <a:stretch>
            <a:fillRect/>
          </a:stretch>
        </p:blipFill>
        <p:spPr>
          <a:xfrm>
            <a:off x="0" y="-4463"/>
            <a:ext cx="9143997" cy="5147963"/>
          </a:xfrm>
          <a:prstGeom prst="rect">
            <a:avLst/>
          </a:prstGeom>
          <a:noFill/>
          <a:ln>
            <a:noFill/>
          </a:ln>
        </p:spPr>
      </p:pic>
      <p:sp>
        <p:nvSpPr>
          <p:cNvPr id="116" name="Google Shape;116;p18"/>
          <p:cNvSpPr txBox="1">
            <a:spLocks noGrp="1"/>
          </p:cNvSpPr>
          <p:nvPr>
            <p:ph type="ctrTitle"/>
          </p:nvPr>
        </p:nvSpPr>
        <p:spPr>
          <a:xfrm>
            <a:off x="2814000" y="2008975"/>
            <a:ext cx="3516000" cy="1012500"/>
          </a:xfrm>
          <a:prstGeom prst="rect">
            <a:avLst/>
          </a:prstGeom>
        </p:spPr>
        <p:txBody>
          <a:bodyPr spcFirstLastPara="1" wrap="square" lIns="91425" tIns="91425" rIns="91425" bIns="91425" anchor="ctr" anchorCtr="0">
            <a:normAutofit fontScale="90000"/>
          </a:bodyPr>
          <a:lstStyle/>
          <a:p>
            <a:pPr marL="0" lvl="0" indent="0" algn="ctr" rtl="0">
              <a:lnSpc>
                <a:spcPct val="100000"/>
              </a:lnSpc>
              <a:spcBef>
                <a:spcPts val="0"/>
              </a:spcBef>
              <a:spcAft>
                <a:spcPts val="0"/>
              </a:spcAft>
              <a:buNone/>
            </a:pPr>
            <a:r>
              <a:rPr lang="en-US" b="1" dirty="0">
                <a:solidFill>
                  <a:schemeClr val="lt1"/>
                </a:solidFill>
                <a:latin typeface="Helvetica Neue"/>
                <a:ea typeface="Helvetica Neue"/>
                <a:cs typeface="Helvetica Neue"/>
                <a:sym typeface="Helvetica Neue"/>
              </a:rPr>
              <a:t>Thank you.</a:t>
            </a:r>
            <a:endParaRPr b="1" dirty="0">
              <a:solidFill>
                <a:schemeClr val="lt1"/>
              </a:solidFill>
              <a:latin typeface="Helvetica Neue"/>
              <a:ea typeface="Helvetica Neue"/>
              <a:cs typeface="Helvetica Neue"/>
              <a:sym typeface="Helvetica Neue"/>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9079</TotalTime>
  <Words>893</Words>
  <Application>Microsoft Macintosh PowerPoint</Application>
  <PresentationFormat>On-screen Show (16:9)</PresentationFormat>
  <Paragraphs>249</Paragraphs>
  <Slides>8</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Helvetica Neue</vt:lpstr>
      <vt:lpstr>Avenir</vt:lpstr>
      <vt:lpstr>Arial</vt:lpstr>
      <vt:lpstr>Avenir Book</vt:lpstr>
      <vt:lpstr>Simple Light</vt:lpstr>
      <vt:lpstr>Hiring Report</vt:lpstr>
      <vt:lpstr>Hiring Report</vt:lpstr>
      <vt:lpstr>Hiring Report</vt:lpstr>
      <vt:lpstr>Hiring Report</vt:lpstr>
      <vt:lpstr>Hiring Report</vt:lpstr>
      <vt:lpstr>Hiring Report</vt:lpstr>
      <vt:lpstr>Hiring Report</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Temi Kolawole</cp:lastModifiedBy>
  <cp:revision>25</cp:revision>
  <cp:lastPrinted>2025-06-11T11:20:35Z</cp:lastPrinted>
  <dcterms:modified xsi:type="dcterms:W3CDTF">2025-06-17T16:32:19Z</dcterms:modified>
</cp:coreProperties>
</file>