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96" r:id="rId3"/>
    <p:sldId id="313" r:id="rId4"/>
    <p:sldId id="302" r:id="rId5"/>
    <p:sldId id="303" r:id="rId6"/>
    <p:sldId id="304" r:id="rId7"/>
    <p:sldId id="305" r:id="rId8"/>
    <p:sldId id="307" r:id="rId9"/>
    <p:sldId id="308" r:id="rId10"/>
    <p:sldId id="306" r:id="rId11"/>
    <p:sldId id="309" r:id="rId12"/>
    <p:sldId id="310" r:id="rId13"/>
    <p:sldId id="311" r:id="rId14"/>
    <p:sldId id="312" r:id="rId15"/>
    <p:sldId id="261" r:id="rId16"/>
  </p:sldIdLst>
  <p:sldSz cx="9144000" cy="5143500" type="screen16x9"/>
  <p:notesSz cx="6858000" cy="9144000"/>
  <p:embeddedFontLst>
    <p:embeddedFont>
      <p:font typeface="Avenir Book" panose="02000503020000020003" pitchFamily="2" charset="0"/>
      <p:regular r:id="rId18"/>
      <p:italic r:id="rId19"/>
    </p:embeddedFont>
    <p:embeddedFont>
      <p:font typeface="Helvetica Neue" panose="02000503000000020004" pitchFamily="2"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FF938"/>
    <a:srgbClr val="002D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795"/>
  </p:normalViewPr>
  <p:slideViewPr>
    <p:cSldViewPr snapToGrid="0">
      <p:cViewPr varScale="1">
        <p:scale>
          <a:sx n="120" d="100"/>
          <a:sy n="120" d="100"/>
        </p:scale>
        <p:origin x="200" y="46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1CBA6904-5384-E360-C448-62BA34423519}"/>
            </a:ext>
          </a:extLst>
        </p:cNvPr>
        <p:cNvGrpSpPr/>
        <p:nvPr/>
      </p:nvGrpSpPr>
      <p:grpSpPr>
        <a:xfrm>
          <a:off x="0" y="0"/>
          <a:ext cx="0" cy="0"/>
          <a:chOff x="0" y="0"/>
          <a:chExt cx="0" cy="0"/>
        </a:xfrm>
      </p:grpSpPr>
      <p:sp>
        <p:nvSpPr>
          <p:cNvPr id="61" name="Google Shape;61;g361315e328b_0_4:notes">
            <a:extLst>
              <a:ext uri="{FF2B5EF4-FFF2-40B4-BE49-F238E27FC236}">
                <a16:creationId xmlns:a16="http://schemas.microsoft.com/office/drawing/2014/main" id="{F2263B8E-931E-73CD-B016-21F9197AAC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61315e328b_0_4:notes">
            <a:extLst>
              <a:ext uri="{FF2B5EF4-FFF2-40B4-BE49-F238E27FC236}">
                <a16:creationId xmlns:a16="http://schemas.microsoft.com/office/drawing/2014/main" id="{F294F138-1E0F-D764-347C-7E88081273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5543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60408403-6362-1EE3-F2B2-2CEBF8948EAD}"/>
            </a:ext>
          </a:extLst>
        </p:cNvPr>
        <p:cNvGrpSpPr/>
        <p:nvPr/>
      </p:nvGrpSpPr>
      <p:grpSpPr>
        <a:xfrm>
          <a:off x="0" y="0"/>
          <a:ext cx="0" cy="0"/>
          <a:chOff x="0" y="0"/>
          <a:chExt cx="0" cy="0"/>
        </a:xfrm>
      </p:grpSpPr>
      <p:sp>
        <p:nvSpPr>
          <p:cNvPr id="61" name="Google Shape;61;g361315e328b_0_4:notes">
            <a:extLst>
              <a:ext uri="{FF2B5EF4-FFF2-40B4-BE49-F238E27FC236}">
                <a16:creationId xmlns:a16="http://schemas.microsoft.com/office/drawing/2014/main" id="{60BC51FF-B233-4529-C51A-C20893CA7F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61315e328b_0_4:notes">
            <a:extLst>
              <a:ext uri="{FF2B5EF4-FFF2-40B4-BE49-F238E27FC236}">
                <a16:creationId xmlns:a16="http://schemas.microsoft.com/office/drawing/2014/main" id="{06472AEA-E931-F7B9-7E81-1D0C6ECA3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4835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001787C2-4390-A143-6F00-DF3351158612}"/>
            </a:ext>
          </a:extLst>
        </p:cNvPr>
        <p:cNvGrpSpPr/>
        <p:nvPr/>
      </p:nvGrpSpPr>
      <p:grpSpPr>
        <a:xfrm>
          <a:off x="0" y="0"/>
          <a:ext cx="0" cy="0"/>
          <a:chOff x="0" y="0"/>
          <a:chExt cx="0" cy="0"/>
        </a:xfrm>
      </p:grpSpPr>
      <p:sp>
        <p:nvSpPr>
          <p:cNvPr id="61" name="Google Shape;61;g361315e328b_0_4:notes">
            <a:extLst>
              <a:ext uri="{FF2B5EF4-FFF2-40B4-BE49-F238E27FC236}">
                <a16:creationId xmlns:a16="http://schemas.microsoft.com/office/drawing/2014/main" id="{2339063E-85C9-A14E-6999-9B826BAE50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61315e328b_0_4:notes">
            <a:extLst>
              <a:ext uri="{FF2B5EF4-FFF2-40B4-BE49-F238E27FC236}">
                <a16:creationId xmlns:a16="http://schemas.microsoft.com/office/drawing/2014/main" id="{C8DD30A3-F5EF-8F84-9F18-901C361959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79879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A1CA7377-C991-18DA-EAA5-A0FA3067AC3A}"/>
            </a:ext>
          </a:extLst>
        </p:cNvPr>
        <p:cNvGrpSpPr/>
        <p:nvPr/>
      </p:nvGrpSpPr>
      <p:grpSpPr>
        <a:xfrm>
          <a:off x="0" y="0"/>
          <a:ext cx="0" cy="0"/>
          <a:chOff x="0" y="0"/>
          <a:chExt cx="0" cy="0"/>
        </a:xfrm>
      </p:grpSpPr>
      <p:sp>
        <p:nvSpPr>
          <p:cNvPr id="61" name="Google Shape;61;g361315e328b_0_4:notes">
            <a:extLst>
              <a:ext uri="{FF2B5EF4-FFF2-40B4-BE49-F238E27FC236}">
                <a16:creationId xmlns:a16="http://schemas.microsoft.com/office/drawing/2014/main" id="{CC08B207-DF69-CFD6-49DD-62CFE6FE51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61315e328b_0_4:notes">
            <a:extLst>
              <a:ext uri="{FF2B5EF4-FFF2-40B4-BE49-F238E27FC236}">
                <a16:creationId xmlns:a16="http://schemas.microsoft.com/office/drawing/2014/main" id="{6CBDFC4F-2388-BDEC-4D6A-EB9427E414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16683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CBB6403D-4559-EFAE-FB27-199CD8D64FC5}"/>
            </a:ext>
          </a:extLst>
        </p:cNvPr>
        <p:cNvGrpSpPr/>
        <p:nvPr/>
      </p:nvGrpSpPr>
      <p:grpSpPr>
        <a:xfrm>
          <a:off x="0" y="0"/>
          <a:ext cx="0" cy="0"/>
          <a:chOff x="0" y="0"/>
          <a:chExt cx="0" cy="0"/>
        </a:xfrm>
      </p:grpSpPr>
      <p:sp>
        <p:nvSpPr>
          <p:cNvPr id="61" name="Google Shape;61;g361315e328b_0_4:notes">
            <a:extLst>
              <a:ext uri="{FF2B5EF4-FFF2-40B4-BE49-F238E27FC236}">
                <a16:creationId xmlns:a16="http://schemas.microsoft.com/office/drawing/2014/main" id="{8EAA4C3B-DB10-76CB-30D4-D5E2D53E44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61315e328b_0_4:notes">
            <a:extLst>
              <a:ext uri="{FF2B5EF4-FFF2-40B4-BE49-F238E27FC236}">
                <a16:creationId xmlns:a16="http://schemas.microsoft.com/office/drawing/2014/main" id="{0FCD345F-8DB0-C4A4-9BCC-E8725A130B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13874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C664D9BA-AF35-B1D2-BC98-EA55C706FB18}"/>
            </a:ext>
          </a:extLst>
        </p:cNvPr>
        <p:cNvGrpSpPr/>
        <p:nvPr/>
      </p:nvGrpSpPr>
      <p:grpSpPr>
        <a:xfrm>
          <a:off x="0" y="0"/>
          <a:ext cx="0" cy="0"/>
          <a:chOff x="0" y="0"/>
          <a:chExt cx="0" cy="0"/>
        </a:xfrm>
      </p:grpSpPr>
      <p:sp>
        <p:nvSpPr>
          <p:cNvPr id="61" name="Google Shape;61;g361315e328b_0_4:notes">
            <a:extLst>
              <a:ext uri="{FF2B5EF4-FFF2-40B4-BE49-F238E27FC236}">
                <a16:creationId xmlns:a16="http://schemas.microsoft.com/office/drawing/2014/main" id="{92A7AEA6-ECCF-43BB-C29B-67D230A50D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61315e328b_0_4:notes">
            <a:extLst>
              <a:ext uri="{FF2B5EF4-FFF2-40B4-BE49-F238E27FC236}">
                <a16:creationId xmlns:a16="http://schemas.microsoft.com/office/drawing/2014/main" id="{6C65195E-5602-0C5B-CCA5-ADB6253BB5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108110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A81787E6-3BAB-1C6D-971A-2932613A12FD}"/>
            </a:ext>
          </a:extLst>
        </p:cNvPr>
        <p:cNvGrpSpPr/>
        <p:nvPr/>
      </p:nvGrpSpPr>
      <p:grpSpPr>
        <a:xfrm>
          <a:off x="0" y="0"/>
          <a:ext cx="0" cy="0"/>
          <a:chOff x="0" y="0"/>
          <a:chExt cx="0" cy="0"/>
        </a:xfrm>
      </p:grpSpPr>
      <p:sp>
        <p:nvSpPr>
          <p:cNvPr id="61" name="Google Shape;61;g361315e328b_0_4:notes">
            <a:extLst>
              <a:ext uri="{FF2B5EF4-FFF2-40B4-BE49-F238E27FC236}">
                <a16:creationId xmlns:a16="http://schemas.microsoft.com/office/drawing/2014/main" id="{EDC96F9D-B375-C945-F5DF-0C943CFE83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61315e328b_0_4:notes">
            <a:extLst>
              <a:ext uri="{FF2B5EF4-FFF2-40B4-BE49-F238E27FC236}">
                <a16:creationId xmlns:a16="http://schemas.microsoft.com/office/drawing/2014/main" id="{86F5181C-AE9A-6006-BA2B-F7AE78B8B4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59457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04BB7763-E692-29E6-9923-9006FD6F7D76}"/>
            </a:ext>
          </a:extLst>
        </p:cNvPr>
        <p:cNvGrpSpPr/>
        <p:nvPr/>
      </p:nvGrpSpPr>
      <p:grpSpPr>
        <a:xfrm>
          <a:off x="0" y="0"/>
          <a:ext cx="0" cy="0"/>
          <a:chOff x="0" y="0"/>
          <a:chExt cx="0" cy="0"/>
        </a:xfrm>
      </p:grpSpPr>
      <p:sp>
        <p:nvSpPr>
          <p:cNvPr id="61" name="Google Shape;61;g361315e328b_0_4:notes">
            <a:extLst>
              <a:ext uri="{FF2B5EF4-FFF2-40B4-BE49-F238E27FC236}">
                <a16:creationId xmlns:a16="http://schemas.microsoft.com/office/drawing/2014/main" id="{99FED74A-84D9-DD4F-EB20-D79E404E15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61315e328b_0_4:notes">
            <a:extLst>
              <a:ext uri="{FF2B5EF4-FFF2-40B4-BE49-F238E27FC236}">
                <a16:creationId xmlns:a16="http://schemas.microsoft.com/office/drawing/2014/main" id="{39A87D12-FF7C-D9FC-1A5F-FD9C15FF36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55364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93156DEF-4B52-DBFB-4125-CEEC33D8B3C9}"/>
            </a:ext>
          </a:extLst>
        </p:cNvPr>
        <p:cNvGrpSpPr/>
        <p:nvPr/>
      </p:nvGrpSpPr>
      <p:grpSpPr>
        <a:xfrm>
          <a:off x="0" y="0"/>
          <a:ext cx="0" cy="0"/>
          <a:chOff x="0" y="0"/>
          <a:chExt cx="0" cy="0"/>
        </a:xfrm>
      </p:grpSpPr>
      <p:sp>
        <p:nvSpPr>
          <p:cNvPr id="61" name="Google Shape;61;g361315e328b_0_4:notes">
            <a:extLst>
              <a:ext uri="{FF2B5EF4-FFF2-40B4-BE49-F238E27FC236}">
                <a16:creationId xmlns:a16="http://schemas.microsoft.com/office/drawing/2014/main" id="{DB46F699-A6E8-11D5-F262-BADB6E5F5D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61315e328b_0_4:notes">
            <a:extLst>
              <a:ext uri="{FF2B5EF4-FFF2-40B4-BE49-F238E27FC236}">
                <a16:creationId xmlns:a16="http://schemas.microsoft.com/office/drawing/2014/main" id="{8817A7E7-E445-27B1-FAB4-1D6846D524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71699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8CB66BA3-C6A6-A239-7A7D-CA685F4FADC4}"/>
            </a:ext>
          </a:extLst>
        </p:cNvPr>
        <p:cNvGrpSpPr/>
        <p:nvPr/>
      </p:nvGrpSpPr>
      <p:grpSpPr>
        <a:xfrm>
          <a:off x="0" y="0"/>
          <a:ext cx="0" cy="0"/>
          <a:chOff x="0" y="0"/>
          <a:chExt cx="0" cy="0"/>
        </a:xfrm>
      </p:grpSpPr>
      <p:sp>
        <p:nvSpPr>
          <p:cNvPr id="61" name="Google Shape;61;g361315e328b_0_4:notes">
            <a:extLst>
              <a:ext uri="{FF2B5EF4-FFF2-40B4-BE49-F238E27FC236}">
                <a16:creationId xmlns:a16="http://schemas.microsoft.com/office/drawing/2014/main" id="{A82FAAC5-33F7-B78C-6568-373B5AE08D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61315e328b_0_4:notes">
            <a:extLst>
              <a:ext uri="{FF2B5EF4-FFF2-40B4-BE49-F238E27FC236}">
                <a16:creationId xmlns:a16="http://schemas.microsoft.com/office/drawing/2014/main" id="{4D17997F-0F36-BE4E-A354-97B8E3E577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15105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91B8C7C1-C82E-06B2-631D-AF11E7C46436}"/>
            </a:ext>
          </a:extLst>
        </p:cNvPr>
        <p:cNvGrpSpPr/>
        <p:nvPr/>
      </p:nvGrpSpPr>
      <p:grpSpPr>
        <a:xfrm>
          <a:off x="0" y="0"/>
          <a:ext cx="0" cy="0"/>
          <a:chOff x="0" y="0"/>
          <a:chExt cx="0" cy="0"/>
        </a:xfrm>
      </p:grpSpPr>
      <p:sp>
        <p:nvSpPr>
          <p:cNvPr id="61" name="Google Shape;61;g361315e328b_0_4:notes">
            <a:extLst>
              <a:ext uri="{FF2B5EF4-FFF2-40B4-BE49-F238E27FC236}">
                <a16:creationId xmlns:a16="http://schemas.microsoft.com/office/drawing/2014/main" id="{C18C2AAA-C234-B944-105D-B2579422D6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61315e328b_0_4:notes">
            <a:extLst>
              <a:ext uri="{FF2B5EF4-FFF2-40B4-BE49-F238E27FC236}">
                <a16:creationId xmlns:a16="http://schemas.microsoft.com/office/drawing/2014/main" id="{50F61A19-97BC-5A2A-6DA1-B8FCCA27F5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51333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BD9DD071-FECF-9F47-3080-FA6A145AD38E}"/>
            </a:ext>
          </a:extLst>
        </p:cNvPr>
        <p:cNvGrpSpPr/>
        <p:nvPr/>
      </p:nvGrpSpPr>
      <p:grpSpPr>
        <a:xfrm>
          <a:off x="0" y="0"/>
          <a:ext cx="0" cy="0"/>
          <a:chOff x="0" y="0"/>
          <a:chExt cx="0" cy="0"/>
        </a:xfrm>
      </p:grpSpPr>
      <p:sp>
        <p:nvSpPr>
          <p:cNvPr id="61" name="Google Shape;61;g361315e328b_0_4:notes">
            <a:extLst>
              <a:ext uri="{FF2B5EF4-FFF2-40B4-BE49-F238E27FC236}">
                <a16:creationId xmlns:a16="http://schemas.microsoft.com/office/drawing/2014/main" id="{31FF6366-A58B-A0EE-A70B-E0DFC0BFB6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61315e328b_0_4:notes">
            <a:extLst>
              <a:ext uri="{FF2B5EF4-FFF2-40B4-BE49-F238E27FC236}">
                <a16:creationId xmlns:a16="http://schemas.microsoft.com/office/drawing/2014/main" id="{4E7E5551-A49D-1E46-86CF-7415909906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73088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9B1CC5C7-CD9F-90BB-7B26-34FA4C706677}"/>
            </a:ext>
          </a:extLst>
        </p:cNvPr>
        <p:cNvGrpSpPr/>
        <p:nvPr/>
      </p:nvGrpSpPr>
      <p:grpSpPr>
        <a:xfrm>
          <a:off x="0" y="0"/>
          <a:ext cx="0" cy="0"/>
          <a:chOff x="0" y="0"/>
          <a:chExt cx="0" cy="0"/>
        </a:xfrm>
      </p:grpSpPr>
      <p:sp>
        <p:nvSpPr>
          <p:cNvPr id="61" name="Google Shape;61;g361315e328b_0_4:notes">
            <a:extLst>
              <a:ext uri="{FF2B5EF4-FFF2-40B4-BE49-F238E27FC236}">
                <a16:creationId xmlns:a16="http://schemas.microsoft.com/office/drawing/2014/main" id="{F32AC17A-DCC3-B81E-5AB1-159484312F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61315e328b_0_4:notes">
            <a:extLst>
              <a:ext uri="{FF2B5EF4-FFF2-40B4-BE49-F238E27FC236}">
                <a16:creationId xmlns:a16="http://schemas.microsoft.com/office/drawing/2014/main" id="{0101881A-799B-0C91-7982-45315D408F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40623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61315e328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61315e328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JP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JP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8.jpg"/><Relationship Id="rId5" Type="http://schemas.openxmlformats.org/officeDocument/2006/relationships/image" Target="../media/image6.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JPEG"/><Relationship Id="rId5" Type="http://schemas.openxmlformats.org/officeDocument/2006/relationships/image" Target="../media/image6.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6.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jpeg"/><Relationship Id="rId7" Type="http://schemas.openxmlformats.org/officeDocument/2006/relationships/image" Target="../media/image15.jp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4.jpg"/><Relationship Id="rId5" Type="http://schemas.openxmlformats.org/officeDocument/2006/relationships/image" Target="../media/image6.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6.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8" Type="http://schemas.openxmlformats.org/officeDocument/2006/relationships/image" Target="../media/image19.JPG"/><Relationship Id="rId3" Type="http://schemas.openxmlformats.org/officeDocument/2006/relationships/image" Target="../media/image3.jpeg"/><Relationship Id="rId7" Type="http://schemas.openxmlformats.org/officeDocument/2006/relationships/image" Target="../media/image18.jp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6.png"/><Relationship Id="rId4" Type="http://schemas.openxmlformats.org/officeDocument/2006/relationships/image" Target="../media/image4.png"/><Relationship Id="rId9" Type="http://schemas.openxmlformats.org/officeDocument/2006/relationships/image" Target="../media/image20.jp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6.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1.JPG"/><Relationship Id="rId5" Type="http://schemas.openxmlformats.org/officeDocument/2006/relationships/image" Target="../media/image6.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23.JP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2.JPG"/><Relationship Id="rId5" Type="http://schemas.openxmlformats.org/officeDocument/2006/relationships/image" Target="../media/image6.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6.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D14"/>
        </a:solidFill>
        <a:effectLst/>
      </p:bgPr>
    </p:bg>
    <p:spTree>
      <p:nvGrpSpPr>
        <p:cNvPr id="1" name="Shape 53"/>
        <p:cNvGrpSpPr/>
        <p:nvPr/>
      </p:nvGrpSpPr>
      <p:grpSpPr>
        <a:xfrm>
          <a:off x="0" y="0"/>
          <a:ext cx="0" cy="0"/>
          <a:chOff x="0" y="0"/>
          <a:chExt cx="0" cy="0"/>
        </a:xfrm>
      </p:grpSpPr>
      <p:pic>
        <p:nvPicPr>
          <p:cNvPr id="54" name="Google Shape;54;p13" title="Ihs bg.png"/>
          <p:cNvPicPr preferRelativeResize="0"/>
          <p:nvPr/>
        </p:nvPicPr>
        <p:blipFill>
          <a:blip r:embed="rId3">
            <a:alphaModFix amt="50000"/>
          </a:blip>
          <a:stretch>
            <a:fillRect/>
          </a:stretch>
        </p:blipFill>
        <p:spPr>
          <a:xfrm>
            <a:off x="0" y="-4463"/>
            <a:ext cx="9143997" cy="5147963"/>
          </a:xfrm>
          <a:prstGeom prst="rect">
            <a:avLst/>
          </a:prstGeom>
          <a:noFill/>
          <a:ln>
            <a:noFill/>
          </a:ln>
        </p:spPr>
      </p:pic>
      <p:sp>
        <p:nvSpPr>
          <p:cNvPr id="55" name="Google Shape;55;p13"/>
          <p:cNvSpPr txBox="1">
            <a:spLocks noGrp="1"/>
          </p:cNvSpPr>
          <p:nvPr>
            <p:ph type="ctrTitle"/>
          </p:nvPr>
        </p:nvSpPr>
        <p:spPr>
          <a:xfrm>
            <a:off x="414225" y="1697425"/>
            <a:ext cx="7627116" cy="1012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600" b="1" dirty="0">
                <a:solidFill>
                  <a:schemeClr val="lt1"/>
                </a:solidFill>
                <a:latin typeface="Avenir Book" panose="02000503020000020003" pitchFamily="2" charset="0"/>
                <a:ea typeface="Helvetica Neue"/>
                <a:cs typeface="Helvetica Neue"/>
                <a:sym typeface="Helvetica Neue"/>
              </a:rPr>
              <a:t>Executive Summary of Activities </a:t>
            </a:r>
            <a:endParaRPr sz="3600" b="1" dirty="0">
              <a:solidFill>
                <a:schemeClr val="lt1"/>
              </a:solidFill>
              <a:latin typeface="Avenir Book" panose="02000503020000020003" pitchFamily="2" charset="0"/>
              <a:ea typeface="Helvetica Neue"/>
              <a:cs typeface="Helvetica Neue"/>
              <a:sym typeface="Helvetica Neue"/>
            </a:endParaRPr>
          </a:p>
        </p:txBody>
      </p:sp>
      <p:sp>
        <p:nvSpPr>
          <p:cNvPr id="57" name="Google Shape;57;p13"/>
          <p:cNvSpPr txBox="1">
            <a:spLocks noGrp="1"/>
          </p:cNvSpPr>
          <p:nvPr>
            <p:ph type="subTitle" idx="1"/>
          </p:nvPr>
        </p:nvSpPr>
        <p:spPr>
          <a:xfrm>
            <a:off x="414224" y="3785449"/>
            <a:ext cx="4157775" cy="342125"/>
          </a:xfrm>
          <a:prstGeom prst="rect">
            <a:avLst/>
          </a:prstGeom>
          <a:noFill/>
        </p:spPr>
        <p:txBody>
          <a:bodyPr spcFirstLastPara="1" wrap="square" lIns="91425" tIns="91425" rIns="91425" bIns="91425" anchor="ctr" anchorCtr="0">
            <a:normAutofit fontScale="77500" lnSpcReduction="20000"/>
          </a:bodyPr>
          <a:lstStyle/>
          <a:p>
            <a:pPr marL="0" lvl="0" indent="0" algn="l" rtl="0">
              <a:spcBef>
                <a:spcPts val="0"/>
              </a:spcBef>
              <a:spcAft>
                <a:spcPts val="0"/>
              </a:spcAft>
              <a:buNone/>
            </a:pPr>
            <a:r>
              <a:rPr lang="en-US" sz="1400" b="1" dirty="0">
                <a:solidFill>
                  <a:schemeClr val="lt1"/>
                </a:solidFill>
                <a:latin typeface="Helvetica Neue"/>
                <a:ea typeface="Helvetica Neue"/>
                <a:cs typeface="Helvetica Neue"/>
                <a:sym typeface="Helvetica Neue"/>
              </a:rPr>
              <a:t>Presented to IHS Towers (Founding Partner &amp; Sponsor)</a:t>
            </a:r>
          </a:p>
        </p:txBody>
      </p:sp>
      <p:sp>
        <p:nvSpPr>
          <p:cNvPr id="58" name="Google Shape;58;p13"/>
          <p:cNvSpPr txBox="1">
            <a:spLocks noGrp="1"/>
          </p:cNvSpPr>
          <p:nvPr>
            <p:ph type="subTitle" idx="1"/>
          </p:nvPr>
        </p:nvSpPr>
        <p:spPr>
          <a:xfrm>
            <a:off x="414224" y="4282775"/>
            <a:ext cx="3922385" cy="330900"/>
          </a:xfrm>
          <a:prstGeom prst="rect">
            <a:avLst/>
          </a:prstGeom>
          <a:noFill/>
        </p:spPr>
        <p:txBody>
          <a:bodyPr spcFirstLastPara="1" wrap="square" lIns="91425" tIns="91425" rIns="91425" bIns="91425" anchor="ctr" anchorCtr="0">
            <a:normAutofit fontScale="85000" lnSpcReduction="20000"/>
          </a:bodyPr>
          <a:lstStyle/>
          <a:p>
            <a:pPr marL="0" lvl="0" indent="0" algn="l" rtl="0">
              <a:spcBef>
                <a:spcPts val="0"/>
              </a:spcBef>
              <a:spcAft>
                <a:spcPts val="0"/>
              </a:spcAft>
              <a:buNone/>
            </a:pPr>
            <a:r>
              <a:rPr lang="en-US" sz="1400" b="1" dirty="0">
                <a:solidFill>
                  <a:schemeClr val="lt1"/>
                </a:solidFill>
                <a:latin typeface="Helvetica Neue"/>
                <a:ea typeface="Helvetica Neue"/>
                <a:cs typeface="Helvetica Neue"/>
                <a:sym typeface="Helvetica Neue"/>
              </a:rPr>
              <a:t>B</a:t>
            </a:r>
            <a:r>
              <a:rPr lang="en" sz="1400" b="1" dirty="0">
                <a:solidFill>
                  <a:schemeClr val="lt1"/>
                </a:solidFill>
                <a:latin typeface="Helvetica Neue"/>
                <a:ea typeface="Helvetica Neue"/>
                <a:cs typeface="Helvetica Neue"/>
                <a:sym typeface="Helvetica Neue"/>
              </a:rPr>
              <a:t>y Temi Kolawole, Managing Director</a:t>
            </a:r>
            <a:endParaRPr sz="1400" b="1" dirty="0">
              <a:solidFill>
                <a:schemeClr val="lt1"/>
              </a:solidFill>
              <a:latin typeface="Helvetica Neue"/>
              <a:ea typeface="Helvetica Neue"/>
              <a:cs typeface="Helvetica Neue"/>
              <a:sym typeface="Helvetica Neue"/>
            </a:endParaRPr>
          </a:p>
        </p:txBody>
      </p:sp>
      <p:pic>
        <p:nvPicPr>
          <p:cNvPr id="59" name="Google Shape;59;p13" title="IIH powered by IHS 2.png"/>
          <p:cNvPicPr preferRelativeResize="0"/>
          <p:nvPr/>
        </p:nvPicPr>
        <p:blipFill rotWithShape="1">
          <a:blip r:embed="rId4">
            <a:alphaModFix/>
          </a:blip>
          <a:srcRect/>
          <a:stretch/>
        </p:blipFill>
        <p:spPr>
          <a:xfrm>
            <a:off x="462525" y="550225"/>
            <a:ext cx="1870474" cy="790024"/>
          </a:xfrm>
          <a:prstGeom prst="rect">
            <a:avLst/>
          </a:prstGeom>
          <a:noFill/>
          <a:ln>
            <a:noFill/>
          </a:ln>
        </p:spPr>
      </p:pic>
      <p:sp>
        <p:nvSpPr>
          <p:cNvPr id="2" name="Google Shape;56;p13">
            <a:extLst>
              <a:ext uri="{FF2B5EF4-FFF2-40B4-BE49-F238E27FC236}">
                <a16:creationId xmlns:a16="http://schemas.microsoft.com/office/drawing/2014/main" id="{59619A67-F959-685D-8303-8F1DC4A01A79}"/>
              </a:ext>
            </a:extLst>
          </p:cNvPr>
          <p:cNvSpPr txBox="1">
            <a:spLocks/>
          </p:cNvSpPr>
          <p:nvPr/>
        </p:nvSpPr>
        <p:spPr>
          <a:xfrm>
            <a:off x="414224" y="2595400"/>
            <a:ext cx="6795525" cy="6342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l"/>
            <a:r>
              <a:rPr lang="en-US" sz="1800" b="1" kern="1800" dirty="0">
                <a:solidFill>
                  <a:schemeClr val="bg1"/>
                </a:solidFill>
                <a:effectLst/>
                <a:latin typeface="Avenir Book" panose="02000503020000020003" pitchFamily="2" charset="0"/>
                <a:ea typeface="Times New Roman" panose="02020603050405020304" pitchFamily="18" charset="0"/>
                <a:cs typeface="Arial" panose="020B0604020202020204" pitchFamily="34" charset="0"/>
              </a:rPr>
              <a:t>February–October 2025</a:t>
            </a:r>
            <a:r>
              <a:rPr lang="en-US" sz="1600" dirty="0">
                <a:solidFill>
                  <a:schemeClr val="bg1"/>
                </a:solidFill>
                <a:effectLst/>
                <a:latin typeface="Avenir Book" panose="02000503020000020003" pitchFamily="2" charset="0"/>
              </a:rPr>
              <a:t> </a:t>
            </a:r>
            <a:endParaRPr lang="en-US" sz="2600" dirty="0">
              <a:solidFill>
                <a:schemeClr val="bg1"/>
              </a:solidFill>
              <a:latin typeface="Avenir Book" panose="02000503020000020003" pitchFamily="2" charset="0"/>
              <a:ea typeface="Helvetica Neue"/>
              <a:cs typeface="Helvetica Neue"/>
              <a:sym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Shape 63">
          <a:extLst>
            <a:ext uri="{FF2B5EF4-FFF2-40B4-BE49-F238E27FC236}">
              <a16:creationId xmlns:a16="http://schemas.microsoft.com/office/drawing/2014/main" id="{C3B8F6A0-EACB-953B-E031-4D4064C0D76D}"/>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12D57208-928C-EEFE-924C-428F5F0578C6}"/>
              </a:ext>
            </a:extLst>
          </p:cNvPr>
          <p:cNvSpPr/>
          <p:nvPr/>
        </p:nvSpPr>
        <p:spPr>
          <a:xfrm>
            <a:off x="7525" y="7525"/>
            <a:ext cx="9144000" cy="620700"/>
          </a:xfrm>
          <a:prstGeom prst="rect">
            <a:avLst/>
          </a:prstGeom>
          <a:solidFill>
            <a:srgbClr val="002D1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 name="Google Shape;65;p14" title="longer border.png">
            <a:extLst>
              <a:ext uri="{FF2B5EF4-FFF2-40B4-BE49-F238E27FC236}">
                <a16:creationId xmlns:a16="http://schemas.microsoft.com/office/drawing/2014/main" id="{F88F1704-F0B0-8BD4-FB38-785DCB015840}"/>
              </a:ext>
            </a:extLst>
          </p:cNvPr>
          <p:cNvPicPr preferRelativeResize="0"/>
          <p:nvPr/>
        </p:nvPicPr>
        <p:blipFill>
          <a:blip r:embed="rId4">
            <a:alphaModFix/>
          </a:blip>
          <a:stretch>
            <a:fillRect/>
          </a:stretch>
        </p:blipFill>
        <p:spPr>
          <a:xfrm>
            <a:off x="0" y="445025"/>
            <a:ext cx="9144003" cy="183052"/>
          </a:xfrm>
          <a:prstGeom prst="rect">
            <a:avLst/>
          </a:prstGeom>
          <a:noFill/>
          <a:ln>
            <a:noFill/>
          </a:ln>
        </p:spPr>
      </p:pic>
      <p:sp>
        <p:nvSpPr>
          <p:cNvPr id="66" name="Google Shape;66;p14">
            <a:extLst>
              <a:ext uri="{FF2B5EF4-FFF2-40B4-BE49-F238E27FC236}">
                <a16:creationId xmlns:a16="http://schemas.microsoft.com/office/drawing/2014/main" id="{32896C8A-05B4-E463-3754-B3038634D301}"/>
              </a:ext>
            </a:extLst>
          </p:cNvPr>
          <p:cNvSpPr txBox="1">
            <a:spLocks noGrp="1"/>
          </p:cNvSpPr>
          <p:nvPr>
            <p:ph type="title"/>
          </p:nvPr>
        </p:nvSpPr>
        <p:spPr>
          <a:xfrm>
            <a:off x="146025" y="124350"/>
            <a:ext cx="8520600" cy="285900"/>
          </a:xfrm>
          <a:prstGeom prst="rect">
            <a:avLst/>
          </a:prstGeom>
        </p:spPr>
        <p:txBody>
          <a:bodyPr spcFirstLastPara="1" wrap="square" lIns="91425" tIns="91425" rIns="91425" bIns="91425" anchor="ctr" anchorCtr="0">
            <a:normAutofit fontScale="90000"/>
          </a:bodyPr>
          <a:lstStyle/>
          <a:p>
            <a:r>
              <a:rPr lang="en-US" sz="1000" b="1" dirty="0">
                <a:solidFill>
                  <a:schemeClr val="lt1"/>
                </a:solidFill>
                <a:latin typeface="Avenir Book" panose="02000503020000020003" pitchFamily="2" charset="0"/>
                <a:ea typeface="Helvetica Neue"/>
                <a:cs typeface="Helvetica Neue"/>
                <a:sym typeface="Helvetica Neue"/>
              </a:rPr>
              <a:t>Executive Summary of Activities </a:t>
            </a:r>
            <a:endParaRPr lang="en-US" sz="1000" dirty="0">
              <a:solidFill>
                <a:srgbClr val="EFFFEF"/>
              </a:solidFill>
              <a:latin typeface="Helvetica Neue"/>
              <a:ea typeface="Helvetica Neue"/>
              <a:cs typeface="Helvetica Neue"/>
              <a:sym typeface="Helvetica Neue"/>
            </a:endParaRPr>
          </a:p>
        </p:txBody>
      </p:sp>
      <p:cxnSp>
        <p:nvCxnSpPr>
          <p:cNvPr id="68" name="Google Shape;68;p14">
            <a:extLst>
              <a:ext uri="{FF2B5EF4-FFF2-40B4-BE49-F238E27FC236}">
                <a16:creationId xmlns:a16="http://schemas.microsoft.com/office/drawing/2014/main" id="{2F3AE9E0-F2AE-F92E-45B8-55F7C6A65A0F}"/>
              </a:ext>
            </a:extLst>
          </p:cNvPr>
          <p:cNvCxnSpPr/>
          <p:nvPr/>
        </p:nvCxnSpPr>
        <p:spPr>
          <a:xfrm>
            <a:off x="-7525" y="4706725"/>
            <a:ext cx="9149400" cy="1800"/>
          </a:xfrm>
          <a:prstGeom prst="straightConnector1">
            <a:avLst/>
          </a:prstGeom>
          <a:noFill/>
          <a:ln w="9525" cap="flat" cmpd="sng">
            <a:solidFill>
              <a:srgbClr val="D9D9D9"/>
            </a:solidFill>
            <a:prstDash val="solid"/>
            <a:round/>
            <a:headEnd type="none" w="med" len="med"/>
            <a:tailEnd type="none" w="med" len="med"/>
          </a:ln>
        </p:spPr>
      </p:cxnSp>
      <p:sp>
        <p:nvSpPr>
          <p:cNvPr id="8" name="Google Shape;67;p14">
            <a:extLst>
              <a:ext uri="{FF2B5EF4-FFF2-40B4-BE49-F238E27FC236}">
                <a16:creationId xmlns:a16="http://schemas.microsoft.com/office/drawing/2014/main" id="{213CF0B4-F46E-FE57-5AAF-063A572CFF75}"/>
              </a:ext>
            </a:extLst>
          </p:cNvPr>
          <p:cNvSpPr txBox="1">
            <a:spLocks noGrp="1"/>
          </p:cNvSpPr>
          <p:nvPr>
            <p:ph type="body" idx="1"/>
          </p:nvPr>
        </p:nvSpPr>
        <p:spPr>
          <a:xfrm>
            <a:off x="306876" y="826762"/>
            <a:ext cx="5241870" cy="615301"/>
          </a:xfrm>
          <a:prstGeom prst="rect">
            <a:avLst/>
          </a:prstGeom>
        </p:spPr>
        <p:txBody>
          <a:bodyPr spcFirstLastPara="1" wrap="square" lIns="91425" tIns="91425" rIns="91425" bIns="91425" anchor="t" anchorCtr="0">
            <a:noAutofit/>
          </a:bodyPr>
          <a:lstStyle/>
          <a:p>
            <a:pPr marL="114300" indent="0">
              <a:buNone/>
            </a:pPr>
            <a:r>
              <a:rPr lang="en-US" sz="2400" b="1" dirty="0">
                <a:solidFill>
                  <a:schemeClr val="tx1"/>
                </a:solidFill>
                <a:latin typeface="Avenir Book" panose="02000503020000020003" pitchFamily="2" charset="0"/>
              </a:rPr>
              <a:t>Introduction</a:t>
            </a:r>
          </a:p>
        </p:txBody>
      </p:sp>
      <p:pic>
        <p:nvPicPr>
          <p:cNvPr id="10" name="Picture 9" descr="A room with a television screen&#10;&#10;AI-generated content may be incorrect.">
            <a:extLst>
              <a:ext uri="{FF2B5EF4-FFF2-40B4-BE49-F238E27FC236}">
                <a16:creationId xmlns:a16="http://schemas.microsoft.com/office/drawing/2014/main" id="{0FA4C178-DBFD-5DF8-A9CF-30A59A86621C}"/>
              </a:ext>
            </a:extLst>
          </p:cNvPr>
          <p:cNvPicPr>
            <a:picLocks noChangeAspect="1"/>
          </p:cNvPicPr>
          <p:nvPr/>
        </p:nvPicPr>
        <p:blipFill>
          <a:blip r:embed="rId5"/>
          <a:stretch>
            <a:fillRect/>
          </a:stretch>
        </p:blipFill>
        <p:spPr>
          <a:xfrm>
            <a:off x="6045374" y="826762"/>
            <a:ext cx="3000807" cy="2002101"/>
          </a:xfrm>
          <a:prstGeom prst="rect">
            <a:avLst/>
          </a:prstGeom>
        </p:spPr>
      </p:pic>
      <p:pic>
        <p:nvPicPr>
          <p:cNvPr id="69" name="Google Shape;69;p14" title="IIH powered by IHS 1.png">
            <a:extLst>
              <a:ext uri="{FF2B5EF4-FFF2-40B4-BE49-F238E27FC236}">
                <a16:creationId xmlns:a16="http://schemas.microsoft.com/office/drawing/2014/main" id="{4B1B46DC-E1F0-5E4D-31E8-2DA945FC515B}"/>
              </a:ext>
            </a:extLst>
          </p:cNvPr>
          <p:cNvPicPr preferRelativeResize="0"/>
          <p:nvPr/>
        </p:nvPicPr>
        <p:blipFill>
          <a:blip r:embed="rId6">
            <a:alphaModFix/>
          </a:blip>
          <a:stretch>
            <a:fillRect/>
          </a:stretch>
        </p:blipFill>
        <p:spPr>
          <a:xfrm>
            <a:off x="319225" y="4781674"/>
            <a:ext cx="676905" cy="285900"/>
          </a:xfrm>
          <a:prstGeom prst="rect">
            <a:avLst/>
          </a:prstGeom>
          <a:noFill/>
          <a:ln>
            <a:noFill/>
          </a:ln>
        </p:spPr>
      </p:pic>
      <p:pic>
        <p:nvPicPr>
          <p:cNvPr id="13" name="Picture 12" descr="A group of people sitting in chairs&#10;&#10;AI-generated content may be incorrect.">
            <a:extLst>
              <a:ext uri="{FF2B5EF4-FFF2-40B4-BE49-F238E27FC236}">
                <a16:creationId xmlns:a16="http://schemas.microsoft.com/office/drawing/2014/main" id="{9644E6A2-F423-AC69-A27C-7A41FE977A46}"/>
              </a:ext>
            </a:extLst>
          </p:cNvPr>
          <p:cNvPicPr>
            <a:picLocks noChangeAspect="1"/>
          </p:cNvPicPr>
          <p:nvPr/>
        </p:nvPicPr>
        <p:blipFill>
          <a:blip r:embed="rId7"/>
          <a:stretch>
            <a:fillRect/>
          </a:stretch>
        </p:blipFill>
        <p:spPr>
          <a:xfrm>
            <a:off x="6045374" y="2895681"/>
            <a:ext cx="3000807" cy="2162225"/>
          </a:xfrm>
          <a:prstGeom prst="rect">
            <a:avLst/>
          </a:prstGeom>
        </p:spPr>
      </p:pic>
      <p:sp>
        <p:nvSpPr>
          <p:cNvPr id="11" name="TextBox 10">
            <a:extLst>
              <a:ext uri="{FF2B5EF4-FFF2-40B4-BE49-F238E27FC236}">
                <a16:creationId xmlns:a16="http://schemas.microsoft.com/office/drawing/2014/main" id="{463C3682-2BD2-B991-BF3C-F4541D6BBCCB}"/>
              </a:ext>
            </a:extLst>
          </p:cNvPr>
          <p:cNvSpPr txBox="1"/>
          <p:nvPr/>
        </p:nvSpPr>
        <p:spPr>
          <a:xfrm>
            <a:off x="382229" y="1508881"/>
            <a:ext cx="5912791" cy="3073214"/>
          </a:xfrm>
          <a:prstGeom prst="rect">
            <a:avLst/>
          </a:prstGeom>
          <a:solidFill>
            <a:schemeClr val="bg1"/>
          </a:solidFill>
        </p:spPr>
        <p:txBody>
          <a:bodyPr wrap="square" rtlCol="0">
            <a:spAutoFit/>
          </a:bodyPr>
          <a:lstStyle/>
          <a:p>
            <a:pPr>
              <a:lnSpc>
                <a:spcPct val="150000"/>
              </a:lnSpc>
            </a:pPr>
            <a:r>
              <a:rPr lang="en-US" sz="1000" dirty="0">
                <a:latin typeface="Avenir Book" panose="02000503020000020003" pitchFamily="2" charset="0"/>
              </a:rPr>
              <a:t>Since commencing operations in early 2025, the Ilorin Innovation Hub (IIH) has established itself as a major center for innovation, entrepreneurship, and digital transformation in North-Central Nigeria.</a:t>
            </a:r>
            <a:br>
              <a:rPr lang="en-US" sz="1000" dirty="0">
                <a:latin typeface="Avenir Book" panose="02000503020000020003" pitchFamily="2" charset="0"/>
              </a:rPr>
            </a:br>
            <a:r>
              <a:rPr lang="en-US" sz="1000" dirty="0">
                <a:latin typeface="Avenir Book" panose="02000503020000020003" pitchFamily="2" charset="0"/>
              </a:rPr>
              <a:t>Through the partnership between IHS Towers and the Kwara State Government, the Hub has executed impactful programs, developed talent pipelines, strengthened infrastructure, and expanded access to technology-driven opportunities.</a:t>
            </a:r>
          </a:p>
          <a:p>
            <a:pPr>
              <a:lnSpc>
                <a:spcPct val="150000"/>
              </a:lnSpc>
            </a:pPr>
            <a:endParaRPr lang="en-US" sz="1000" dirty="0">
              <a:latin typeface="Avenir Book" panose="02000503020000020003" pitchFamily="2" charset="0"/>
            </a:endParaRPr>
          </a:p>
          <a:p>
            <a:pPr>
              <a:lnSpc>
                <a:spcPct val="150000"/>
              </a:lnSpc>
            </a:pPr>
            <a:r>
              <a:rPr lang="en-US" sz="1000" dirty="0">
                <a:latin typeface="Avenir Book" panose="02000503020000020003" pitchFamily="2" charset="0"/>
              </a:rPr>
              <a:t>Between February and October 2025, the Hub executed more than 70 programs and engaged over </a:t>
            </a:r>
            <a:r>
              <a:rPr lang="en-US" sz="1000" b="1" dirty="0">
                <a:latin typeface="Avenir Book" panose="02000503020000020003" pitchFamily="2" charset="0"/>
              </a:rPr>
              <a:t>3,800 participants</a:t>
            </a:r>
            <a:r>
              <a:rPr lang="en-US" sz="1000" dirty="0">
                <a:latin typeface="Avenir Book" panose="02000503020000020003" pitchFamily="2" charset="0"/>
              </a:rPr>
              <a:t> across technology, entrepreneurship, and creative sectors—with strong youth and female participation.</a:t>
            </a:r>
          </a:p>
          <a:p>
            <a:pPr>
              <a:lnSpc>
                <a:spcPct val="150000"/>
              </a:lnSpc>
            </a:pPr>
            <a:br>
              <a:rPr lang="en-US" sz="1000" dirty="0">
                <a:latin typeface="Avenir Book" panose="02000503020000020003" pitchFamily="2" charset="0"/>
              </a:rPr>
            </a:br>
            <a:r>
              <a:rPr lang="en-US" sz="1000" dirty="0">
                <a:latin typeface="Avenir Book" panose="02000503020000020003" pitchFamily="2" charset="0"/>
              </a:rPr>
              <a:t>Highlights include the launch of the Kwara Innovation Challenge and Hackathon, the onboarding of over 850 ORBIT interns, major community and youth programs, and recognition of an IIH-affiliated startup at the Africa Deep Tech Challenge 2025.</a:t>
            </a:r>
          </a:p>
        </p:txBody>
      </p:sp>
    </p:spTree>
    <p:extLst>
      <p:ext uri="{BB962C8B-B14F-4D97-AF65-F5344CB8AC3E}">
        <p14:creationId xmlns:p14="http://schemas.microsoft.com/office/powerpoint/2010/main" val="1621997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Shape 63">
          <a:extLst>
            <a:ext uri="{FF2B5EF4-FFF2-40B4-BE49-F238E27FC236}">
              <a16:creationId xmlns:a16="http://schemas.microsoft.com/office/drawing/2014/main" id="{A023380C-0535-05D6-0269-F793B7673631}"/>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AFA694DF-D123-B0DA-EE04-46BF09D85066}"/>
              </a:ext>
            </a:extLst>
          </p:cNvPr>
          <p:cNvSpPr/>
          <p:nvPr/>
        </p:nvSpPr>
        <p:spPr>
          <a:xfrm>
            <a:off x="7525" y="7525"/>
            <a:ext cx="9144000" cy="620700"/>
          </a:xfrm>
          <a:prstGeom prst="rect">
            <a:avLst/>
          </a:prstGeom>
          <a:solidFill>
            <a:srgbClr val="002D1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 name="Google Shape;65;p14" title="longer border.png">
            <a:extLst>
              <a:ext uri="{FF2B5EF4-FFF2-40B4-BE49-F238E27FC236}">
                <a16:creationId xmlns:a16="http://schemas.microsoft.com/office/drawing/2014/main" id="{A4D059F2-487A-A710-D419-37320A76069D}"/>
              </a:ext>
            </a:extLst>
          </p:cNvPr>
          <p:cNvPicPr preferRelativeResize="0"/>
          <p:nvPr/>
        </p:nvPicPr>
        <p:blipFill>
          <a:blip r:embed="rId4">
            <a:alphaModFix/>
          </a:blip>
          <a:stretch>
            <a:fillRect/>
          </a:stretch>
        </p:blipFill>
        <p:spPr>
          <a:xfrm>
            <a:off x="0" y="445025"/>
            <a:ext cx="9144003" cy="183052"/>
          </a:xfrm>
          <a:prstGeom prst="rect">
            <a:avLst/>
          </a:prstGeom>
          <a:noFill/>
          <a:ln>
            <a:noFill/>
          </a:ln>
        </p:spPr>
      </p:pic>
      <p:sp>
        <p:nvSpPr>
          <p:cNvPr id="66" name="Google Shape;66;p14">
            <a:extLst>
              <a:ext uri="{FF2B5EF4-FFF2-40B4-BE49-F238E27FC236}">
                <a16:creationId xmlns:a16="http://schemas.microsoft.com/office/drawing/2014/main" id="{E0E0EC88-22CE-2C89-71CE-7FDD2078CFB6}"/>
              </a:ext>
            </a:extLst>
          </p:cNvPr>
          <p:cNvSpPr txBox="1">
            <a:spLocks noGrp="1"/>
          </p:cNvSpPr>
          <p:nvPr>
            <p:ph type="title"/>
          </p:nvPr>
        </p:nvSpPr>
        <p:spPr>
          <a:xfrm>
            <a:off x="146025" y="124350"/>
            <a:ext cx="8520600" cy="285900"/>
          </a:xfrm>
          <a:prstGeom prst="rect">
            <a:avLst/>
          </a:prstGeom>
        </p:spPr>
        <p:txBody>
          <a:bodyPr spcFirstLastPara="1" wrap="square" lIns="91425" tIns="91425" rIns="91425" bIns="91425" anchor="ctr" anchorCtr="0">
            <a:normAutofit fontScale="90000"/>
          </a:bodyPr>
          <a:lstStyle/>
          <a:p>
            <a:r>
              <a:rPr lang="en-US" sz="1000" b="1" dirty="0">
                <a:solidFill>
                  <a:schemeClr val="lt1"/>
                </a:solidFill>
                <a:latin typeface="Avenir Book" panose="02000503020000020003" pitchFamily="2" charset="0"/>
                <a:ea typeface="Helvetica Neue"/>
                <a:cs typeface="Helvetica Neue"/>
                <a:sym typeface="Helvetica Neue"/>
              </a:rPr>
              <a:t>Executive Summary of Activities </a:t>
            </a:r>
            <a:endParaRPr lang="en-US" sz="1000" dirty="0">
              <a:solidFill>
                <a:srgbClr val="EFFFEF"/>
              </a:solidFill>
              <a:latin typeface="Helvetica Neue"/>
              <a:ea typeface="Helvetica Neue"/>
              <a:cs typeface="Helvetica Neue"/>
              <a:sym typeface="Helvetica Neue"/>
            </a:endParaRPr>
          </a:p>
        </p:txBody>
      </p:sp>
      <p:cxnSp>
        <p:nvCxnSpPr>
          <p:cNvPr id="68" name="Google Shape;68;p14">
            <a:extLst>
              <a:ext uri="{FF2B5EF4-FFF2-40B4-BE49-F238E27FC236}">
                <a16:creationId xmlns:a16="http://schemas.microsoft.com/office/drawing/2014/main" id="{6FC26661-F1C3-1425-6B81-4189089B7931}"/>
              </a:ext>
            </a:extLst>
          </p:cNvPr>
          <p:cNvCxnSpPr/>
          <p:nvPr/>
        </p:nvCxnSpPr>
        <p:spPr>
          <a:xfrm>
            <a:off x="-7525" y="4706725"/>
            <a:ext cx="9149400" cy="1800"/>
          </a:xfrm>
          <a:prstGeom prst="straightConnector1">
            <a:avLst/>
          </a:prstGeom>
          <a:noFill/>
          <a:ln w="9525" cap="flat" cmpd="sng">
            <a:solidFill>
              <a:srgbClr val="D9D9D9"/>
            </a:solidFill>
            <a:prstDash val="solid"/>
            <a:round/>
            <a:headEnd type="none" w="med" len="med"/>
            <a:tailEnd type="none" w="med" len="med"/>
          </a:ln>
        </p:spPr>
      </p:cxnSp>
      <p:sp>
        <p:nvSpPr>
          <p:cNvPr id="8" name="Google Shape;67;p14">
            <a:extLst>
              <a:ext uri="{FF2B5EF4-FFF2-40B4-BE49-F238E27FC236}">
                <a16:creationId xmlns:a16="http://schemas.microsoft.com/office/drawing/2014/main" id="{B1838094-9D45-5232-DAA7-C81ED3433BF1}"/>
              </a:ext>
            </a:extLst>
          </p:cNvPr>
          <p:cNvSpPr txBox="1">
            <a:spLocks noGrp="1"/>
          </p:cNvSpPr>
          <p:nvPr>
            <p:ph type="body" idx="1"/>
          </p:nvPr>
        </p:nvSpPr>
        <p:spPr>
          <a:xfrm>
            <a:off x="306876" y="826762"/>
            <a:ext cx="5241870" cy="615301"/>
          </a:xfrm>
          <a:prstGeom prst="rect">
            <a:avLst/>
          </a:prstGeom>
        </p:spPr>
        <p:txBody>
          <a:bodyPr spcFirstLastPara="1" wrap="square" lIns="91425" tIns="91425" rIns="91425" bIns="91425" anchor="t" anchorCtr="0">
            <a:noAutofit/>
          </a:bodyPr>
          <a:lstStyle/>
          <a:p>
            <a:pPr marL="114300" indent="0">
              <a:buNone/>
            </a:pPr>
            <a:r>
              <a:rPr lang="en-US" sz="2400" b="1" dirty="0">
                <a:solidFill>
                  <a:schemeClr val="tx1"/>
                </a:solidFill>
                <a:latin typeface="Avenir Book" panose="02000503020000020003" pitchFamily="2" charset="0"/>
              </a:rPr>
              <a:t>Introduction</a:t>
            </a:r>
          </a:p>
        </p:txBody>
      </p:sp>
      <p:pic>
        <p:nvPicPr>
          <p:cNvPr id="10" name="Picture 9" descr="A room with a television screen&#10;&#10;AI-generated content may be incorrect.">
            <a:extLst>
              <a:ext uri="{FF2B5EF4-FFF2-40B4-BE49-F238E27FC236}">
                <a16:creationId xmlns:a16="http://schemas.microsoft.com/office/drawing/2014/main" id="{AEBC96D7-65CF-E46E-C09C-D7B869AFFE83}"/>
              </a:ext>
            </a:extLst>
          </p:cNvPr>
          <p:cNvPicPr>
            <a:picLocks noChangeAspect="1"/>
          </p:cNvPicPr>
          <p:nvPr/>
        </p:nvPicPr>
        <p:blipFill>
          <a:blip r:embed="rId5"/>
          <a:stretch>
            <a:fillRect/>
          </a:stretch>
        </p:blipFill>
        <p:spPr>
          <a:xfrm>
            <a:off x="6045374" y="826762"/>
            <a:ext cx="3000807" cy="2002101"/>
          </a:xfrm>
          <a:prstGeom prst="rect">
            <a:avLst/>
          </a:prstGeom>
        </p:spPr>
      </p:pic>
      <p:pic>
        <p:nvPicPr>
          <p:cNvPr id="69" name="Google Shape;69;p14" title="IIH powered by IHS 1.png">
            <a:extLst>
              <a:ext uri="{FF2B5EF4-FFF2-40B4-BE49-F238E27FC236}">
                <a16:creationId xmlns:a16="http://schemas.microsoft.com/office/drawing/2014/main" id="{D930FB76-CF52-439C-9BA4-489C96C214A6}"/>
              </a:ext>
            </a:extLst>
          </p:cNvPr>
          <p:cNvPicPr preferRelativeResize="0"/>
          <p:nvPr/>
        </p:nvPicPr>
        <p:blipFill>
          <a:blip r:embed="rId6">
            <a:alphaModFix/>
          </a:blip>
          <a:stretch>
            <a:fillRect/>
          </a:stretch>
        </p:blipFill>
        <p:spPr>
          <a:xfrm>
            <a:off x="319225" y="4781674"/>
            <a:ext cx="676905" cy="285900"/>
          </a:xfrm>
          <a:prstGeom prst="rect">
            <a:avLst/>
          </a:prstGeom>
          <a:noFill/>
          <a:ln>
            <a:noFill/>
          </a:ln>
        </p:spPr>
      </p:pic>
      <p:pic>
        <p:nvPicPr>
          <p:cNvPr id="13" name="Picture 12" descr="A group of people sitting in chairs&#10;&#10;AI-generated content may be incorrect.">
            <a:extLst>
              <a:ext uri="{FF2B5EF4-FFF2-40B4-BE49-F238E27FC236}">
                <a16:creationId xmlns:a16="http://schemas.microsoft.com/office/drawing/2014/main" id="{8951A695-C2E9-70BA-BB13-9B0FA07464A3}"/>
              </a:ext>
            </a:extLst>
          </p:cNvPr>
          <p:cNvPicPr>
            <a:picLocks noChangeAspect="1"/>
          </p:cNvPicPr>
          <p:nvPr/>
        </p:nvPicPr>
        <p:blipFill>
          <a:blip r:embed="rId7"/>
          <a:stretch>
            <a:fillRect/>
          </a:stretch>
        </p:blipFill>
        <p:spPr>
          <a:xfrm>
            <a:off x="6045374" y="2895681"/>
            <a:ext cx="3000807" cy="2162225"/>
          </a:xfrm>
          <a:prstGeom prst="rect">
            <a:avLst/>
          </a:prstGeom>
        </p:spPr>
      </p:pic>
      <p:sp>
        <p:nvSpPr>
          <p:cNvPr id="11" name="TextBox 10">
            <a:extLst>
              <a:ext uri="{FF2B5EF4-FFF2-40B4-BE49-F238E27FC236}">
                <a16:creationId xmlns:a16="http://schemas.microsoft.com/office/drawing/2014/main" id="{604B2D96-CBEC-3FA6-43C8-3C1B2CF12A24}"/>
              </a:ext>
            </a:extLst>
          </p:cNvPr>
          <p:cNvSpPr txBox="1"/>
          <p:nvPr/>
        </p:nvSpPr>
        <p:spPr>
          <a:xfrm>
            <a:off x="382229" y="1508881"/>
            <a:ext cx="5912791" cy="3073214"/>
          </a:xfrm>
          <a:prstGeom prst="rect">
            <a:avLst/>
          </a:prstGeom>
          <a:solidFill>
            <a:schemeClr val="bg1"/>
          </a:solidFill>
        </p:spPr>
        <p:txBody>
          <a:bodyPr wrap="square" rtlCol="0">
            <a:spAutoFit/>
          </a:bodyPr>
          <a:lstStyle/>
          <a:p>
            <a:pPr>
              <a:lnSpc>
                <a:spcPct val="150000"/>
              </a:lnSpc>
            </a:pPr>
            <a:r>
              <a:rPr lang="en-US" sz="1000" dirty="0">
                <a:latin typeface="Avenir Book" panose="02000503020000020003" pitchFamily="2" charset="0"/>
              </a:rPr>
              <a:t>Since commencing operations in early 2025, the Ilorin Innovation Hub (IIH) has established itself as a major center for innovation, entrepreneurship, and digital transformation in North-Central Nigeria.</a:t>
            </a:r>
            <a:br>
              <a:rPr lang="en-US" sz="1000" dirty="0">
                <a:latin typeface="Avenir Book" panose="02000503020000020003" pitchFamily="2" charset="0"/>
              </a:rPr>
            </a:br>
            <a:r>
              <a:rPr lang="en-US" sz="1000" dirty="0">
                <a:latin typeface="Avenir Book" panose="02000503020000020003" pitchFamily="2" charset="0"/>
              </a:rPr>
              <a:t>Through the partnership between IHS Towers and the Kwara State Government, the Hub has executed impactful programs, developed talent pipelines, strengthened infrastructure, and expanded access to technology-driven opportunities.</a:t>
            </a:r>
          </a:p>
          <a:p>
            <a:pPr>
              <a:lnSpc>
                <a:spcPct val="150000"/>
              </a:lnSpc>
            </a:pPr>
            <a:endParaRPr lang="en-US" sz="1000" dirty="0">
              <a:latin typeface="Avenir Book" panose="02000503020000020003" pitchFamily="2" charset="0"/>
            </a:endParaRPr>
          </a:p>
          <a:p>
            <a:pPr>
              <a:lnSpc>
                <a:spcPct val="150000"/>
              </a:lnSpc>
            </a:pPr>
            <a:r>
              <a:rPr lang="en-US" sz="1000" dirty="0">
                <a:latin typeface="Avenir Book" panose="02000503020000020003" pitchFamily="2" charset="0"/>
              </a:rPr>
              <a:t>Between February and October 2025, the Hub executed more than 70 programs and engaged over </a:t>
            </a:r>
            <a:r>
              <a:rPr lang="en-US" sz="1000" b="1" dirty="0">
                <a:latin typeface="Avenir Book" panose="02000503020000020003" pitchFamily="2" charset="0"/>
              </a:rPr>
              <a:t>3,800 participants</a:t>
            </a:r>
            <a:r>
              <a:rPr lang="en-US" sz="1000" dirty="0">
                <a:latin typeface="Avenir Book" panose="02000503020000020003" pitchFamily="2" charset="0"/>
              </a:rPr>
              <a:t> across technology, entrepreneurship, and creative sectors—with strong youth and female participation.</a:t>
            </a:r>
          </a:p>
          <a:p>
            <a:pPr>
              <a:lnSpc>
                <a:spcPct val="150000"/>
              </a:lnSpc>
            </a:pPr>
            <a:br>
              <a:rPr lang="en-US" sz="1000" dirty="0">
                <a:latin typeface="Avenir Book" panose="02000503020000020003" pitchFamily="2" charset="0"/>
              </a:rPr>
            </a:br>
            <a:r>
              <a:rPr lang="en-US" sz="1000" dirty="0">
                <a:latin typeface="Avenir Book" panose="02000503020000020003" pitchFamily="2" charset="0"/>
              </a:rPr>
              <a:t>Highlights include the launch of the Kwara Innovation Challenge and Hackathon, the onboarding of over 850 ORBIT interns, major community and youth programs, and recognition of an IIH-affiliated startup at the Africa Deep Tech Challenge 2025.</a:t>
            </a:r>
          </a:p>
        </p:txBody>
      </p:sp>
    </p:spTree>
    <p:extLst>
      <p:ext uri="{BB962C8B-B14F-4D97-AF65-F5344CB8AC3E}">
        <p14:creationId xmlns:p14="http://schemas.microsoft.com/office/powerpoint/2010/main" val="1564969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Shape 63">
          <a:extLst>
            <a:ext uri="{FF2B5EF4-FFF2-40B4-BE49-F238E27FC236}">
              <a16:creationId xmlns:a16="http://schemas.microsoft.com/office/drawing/2014/main" id="{E7DA3713-4674-CD27-80B9-7BC07E844FB9}"/>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BD418505-E8B3-8E6F-1068-DF70CA3C3C7E}"/>
              </a:ext>
            </a:extLst>
          </p:cNvPr>
          <p:cNvSpPr/>
          <p:nvPr/>
        </p:nvSpPr>
        <p:spPr>
          <a:xfrm>
            <a:off x="7525" y="7525"/>
            <a:ext cx="9144000" cy="620700"/>
          </a:xfrm>
          <a:prstGeom prst="rect">
            <a:avLst/>
          </a:prstGeom>
          <a:solidFill>
            <a:srgbClr val="002D1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 name="Google Shape;65;p14" title="longer border.png">
            <a:extLst>
              <a:ext uri="{FF2B5EF4-FFF2-40B4-BE49-F238E27FC236}">
                <a16:creationId xmlns:a16="http://schemas.microsoft.com/office/drawing/2014/main" id="{49784559-8118-B322-1942-8C013A974B6A}"/>
              </a:ext>
            </a:extLst>
          </p:cNvPr>
          <p:cNvPicPr preferRelativeResize="0"/>
          <p:nvPr/>
        </p:nvPicPr>
        <p:blipFill>
          <a:blip r:embed="rId4">
            <a:alphaModFix/>
          </a:blip>
          <a:stretch>
            <a:fillRect/>
          </a:stretch>
        </p:blipFill>
        <p:spPr>
          <a:xfrm>
            <a:off x="0" y="445025"/>
            <a:ext cx="9144003" cy="183052"/>
          </a:xfrm>
          <a:prstGeom prst="rect">
            <a:avLst/>
          </a:prstGeom>
          <a:noFill/>
          <a:ln>
            <a:noFill/>
          </a:ln>
        </p:spPr>
      </p:pic>
      <p:sp>
        <p:nvSpPr>
          <p:cNvPr id="66" name="Google Shape;66;p14">
            <a:extLst>
              <a:ext uri="{FF2B5EF4-FFF2-40B4-BE49-F238E27FC236}">
                <a16:creationId xmlns:a16="http://schemas.microsoft.com/office/drawing/2014/main" id="{9BBECEAC-2E2C-659A-2656-78CCF60F415A}"/>
              </a:ext>
            </a:extLst>
          </p:cNvPr>
          <p:cNvSpPr txBox="1">
            <a:spLocks noGrp="1"/>
          </p:cNvSpPr>
          <p:nvPr>
            <p:ph type="title"/>
          </p:nvPr>
        </p:nvSpPr>
        <p:spPr>
          <a:xfrm>
            <a:off x="146025" y="124350"/>
            <a:ext cx="8520600" cy="285900"/>
          </a:xfrm>
          <a:prstGeom prst="rect">
            <a:avLst/>
          </a:prstGeom>
        </p:spPr>
        <p:txBody>
          <a:bodyPr spcFirstLastPara="1" wrap="square" lIns="91425" tIns="91425" rIns="91425" bIns="91425" anchor="ctr" anchorCtr="0">
            <a:normAutofit fontScale="90000"/>
          </a:bodyPr>
          <a:lstStyle/>
          <a:p>
            <a:r>
              <a:rPr lang="en-US" sz="1000" b="1" dirty="0">
                <a:solidFill>
                  <a:schemeClr val="lt1"/>
                </a:solidFill>
                <a:latin typeface="Avenir Book" panose="02000503020000020003" pitchFamily="2" charset="0"/>
                <a:ea typeface="Helvetica Neue"/>
                <a:cs typeface="Helvetica Neue"/>
                <a:sym typeface="Helvetica Neue"/>
              </a:rPr>
              <a:t>Executive Summary of Activities </a:t>
            </a:r>
            <a:endParaRPr lang="en-US" sz="1000" dirty="0">
              <a:solidFill>
                <a:srgbClr val="EFFFEF"/>
              </a:solidFill>
              <a:latin typeface="Helvetica Neue"/>
              <a:ea typeface="Helvetica Neue"/>
              <a:cs typeface="Helvetica Neue"/>
              <a:sym typeface="Helvetica Neue"/>
            </a:endParaRPr>
          </a:p>
        </p:txBody>
      </p:sp>
      <p:cxnSp>
        <p:nvCxnSpPr>
          <p:cNvPr id="68" name="Google Shape;68;p14">
            <a:extLst>
              <a:ext uri="{FF2B5EF4-FFF2-40B4-BE49-F238E27FC236}">
                <a16:creationId xmlns:a16="http://schemas.microsoft.com/office/drawing/2014/main" id="{96203E24-CE83-2CC4-CFB6-609FDCCB4E98}"/>
              </a:ext>
            </a:extLst>
          </p:cNvPr>
          <p:cNvCxnSpPr/>
          <p:nvPr/>
        </p:nvCxnSpPr>
        <p:spPr>
          <a:xfrm>
            <a:off x="-7525" y="4706725"/>
            <a:ext cx="9149400" cy="1800"/>
          </a:xfrm>
          <a:prstGeom prst="straightConnector1">
            <a:avLst/>
          </a:prstGeom>
          <a:noFill/>
          <a:ln w="9525" cap="flat" cmpd="sng">
            <a:solidFill>
              <a:srgbClr val="D9D9D9"/>
            </a:solidFill>
            <a:prstDash val="solid"/>
            <a:round/>
            <a:headEnd type="none" w="med" len="med"/>
            <a:tailEnd type="none" w="med" len="med"/>
          </a:ln>
        </p:spPr>
      </p:cxnSp>
      <p:pic>
        <p:nvPicPr>
          <p:cNvPr id="69" name="Google Shape;69;p14" title="IIH powered by IHS 1.png">
            <a:extLst>
              <a:ext uri="{FF2B5EF4-FFF2-40B4-BE49-F238E27FC236}">
                <a16:creationId xmlns:a16="http://schemas.microsoft.com/office/drawing/2014/main" id="{23C890A1-F06A-5E7F-B8F0-2F0776A635BB}"/>
              </a:ext>
            </a:extLst>
          </p:cNvPr>
          <p:cNvPicPr preferRelativeResize="0"/>
          <p:nvPr/>
        </p:nvPicPr>
        <p:blipFill>
          <a:blip r:embed="rId5">
            <a:alphaModFix/>
          </a:blip>
          <a:stretch>
            <a:fillRect/>
          </a:stretch>
        </p:blipFill>
        <p:spPr>
          <a:xfrm>
            <a:off x="319225" y="4781674"/>
            <a:ext cx="676905" cy="285900"/>
          </a:xfrm>
          <a:prstGeom prst="rect">
            <a:avLst/>
          </a:prstGeom>
          <a:noFill/>
          <a:ln>
            <a:noFill/>
          </a:ln>
        </p:spPr>
      </p:pic>
      <p:sp>
        <p:nvSpPr>
          <p:cNvPr id="67" name="Google Shape;67;p14">
            <a:extLst>
              <a:ext uri="{FF2B5EF4-FFF2-40B4-BE49-F238E27FC236}">
                <a16:creationId xmlns:a16="http://schemas.microsoft.com/office/drawing/2014/main" id="{977CDE28-8CA2-E0CD-82FC-B3E921F3C7DB}"/>
              </a:ext>
            </a:extLst>
          </p:cNvPr>
          <p:cNvSpPr txBox="1">
            <a:spLocks noGrp="1"/>
          </p:cNvSpPr>
          <p:nvPr>
            <p:ph type="body" idx="1"/>
          </p:nvPr>
        </p:nvSpPr>
        <p:spPr>
          <a:xfrm>
            <a:off x="306876" y="826762"/>
            <a:ext cx="5241870" cy="615301"/>
          </a:xfrm>
          <a:prstGeom prst="rect">
            <a:avLst/>
          </a:prstGeom>
        </p:spPr>
        <p:txBody>
          <a:bodyPr spcFirstLastPara="1" wrap="square" lIns="91425" tIns="91425" rIns="91425" bIns="91425" anchor="t" anchorCtr="0">
            <a:noAutofit/>
          </a:bodyPr>
          <a:lstStyle/>
          <a:p>
            <a:pPr marL="114300" indent="0">
              <a:buNone/>
            </a:pPr>
            <a:r>
              <a:rPr lang="en-US" sz="2400" b="1" dirty="0">
                <a:solidFill>
                  <a:schemeClr val="tx1"/>
                </a:solidFill>
                <a:latin typeface="Avenir Book" panose="02000503020000020003" pitchFamily="2" charset="0"/>
              </a:rPr>
              <a:t>Key Highlights</a:t>
            </a:r>
          </a:p>
        </p:txBody>
      </p:sp>
      <p:sp>
        <p:nvSpPr>
          <p:cNvPr id="11" name="TextBox 10">
            <a:extLst>
              <a:ext uri="{FF2B5EF4-FFF2-40B4-BE49-F238E27FC236}">
                <a16:creationId xmlns:a16="http://schemas.microsoft.com/office/drawing/2014/main" id="{436DE1E1-2C23-B78C-8666-A95ED69F0A9B}"/>
              </a:ext>
            </a:extLst>
          </p:cNvPr>
          <p:cNvSpPr txBox="1"/>
          <p:nvPr/>
        </p:nvSpPr>
        <p:spPr>
          <a:xfrm>
            <a:off x="477375" y="1483682"/>
            <a:ext cx="8435397" cy="3304046"/>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000" dirty="0">
                <a:latin typeface="Avenir Book" panose="02000503020000020003" pitchFamily="2" charset="0"/>
              </a:rPr>
              <a:t>Over </a:t>
            </a:r>
            <a:r>
              <a:rPr lang="en-US" sz="1000" b="1" dirty="0">
                <a:latin typeface="Avenir Book" panose="02000503020000020003" pitchFamily="2" charset="0"/>
              </a:rPr>
              <a:t>70 programs and initiatives</a:t>
            </a:r>
            <a:r>
              <a:rPr lang="en-US" sz="1000" dirty="0">
                <a:latin typeface="Avenir Book" panose="02000503020000020003" pitchFamily="2" charset="0"/>
              </a:rPr>
              <a:t> executed across innovation, entrepreneurship, and digital skills.</a:t>
            </a:r>
          </a:p>
          <a:p>
            <a:pPr marL="171450" indent="-171450">
              <a:lnSpc>
                <a:spcPct val="150000"/>
              </a:lnSpc>
              <a:buFont typeface="Arial" panose="020B0604020202020204" pitchFamily="34" charset="0"/>
              <a:buChar char="•"/>
            </a:pPr>
            <a:r>
              <a:rPr lang="en-US" sz="1000" dirty="0">
                <a:latin typeface="Avenir Book" panose="02000503020000020003" pitchFamily="2" charset="0"/>
              </a:rPr>
              <a:t>More than </a:t>
            </a:r>
            <a:r>
              <a:rPr lang="en-US" sz="1000" b="1" dirty="0">
                <a:latin typeface="Avenir Book" panose="02000503020000020003" pitchFamily="2" charset="0"/>
              </a:rPr>
              <a:t>3,800 participants</a:t>
            </a:r>
            <a:r>
              <a:rPr lang="en-US" sz="1000" dirty="0">
                <a:latin typeface="Avenir Book" panose="02000503020000020003" pitchFamily="2" charset="0"/>
              </a:rPr>
              <a:t> engaged across all activities.</a:t>
            </a:r>
          </a:p>
          <a:p>
            <a:pPr marL="171450" indent="-171450">
              <a:lnSpc>
                <a:spcPct val="150000"/>
              </a:lnSpc>
              <a:buFont typeface="Arial" panose="020B0604020202020204" pitchFamily="34" charset="0"/>
              <a:buChar char="•"/>
            </a:pPr>
            <a:r>
              <a:rPr lang="en-US" sz="1000" dirty="0">
                <a:latin typeface="Avenir Book" panose="02000503020000020003" pitchFamily="2" charset="0"/>
              </a:rPr>
              <a:t>Approximately </a:t>
            </a:r>
            <a:r>
              <a:rPr lang="en-US" sz="1000" b="1" dirty="0">
                <a:latin typeface="Avenir Book" panose="02000503020000020003" pitchFamily="2" charset="0"/>
              </a:rPr>
              <a:t>1,400 women and girls</a:t>
            </a:r>
            <a:r>
              <a:rPr lang="en-US" sz="1000" dirty="0">
                <a:latin typeface="Avenir Book" panose="02000503020000020003" pitchFamily="2" charset="0"/>
              </a:rPr>
              <a:t> trained or empowered through inclusive and youth programs.</a:t>
            </a:r>
          </a:p>
          <a:p>
            <a:pPr marL="171450" indent="-171450">
              <a:lnSpc>
                <a:spcPct val="150000"/>
              </a:lnSpc>
              <a:buFont typeface="Arial" panose="020B0604020202020204" pitchFamily="34" charset="0"/>
              <a:buChar char="•"/>
            </a:pPr>
            <a:r>
              <a:rPr lang="en-US" sz="1000" b="1" dirty="0">
                <a:latin typeface="Avenir Book" panose="02000503020000020003" pitchFamily="2" charset="0"/>
              </a:rPr>
              <a:t>850 interns</a:t>
            </a:r>
            <a:r>
              <a:rPr lang="en-US" sz="1000" dirty="0">
                <a:latin typeface="Avenir Book" panose="02000503020000020003" pitchFamily="2" charset="0"/>
              </a:rPr>
              <a:t> onboarded under the ORBIT Internship Program.</a:t>
            </a:r>
          </a:p>
          <a:p>
            <a:pPr marL="171450" indent="-171450">
              <a:lnSpc>
                <a:spcPct val="150000"/>
              </a:lnSpc>
              <a:buFont typeface="Arial" panose="020B0604020202020204" pitchFamily="34" charset="0"/>
              <a:buChar char="•"/>
            </a:pPr>
            <a:r>
              <a:rPr lang="en-US" sz="1000" b="1" dirty="0">
                <a:latin typeface="Avenir Book" panose="02000503020000020003" pitchFamily="2" charset="0"/>
              </a:rPr>
              <a:t>738 learners</a:t>
            </a:r>
            <a:r>
              <a:rPr lang="en-US" sz="1000" dirty="0">
                <a:latin typeface="Avenir Book" panose="02000503020000020003" pitchFamily="2" charset="0"/>
              </a:rPr>
              <a:t> participated in the Learn2Earn digital training challenge, with 85 completions.</a:t>
            </a:r>
          </a:p>
          <a:p>
            <a:pPr marL="171450" indent="-171450">
              <a:lnSpc>
                <a:spcPct val="150000"/>
              </a:lnSpc>
              <a:buFont typeface="Arial" panose="020B0604020202020204" pitchFamily="34" charset="0"/>
              <a:buChar char="•"/>
            </a:pPr>
            <a:r>
              <a:rPr lang="en-US" sz="1000" dirty="0">
                <a:latin typeface="Avenir Book" panose="02000503020000020003" pitchFamily="2" charset="0"/>
              </a:rPr>
              <a:t>Launch of the </a:t>
            </a:r>
            <a:r>
              <a:rPr lang="en-US" sz="1000" b="1" dirty="0">
                <a:latin typeface="Avenir Book" panose="02000503020000020003" pitchFamily="2" charset="0"/>
              </a:rPr>
              <a:t>Kwara Innovation Challenge and Hackathon</a:t>
            </a:r>
            <a:r>
              <a:rPr lang="en-US" sz="1000" dirty="0">
                <a:latin typeface="Avenir Book" panose="02000503020000020003" pitchFamily="2" charset="0"/>
              </a:rPr>
              <a:t>, including a regional roadshow across Kwara, Kogi, Niger, FCT, Ekiti, Oyo, Ondo, and Osun.</a:t>
            </a:r>
          </a:p>
          <a:p>
            <a:pPr marL="171450" indent="-171450">
              <a:lnSpc>
                <a:spcPct val="150000"/>
              </a:lnSpc>
              <a:buFont typeface="Arial" panose="020B0604020202020204" pitchFamily="34" charset="0"/>
              <a:buChar char="•"/>
            </a:pPr>
            <a:r>
              <a:rPr lang="en-US" sz="1000" dirty="0">
                <a:latin typeface="Avenir Book" panose="02000503020000020003" pitchFamily="2" charset="0"/>
              </a:rPr>
              <a:t>Incorporation of </a:t>
            </a:r>
            <a:r>
              <a:rPr lang="en-US" sz="1000" b="1" dirty="0">
                <a:latin typeface="Avenir Book" panose="02000503020000020003" pitchFamily="2" charset="0"/>
              </a:rPr>
              <a:t>Ilorin Innovation Hub Ltd/</a:t>
            </a:r>
            <a:r>
              <a:rPr lang="en-US" sz="1000" b="1" dirty="0" err="1">
                <a:latin typeface="Avenir Book" panose="02000503020000020003" pitchFamily="2" charset="0"/>
              </a:rPr>
              <a:t>Gte</a:t>
            </a:r>
            <a:r>
              <a:rPr lang="en-US" sz="1000" dirty="0">
                <a:latin typeface="Avenir Book" panose="02000503020000020003" pitchFamily="2" charset="0"/>
              </a:rPr>
              <a:t> in July 2025, formalizing the entity jointly owned by the Kwara State Government and IHS Towers.</a:t>
            </a:r>
          </a:p>
          <a:p>
            <a:pPr marL="171450" indent="-171450">
              <a:lnSpc>
                <a:spcPct val="150000"/>
              </a:lnSpc>
              <a:buFont typeface="Arial" panose="020B0604020202020204" pitchFamily="34" charset="0"/>
              <a:buChar char="•"/>
            </a:pPr>
            <a:r>
              <a:rPr lang="en-US" sz="1000" b="1" dirty="0">
                <a:latin typeface="Avenir Book" panose="02000503020000020003" pitchFamily="2" charset="0"/>
              </a:rPr>
              <a:t>AI in Nigeria Community Launch</a:t>
            </a:r>
            <a:r>
              <a:rPr lang="en-US" sz="1000" dirty="0">
                <a:latin typeface="Avenir Book" panose="02000503020000020003" pitchFamily="2" charset="0"/>
              </a:rPr>
              <a:t> in May, fostering collaboration among AI practitioners nationwide.</a:t>
            </a:r>
          </a:p>
          <a:p>
            <a:pPr marL="171450" indent="-171450">
              <a:lnSpc>
                <a:spcPct val="150000"/>
              </a:lnSpc>
              <a:buFont typeface="Arial" panose="020B0604020202020204" pitchFamily="34" charset="0"/>
              <a:buChar char="•"/>
            </a:pPr>
            <a:r>
              <a:rPr lang="en-US" sz="1000" b="1" dirty="0">
                <a:latin typeface="Avenir Book" panose="02000503020000020003" pitchFamily="2" charset="0"/>
              </a:rPr>
              <a:t>Fireside Chat with </a:t>
            </a:r>
            <a:r>
              <a:rPr lang="en-US" sz="1000" b="1" dirty="0" err="1">
                <a:latin typeface="Avenir Book" panose="02000503020000020003" pitchFamily="2" charset="0"/>
              </a:rPr>
              <a:t>Iyin</a:t>
            </a:r>
            <a:r>
              <a:rPr lang="en-US" sz="1000" b="1" dirty="0">
                <a:latin typeface="Avenir Book" panose="02000503020000020003" pitchFamily="2" charset="0"/>
              </a:rPr>
              <a:t> </a:t>
            </a:r>
            <a:r>
              <a:rPr lang="en-US" sz="1000" b="1" dirty="0" err="1">
                <a:latin typeface="Avenir Book" panose="02000503020000020003" pitchFamily="2" charset="0"/>
              </a:rPr>
              <a:t>Aboyeji</a:t>
            </a:r>
            <a:r>
              <a:rPr lang="en-US" sz="1000" dirty="0">
                <a:latin typeface="Avenir Book" panose="02000503020000020003" pitchFamily="2" charset="0"/>
              </a:rPr>
              <a:t> and </a:t>
            </a:r>
            <a:r>
              <a:rPr lang="en-US" sz="1000" b="1" dirty="0">
                <a:latin typeface="Avenir Book" panose="02000503020000020003" pitchFamily="2" charset="0"/>
              </a:rPr>
              <a:t>Virtual Townhall</a:t>
            </a:r>
            <a:r>
              <a:rPr lang="en-US" sz="1000" dirty="0">
                <a:latin typeface="Avenir Book" panose="02000503020000020003" pitchFamily="2" charset="0"/>
              </a:rPr>
              <a:t> featuring Kazeem </a:t>
            </a:r>
            <a:r>
              <a:rPr lang="en-US" sz="1000" dirty="0" err="1">
                <a:latin typeface="Avenir Book" panose="02000503020000020003" pitchFamily="2" charset="0"/>
              </a:rPr>
              <a:t>Oladepo</a:t>
            </a:r>
            <a:r>
              <a:rPr lang="en-US" sz="1000" dirty="0">
                <a:latin typeface="Avenir Book" panose="02000503020000020003" pitchFamily="2" charset="0"/>
              </a:rPr>
              <a:t>, Chris </a:t>
            </a:r>
            <a:r>
              <a:rPr lang="en-US" sz="1000" dirty="0" err="1">
                <a:latin typeface="Avenir Book" panose="02000503020000020003" pitchFamily="2" charset="0"/>
              </a:rPr>
              <a:t>Folayan</a:t>
            </a:r>
            <a:r>
              <a:rPr lang="en-US" sz="1000" dirty="0">
                <a:latin typeface="Avenir Book" panose="02000503020000020003" pitchFamily="2" charset="0"/>
              </a:rPr>
              <a:t>, Anu </a:t>
            </a:r>
            <a:r>
              <a:rPr lang="en-US" sz="1000" dirty="0" err="1">
                <a:latin typeface="Avenir Book" panose="02000503020000020003" pitchFamily="2" charset="0"/>
              </a:rPr>
              <a:t>Adasolum</a:t>
            </a:r>
            <a:r>
              <a:rPr lang="en-US" sz="1000" dirty="0">
                <a:latin typeface="Avenir Book" panose="02000503020000020003" pitchFamily="2" charset="0"/>
              </a:rPr>
              <a:t>, and </a:t>
            </a:r>
            <a:r>
              <a:rPr lang="en-US" sz="1000" dirty="0" err="1">
                <a:latin typeface="Avenir Book" panose="02000503020000020003" pitchFamily="2" charset="0"/>
              </a:rPr>
              <a:t>Iyin</a:t>
            </a:r>
            <a:r>
              <a:rPr lang="en-US" sz="1000" dirty="0">
                <a:latin typeface="Avenir Book" panose="02000503020000020003" pitchFamily="2" charset="0"/>
              </a:rPr>
              <a:t> </a:t>
            </a:r>
            <a:r>
              <a:rPr lang="en-US" sz="1000" dirty="0" err="1">
                <a:latin typeface="Avenir Book" panose="02000503020000020003" pitchFamily="2" charset="0"/>
              </a:rPr>
              <a:t>Aboyeji</a:t>
            </a:r>
            <a:r>
              <a:rPr lang="en-US" sz="1000" dirty="0">
                <a:latin typeface="Avenir Book" panose="02000503020000020003" pitchFamily="2" charset="0"/>
              </a:rPr>
              <a:t>, connecting founders and investors.</a:t>
            </a:r>
          </a:p>
          <a:p>
            <a:pPr marL="171450" indent="-171450">
              <a:lnSpc>
                <a:spcPct val="150000"/>
              </a:lnSpc>
              <a:buFont typeface="Arial" panose="020B0604020202020204" pitchFamily="34" charset="0"/>
              <a:buChar char="•"/>
            </a:pPr>
            <a:r>
              <a:rPr lang="en-US" sz="1000" b="1" dirty="0">
                <a:latin typeface="Avenir Book" panose="02000503020000020003" pitchFamily="2" charset="0"/>
              </a:rPr>
              <a:t>3rd FETICON Student Colloquium (May 28–29)</a:t>
            </a:r>
            <a:r>
              <a:rPr lang="en-US" sz="1000" dirty="0">
                <a:latin typeface="Avenir Book" panose="02000503020000020003" pitchFamily="2" charset="0"/>
              </a:rPr>
              <a:t> sponsored by IHS Towers, strengthening university-industry collaboration in engineering and innovation.</a:t>
            </a:r>
          </a:p>
        </p:txBody>
      </p:sp>
    </p:spTree>
    <p:extLst>
      <p:ext uri="{BB962C8B-B14F-4D97-AF65-F5344CB8AC3E}">
        <p14:creationId xmlns:p14="http://schemas.microsoft.com/office/powerpoint/2010/main" val="37980656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Shape 63">
          <a:extLst>
            <a:ext uri="{FF2B5EF4-FFF2-40B4-BE49-F238E27FC236}">
              <a16:creationId xmlns:a16="http://schemas.microsoft.com/office/drawing/2014/main" id="{ACB01297-0BA4-8E81-6001-E53621F8D0D1}"/>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75845143-12C2-92A5-887B-D7B939CFDC8B}"/>
              </a:ext>
            </a:extLst>
          </p:cNvPr>
          <p:cNvSpPr/>
          <p:nvPr/>
        </p:nvSpPr>
        <p:spPr>
          <a:xfrm>
            <a:off x="7525" y="7525"/>
            <a:ext cx="9144000" cy="620700"/>
          </a:xfrm>
          <a:prstGeom prst="rect">
            <a:avLst/>
          </a:prstGeom>
          <a:solidFill>
            <a:srgbClr val="002D1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 name="Google Shape;65;p14" title="longer border.png">
            <a:extLst>
              <a:ext uri="{FF2B5EF4-FFF2-40B4-BE49-F238E27FC236}">
                <a16:creationId xmlns:a16="http://schemas.microsoft.com/office/drawing/2014/main" id="{0B72315D-76FF-5C71-BEFF-28156EF69771}"/>
              </a:ext>
            </a:extLst>
          </p:cNvPr>
          <p:cNvPicPr preferRelativeResize="0"/>
          <p:nvPr/>
        </p:nvPicPr>
        <p:blipFill>
          <a:blip r:embed="rId4">
            <a:alphaModFix/>
          </a:blip>
          <a:stretch>
            <a:fillRect/>
          </a:stretch>
        </p:blipFill>
        <p:spPr>
          <a:xfrm>
            <a:off x="0" y="445025"/>
            <a:ext cx="9144003" cy="183052"/>
          </a:xfrm>
          <a:prstGeom prst="rect">
            <a:avLst/>
          </a:prstGeom>
          <a:noFill/>
          <a:ln>
            <a:noFill/>
          </a:ln>
        </p:spPr>
      </p:pic>
      <p:sp>
        <p:nvSpPr>
          <p:cNvPr id="66" name="Google Shape;66;p14">
            <a:extLst>
              <a:ext uri="{FF2B5EF4-FFF2-40B4-BE49-F238E27FC236}">
                <a16:creationId xmlns:a16="http://schemas.microsoft.com/office/drawing/2014/main" id="{A5D153C6-3C17-102F-D93B-FF4A19351964}"/>
              </a:ext>
            </a:extLst>
          </p:cNvPr>
          <p:cNvSpPr txBox="1">
            <a:spLocks noGrp="1"/>
          </p:cNvSpPr>
          <p:nvPr>
            <p:ph type="title"/>
          </p:nvPr>
        </p:nvSpPr>
        <p:spPr>
          <a:xfrm>
            <a:off x="146025" y="124350"/>
            <a:ext cx="8520600" cy="285900"/>
          </a:xfrm>
          <a:prstGeom prst="rect">
            <a:avLst/>
          </a:prstGeom>
        </p:spPr>
        <p:txBody>
          <a:bodyPr spcFirstLastPara="1" wrap="square" lIns="91425" tIns="91425" rIns="91425" bIns="91425" anchor="ctr" anchorCtr="0">
            <a:normAutofit fontScale="90000"/>
          </a:bodyPr>
          <a:lstStyle/>
          <a:p>
            <a:r>
              <a:rPr lang="en-US" sz="1000" b="1" dirty="0">
                <a:solidFill>
                  <a:schemeClr val="lt1"/>
                </a:solidFill>
                <a:latin typeface="Avenir Book" panose="02000503020000020003" pitchFamily="2" charset="0"/>
                <a:ea typeface="Helvetica Neue"/>
                <a:cs typeface="Helvetica Neue"/>
                <a:sym typeface="Helvetica Neue"/>
              </a:rPr>
              <a:t>Executive Summary of Activities </a:t>
            </a:r>
            <a:endParaRPr lang="en-US" sz="1000" dirty="0">
              <a:solidFill>
                <a:srgbClr val="EFFFEF"/>
              </a:solidFill>
              <a:latin typeface="Helvetica Neue"/>
              <a:ea typeface="Helvetica Neue"/>
              <a:cs typeface="Helvetica Neue"/>
              <a:sym typeface="Helvetica Neue"/>
            </a:endParaRPr>
          </a:p>
        </p:txBody>
      </p:sp>
      <p:cxnSp>
        <p:nvCxnSpPr>
          <p:cNvPr id="68" name="Google Shape;68;p14">
            <a:extLst>
              <a:ext uri="{FF2B5EF4-FFF2-40B4-BE49-F238E27FC236}">
                <a16:creationId xmlns:a16="http://schemas.microsoft.com/office/drawing/2014/main" id="{11BC2BB2-A519-9BC0-B1BE-542FC4385B2F}"/>
              </a:ext>
            </a:extLst>
          </p:cNvPr>
          <p:cNvCxnSpPr/>
          <p:nvPr/>
        </p:nvCxnSpPr>
        <p:spPr>
          <a:xfrm>
            <a:off x="-7525" y="4706725"/>
            <a:ext cx="9149400" cy="1800"/>
          </a:xfrm>
          <a:prstGeom prst="straightConnector1">
            <a:avLst/>
          </a:prstGeom>
          <a:noFill/>
          <a:ln w="9525" cap="flat" cmpd="sng">
            <a:solidFill>
              <a:srgbClr val="D9D9D9"/>
            </a:solidFill>
            <a:prstDash val="solid"/>
            <a:round/>
            <a:headEnd type="none" w="med" len="med"/>
            <a:tailEnd type="none" w="med" len="med"/>
          </a:ln>
        </p:spPr>
      </p:cxnSp>
      <p:pic>
        <p:nvPicPr>
          <p:cNvPr id="69" name="Google Shape;69;p14" title="IIH powered by IHS 1.png">
            <a:extLst>
              <a:ext uri="{FF2B5EF4-FFF2-40B4-BE49-F238E27FC236}">
                <a16:creationId xmlns:a16="http://schemas.microsoft.com/office/drawing/2014/main" id="{3F3DD5CE-37C9-8DB2-F98C-9FA3E250D5E7}"/>
              </a:ext>
            </a:extLst>
          </p:cNvPr>
          <p:cNvPicPr preferRelativeResize="0"/>
          <p:nvPr/>
        </p:nvPicPr>
        <p:blipFill>
          <a:blip r:embed="rId5">
            <a:alphaModFix/>
          </a:blip>
          <a:stretch>
            <a:fillRect/>
          </a:stretch>
        </p:blipFill>
        <p:spPr>
          <a:xfrm>
            <a:off x="319225" y="4781674"/>
            <a:ext cx="676905" cy="285900"/>
          </a:xfrm>
          <a:prstGeom prst="rect">
            <a:avLst/>
          </a:prstGeom>
          <a:noFill/>
          <a:ln>
            <a:noFill/>
          </a:ln>
        </p:spPr>
      </p:pic>
      <p:sp>
        <p:nvSpPr>
          <p:cNvPr id="11" name="TextBox 10">
            <a:extLst>
              <a:ext uri="{FF2B5EF4-FFF2-40B4-BE49-F238E27FC236}">
                <a16:creationId xmlns:a16="http://schemas.microsoft.com/office/drawing/2014/main" id="{9A6F156D-1536-09E7-4B99-D0601805C049}"/>
              </a:ext>
            </a:extLst>
          </p:cNvPr>
          <p:cNvSpPr txBox="1"/>
          <p:nvPr/>
        </p:nvSpPr>
        <p:spPr>
          <a:xfrm>
            <a:off x="477376" y="1483682"/>
            <a:ext cx="6459452" cy="3534878"/>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000" b="1" dirty="0">
                <a:latin typeface="Avenir Book" panose="02000503020000020003" pitchFamily="2" charset="0"/>
              </a:rPr>
              <a:t>STEM Africa Fest</a:t>
            </a:r>
            <a:r>
              <a:rPr lang="en-US" sz="1000" dirty="0">
                <a:latin typeface="Avenir Book" panose="02000503020000020003" pitchFamily="2" charset="0"/>
              </a:rPr>
              <a:t> in July attracted over 600 participants, making it one of the largest STEM-focused gatherings in the region.</a:t>
            </a:r>
          </a:p>
          <a:p>
            <a:pPr marL="171450" indent="-171450">
              <a:lnSpc>
                <a:spcPct val="150000"/>
              </a:lnSpc>
              <a:buFont typeface="Arial" panose="020B0604020202020204" pitchFamily="34" charset="0"/>
              <a:buChar char="•"/>
            </a:pPr>
            <a:r>
              <a:rPr lang="en-US" sz="1000" b="1" dirty="0">
                <a:latin typeface="Avenir Book" panose="02000503020000020003" pitchFamily="2" charset="0"/>
              </a:rPr>
              <a:t>AI for Women Bootcamp</a:t>
            </a:r>
            <a:r>
              <a:rPr lang="en-US" sz="1000" dirty="0">
                <a:latin typeface="Avenir Book" panose="02000503020000020003" pitchFamily="2" charset="0"/>
              </a:rPr>
              <a:t> (September) and </a:t>
            </a:r>
            <a:r>
              <a:rPr lang="en-US" sz="1000" b="1" dirty="0">
                <a:latin typeface="Avenir Book" panose="02000503020000020003" pitchFamily="2" charset="0"/>
              </a:rPr>
              <a:t>Creative Tech &amp; Future of Digital Studios</a:t>
            </a:r>
            <a:r>
              <a:rPr lang="en-US" sz="1000" dirty="0">
                <a:latin typeface="Avenir Book" panose="02000503020000020003" pitchFamily="2" charset="0"/>
              </a:rPr>
              <a:t> event spotlighted digital inclusion and creativity.</a:t>
            </a:r>
          </a:p>
          <a:p>
            <a:pPr marL="171450" indent="-171450">
              <a:lnSpc>
                <a:spcPct val="150000"/>
              </a:lnSpc>
              <a:buFont typeface="Arial" panose="020B0604020202020204" pitchFamily="34" charset="0"/>
              <a:buChar char="•"/>
            </a:pPr>
            <a:r>
              <a:rPr lang="en-US" sz="1000" b="1" dirty="0">
                <a:latin typeface="Avenir Book" panose="02000503020000020003" pitchFamily="2" charset="0"/>
              </a:rPr>
              <a:t>CNN Africa Feature </a:t>
            </a:r>
            <a:r>
              <a:rPr lang="en-US" sz="1000" dirty="0">
                <a:latin typeface="Avenir Book" panose="02000503020000020003" pitchFamily="2" charset="0"/>
              </a:rPr>
              <a:t>on IHS x Ilorin Innovation Hub’s growing impact and ecosystem story</a:t>
            </a:r>
          </a:p>
          <a:p>
            <a:pPr marL="171450" indent="-171450">
              <a:lnSpc>
                <a:spcPct val="150000"/>
              </a:lnSpc>
              <a:buFont typeface="Arial" panose="020B0604020202020204" pitchFamily="34" charset="0"/>
              <a:buChar char="•"/>
            </a:pPr>
            <a:r>
              <a:rPr lang="en-US" sz="1000" b="1" dirty="0">
                <a:latin typeface="Avenir Book" panose="02000503020000020003" pitchFamily="2" charset="0"/>
              </a:rPr>
              <a:t>AI Independence Bootcamp for Kids</a:t>
            </a:r>
            <a:r>
              <a:rPr lang="en-US" sz="1000" dirty="0">
                <a:latin typeface="Avenir Book" panose="02000503020000020003" pitchFamily="2" charset="0"/>
              </a:rPr>
              <a:t> (October) trained 200 students in AI and creative problem-solving.</a:t>
            </a:r>
          </a:p>
          <a:p>
            <a:pPr marL="171450" indent="-171450">
              <a:lnSpc>
                <a:spcPct val="150000"/>
              </a:lnSpc>
              <a:buFont typeface="Arial" panose="020B0604020202020204" pitchFamily="34" charset="0"/>
              <a:buChar char="•"/>
            </a:pPr>
            <a:r>
              <a:rPr lang="en-US" sz="1000" b="1" dirty="0">
                <a:latin typeface="Avenir Book" panose="02000503020000020003" pitchFamily="2" charset="0"/>
              </a:rPr>
              <a:t>Program Kick-off and Art Hackathon</a:t>
            </a:r>
            <a:r>
              <a:rPr lang="en-US" sz="1000" dirty="0">
                <a:latin typeface="Avenir Book" panose="02000503020000020003" pitchFamily="2" charset="0"/>
              </a:rPr>
              <a:t> (February 27) marked the relaunch of IIH’s creative-tech programs.</a:t>
            </a:r>
          </a:p>
          <a:p>
            <a:pPr marL="171450" indent="-171450">
              <a:lnSpc>
                <a:spcPct val="150000"/>
              </a:lnSpc>
              <a:buFont typeface="Arial" panose="020B0604020202020204" pitchFamily="34" charset="0"/>
              <a:buChar char="•"/>
            </a:pPr>
            <a:r>
              <a:rPr lang="en-US" sz="1000" b="1" dirty="0">
                <a:latin typeface="Avenir Book" panose="02000503020000020003" pitchFamily="2" charset="0"/>
              </a:rPr>
              <a:t>Future African Space Explorer STEM Academy (FASESA)</a:t>
            </a:r>
            <a:r>
              <a:rPr lang="en-US" sz="1000" dirty="0">
                <a:latin typeface="Avenir Book" panose="02000503020000020003" pitchFamily="2" charset="0"/>
              </a:rPr>
              <a:t> hosted at IIH with IHS support, engaging youth in space and robotics learning.</a:t>
            </a:r>
          </a:p>
          <a:p>
            <a:pPr marL="171450" indent="-171450">
              <a:lnSpc>
                <a:spcPct val="150000"/>
              </a:lnSpc>
              <a:buFont typeface="Arial" panose="020B0604020202020204" pitchFamily="34" charset="0"/>
              <a:buChar char="•"/>
            </a:pPr>
            <a:r>
              <a:rPr lang="en-US" sz="1000" dirty="0">
                <a:latin typeface="Avenir Book" panose="02000503020000020003" pitchFamily="2" charset="0"/>
              </a:rPr>
              <a:t>Managing Director represented IIH at </a:t>
            </a:r>
            <a:r>
              <a:rPr lang="en-US" sz="1000" b="1" dirty="0">
                <a:latin typeface="Avenir Book" panose="02000503020000020003" pitchFamily="2" charset="0"/>
              </a:rPr>
              <a:t>GITEX Africa 2025</a:t>
            </a:r>
            <a:r>
              <a:rPr lang="en-US" sz="1000" dirty="0">
                <a:latin typeface="Avenir Book" panose="02000503020000020003" pitchFamily="2" charset="0"/>
              </a:rPr>
              <a:t>, speaking on the panel “One African Silicon Valley or Many?” alongside global innovation leaders.</a:t>
            </a:r>
          </a:p>
          <a:p>
            <a:pPr marL="171450" indent="-171450">
              <a:lnSpc>
                <a:spcPct val="150000"/>
              </a:lnSpc>
              <a:buFont typeface="Arial" panose="020B0604020202020204" pitchFamily="34" charset="0"/>
              <a:buChar char="•"/>
            </a:pPr>
            <a:r>
              <a:rPr lang="en-US" sz="1000" dirty="0">
                <a:latin typeface="Avenir Book" panose="02000503020000020003" pitchFamily="2" charset="0"/>
              </a:rPr>
              <a:t>International visibility through participation at </a:t>
            </a:r>
            <a:r>
              <a:rPr lang="en-US" sz="1000" b="1" dirty="0">
                <a:latin typeface="Avenir Book" panose="02000503020000020003" pitchFamily="2" charset="0"/>
              </a:rPr>
              <a:t>Ai4 Conference (Las Vegas)</a:t>
            </a:r>
            <a:r>
              <a:rPr lang="en-US" sz="1000" dirty="0">
                <a:latin typeface="Avenir Book" panose="02000503020000020003" pitchFamily="2" charset="0"/>
              </a:rPr>
              <a:t> and </a:t>
            </a:r>
            <a:r>
              <a:rPr lang="en-US" sz="1000" b="1" dirty="0">
                <a:latin typeface="Avenir Book" panose="02000503020000020003" pitchFamily="2" charset="0"/>
              </a:rPr>
              <a:t>Lagos Business School AI Scaling Hub Workshop</a:t>
            </a:r>
            <a:r>
              <a:rPr lang="en-US" sz="1000" dirty="0">
                <a:latin typeface="Avenir Book" panose="02000503020000020003" pitchFamily="2" charset="0"/>
              </a:rPr>
              <a:t>.</a:t>
            </a:r>
          </a:p>
          <a:p>
            <a:pPr marL="171450" indent="-171450">
              <a:lnSpc>
                <a:spcPct val="150000"/>
              </a:lnSpc>
              <a:buFont typeface="Arial" panose="020B0604020202020204" pitchFamily="34" charset="0"/>
              <a:buChar char="•"/>
            </a:pPr>
            <a:r>
              <a:rPr lang="en-US" sz="1000" dirty="0">
                <a:latin typeface="Avenir Book" panose="02000503020000020003" pitchFamily="2" charset="0"/>
              </a:rPr>
              <a:t>Facility milestones achieved: elevator installation, UNDP Makerspace setup, external solar lighting, and cafeteria activation.</a:t>
            </a:r>
          </a:p>
        </p:txBody>
      </p:sp>
      <p:sp>
        <p:nvSpPr>
          <p:cNvPr id="4" name="Google Shape;67;p14">
            <a:extLst>
              <a:ext uri="{FF2B5EF4-FFF2-40B4-BE49-F238E27FC236}">
                <a16:creationId xmlns:a16="http://schemas.microsoft.com/office/drawing/2014/main" id="{9A3392CD-74D3-ED9F-2389-3F9EDD559113}"/>
              </a:ext>
            </a:extLst>
          </p:cNvPr>
          <p:cNvSpPr txBox="1">
            <a:spLocks/>
          </p:cNvSpPr>
          <p:nvPr/>
        </p:nvSpPr>
        <p:spPr>
          <a:xfrm>
            <a:off x="306876" y="826762"/>
            <a:ext cx="5241870" cy="6153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Font typeface="Arial"/>
              <a:buNone/>
            </a:pPr>
            <a:r>
              <a:rPr lang="en-US" sz="2400" b="1">
                <a:solidFill>
                  <a:schemeClr val="tx1"/>
                </a:solidFill>
                <a:latin typeface="Avenir Book" panose="02000503020000020003" pitchFamily="2" charset="0"/>
              </a:rPr>
              <a:t>Key Highlights</a:t>
            </a:r>
            <a:endParaRPr lang="en-US" sz="2400" b="1" dirty="0">
              <a:solidFill>
                <a:schemeClr val="tx1"/>
              </a:solidFill>
              <a:latin typeface="Avenir Book" panose="02000503020000020003" pitchFamily="2" charset="0"/>
            </a:endParaRPr>
          </a:p>
        </p:txBody>
      </p:sp>
      <p:pic>
        <p:nvPicPr>
          <p:cNvPr id="6" name="Picture 5" descr="A group of people posing for a photo&#10;&#10;AI-generated content may be incorrect.">
            <a:extLst>
              <a:ext uri="{FF2B5EF4-FFF2-40B4-BE49-F238E27FC236}">
                <a16:creationId xmlns:a16="http://schemas.microsoft.com/office/drawing/2014/main" id="{04228A7A-D91F-B4C1-E5BC-BE7264E28D2A}"/>
              </a:ext>
            </a:extLst>
          </p:cNvPr>
          <p:cNvPicPr>
            <a:picLocks noChangeAspect="1"/>
          </p:cNvPicPr>
          <p:nvPr/>
        </p:nvPicPr>
        <p:blipFill>
          <a:blip r:embed="rId6"/>
          <a:stretch>
            <a:fillRect/>
          </a:stretch>
        </p:blipFill>
        <p:spPr>
          <a:xfrm>
            <a:off x="7090283" y="1262025"/>
            <a:ext cx="1746841" cy="1575896"/>
          </a:xfrm>
          <a:prstGeom prst="rect">
            <a:avLst/>
          </a:prstGeom>
        </p:spPr>
      </p:pic>
      <p:pic>
        <p:nvPicPr>
          <p:cNvPr id="9" name="Picture 8" descr="A screenshot of a news app&#10;&#10;AI-generated content may be incorrect.">
            <a:extLst>
              <a:ext uri="{FF2B5EF4-FFF2-40B4-BE49-F238E27FC236}">
                <a16:creationId xmlns:a16="http://schemas.microsoft.com/office/drawing/2014/main" id="{A91B11B6-31F4-7455-7178-A9FB8185182F}"/>
              </a:ext>
            </a:extLst>
          </p:cNvPr>
          <p:cNvPicPr>
            <a:picLocks noChangeAspect="1"/>
          </p:cNvPicPr>
          <p:nvPr/>
        </p:nvPicPr>
        <p:blipFill>
          <a:blip r:embed="rId7"/>
          <a:stretch>
            <a:fillRect/>
          </a:stretch>
        </p:blipFill>
        <p:spPr>
          <a:xfrm>
            <a:off x="7090283" y="2968679"/>
            <a:ext cx="1729796" cy="1729796"/>
          </a:xfrm>
          <a:prstGeom prst="rect">
            <a:avLst/>
          </a:prstGeom>
        </p:spPr>
      </p:pic>
    </p:spTree>
    <p:extLst>
      <p:ext uri="{BB962C8B-B14F-4D97-AF65-F5344CB8AC3E}">
        <p14:creationId xmlns:p14="http://schemas.microsoft.com/office/powerpoint/2010/main" val="2228215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Shape 63">
          <a:extLst>
            <a:ext uri="{FF2B5EF4-FFF2-40B4-BE49-F238E27FC236}">
              <a16:creationId xmlns:a16="http://schemas.microsoft.com/office/drawing/2014/main" id="{B789042F-F61D-9409-E4E2-D7ACFC0E62B7}"/>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C73FF265-5240-0731-A6EC-CD2B90A93556}"/>
              </a:ext>
            </a:extLst>
          </p:cNvPr>
          <p:cNvSpPr/>
          <p:nvPr/>
        </p:nvSpPr>
        <p:spPr>
          <a:xfrm>
            <a:off x="7525" y="7525"/>
            <a:ext cx="9144000" cy="620700"/>
          </a:xfrm>
          <a:prstGeom prst="rect">
            <a:avLst/>
          </a:prstGeom>
          <a:solidFill>
            <a:srgbClr val="002D1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 name="Google Shape;65;p14" title="longer border.png">
            <a:extLst>
              <a:ext uri="{FF2B5EF4-FFF2-40B4-BE49-F238E27FC236}">
                <a16:creationId xmlns:a16="http://schemas.microsoft.com/office/drawing/2014/main" id="{DADE3AB1-9DC7-7F0F-D4CB-8F0A8ACC3402}"/>
              </a:ext>
            </a:extLst>
          </p:cNvPr>
          <p:cNvPicPr preferRelativeResize="0"/>
          <p:nvPr/>
        </p:nvPicPr>
        <p:blipFill>
          <a:blip r:embed="rId4">
            <a:alphaModFix/>
          </a:blip>
          <a:stretch>
            <a:fillRect/>
          </a:stretch>
        </p:blipFill>
        <p:spPr>
          <a:xfrm>
            <a:off x="0" y="445025"/>
            <a:ext cx="9144003" cy="183052"/>
          </a:xfrm>
          <a:prstGeom prst="rect">
            <a:avLst/>
          </a:prstGeom>
          <a:noFill/>
          <a:ln>
            <a:noFill/>
          </a:ln>
        </p:spPr>
      </p:pic>
      <p:sp>
        <p:nvSpPr>
          <p:cNvPr id="66" name="Google Shape;66;p14">
            <a:extLst>
              <a:ext uri="{FF2B5EF4-FFF2-40B4-BE49-F238E27FC236}">
                <a16:creationId xmlns:a16="http://schemas.microsoft.com/office/drawing/2014/main" id="{14578D1C-1AFB-C105-47F1-6CC3FB5B91FE}"/>
              </a:ext>
            </a:extLst>
          </p:cNvPr>
          <p:cNvSpPr txBox="1">
            <a:spLocks noGrp="1"/>
          </p:cNvSpPr>
          <p:nvPr>
            <p:ph type="title"/>
          </p:nvPr>
        </p:nvSpPr>
        <p:spPr>
          <a:xfrm>
            <a:off x="146025" y="124350"/>
            <a:ext cx="8520600" cy="285900"/>
          </a:xfrm>
          <a:prstGeom prst="rect">
            <a:avLst/>
          </a:prstGeom>
        </p:spPr>
        <p:txBody>
          <a:bodyPr spcFirstLastPara="1" wrap="square" lIns="91425" tIns="91425" rIns="91425" bIns="91425" anchor="ctr" anchorCtr="0">
            <a:normAutofit fontScale="90000"/>
          </a:bodyPr>
          <a:lstStyle/>
          <a:p>
            <a:r>
              <a:rPr lang="en-US" sz="1000" b="1" dirty="0">
                <a:solidFill>
                  <a:schemeClr val="lt1"/>
                </a:solidFill>
                <a:latin typeface="Avenir Book" panose="02000503020000020003" pitchFamily="2" charset="0"/>
                <a:ea typeface="Helvetica Neue"/>
                <a:cs typeface="Helvetica Neue"/>
                <a:sym typeface="Helvetica Neue"/>
              </a:rPr>
              <a:t>Executive Summary of Activities </a:t>
            </a:r>
            <a:endParaRPr lang="en-US" sz="1000" dirty="0">
              <a:solidFill>
                <a:srgbClr val="EFFFEF"/>
              </a:solidFill>
              <a:latin typeface="Helvetica Neue"/>
              <a:ea typeface="Helvetica Neue"/>
              <a:cs typeface="Helvetica Neue"/>
              <a:sym typeface="Helvetica Neue"/>
            </a:endParaRPr>
          </a:p>
        </p:txBody>
      </p:sp>
      <p:cxnSp>
        <p:nvCxnSpPr>
          <p:cNvPr id="68" name="Google Shape;68;p14">
            <a:extLst>
              <a:ext uri="{FF2B5EF4-FFF2-40B4-BE49-F238E27FC236}">
                <a16:creationId xmlns:a16="http://schemas.microsoft.com/office/drawing/2014/main" id="{9FD54DAE-779C-2097-00F5-D51A8C494D35}"/>
              </a:ext>
            </a:extLst>
          </p:cNvPr>
          <p:cNvCxnSpPr/>
          <p:nvPr/>
        </p:nvCxnSpPr>
        <p:spPr>
          <a:xfrm>
            <a:off x="-7525" y="4706725"/>
            <a:ext cx="9149400" cy="1800"/>
          </a:xfrm>
          <a:prstGeom prst="straightConnector1">
            <a:avLst/>
          </a:prstGeom>
          <a:noFill/>
          <a:ln w="9525" cap="flat" cmpd="sng">
            <a:solidFill>
              <a:srgbClr val="D9D9D9"/>
            </a:solidFill>
            <a:prstDash val="solid"/>
            <a:round/>
            <a:headEnd type="none" w="med" len="med"/>
            <a:tailEnd type="none" w="med" len="med"/>
          </a:ln>
        </p:spPr>
      </p:cxnSp>
      <p:pic>
        <p:nvPicPr>
          <p:cNvPr id="69" name="Google Shape;69;p14" title="IIH powered by IHS 1.png">
            <a:extLst>
              <a:ext uri="{FF2B5EF4-FFF2-40B4-BE49-F238E27FC236}">
                <a16:creationId xmlns:a16="http://schemas.microsoft.com/office/drawing/2014/main" id="{AB5C4D91-5C99-3D74-1007-12DE31A3BFF3}"/>
              </a:ext>
            </a:extLst>
          </p:cNvPr>
          <p:cNvPicPr preferRelativeResize="0"/>
          <p:nvPr/>
        </p:nvPicPr>
        <p:blipFill>
          <a:blip r:embed="rId5">
            <a:alphaModFix/>
          </a:blip>
          <a:stretch>
            <a:fillRect/>
          </a:stretch>
        </p:blipFill>
        <p:spPr>
          <a:xfrm>
            <a:off x="319225" y="4781674"/>
            <a:ext cx="676905" cy="285900"/>
          </a:xfrm>
          <a:prstGeom prst="rect">
            <a:avLst/>
          </a:prstGeom>
          <a:noFill/>
          <a:ln>
            <a:noFill/>
          </a:ln>
        </p:spPr>
      </p:pic>
      <p:sp>
        <p:nvSpPr>
          <p:cNvPr id="11" name="TextBox 10">
            <a:extLst>
              <a:ext uri="{FF2B5EF4-FFF2-40B4-BE49-F238E27FC236}">
                <a16:creationId xmlns:a16="http://schemas.microsoft.com/office/drawing/2014/main" id="{1C2D0C62-D758-55C9-32F7-1A266AB54FE8}"/>
              </a:ext>
            </a:extLst>
          </p:cNvPr>
          <p:cNvSpPr txBox="1"/>
          <p:nvPr/>
        </p:nvSpPr>
        <p:spPr>
          <a:xfrm>
            <a:off x="477376" y="1321441"/>
            <a:ext cx="6459452" cy="387542"/>
          </a:xfrm>
          <a:prstGeom prst="rect">
            <a:avLst/>
          </a:prstGeom>
          <a:noFill/>
        </p:spPr>
        <p:txBody>
          <a:bodyPr wrap="square" rtlCol="0">
            <a:spAutoFit/>
          </a:bodyPr>
          <a:lstStyle/>
          <a:p>
            <a:pPr>
              <a:lnSpc>
                <a:spcPct val="150000"/>
              </a:lnSpc>
            </a:pPr>
            <a:r>
              <a:rPr lang="en-US" dirty="0">
                <a:latin typeface="Avenir Book" panose="02000503020000020003" pitchFamily="2" charset="0"/>
              </a:rPr>
              <a:t>Key Highlights</a:t>
            </a:r>
            <a:endParaRPr lang="en-US" sz="1100" dirty="0">
              <a:latin typeface="Avenir Book" panose="02000503020000020003" pitchFamily="2" charset="0"/>
            </a:endParaRPr>
          </a:p>
        </p:txBody>
      </p:sp>
      <p:sp>
        <p:nvSpPr>
          <p:cNvPr id="4" name="Google Shape;67;p14">
            <a:extLst>
              <a:ext uri="{FF2B5EF4-FFF2-40B4-BE49-F238E27FC236}">
                <a16:creationId xmlns:a16="http://schemas.microsoft.com/office/drawing/2014/main" id="{F60FC25B-4EE8-13D1-91B0-EAEE47B126C7}"/>
              </a:ext>
            </a:extLst>
          </p:cNvPr>
          <p:cNvSpPr txBox="1">
            <a:spLocks/>
          </p:cNvSpPr>
          <p:nvPr/>
        </p:nvSpPr>
        <p:spPr>
          <a:xfrm>
            <a:off x="306875" y="826762"/>
            <a:ext cx="9047331" cy="6153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Font typeface="Arial"/>
              <a:buNone/>
            </a:pPr>
            <a:r>
              <a:rPr lang="en-US" sz="2400" b="1" dirty="0">
                <a:solidFill>
                  <a:schemeClr val="tx1"/>
                </a:solidFill>
                <a:latin typeface="Avenir Book" panose="02000503020000020003" pitchFamily="2" charset="0"/>
              </a:rPr>
              <a:t>Q1 — Foundation &amp; Early Engagement (February–May 2025)</a:t>
            </a:r>
          </a:p>
        </p:txBody>
      </p:sp>
      <p:sp>
        <p:nvSpPr>
          <p:cNvPr id="2" name="TextBox 1">
            <a:extLst>
              <a:ext uri="{FF2B5EF4-FFF2-40B4-BE49-F238E27FC236}">
                <a16:creationId xmlns:a16="http://schemas.microsoft.com/office/drawing/2014/main" id="{11C69C9B-DA46-BFF3-734D-0BE2A46627F9}"/>
              </a:ext>
            </a:extLst>
          </p:cNvPr>
          <p:cNvSpPr txBox="1"/>
          <p:nvPr/>
        </p:nvSpPr>
        <p:spPr>
          <a:xfrm>
            <a:off x="477376" y="1735360"/>
            <a:ext cx="6291286" cy="283834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200" dirty="0">
                <a:latin typeface="Avenir Book" panose="02000503020000020003" pitchFamily="2" charset="0"/>
              </a:rPr>
              <a:t>Program Kick-off and Art Hackathon on February 27 signaled the Hub’s operational relaunch.</a:t>
            </a:r>
          </a:p>
          <a:p>
            <a:pPr marL="285750" indent="-285750">
              <a:lnSpc>
                <a:spcPct val="150000"/>
              </a:lnSpc>
              <a:buFont typeface="Arial" panose="020B0604020202020204" pitchFamily="34" charset="0"/>
              <a:buChar char="•"/>
            </a:pPr>
            <a:r>
              <a:rPr lang="en-US" sz="1200" dirty="0">
                <a:latin typeface="Avenir Book" panose="02000503020000020003" pitchFamily="2" charset="0"/>
              </a:rPr>
              <a:t>Visit by the U.S. Embassy in April to initiate plans for an American Space at the Hub.</a:t>
            </a:r>
          </a:p>
          <a:p>
            <a:pPr marL="285750" indent="-285750">
              <a:lnSpc>
                <a:spcPct val="150000"/>
              </a:lnSpc>
              <a:buFont typeface="Arial" panose="020B0604020202020204" pitchFamily="34" charset="0"/>
              <a:buChar char="•"/>
            </a:pPr>
            <a:r>
              <a:rPr lang="en-US" sz="1200" dirty="0">
                <a:latin typeface="Avenir Book" panose="02000503020000020003" pitchFamily="2" charset="0"/>
              </a:rPr>
              <a:t>Build with AI event with student community GDG UNILORIN introduced practical AI learning for students.</a:t>
            </a:r>
          </a:p>
          <a:p>
            <a:pPr marL="285750" indent="-285750">
              <a:lnSpc>
                <a:spcPct val="150000"/>
              </a:lnSpc>
              <a:buFont typeface="Arial" panose="020B0604020202020204" pitchFamily="34" charset="0"/>
              <a:buChar char="•"/>
            </a:pPr>
            <a:r>
              <a:rPr lang="en-US" sz="1200" dirty="0">
                <a:latin typeface="Avenir Book" panose="02000503020000020003" pitchFamily="2" charset="0"/>
              </a:rPr>
              <a:t>May featured high-impact programs: AI in Nigeria Community Launch, Fireside Chat with </a:t>
            </a:r>
            <a:r>
              <a:rPr lang="en-US" sz="1200" dirty="0" err="1">
                <a:latin typeface="Avenir Book" panose="02000503020000020003" pitchFamily="2" charset="0"/>
              </a:rPr>
              <a:t>Iyin</a:t>
            </a:r>
            <a:r>
              <a:rPr lang="en-US" sz="1200" dirty="0">
                <a:latin typeface="Avenir Book" panose="02000503020000020003" pitchFamily="2" charset="0"/>
              </a:rPr>
              <a:t> </a:t>
            </a:r>
            <a:r>
              <a:rPr lang="en-US" sz="1200" dirty="0" err="1">
                <a:latin typeface="Avenir Book" panose="02000503020000020003" pitchFamily="2" charset="0"/>
              </a:rPr>
              <a:t>Aboyeji</a:t>
            </a:r>
            <a:r>
              <a:rPr lang="en-US" sz="1200" dirty="0">
                <a:latin typeface="Avenir Book" panose="02000503020000020003" pitchFamily="2" charset="0"/>
              </a:rPr>
              <a:t>, and the Virtual Townhall with top industry leaders.</a:t>
            </a:r>
          </a:p>
          <a:p>
            <a:pPr marL="285750" indent="-285750">
              <a:lnSpc>
                <a:spcPct val="150000"/>
              </a:lnSpc>
              <a:buFont typeface="Arial" panose="020B0604020202020204" pitchFamily="34" charset="0"/>
              <a:buChar char="•"/>
            </a:pPr>
            <a:r>
              <a:rPr lang="en-US" sz="1200" dirty="0">
                <a:latin typeface="Avenir Book" panose="02000503020000020003" pitchFamily="2" charset="0"/>
              </a:rPr>
              <a:t>The 3rd FETICON Student Colloquium (May 28–29), sponsored by IHS Towers, connected engineering students from across the region to industry experts and innovators.</a:t>
            </a:r>
          </a:p>
        </p:txBody>
      </p:sp>
      <p:pic>
        <p:nvPicPr>
          <p:cNvPr id="5" name="Picture 4" descr="A person and person sitting on a stage&#10;&#10;AI-generated content may be incorrect.">
            <a:extLst>
              <a:ext uri="{FF2B5EF4-FFF2-40B4-BE49-F238E27FC236}">
                <a16:creationId xmlns:a16="http://schemas.microsoft.com/office/drawing/2014/main" id="{3CFA67F6-2E55-8A14-FBFA-67727EBD7EB7}"/>
              </a:ext>
            </a:extLst>
          </p:cNvPr>
          <p:cNvPicPr>
            <a:picLocks noChangeAspect="1"/>
          </p:cNvPicPr>
          <p:nvPr/>
        </p:nvPicPr>
        <p:blipFill>
          <a:blip r:embed="rId6"/>
          <a:stretch>
            <a:fillRect/>
          </a:stretch>
        </p:blipFill>
        <p:spPr>
          <a:xfrm>
            <a:off x="6768662" y="1482631"/>
            <a:ext cx="2163093" cy="1442062"/>
          </a:xfrm>
          <a:prstGeom prst="rect">
            <a:avLst/>
          </a:prstGeom>
        </p:spPr>
      </p:pic>
      <p:pic>
        <p:nvPicPr>
          <p:cNvPr id="7" name="Picture 6" descr="A group of people standing in front of a large screen&#10;&#10;AI-generated content may be incorrect.">
            <a:extLst>
              <a:ext uri="{FF2B5EF4-FFF2-40B4-BE49-F238E27FC236}">
                <a16:creationId xmlns:a16="http://schemas.microsoft.com/office/drawing/2014/main" id="{170AC10F-531F-5721-670D-D17431CCBA55}"/>
              </a:ext>
            </a:extLst>
          </p:cNvPr>
          <p:cNvPicPr>
            <a:picLocks noChangeAspect="1"/>
          </p:cNvPicPr>
          <p:nvPr/>
        </p:nvPicPr>
        <p:blipFill>
          <a:blip r:embed="rId7"/>
          <a:stretch>
            <a:fillRect/>
          </a:stretch>
        </p:blipFill>
        <p:spPr>
          <a:xfrm>
            <a:off x="6767194" y="3134055"/>
            <a:ext cx="2163092" cy="1705515"/>
          </a:xfrm>
          <a:prstGeom prst="rect">
            <a:avLst/>
          </a:prstGeom>
        </p:spPr>
      </p:pic>
    </p:spTree>
    <p:extLst>
      <p:ext uri="{BB962C8B-B14F-4D97-AF65-F5344CB8AC3E}">
        <p14:creationId xmlns:p14="http://schemas.microsoft.com/office/powerpoint/2010/main" val="4227011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Shape 63">
          <a:extLst>
            <a:ext uri="{FF2B5EF4-FFF2-40B4-BE49-F238E27FC236}">
              <a16:creationId xmlns:a16="http://schemas.microsoft.com/office/drawing/2014/main" id="{FE3345FC-E68E-4AD2-2C01-D8EC8DA23D82}"/>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0192E64B-E35E-F3EB-9B72-EB264851D663}"/>
              </a:ext>
            </a:extLst>
          </p:cNvPr>
          <p:cNvSpPr/>
          <p:nvPr/>
        </p:nvSpPr>
        <p:spPr>
          <a:xfrm>
            <a:off x="7525" y="7525"/>
            <a:ext cx="9144000" cy="620700"/>
          </a:xfrm>
          <a:prstGeom prst="rect">
            <a:avLst/>
          </a:prstGeom>
          <a:solidFill>
            <a:srgbClr val="002D1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 name="Google Shape;65;p14" title="longer border.png">
            <a:extLst>
              <a:ext uri="{FF2B5EF4-FFF2-40B4-BE49-F238E27FC236}">
                <a16:creationId xmlns:a16="http://schemas.microsoft.com/office/drawing/2014/main" id="{9C2E4B35-BB5E-9EBA-861E-FF5D3B73CD3A}"/>
              </a:ext>
            </a:extLst>
          </p:cNvPr>
          <p:cNvPicPr preferRelativeResize="0"/>
          <p:nvPr/>
        </p:nvPicPr>
        <p:blipFill>
          <a:blip r:embed="rId4">
            <a:alphaModFix/>
          </a:blip>
          <a:stretch>
            <a:fillRect/>
          </a:stretch>
        </p:blipFill>
        <p:spPr>
          <a:xfrm>
            <a:off x="0" y="445025"/>
            <a:ext cx="9144003" cy="183052"/>
          </a:xfrm>
          <a:prstGeom prst="rect">
            <a:avLst/>
          </a:prstGeom>
          <a:noFill/>
          <a:ln>
            <a:noFill/>
          </a:ln>
        </p:spPr>
      </p:pic>
      <p:sp>
        <p:nvSpPr>
          <p:cNvPr id="66" name="Google Shape;66;p14">
            <a:extLst>
              <a:ext uri="{FF2B5EF4-FFF2-40B4-BE49-F238E27FC236}">
                <a16:creationId xmlns:a16="http://schemas.microsoft.com/office/drawing/2014/main" id="{FD4FEC74-2F7E-3B74-778F-72F45476D107}"/>
              </a:ext>
            </a:extLst>
          </p:cNvPr>
          <p:cNvSpPr txBox="1">
            <a:spLocks noGrp="1"/>
          </p:cNvSpPr>
          <p:nvPr>
            <p:ph type="title"/>
          </p:nvPr>
        </p:nvSpPr>
        <p:spPr>
          <a:xfrm>
            <a:off x="146025" y="124350"/>
            <a:ext cx="8520600" cy="285900"/>
          </a:xfrm>
          <a:prstGeom prst="rect">
            <a:avLst/>
          </a:prstGeom>
        </p:spPr>
        <p:txBody>
          <a:bodyPr spcFirstLastPara="1" wrap="square" lIns="91425" tIns="91425" rIns="91425" bIns="91425" anchor="ctr" anchorCtr="0">
            <a:normAutofit fontScale="90000"/>
          </a:bodyPr>
          <a:lstStyle/>
          <a:p>
            <a:r>
              <a:rPr lang="en-US" sz="1000" b="1" dirty="0">
                <a:solidFill>
                  <a:schemeClr val="lt1"/>
                </a:solidFill>
                <a:latin typeface="Avenir Book" panose="02000503020000020003" pitchFamily="2" charset="0"/>
                <a:ea typeface="Helvetica Neue"/>
                <a:cs typeface="Helvetica Neue"/>
                <a:sym typeface="Helvetica Neue"/>
              </a:rPr>
              <a:t>Executive Summary of Activities </a:t>
            </a:r>
            <a:endParaRPr lang="en-US" sz="1000" dirty="0">
              <a:solidFill>
                <a:srgbClr val="EFFFEF"/>
              </a:solidFill>
              <a:latin typeface="Helvetica Neue"/>
              <a:ea typeface="Helvetica Neue"/>
              <a:cs typeface="Helvetica Neue"/>
              <a:sym typeface="Helvetica Neue"/>
            </a:endParaRPr>
          </a:p>
        </p:txBody>
      </p:sp>
      <p:cxnSp>
        <p:nvCxnSpPr>
          <p:cNvPr id="68" name="Google Shape;68;p14">
            <a:extLst>
              <a:ext uri="{FF2B5EF4-FFF2-40B4-BE49-F238E27FC236}">
                <a16:creationId xmlns:a16="http://schemas.microsoft.com/office/drawing/2014/main" id="{391BDB59-B477-60C9-B046-EAD5E2010881}"/>
              </a:ext>
            </a:extLst>
          </p:cNvPr>
          <p:cNvCxnSpPr/>
          <p:nvPr/>
        </p:nvCxnSpPr>
        <p:spPr>
          <a:xfrm>
            <a:off x="-7525" y="4706725"/>
            <a:ext cx="9149400" cy="1800"/>
          </a:xfrm>
          <a:prstGeom prst="straightConnector1">
            <a:avLst/>
          </a:prstGeom>
          <a:noFill/>
          <a:ln w="9525" cap="flat" cmpd="sng">
            <a:solidFill>
              <a:srgbClr val="D9D9D9"/>
            </a:solidFill>
            <a:prstDash val="solid"/>
            <a:round/>
            <a:headEnd type="none" w="med" len="med"/>
            <a:tailEnd type="none" w="med" len="med"/>
          </a:ln>
        </p:spPr>
      </p:cxnSp>
      <p:pic>
        <p:nvPicPr>
          <p:cNvPr id="69" name="Google Shape;69;p14" title="IIH powered by IHS 1.png">
            <a:extLst>
              <a:ext uri="{FF2B5EF4-FFF2-40B4-BE49-F238E27FC236}">
                <a16:creationId xmlns:a16="http://schemas.microsoft.com/office/drawing/2014/main" id="{BA10AAFF-6A13-C7EE-F1ED-12CD9F6885FC}"/>
              </a:ext>
            </a:extLst>
          </p:cNvPr>
          <p:cNvPicPr preferRelativeResize="0"/>
          <p:nvPr/>
        </p:nvPicPr>
        <p:blipFill>
          <a:blip r:embed="rId5">
            <a:alphaModFix/>
          </a:blip>
          <a:stretch>
            <a:fillRect/>
          </a:stretch>
        </p:blipFill>
        <p:spPr>
          <a:xfrm>
            <a:off x="319225" y="4781674"/>
            <a:ext cx="676905" cy="285900"/>
          </a:xfrm>
          <a:prstGeom prst="rect">
            <a:avLst/>
          </a:prstGeom>
          <a:noFill/>
          <a:ln>
            <a:noFill/>
          </a:ln>
        </p:spPr>
      </p:pic>
      <p:sp>
        <p:nvSpPr>
          <p:cNvPr id="4" name="Google Shape;67;p14">
            <a:extLst>
              <a:ext uri="{FF2B5EF4-FFF2-40B4-BE49-F238E27FC236}">
                <a16:creationId xmlns:a16="http://schemas.microsoft.com/office/drawing/2014/main" id="{923D93FA-9253-1FE6-75E1-EEE064724B2F}"/>
              </a:ext>
            </a:extLst>
          </p:cNvPr>
          <p:cNvSpPr txBox="1">
            <a:spLocks/>
          </p:cNvSpPr>
          <p:nvPr/>
        </p:nvSpPr>
        <p:spPr>
          <a:xfrm>
            <a:off x="306875" y="826762"/>
            <a:ext cx="9047331" cy="6153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Font typeface="Arial"/>
              <a:buNone/>
            </a:pPr>
            <a:r>
              <a:rPr lang="en-US" sz="2400" b="1" dirty="0">
                <a:solidFill>
                  <a:schemeClr val="tx1"/>
                </a:solidFill>
                <a:latin typeface="Avenir Book" panose="02000503020000020003" pitchFamily="2" charset="0"/>
              </a:rPr>
              <a:t>Q1 — Foundation &amp; Early Engagement (February–May 2025)</a:t>
            </a:r>
          </a:p>
        </p:txBody>
      </p:sp>
      <p:sp>
        <p:nvSpPr>
          <p:cNvPr id="2" name="TextBox 1">
            <a:extLst>
              <a:ext uri="{FF2B5EF4-FFF2-40B4-BE49-F238E27FC236}">
                <a16:creationId xmlns:a16="http://schemas.microsoft.com/office/drawing/2014/main" id="{3D9DF163-BCAB-CB1A-2D93-DB63BA975C42}"/>
              </a:ext>
            </a:extLst>
          </p:cNvPr>
          <p:cNvSpPr txBox="1"/>
          <p:nvPr/>
        </p:nvSpPr>
        <p:spPr>
          <a:xfrm>
            <a:off x="2288191" y="1470981"/>
            <a:ext cx="6291286" cy="2645724"/>
          </a:xfrm>
          <a:prstGeom prst="rect">
            <a:avLst/>
          </a:prstGeom>
          <a:noFill/>
        </p:spPr>
        <p:txBody>
          <a:bodyPr wrap="square" rtlCol="0">
            <a:spAutoFit/>
          </a:bodyPr>
          <a:lstStyle/>
          <a:p>
            <a:pPr>
              <a:lnSpc>
                <a:spcPct val="150000"/>
              </a:lnSpc>
            </a:pPr>
            <a:r>
              <a:rPr lang="en-US" sz="1600" b="1" dirty="0">
                <a:latin typeface="Avenir Book" panose="02000503020000020003" pitchFamily="2" charset="0"/>
              </a:rPr>
              <a:t>Impact Metrics</a:t>
            </a:r>
            <a:br>
              <a:rPr lang="en-US" sz="1600" dirty="0">
                <a:latin typeface="Avenir Book" panose="02000503020000020003" pitchFamily="2" charset="0"/>
              </a:rPr>
            </a:br>
            <a:r>
              <a:rPr lang="en-US" sz="1600" dirty="0">
                <a:latin typeface="Avenir Book" panose="02000503020000020003" pitchFamily="2" charset="0"/>
              </a:rPr>
              <a:t>Over 900 participants engaged during this foundation phase, building the base for subsequent program scale-up.</a:t>
            </a:r>
          </a:p>
          <a:p>
            <a:pPr>
              <a:lnSpc>
                <a:spcPct val="150000"/>
              </a:lnSpc>
            </a:pPr>
            <a:endParaRPr lang="en-US" sz="1600" b="1" dirty="0">
              <a:latin typeface="Avenir Book" panose="02000503020000020003" pitchFamily="2" charset="0"/>
            </a:endParaRPr>
          </a:p>
          <a:p>
            <a:pPr>
              <a:lnSpc>
                <a:spcPct val="150000"/>
              </a:lnSpc>
            </a:pPr>
            <a:r>
              <a:rPr lang="en-US" sz="1600" b="1" dirty="0">
                <a:latin typeface="Avenir Book" panose="02000503020000020003" pitchFamily="2" charset="0"/>
              </a:rPr>
              <a:t>Milestones</a:t>
            </a:r>
            <a:br>
              <a:rPr lang="en-US" sz="1600" dirty="0">
                <a:latin typeface="Avenir Book" panose="02000503020000020003" pitchFamily="2" charset="0"/>
              </a:rPr>
            </a:br>
            <a:r>
              <a:rPr lang="en-US" sz="1600" dirty="0">
                <a:latin typeface="Avenir Book" panose="02000503020000020003" pitchFamily="2" charset="0"/>
              </a:rPr>
              <a:t>Operational setup completed, staff hiring commenced, and early partnerships activated with IHS Towers, UNDP, and </a:t>
            </a:r>
            <a:r>
              <a:rPr lang="en-US" sz="1600" dirty="0" err="1">
                <a:latin typeface="Avenir Book" panose="02000503020000020003" pitchFamily="2" charset="0"/>
              </a:rPr>
              <a:t>CcHub</a:t>
            </a:r>
            <a:r>
              <a:rPr lang="en-US" sz="1600" dirty="0">
                <a:latin typeface="Avenir Book" panose="02000503020000020003" pitchFamily="2" charset="0"/>
              </a:rPr>
              <a:t>.</a:t>
            </a:r>
          </a:p>
        </p:txBody>
      </p:sp>
      <p:pic>
        <p:nvPicPr>
          <p:cNvPr id="3" name="Picture 2" descr="A green mountain with a flag on top&#10;&#10;AI-generated content may be incorrect.">
            <a:extLst>
              <a:ext uri="{FF2B5EF4-FFF2-40B4-BE49-F238E27FC236}">
                <a16:creationId xmlns:a16="http://schemas.microsoft.com/office/drawing/2014/main" id="{9DC02322-C199-6382-C29F-5DFAF30722A7}"/>
              </a:ext>
            </a:extLst>
          </p:cNvPr>
          <p:cNvPicPr>
            <a:picLocks noChangeAspect="1"/>
          </p:cNvPicPr>
          <p:nvPr/>
        </p:nvPicPr>
        <p:blipFill>
          <a:blip r:embed="rId6"/>
          <a:srcRect l="9483" t="17684" r="12170" b="17753"/>
          <a:stretch/>
        </p:blipFill>
        <p:spPr>
          <a:xfrm>
            <a:off x="393653" y="2793843"/>
            <a:ext cx="1603006" cy="1320989"/>
          </a:xfrm>
          <a:prstGeom prst="rect">
            <a:avLst/>
          </a:prstGeom>
        </p:spPr>
      </p:pic>
      <p:pic>
        <p:nvPicPr>
          <p:cNvPr id="5" name="Picture 4" descr="A green graph with a black circle&#10;&#10;AI-generated content may be incorrect.">
            <a:extLst>
              <a:ext uri="{FF2B5EF4-FFF2-40B4-BE49-F238E27FC236}">
                <a16:creationId xmlns:a16="http://schemas.microsoft.com/office/drawing/2014/main" id="{81DCCA07-C200-DBC5-6B20-F15EAEF5F3CA}"/>
              </a:ext>
            </a:extLst>
          </p:cNvPr>
          <p:cNvPicPr>
            <a:picLocks noChangeAspect="1"/>
          </p:cNvPicPr>
          <p:nvPr/>
        </p:nvPicPr>
        <p:blipFill>
          <a:blip r:embed="rId7"/>
          <a:srcRect l="11193" t="9978" r="9013" b="10391"/>
          <a:stretch/>
        </p:blipFill>
        <p:spPr>
          <a:xfrm>
            <a:off x="598407" y="1373461"/>
            <a:ext cx="1323684" cy="1320989"/>
          </a:xfrm>
          <a:prstGeom prst="rect">
            <a:avLst/>
          </a:prstGeom>
        </p:spPr>
      </p:pic>
    </p:spTree>
    <p:extLst>
      <p:ext uri="{BB962C8B-B14F-4D97-AF65-F5344CB8AC3E}">
        <p14:creationId xmlns:p14="http://schemas.microsoft.com/office/powerpoint/2010/main" val="28244930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Shape 63">
          <a:extLst>
            <a:ext uri="{FF2B5EF4-FFF2-40B4-BE49-F238E27FC236}">
              <a16:creationId xmlns:a16="http://schemas.microsoft.com/office/drawing/2014/main" id="{EB2B57D0-1F7F-F348-527E-1430E1A94307}"/>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6AEE7766-CB4B-C237-8603-B2D69F76E0B8}"/>
              </a:ext>
            </a:extLst>
          </p:cNvPr>
          <p:cNvSpPr/>
          <p:nvPr/>
        </p:nvSpPr>
        <p:spPr>
          <a:xfrm>
            <a:off x="7525" y="7525"/>
            <a:ext cx="9144000" cy="620700"/>
          </a:xfrm>
          <a:prstGeom prst="rect">
            <a:avLst/>
          </a:prstGeom>
          <a:solidFill>
            <a:srgbClr val="002D1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 name="Google Shape;65;p14" title="longer border.png">
            <a:extLst>
              <a:ext uri="{FF2B5EF4-FFF2-40B4-BE49-F238E27FC236}">
                <a16:creationId xmlns:a16="http://schemas.microsoft.com/office/drawing/2014/main" id="{F1D6E58C-8394-7A12-E767-74F056876CA9}"/>
              </a:ext>
            </a:extLst>
          </p:cNvPr>
          <p:cNvPicPr preferRelativeResize="0"/>
          <p:nvPr/>
        </p:nvPicPr>
        <p:blipFill>
          <a:blip r:embed="rId4">
            <a:alphaModFix/>
          </a:blip>
          <a:stretch>
            <a:fillRect/>
          </a:stretch>
        </p:blipFill>
        <p:spPr>
          <a:xfrm>
            <a:off x="0" y="445025"/>
            <a:ext cx="9144003" cy="183052"/>
          </a:xfrm>
          <a:prstGeom prst="rect">
            <a:avLst/>
          </a:prstGeom>
          <a:noFill/>
          <a:ln>
            <a:noFill/>
          </a:ln>
        </p:spPr>
      </p:pic>
      <p:sp>
        <p:nvSpPr>
          <p:cNvPr id="66" name="Google Shape;66;p14">
            <a:extLst>
              <a:ext uri="{FF2B5EF4-FFF2-40B4-BE49-F238E27FC236}">
                <a16:creationId xmlns:a16="http://schemas.microsoft.com/office/drawing/2014/main" id="{6FCDAE83-CF50-076D-6224-5CB72BFA34B9}"/>
              </a:ext>
            </a:extLst>
          </p:cNvPr>
          <p:cNvSpPr txBox="1">
            <a:spLocks noGrp="1"/>
          </p:cNvSpPr>
          <p:nvPr>
            <p:ph type="title"/>
          </p:nvPr>
        </p:nvSpPr>
        <p:spPr>
          <a:xfrm>
            <a:off x="146025" y="124350"/>
            <a:ext cx="8520600" cy="285900"/>
          </a:xfrm>
          <a:prstGeom prst="rect">
            <a:avLst/>
          </a:prstGeom>
        </p:spPr>
        <p:txBody>
          <a:bodyPr spcFirstLastPara="1" wrap="square" lIns="91425" tIns="91425" rIns="91425" bIns="91425" anchor="ctr" anchorCtr="0">
            <a:normAutofit fontScale="90000"/>
          </a:bodyPr>
          <a:lstStyle/>
          <a:p>
            <a:r>
              <a:rPr lang="en-US" sz="1000" b="1" dirty="0">
                <a:solidFill>
                  <a:schemeClr val="lt1"/>
                </a:solidFill>
                <a:latin typeface="Avenir Book" panose="02000503020000020003" pitchFamily="2" charset="0"/>
                <a:ea typeface="Helvetica Neue"/>
                <a:cs typeface="Helvetica Neue"/>
                <a:sym typeface="Helvetica Neue"/>
              </a:rPr>
              <a:t>Executive Summary of Activities </a:t>
            </a:r>
            <a:endParaRPr lang="en-US" sz="1000" dirty="0">
              <a:solidFill>
                <a:srgbClr val="EFFFEF"/>
              </a:solidFill>
              <a:latin typeface="Helvetica Neue"/>
              <a:ea typeface="Helvetica Neue"/>
              <a:cs typeface="Helvetica Neue"/>
              <a:sym typeface="Helvetica Neue"/>
            </a:endParaRPr>
          </a:p>
        </p:txBody>
      </p:sp>
      <p:cxnSp>
        <p:nvCxnSpPr>
          <p:cNvPr id="68" name="Google Shape;68;p14">
            <a:extLst>
              <a:ext uri="{FF2B5EF4-FFF2-40B4-BE49-F238E27FC236}">
                <a16:creationId xmlns:a16="http://schemas.microsoft.com/office/drawing/2014/main" id="{5F2B314B-39FE-30E7-B1DE-8A0D54D8A5B9}"/>
              </a:ext>
            </a:extLst>
          </p:cNvPr>
          <p:cNvCxnSpPr/>
          <p:nvPr/>
        </p:nvCxnSpPr>
        <p:spPr>
          <a:xfrm>
            <a:off x="-7525" y="4706725"/>
            <a:ext cx="9149400" cy="1800"/>
          </a:xfrm>
          <a:prstGeom prst="straightConnector1">
            <a:avLst/>
          </a:prstGeom>
          <a:noFill/>
          <a:ln w="9525" cap="flat" cmpd="sng">
            <a:solidFill>
              <a:srgbClr val="D9D9D9"/>
            </a:solidFill>
            <a:prstDash val="solid"/>
            <a:round/>
            <a:headEnd type="none" w="med" len="med"/>
            <a:tailEnd type="none" w="med" len="med"/>
          </a:ln>
        </p:spPr>
      </p:cxnSp>
      <p:pic>
        <p:nvPicPr>
          <p:cNvPr id="69" name="Google Shape;69;p14" title="IIH powered by IHS 1.png">
            <a:extLst>
              <a:ext uri="{FF2B5EF4-FFF2-40B4-BE49-F238E27FC236}">
                <a16:creationId xmlns:a16="http://schemas.microsoft.com/office/drawing/2014/main" id="{F17EB07C-5E09-ACFB-8984-E088B870C3D5}"/>
              </a:ext>
            </a:extLst>
          </p:cNvPr>
          <p:cNvPicPr preferRelativeResize="0"/>
          <p:nvPr/>
        </p:nvPicPr>
        <p:blipFill>
          <a:blip r:embed="rId5">
            <a:alphaModFix/>
          </a:blip>
          <a:stretch>
            <a:fillRect/>
          </a:stretch>
        </p:blipFill>
        <p:spPr>
          <a:xfrm>
            <a:off x="319225" y="4781674"/>
            <a:ext cx="676905" cy="285900"/>
          </a:xfrm>
          <a:prstGeom prst="rect">
            <a:avLst/>
          </a:prstGeom>
          <a:noFill/>
          <a:ln>
            <a:noFill/>
          </a:ln>
        </p:spPr>
      </p:pic>
      <p:sp>
        <p:nvSpPr>
          <p:cNvPr id="4" name="Google Shape;67;p14">
            <a:extLst>
              <a:ext uri="{FF2B5EF4-FFF2-40B4-BE49-F238E27FC236}">
                <a16:creationId xmlns:a16="http://schemas.microsoft.com/office/drawing/2014/main" id="{111F962E-6CAE-071E-6B34-381BB7373E25}"/>
              </a:ext>
            </a:extLst>
          </p:cNvPr>
          <p:cNvSpPr txBox="1">
            <a:spLocks/>
          </p:cNvSpPr>
          <p:nvPr/>
        </p:nvSpPr>
        <p:spPr>
          <a:xfrm>
            <a:off x="306875" y="826762"/>
            <a:ext cx="9047331" cy="6153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Font typeface="Arial"/>
              <a:buNone/>
            </a:pPr>
            <a:r>
              <a:rPr lang="en-US" sz="2400" b="1" dirty="0">
                <a:solidFill>
                  <a:schemeClr val="tx1"/>
                </a:solidFill>
                <a:latin typeface="Avenir Book" panose="02000503020000020003" pitchFamily="2" charset="0"/>
              </a:rPr>
              <a:t>Q2 — Growth &amp; Ecosystem Building (June–August 2025)</a:t>
            </a:r>
          </a:p>
        </p:txBody>
      </p:sp>
      <p:sp>
        <p:nvSpPr>
          <p:cNvPr id="3" name="TextBox 2">
            <a:extLst>
              <a:ext uri="{FF2B5EF4-FFF2-40B4-BE49-F238E27FC236}">
                <a16:creationId xmlns:a16="http://schemas.microsoft.com/office/drawing/2014/main" id="{6A269FEE-A8AC-2C46-FC9C-D8B0B5DB4182}"/>
              </a:ext>
            </a:extLst>
          </p:cNvPr>
          <p:cNvSpPr txBox="1"/>
          <p:nvPr/>
        </p:nvSpPr>
        <p:spPr>
          <a:xfrm>
            <a:off x="477376" y="1321441"/>
            <a:ext cx="6459452" cy="387542"/>
          </a:xfrm>
          <a:prstGeom prst="rect">
            <a:avLst/>
          </a:prstGeom>
          <a:noFill/>
        </p:spPr>
        <p:txBody>
          <a:bodyPr wrap="square" rtlCol="0">
            <a:spAutoFit/>
          </a:bodyPr>
          <a:lstStyle/>
          <a:p>
            <a:pPr>
              <a:lnSpc>
                <a:spcPct val="150000"/>
              </a:lnSpc>
            </a:pPr>
            <a:r>
              <a:rPr lang="en-US" dirty="0">
                <a:latin typeface="Avenir Book" panose="02000503020000020003" pitchFamily="2" charset="0"/>
              </a:rPr>
              <a:t>Key Highlights</a:t>
            </a:r>
            <a:endParaRPr lang="en-US" sz="1100" dirty="0">
              <a:latin typeface="Avenir Book" panose="02000503020000020003" pitchFamily="2" charset="0"/>
            </a:endParaRPr>
          </a:p>
        </p:txBody>
      </p:sp>
      <p:sp>
        <p:nvSpPr>
          <p:cNvPr id="5" name="TextBox 4">
            <a:extLst>
              <a:ext uri="{FF2B5EF4-FFF2-40B4-BE49-F238E27FC236}">
                <a16:creationId xmlns:a16="http://schemas.microsoft.com/office/drawing/2014/main" id="{01B3BF13-DEB0-7C79-5E5B-F21FFEC2DB7F}"/>
              </a:ext>
            </a:extLst>
          </p:cNvPr>
          <p:cNvSpPr txBox="1"/>
          <p:nvPr/>
        </p:nvSpPr>
        <p:spPr>
          <a:xfrm>
            <a:off x="477375" y="1735360"/>
            <a:ext cx="5519388" cy="286347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100" dirty="0">
                <a:latin typeface="Avenir Book" panose="02000503020000020003" pitchFamily="2" charset="0"/>
              </a:rPr>
              <a:t>Launch of </a:t>
            </a:r>
            <a:r>
              <a:rPr lang="en-US" sz="1100" dirty="0" err="1">
                <a:latin typeface="Avenir Book" panose="02000503020000020003" pitchFamily="2" charset="0"/>
              </a:rPr>
              <a:t>DevBox</a:t>
            </a:r>
            <a:r>
              <a:rPr lang="en-US" sz="1100" dirty="0">
                <a:latin typeface="Avenir Book" panose="02000503020000020003" pitchFamily="2" charset="0"/>
              </a:rPr>
              <a:t>, Builder’s Path, and Entrepreneurship Masterclass </a:t>
            </a:r>
          </a:p>
          <a:p>
            <a:pPr marL="285750" indent="-285750">
              <a:lnSpc>
                <a:spcPct val="150000"/>
              </a:lnSpc>
              <a:buFont typeface="Arial" panose="020B0604020202020204" pitchFamily="34" charset="0"/>
              <a:buChar char="•"/>
            </a:pPr>
            <a:r>
              <a:rPr lang="en-US" sz="1100" dirty="0">
                <a:latin typeface="Avenir Book" panose="02000503020000020003" pitchFamily="2" charset="0"/>
              </a:rPr>
              <a:t>Kwara Innovation Challenge &amp; Hackathon with regional roadshows across 8 states</a:t>
            </a:r>
          </a:p>
          <a:p>
            <a:pPr marL="285750" indent="-285750">
              <a:lnSpc>
                <a:spcPct val="150000"/>
              </a:lnSpc>
              <a:buFont typeface="Arial" panose="020B0604020202020204" pitchFamily="34" charset="0"/>
              <a:buChar char="•"/>
            </a:pPr>
            <a:r>
              <a:rPr lang="en-US" sz="1100" dirty="0">
                <a:latin typeface="Avenir Book" panose="02000503020000020003" pitchFamily="2" charset="0"/>
              </a:rPr>
              <a:t>STEM Africa Fest with 600+ students and educators </a:t>
            </a:r>
          </a:p>
          <a:p>
            <a:pPr marL="285750" indent="-285750">
              <a:lnSpc>
                <a:spcPct val="150000"/>
              </a:lnSpc>
              <a:buFont typeface="Arial" panose="020B0604020202020204" pitchFamily="34" charset="0"/>
              <a:buChar char="•"/>
            </a:pPr>
            <a:r>
              <a:rPr lang="en-US" sz="1100" dirty="0">
                <a:latin typeface="Avenir Book" panose="02000503020000020003" pitchFamily="2" charset="0"/>
              </a:rPr>
              <a:t>Future African Space Explorer STEM Academy (FASESA) hosted with IHS support</a:t>
            </a:r>
          </a:p>
          <a:p>
            <a:pPr marL="285750" indent="-285750">
              <a:lnSpc>
                <a:spcPct val="150000"/>
              </a:lnSpc>
              <a:buFont typeface="Arial" panose="020B0604020202020204" pitchFamily="34" charset="0"/>
              <a:buChar char="•"/>
            </a:pPr>
            <a:r>
              <a:rPr lang="en-US" sz="1100" dirty="0">
                <a:latin typeface="Avenir Book" panose="02000503020000020003" pitchFamily="2" charset="0"/>
              </a:rPr>
              <a:t>Tech for Market Women (with Mastercard Foundation) and SUI Blockchain Meetup</a:t>
            </a:r>
          </a:p>
          <a:p>
            <a:pPr marL="285750" indent="-285750">
              <a:lnSpc>
                <a:spcPct val="150000"/>
              </a:lnSpc>
              <a:buFont typeface="Arial" panose="020B0604020202020204" pitchFamily="34" charset="0"/>
              <a:buChar char="•"/>
            </a:pPr>
            <a:r>
              <a:rPr lang="en-US" sz="1100" dirty="0">
                <a:latin typeface="Avenir Book" panose="02000503020000020003" pitchFamily="2" charset="0"/>
              </a:rPr>
              <a:t>Design Thinking Bootcamp, Human-Centered Design Workshop, Gemini API </a:t>
            </a:r>
            <a:r>
              <a:rPr lang="en-US" sz="1100" dirty="0" err="1">
                <a:latin typeface="Avenir Book" panose="02000503020000020003" pitchFamily="2" charset="0"/>
              </a:rPr>
              <a:t>DevBox</a:t>
            </a:r>
            <a:endParaRPr lang="en-US" sz="1100" dirty="0">
              <a:latin typeface="Avenir Book" panose="02000503020000020003" pitchFamily="2" charset="0"/>
            </a:endParaRPr>
          </a:p>
          <a:p>
            <a:pPr marL="285750" indent="-285750">
              <a:lnSpc>
                <a:spcPct val="150000"/>
              </a:lnSpc>
              <a:buFont typeface="Arial" panose="020B0604020202020204" pitchFamily="34" charset="0"/>
              <a:buChar char="•"/>
            </a:pPr>
            <a:r>
              <a:rPr lang="en-US" sz="1100" dirty="0">
                <a:latin typeface="Avenir Book" panose="02000503020000020003" pitchFamily="2" charset="0"/>
              </a:rPr>
              <a:t>Cybersecurity Webinar and Meet &amp; Mingle 1.0 </a:t>
            </a:r>
          </a:p>
          <a:p>
            <a:pPr marL="285750" indent="-285750">
              <a:lnSpc>
                <a:spcPct val="150000"/>
              </a:lnSpc>
              <a:buFont typeface="Arial" panose="020B0604020202020204" pitchFamily="34" charset="0"/>
              <a:buChar char="•"/>
            </a:pPr>
            <a:r>
              <a:rPr lang="en-US" sz="1100" dirty="0">
                <a:latin typeface="Avenir Book" panose="02000503020000020003" pitchFamily="2" charset="0"/>
              </a:rPr>
              <a:t>Incorporation of Ilorin Innovation Hub Ltd/</a:t>
            </a:r>
            <a:r>
              <a:rPr lang="en-US" sz="1100" dirty="0" err="1">
                <a:latin typeface="Avenir Book" panose="02000503020000020003" pitchFamily="2" charset="0"/>
              </a:rPr>
              <a:t>Gte</a:t>
            </a:r>
            <a:r>
              <a:rPr lang="en-US" sz="1100" dirty="0">
                <a:latin typeface="Avenir Book" panose="02000503020000020003" pitchFamily="2" charset="0"/>
              </a:rPr>
              <a:t> finalized</a:t>
            </a:r>
          </a:p>
        </p:txBody>
      </p:sp>
      <p:pic>
        <p:nvPicPr>
          <p:cNvPr id="6" name="Picture 5" descr="A group of people sitting in a room with computers&#10;&#10;AI-generated content may be incorrect.">
            <a:extLst>
              <a:ext uri="{FF2B5EF4-FFF2-40B4-BE49-F238E27FC236}">
                <a16:creationId xmlns:a16="http://schemas.microsoft.com/office/drawing/2014/main" id="{4F9D7471-603E-3268-6D20-E9F17FB94B0B}"/>
              </a:ext>
            </a:extLst>
          </p:cNvPr>
          <p:cNvPicPr>
            <a:picLocks noChangeAspect="1"/>
          </p:cNvPicPr>
          <p:nvPr/>
        </p:nvPicPr>
        <p:blipFill>
          <a:blip r:embed="rId6"/>
          <a:stretch>
            <a:fillRect/>
          </a:stretch>
        </p:blipFill>
        <p:spPr>
          <a:xfrm>
            <a:off x="6358270" y="1476814"/>
            <a:ext cx="1967023" cy="1441022"/>
          </a:xfrm>
          <a:prstGeom prst="rect">
            <a:avLst/>
          </a:prstGeom>
        </p:spPr>
      </p:pic>
      <p:pic>
        <p:nvPicPr>
          <p:cNvPr id="8" name="Picture 7" descr="A group of people in a room&#10;&#10;AI-generated content may be incorrect.">
            <a:extLst>
              <a:ext uri="{FF2B5EF4-FFF2-40B4-BE49-F238E27FC236}">
                <a16:creationId xmlns:a16="http://schemas.microsoft.com/office/drawing/2014/main" id="{5E8AC43A-565D-9581-8F09-795A4B326564}"/>
              </a:ext>
            </a:extLst>
          </p:cNvPr>
          <p:cNvPicPr>
            <a:picLocks noChangeAspect="1"/>
          </p:cNvPicPr>
          <p:nvPr/>
        </p:nvPicPr>
        <p:blipFill>
          <a:blip r:embed="rId7"/>
          <a:stretch>
            <a:fillRect/>
          </a:stretch>
        </p:blipFill>
        <p:spPr>
          <a:xfrm>
            <a:off x="7514775" y="3100264"/>
            <a:ext cx="1455385" cy="1498572"/>
          </a:xfrm>
          <a:prstGeom prst="rect">
            <a:avLst/>
          </a:prstGeom>
        </p:spPr>
      </p:pic>
      <p:pic>
        <p:nvPicPr>
          <p:cNvPr id="12" name="Picture 11" descr="A certificate of the company&#10;&#10;AI-generated content may be incorrect.">
            <a:extLst>
              <a:ext uri="{FF2B5EF4-FFF2-40B4-BE49-F238E27FC236}">
                <a16:creationId xmlns:a16="http://schemas.microsoft.com/office/drawing/2014/main" id="{69C59B4C-8A3E-7B37-4D47-7F7B6B76F92F}"/>
              </a:ext>
            </a:extLst>
          </p:cNvPr>
          <p:cNvPicPr>
            <a:picLocks noChangeAspect="1"/>
          </p:cNvPicPr>
          <p:nvPr/>
        </p:nvPicPr>
        <p:blipFill>
          <a:blip r:embed="rId8"/>
          <a:stretch>
            <a:fillRect/>
          </a:stretch>
        </p:blipFill>
        <p:spPr>
          <a:xfrm>
            <a:off x="5996763" y="3028949"/>
            <a:ext cx="1286932" cy="1606461"/>
          </a:xfrm>
          <a:prstGeom prst="rect">
            <a:avLst/>
          </a:prstGeom>
        </p:spPr>
      </p:pic>
    </p:spTree>
    <p:extLst>
      <p:ext uri="{BB962C8B-B14F-4D97-AF65-F5344CB8AC3E}">
        <p14:creationId xmlns:p14="http://schemas.microsoft.com/office/powerpoint/2010/main" val="3582072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Shape 63">
          <a:extLst>
            <a:ext uri="{FF2B5EF4-FFF2-40B4-BE49-F238E27FC236}">
              <a16:creationId xmlns:a16="http://schemas.microsoft.com/office/drawing/2014/main" id="{596211EE-0403-AD07-C401-BFC505A34485}"/>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B2B20F6C-34AC-9009-920C-CF94AA96C74D}"/>
              </a:ext>
            </a:extLst>
          </p:cNvPr>
          <p:cNvSpPr/>
          <p:nvPr/>
        </p:nvSpPr>
        <p:spPr>
          <a:xfrm>
            <a:off x="7525" y="7525"/>
            <a:ext cx="9144000" cy="620700"/>
          </a:xfrm>
          <a:prstGeom prst="rect">
            <a:avLst/>
          </a:prstGeom>
          <a:solidFill>
            <a:srgbClr val="002D1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 name="Google Shape;65;p14" title="longer border.png">
            <a:extLst>
              <a:ext uri="{FF2B5EF4-FFF2-40B4-BE49-F238E27FC236}">
                <a16:creationId xmlns:a16="http://schemas.microsoft.com/office/drawing/2014/main" id="{C37CA50F-2D34-7F4D-6918-E6438FC353B3}"/>
              </a:ext>
            </a:extLst>
          </p:cNvPr>
          <p:cNvPicPr preferRelativeResize="0"/>
          <p:nvPr/>
        </p:nvPicPr>
        <p:blipFill>
          <a:blip r:embed="rId4">
            <a:alphaModFix/>
          </a:blip>
          <a:stretch>
            <a:fillRect/>
          </a:stretch>
        </p:blipFill>
        <p:spPr>
          <a:xfrm>
            <a:off x="0" y="445025"/>
            <a:ext cx="9144003" cy="183052"/>
          </a:xfrm>
          <a:prstGeom prst="rect">
            <a:avLst/>
          </a:prstGeom>
          <a:noFill/>
          <a:ln>
            <a:noFill/>
          </a:ln>
        </p:spPr>
      </p:pic>
      <p:sp>
        <p:nvSpPr>
          <p:cNvPr id="66" name="Google Shape;66;p14">
            <a:extLst>
              <a:ext uri="{FF2B5EF4-FFF2-40B4-BE49-F238E27FC236}">
                <a16:creationId xmlns:a16="http://schemas.microsoft.com/office/drawing/2014/main" id="{85CEF218-4150-D0DA-27EF-CEAA20D8AE2D}"/>
              </a:ext>
            </a:extLst>
          </p:cNvPr>
          <p:cNvSpPr txBox="1">
            <a:spLocks noGrp="1"/>
          </p:cNvSpPr>
          <p:nvPr>
            <p:ph type="title"/>
          </p:nvPr>
        </p:nvSpPr>
        <p:spPr>
          <a:xfrm>
            <a:off x="146025" y="124350"/>
            <a:ext cx="8520600" cy="285900"/>
          </a:xfrm>
          <a:prstGeom prst="rect">
            <a:avLst/>
          </a:prstGeom>
        </p:spPr>
        <p:txBody>
          <a:bodyPr spcFirstLastPara="1" wrap="square" lIns="91425" tIns="91425" rIns="91425" bIns="91425" anchor="ctr" anchorCtr="0">
            <a:normAutofit fontScale="90000"/>
          </a:bodyPr>
          <a:lstStyle/>
          <a:p>
            <a:r>
              <a:rPr lang="en-US" sz="1000" b="1" dirty="0">
                <a:solidFill>
                  <a:schemeClr val="lt1"/>
                </a:solidFill>
                <a:latin typeface="Avenir Book" panose="02000503020000020003" pitchFamily="2" charset="0"/>
                <a:ea typeface="Helvetica Neue"/>
                <a:cs typeface="Helvetica Neue"/>
                <a:sym typeface="Helvetica Neue"/>
              </a:rPr>
              <a:t>Executive Summary of Activities </a:t>
            </a:r>
            <a:endParaRPr lang="en-US" sz="1000" dirty="0">
              <a:solidFill>
                <a:srgbClr val="EFFFEF"/>
              </a:solidFill>
              <a:latin typeface="Helvetica Neue"/>
              <a:ea typeface="Helvetica Neue"/>
              <a:cs typeface="Helvetica Neue"/>
              <a:sym typeface="Helvetica Neue"/>
            </a:endParaRPr>
          </a:p>
        </p:txBody>
      </p:sp>
      <p:cxnSp>
        <p:nvCxnSpPr>
          <p:cNvPr id="68" name="Google Shape;68;p14">
            <a:extLst>
              <a:ext uri="{FF2B5EF4-FFF2-40B4-BE49-F238E27FC236}">
                <a16:creationId xmlns:a16="http://schemas.microsoft.com/office/drawing/2014/main" id="{A8159152-C47E-A4D1-D34E-31F55B8B2A4A}"/>
              </a:ext>
            </a:extLst>
          </p:cNvPr>
          <p:cNvCxnSpPr/>
          <p:nvPr/>
        </p:nvCxnSpPr>
        <p:spPr>
          <a:xfrm>
            <a:off x="-7525" y="4706725"/>
            <a:ext cx="9149400" cy="1800"/>
          </a:xfrm>
          <a:prstGeom prst="straightConnector1">
            <a:avLst/>
          </a:prstGeom>
          <a:noFill/>
          <a:ln w="9525" cap="flat" cmpd="sng">
            <a:solidFill>
              <a:srgbClr val="D9D9D9"/>
            </a:solidFill>
            <a:prstDash val="solid"/>
            <a:round/>
            <a:headEnd type="none" w="med" len="med"/>
            <a:tailEnd type="none" w="med" len="med"/>
          </a:ln>
        </p:spPr>
      </p:cxnSp>
      <p:pic>
        <p:nvPicPr>
          <p:cNvPr id="69" name="Google Shape;69;p14" title="IIH powered by IHS 1.png">
            <a:extLst>
              <a:ext uri="{FF2B5EF4-FFF2-40B4-BE49-F238E27FC236}">
                <a16:creationId xmlns:a16="http://schemas.microsoft.com/office/drawing/2014/main" id="{2B8314CC-6E24-60E7-9331-9C6D54C17871}"/>
              </a:ext>
            </a:extLst>
          </p:cNvPr>
          <p:cNvPicPr preferRelativeResize="0"/>
          <p:nvPr/>
        </p:nvPicPr>
        <p:blipFill>
          <a:blip r:embed="rId5">
            <a:alphaModFix/>
          </a:blip>
          <a:stretch>
            <a:fillRect/>
          </a:stretch>
        </p:blipFill>
        <p:spPr>
          <a:xfrm>
            <a:off x="319225" y="4781674"/>
            <a:ext cx="676905" cy="285900"/>
          </a:xfrm>
          <a:prstGeom prst="rect">
            <a:avLst/>
          </a:prstGeom>
          <a:noFill/>
          <a:ln>
            <a:noFill/>
          </a:ln>
        </p:spPr>
      </p:pic>
      <p:sp>
        <p:nvSpPr>
          <p:cNvPr id="2" name="TextBox 1">
            <a:extLst>
              <a:ext uri="{FF2B5EF4-FFF2-40B4-BE49-F238E27FC236}">
                <a16:creationId xmlns:a16="http://schemas.microsoft.com/office/drawing/2014/main" id="{4D29C6C7-7D14-A1D3-2697-D30B8F3DB1D9}"/>
              </a:ext>
            </a:extLst>
          </p:cNvPr>
          <p:cNvSpPr txBox="1"/>
          <p:nvPr/>
        </p:nvSpPr>
        <p:spPr>
          <a:xfrm>
            <a:off x="2375339" y="1588220"/>
            <a:ext cx="6291286" cy="2645724"/>
          </a:xfrm>
          <a:prstGeom prst="rect">
            <a:avLst/>
          </a:prstGeom>
          <a:noFill/>
        </p:spPr>
        <p:txBody>
          <a:bodyPr wrap="square" rtlCol="0">
            <a:spAutoFit/>
          </a:bodyPr>
          <a:lstStyle/>
          <a:p>
            <a:pPr>
              <a:lnSpc>
                <a:spcPct val="150000"/>
              </a:lnSpc>
            </a:pPr>
            <a:r>
              <a:rPr lang="en-US" sz="1600" b="1" dirty="0">
                <a:latin typeface="Avenir Book" panose="02000503020000020003" pitchFamily="2" charset="0"/>
              </a:rPr>
              <a:t>Impact Metrics</a:t>
            </a:r>
            <a:br>
              <a:rPr lang="en-US" sz="1600" dirty="0">
                <a:latin typeface="Avenir Book" panose="02000503020000020003" pitchFamily="2" charset="0"/>
              </a:rPr>
            </a:br>
            <a:r>
              <a:rPr lang="en-US" sz="1600" dirty="0">
                <a:latin typeface="Avenir Book" panose="02000503020000020003" pitchFamily="2" charset="0"/>
              </a:rPr>
              <a:t>1,800+ participants across June–August (avg. 70% attendance)</a:t>
            </a:r>
          </a:p>
          <a:p>
            <a:pPr>
              <a:lnSpc>
                <a:spcPct val="150000"/>
              </a:lnSpc>
            </a:pPr>
            <a:endParaRPr lang="en-US" sz="1600" b="1" dirty="0">
              <a:latin typeface="Avenir Book" panose="02000503020000020003" pitchFamily="2" charset="0"/>
            </a:endParaRPr>
          </a:p>
          <a:p>
            <a:pPr>
              <a:lnSpc>
                <a:spcPct val="150000"/>
              </a:lnSpc>
            </a:pPr>
            <a:r>
              <a:rPr lang="en-US" sz="1600" b="1" dirty="0">
                <a:latin typeface="Avenir Book" panose="02000503020000020003" pitchFamily="2" charset="0"/>
              </a:rPr>
              <a:t>Milestones</a:t>
            </a:r>
            <a:br>
              <a:rPr lang="en-US" sz="1600" dirty="0">
                <a:latin typeface="Avenir Book" panose="02000503020000020003" pitchFamily="2" charset="0"/>
              </a:rPr>
            </a:br>
            <a:r>
              <a:rPr lang="en-US" sz="1600" dirty="0">
                <a:latin typeface="Avenir Book" panose="02000503020000020003" pitchFamily="2" charset="0"/>
              </a:rPr>
              <a:t>First major kids event at the hub held – STEM Fest Africa</a:t>
            </a:r>
          </a:p>
          <a:p>
            <a:pPr>
              <a:lnSpc>
                <a:spcPct val="150000"/>
              </a:lnSpc>
            </a:pPr>
            <a:r>
              <a:rPr lang="en-US" sz="1600" dirty="0">
                <a:latin typeface="Avenir Book" panose="02000503020000020003" pitchFamily="2" charset="0"/>
              </a:rPr>
              <a:t>Incorporation formalized governance and structure;</a:t>
            </a:r>
            <a:br>
              <a:rPr lang="en-US" sz="1600" dirty="0">
                <a:latin typeface="Avenir Book" panose="02000503020000020003" pitchFamily="2" charset="0"/>
              </a:rPr>
            </a:br>
            <a:r>
              <a:rPr lang="en-US" sz="1600" dirty="0">
                <a:latin typeface="Avenir Book" panose="02000503020000020003" pitchFamily="2" charset="0"/>
              </a:rPr>
              <a:t>Representation at Ai4 Las Vegas &amp; LBS AI Scaling Hub Workshop</a:t>
            </a:r>
          </a:p>
        </p:txBody>
      </p:sp>
      <p:sp>
        <p:nvSpPr>
          <p:cNvPr id="3" name="Google Shape;67;p14">
            <a:extLst>
              <a:ext uri="{FF2B5EF4-FFF2-40B4-BE49-F238E27FC236}">
                <a16:creationId xmlns:a16="http://schemas.microsoft.com/office/drawing/2014/main" id="{228564DD-E186-4C98-02DA-7811DF86BB47}"/>
              </a:ext>
            </a:extLst>
          </p:cNvPr>
          <p:cNvSpPr txBox="1">
            <a:spLocks/>
          </p:cNvSpPr>
          <p:nvPr/>
        </p:nvSpPr>
        <p:spPr>
          <a:xfrm>
            <a:off x="306875" y="826762"/>
            <a:ext cx="9047331" cy="6153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Font typeface="Arial"/>
              <a:buNone/>
            </a:pPr>
            <a:r>
              <a:rPr lang="en-US" sz="2400" b="1" dirty="0">
                <a:solidFill>
                  <a:schemeClr val="tx1"/>
                </a:solidFill>
                <a:latin typeface="Avenir Book" panose="02000503020000020003" pitchFamily="2" charset="0"/>
              </a:rPr>
              <a:t>Q2 — Growth &amp; Ecosystem Building (June–August 2025)</a:t>
            </a:r>
          </a:p>
        </p:txBody>
      </p:sp>
      <p:pic>
        <p:nvPicPr>
          <p:cNvPr id="6" name="Picture 5" descr="A green mountain with a flag on top&#10;&#10;AI-generated content may be incorrect.">
            <a:extLst>
              <a:ext uri="{FF2B5EF4-FFF2-40B4-BE49-F238E27FC236}">
                <a16:creationId xmlns:a16="http://schemas.microsoft.com/office/drawing/2014/main" id="{7A2B0884-2B37-4353-8CA6-898290BA8CC6}"/>
              </a:ext>
            </a:extLst>
          </p:cNvPr>
          <p:cNvPicPr>
            <a:picLocks noChangeAspect="1"/>
          </p:cNvPicPr>
          <p:nvPr/>
        </p:nvPicPr>
        <p:blipFill>
          <a:blip r:embed="rId6"/>
          <a:srcRect l="9483" t="17684" r="12170" b="17753"/>
          <a:stretch/>
        </p:blipFill>
        <p:spPr>
          <a:xfrm>
            <a:off x="393653" y="2793843"/>
            <a:ext cx="1603006" cy="1320989"/>
          </a:xfrm>
          <a:prstGeom prst="rect">
            <a:avLst/>
          </a:prstGeom>
        </p:spPr>
      </p:pic>
      <p:pic>
        <p:nvPicPr>
          <p:cNvPr id="8" name="Picture 7" descr="A green graph with a black circle&#10;&#10;AI-generated content may be incorrect.">
            <a:extLst>
              <a:ext uri="{FF2B5EF4-FFF2-40B4-BE49-F238E27FC236}">
                <a16:creationId xmlns:a16="http://schemas.microsoft.com/office/drawing/2014/main" id="{58A5117D-5DFB-D673-FA91-94C40C44181E}"/>
              </a:ext>
            </a:extLst>
          </p:cNvPr>
          <p:cNvPicPr>
            <a:picLocks noChangeAspect="1"/>
          </p:cNvPicPr>
          <p:nvPr/>
        </p:nvPicPr>
        <p:blipFill>
          <a:blip r:embed="rId7"/>
          <a:srcRect l="11193" t="9978" r="9013" b="10391"/>
          <a:stretch/>
        </p:blipFill>
        <p:spPr>
          <a:xfrm>
            <a:off x="598407" y="1373461"/>
            <a:ext cx="1323684" cy="1320989"/>
          </a:xfrm>
          <a:prstGeom prst="rect">
            <a:avLst/>
          </a:prstGeom>
        </p:spPr>
      </p:pic>
    </p:spTree>
    <p:extLst>
      <p:ext uri="{BB962C8B-B14F-4D97-AF65-F5344CB8AC3E}">
        <p14:creationId xmlns:p14="http://schemas.microsoft.com/office/powerpoint/2010/main" val="4224779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Shape 63">
          <a:extLst>
            <a:ext uri="{FF2B5EF4-FFF2-40B4-BE49-F238E27FC236}">
              <a16:creationId xmlns:a16="http://schemas.microsoft.com/office/drawing/2014/main" id="{0D7C9BCD-0D33-7A5C-B117-F3A619672FD0}"/>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737312C3-7C5B-AA24-F8B3-F1EBC41AF099}"/>
              </a:ext>
            </a:extLst>
          </p:cNvPr>
          <p:cNvSpPr/>
          <p:nvPr/>
        </p:nvSpPr>
        <p:spPr>
          <a:xfrm>
            <a:off x="7525" y="7525"/>
            <a:ext cx="9144000" cy="620700"/>
          </a:xfrm>
          <a:prstGeom prst="rect">
            <a:avLst/>
          </a:prstGeom>
          <a:solidFill>
            <a:srgbClr val="002D1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 name="Google Shape;65;p14" title="longer border.png">
            <a:extLst>
              <a:ext uri="{FF2B5EF4-FFF2-40B4-BE49-F238E27FC236}">
                <a16:creationId xmlns:a16="http://schemas.microsoft.com/office/drawing/2014/main" id="{AFC993C5-92E7-DB24-6B13-635074BF9E70}"/>
              </a:ext>
            </a:extLst>
          </p:cNvPr>
          <p:cNvPicPr preferRelativeResize="0"/>
          <p:nvPr/>
        </p:nvPicPr>
        <p:blipFill>
          <a:blip r:embed="rId4">
            <a:alphaModFix/>
          </a:blip>
          <a:stretch>
            <a:fillRect/>
          </a:stretch>
        </p:blipFill>
        <p:spPr>
          <a:xfrm>
            <a:off x="0" y="445025"/>
            <a:ext cx="9144003" cy="183052"/>
          </a:xfrm>
          <a:prstGeom prst="rect">
            <a:avLst/>
          </a:prstGeom>
          <a:noFill/>
          <a:ln>
            <a:noFill/>
          </a:ln>
        </p:spPr>
      </p:pic>
      <p:sp>
        <p:nvSpPr>
          <p:cNvPr id="66" name="Google Shape;66;p14">
            <a:extLst>
              <a:ext uri="{FF2B5EF4-FFF2-40B4-BE49-F238E27FC236}">
                <a16:creationId xmlns:a16="http://schemas.microsoft.com/office/drawing/2014/main" id="{FF3367F6-3B37-1EE5-D895-34A3A51B936A}"/>
              </a:ext>
            </a:extLst>
          </p:cNvPr>
          <p:cNvSpPr txBox="1">
            <a:spLocks noGrp="1"/>
          </p:cNvSpPr>
          <p:nvPr>
            <p:ph type="title"/>
          </p:nvPr>
        </p:nvSpPr>
        <p:spPr>
          <a:xfrm>
            <a:off x="146025" y="124350"/>
            <a:ext cx="8520600" cy="285900"/>
          </a:xfrm>
          <a:prstGeom prst="rect">
            <a:avLst/>
          </a:prstGeom>
        </p:spPr>
        <p:txBody>
          <a:bodyPr spcFirstLastPara="1" wrap="square" lIns="91425" tIns="91425" rIns="91425" bIns="91425" anchor="ctr" anchorCtr="0">
            <a:normAutofit fontScale="90000"/>
          </a:bodyPr>
          <a:lstStyle/>
          <a:p>
            <a:r>
              <a:rPr lang="en-US" sz="1000" b="1" dirty="0">
                <a:solidFill>
                  <a:schemeClr val="lt1"/>
                </a:solidFill>
                <a:latin typeface="Avenir Book" panose="02000503020000020003" pitchFamily="2" charset="0"/>
                <a:ea typeface="Helvetica Neue"/>
                <a:cs typeface="Helvetica Neue"/>
                <a:sym typeface="Helvetica Neue"/>
              </a:rPr>
              <a:t>Executive Summary of Activities </a:t>
            </a:r>
            <a:endParaRPr lang="en-US" sz="1000" dirty="0">
              <a:solidFill>
                <a:srgbClr val="EFFFEF"/>
              </a:solidFill>
              <a:latin typeface="Helvetica Neue"/>
              <a:ea typeface="Helvetica Neue"/>
              <a:cs typeface="Helvetica Neue"/>
              <a:sym typeface="Helvetica Neue"/>
            </a:endParaRPr>
          </a:p>
        </p:txBody>
      </p:sp>
      <p:cxnSp>
        <p:nvCxnSpPr>
          <p:cNvPr id="68" name="Google Shape;68;p14">
            <a:extLst>
              <a:ext uri="{FF2B5EF4-FFF2-40B4-BE49-F238E27FC236}">
                <a16:creationId xmlns:a16="http://schemas.microsoft.com/office/drawing/2014/main" id="{E434EF40-8AB9-7207-78C0-F5979C7EC953}"/>
              </a:ext>
            </a:extLst>
          </p:cNvPr>
          <p:cNvCxnSpPr/>
          <p:nvPr/>
        </p:nvCxnSpPr>
        <p:spPr>
          <a:xfrm>
            <a:off x="-7525" y="4706725"/>
            <a:ext cx="9149400" cy="1800"/>
          </a:xfrm>
          <a:prstGeom prst="straightConnector1">
            <a:avLst/>
          </a:prstGeom>
          <a:noFill/>
          <a:ln w="9525" cap="flat" cmpd="sng">
            <a:solidFill>
              <a:srgbClr val="D9D9D9"/>
            </a:solidFill>
            <a:prstDash val="solid"/>
            <a:round/>
            <a:headEnd type="none" w="med" len="med"/>
            <a:tailEnd type="none" w="med" len="med"/>
          </a:ln>
        </p:spPr>
      </p:cxnSp>
      <p:pic>
        <p:nvPicPr>
          <p:cNvPr id="69" name="Google Shape;69;p14" title="IIH powered by IHS 1.png">
            <a:extLst>
              <a:ext uri="{FF2B5EF4-FFF2-40B4-BE49-F238E27FC236}">
                <a16:creationId xmlns:a16="http://schemas.microsoft.com/office/drawing/2014/main" id="{5810C702-1278-863C-AF24-46664ABF7EA0}"/>
              </a:ext>
            </a:extLst>
          </p:cNvPr>
          <p:cNvPicPr preferRelativeResize="0"/>
          <p:nvPr/>
        </p:nvPicPr>
        <p:blipFill>
          <a:blip r:embed="rId5">
            <a:alphaModFix/>
          </a:blip>
          <a:stretch>
            <a:fillRect/>
          </a:stretch>
        </p:blipFill>
        <p:spPr>
          <a:xfrm>
            <a:off x="319225" y="4781674"/>
            <a:ext cx="676905" cy="285900"/>
          </a:xfrm>
          <a:prstGeom prst="rect">
            <a:avLst/>
          </a:prstGeom>
          <a:noFill/>
          <a:ln>
            <a:noFill/>
          </a:ln>
        </p:spPr>
      </p:pic>
      <p:sp>
        <p:nvSpPr>
          <p:cNvPr id="3" name="TextBox 2">
            <a:extLst>
              <a:ext uri="{FF2B5EF4-FFF2-40B4-BE49-F238E27FC236}">
                <a16:creationId xmlns:a16="http://schemas.microsoft.com/office/drawing/2014/main" id="{3528B98E-E1B1-D0F7-8972-79F183D2DD2C}"/>
              </a:ext>
            </a:extLst>
          </p:cNvPr>
          <p:cNvSpPr txBox="1"/>
          <p:nvPr/>
        </p:nvSpPr>
        <p:spPr>
          <a:xfrm>
            <a:off x="477376" y="1321441"/>
            <a:ext cx="6459452" cy="387542"/>
          </a:xfrm>
          <a:prstGeom prst="rect">
            <a:avLst/>
          </a:prstGeom>
          <a:noFill/>
        </p:spPr>
        <p:txBody>
          <a:bodyPr wrap="square" rtlCol="0">
            <a:spAutoFit/>
          </a:bodyPr>
          <a:lstStyle/>
          <a:p>
            <a:pPr>
              <a:lnSpc>
                <a:spcPct val="150000"/>
              </a:lnSpc>
            </a:pPr>
            <a:r>
              <a:rPr lang="en-US" dirty="0">
                <a:latin typeface="Avenir Book" panose="02000503020000020003" pitchFamily="2" charset="0"/>
              </a:rPr>
              <a:t>Key Highlights</a:t>
            </a:r>
            <a:endParaRPr lang="en-US" sz="1100" dirty="0">
              <a:latin typeface="Avenir Book" panose="02000503020000020003" pitchFamily="2" charset="0"/>
            </a:endParaRPr>
          </a:p>
        </p:txBody>
      </p:sp>
      <p:sp>
        <p:nvSpPr>
          <p:cNvPr id="5" name="TextBox 4">
            <a:extLst>
              <a:ext uri="{FF2B5EF4-FFF2-40B4-BE49-F238E27FC236}">
                <a16:creationId xmlns:a16="http://schemas.microsoft.com/office/drawing/2014/main" id="{FDC38C89-1B3A-7D1B-7EC3-2F5EBA62C54C}"/>
              </a:ext>
            </a:extLst>
          </p:cNvPr>
          <p:cNvSpPr txBox="1"/>
          <p:nvPr/>
        </p:nvSpPr>
        <p:spPr>
          <a:xfrm>
            <a:off x="477376" y="1735360"/>
            <a:ext cx="4919986" cy="337130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100" dirty="0">
                <a:latin typeface="Avenir Book" panose="02000503020000020003" pitchFamily="2" charset="0"/>
              </a:rPr>
              <a:t>ORBIT Internship Program scaled to 850 interns across 8 universities</a:t>
            </a:r>
          </a:p>
          <a:p>
            <a:pPr marL="285750" indent="-285750">
              <a:lnSpc>
                <a:spcPct val="150000"/>
              </a:lnSpc>
              <a:buFont typeface="Arial" panose="020B0604020202020204" pitchFamily="34" charset="0"/>
              <a:buChar char="•"/>
            </a:pPr>
            <a:r>
              <a:rPr lang="en-US" sz="1100" dirty="0">
                <a:latin typeface="Avenir Book" panose="02000503020000020003" pitchFamily="2" charset="0"/>
              </a:rPr>
              <a:t>AI for Women Bootcamp (105 participants, 48% women)</a:t>
            </a:r>
          </a:p>
          <a:p>
            <a:pPr marL="285750" indent="-285750">
              <a:lnSpc>
                <a:spcPct val="150000"/>
              </a:lnSpc>
              <a:buFont typeface="Arial" panose="020B0604020202020204" pitchFamily="34" charset="0"/>
              <a:buChar char="•"/>
            </a:pPr>
            <a:r>
              <a:rPr lang="en-US" sz="1100" dirty="0">
                <a:latin typeface="Avenir Book" panose="02000503020000020003" pitchFamily="2" charset="0"/>
              </a:rPr>
              <a:t>Creative Tech &amp; Future of Digital Studios event </a:t>
            </a:r>
          </a:p>
          <a:p>
            <a:pPr marL="285750" indent="-285750">
              <a:lnSpc>
                <a:spcPct val="150000"/>
              </a:lnSpc>
              <a:buFont typeface="Arial" panose="020B0604020202020204" pitchFamily="34" charset="0"/>
              <a:buChar char="•"/>
            </a:pPr>
            <a:r>
              <a:rPr lang="en-US" sz="1100" dirty="0">
                <a:latin typeface="Avenir Book" panose="02000503020000020003" pitchFamily="2" charset="0"/>
              </a:rPr>
              <a:t>Learn2Earn Digital Challenge (1000+ participants)</a:t>
            </a:r>
          </a:p>
          <a:p>
            <a:pPr marL="285750" indent="-285750">
              <a:lnSpc>
                <a:spcPct val="150000"/>
              </a:lnSpc>
              <a:buFont typeface="Arial" panose="020B0604020202020204" pitchFamily="34" charset="0"/>
              <a:buChar char="•"/>
            </a:pPr>
            <a:r>
              <a:rPr lang="en-US" sz="1100" dirty="0">
                <a:latin typeface="Avenir Book" panose="02000503020000020003" pitchFamily="2" charset="0"/>
              </a:rPr>
              <a:t>Africa Deep Tech Challenge 2025 — IIH-affiliated startup among winners</a:t>
            </a:r>
          </a:p>
          <a:p>
            <a:pPr marL="285750" indent="-285750">
              <a:lnSpc>
                <a:spcPct val="150000"/>
              </a:lnSpc>
              <a:buFont typeface="Arial" panose="020B0604020202020204" pitchFamily="34" charset="0"/>
              <a:buChar char="•"/>
            </a:pPr>
            <a:r>
              <a:rPr lang="en-US" sz="1100" dirty="0">
                <a:latin typeface="Avenir Book" panose="02000503020000020003" pitchFamily="2" charset="0"/>
              </a:rPr>
              <a:t>AI Independence Bootcamp for Kids with 200 young learners</a:t>
            </a:r>
          </a:p>
          <a:p>
            <a:pPr marL="285750" indent="-285750">
              <a:lnSpc>
                <a:spcPct val="150000"/>
              </a:lnSpc>
              <a:buFont typeface="Arial" panose="020B0604020202020204" pitchFamily="34" charset="0"/>
              <a:buChar char="•"/>
            </a:pPr>
            <a:r>
              <a:rPr lang="en-US" sz="1100" dirty="0">
                <a:latin typeface="Avenir Book" panose="02000503020000020003" pitchFamily="2" charset="0"/>
              </a:rPr>
              <a:t>Managing Director represented IIH at GITEX Africa 2025 (September)</a:t>
            </a:r>
          </a:p>
          <a:p>
            <a:pPr marL="285750" indent="-285750">
              <a:lnSpc>
                <a:spcPct val="150000"/>
              </a:lnSpc>
              <a:buFont typeface="Arial" panose="020B0604020202020204" pitchFamily="34" charset="0"/>
              <a:buChar char="•"/>
            </a:pPr>
            <a:r>
              <a:rPr lang="en-US" sz="1100" dirty="0">
                <a:latin typeface="Avenir Book" panose="02000503020000020003" pitchFamily="2" charset="0"/>
              </a:rPr>
              <a:t>IHS Nigeria Impact Report Event participation reinforced partner visibility</a:t>
            </a:r>
          </a:p>
          <a:p>
            <a:pPr marL="285750" indent="-285750">
              <a:lnSpc>
                <a:spcPct val="150000"/>
              </a:lnSpc>
              <a:buFont typeface="Arial" panose="020B0604020202020204" pitchFamily="34" charset="0"/>
              <a:buChar char="•"/>
            </a:pPr>
            <a:r>
              <a:rPr lang="en-US" sz="1100" dirty="0">
                <a:latin typeface="Avenir Book" panose="02000503020000020003" pitchFamily="2" charset="0"/>
              </a:rPr>
              <a:t>Managing Director spoke at GITEX Africa 2025 on the international panel “One African Silicon Valley or Many?”.</a:t>
            </a:r>
          </a:p>
          <a:p>
            <a:pPr marL="285750" indent="-285750">
              <a:lnSpc>
                <a:spcPct val="150000"/>
              </a:lnSpc>
              <a:buFont typeface="Arial" panose="020B0604020202020204" pitchFamily="34" charset="0"/>
              <a:buChar char="•"/>
            </a:pPr>
            <a:endParaRPr lang="en-US" sz="1100" dirty="0">
              <a:latin typeface="Avenir Book" panose="02000503020000020003" pitchFamily="2" charset="0"/>
            </a:endParaRPr>
          </a:p>
        </p:txBody>
      </p:sp>
      <p:sp>
        <p:nvSpPr>
          <p:cNvPr id="6" name="Google Shape;67;p14">
            <a:extLst>
              <a:ext uri="{FF2B5EF4-FFF2-40B4-BE49-F238E27FC236}">
                <a16:creationId xmlns:a16="http://schemas.microsoft.com/office/drawing/2014/main" id="{00966356-0623-371E-15D5-E2FC71D8BA5A}"/>
              </a:ext>
            </a:extLst>
          </p:cNvPr>
          <p:cNvSpPr txBox="1">
            <a:spLocks/>
          </p:cNvSpPr>
          <p:nvPr/>
        </p:nvSpPr>
        <p:spPr>
          <a:xfrm>
            <a:off x="306875" y="826762"/>
            <a:ext cx="9047331" cy="6153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Font typeface="Arial"/>
              <a:buNone/>
            </a:pPr>
            <a:r>
              <a:rPr lang="en-US" sz="2000" b="1" dirty="0">
                <a:solidFill>
                  <a:schemeClr val="tx1"/>
                </a:solidFill>
                <a:latin typeface="Avenir Book" panose="02000503020000020003" pitchFamily="2" charset="0"/>
              </a:rPr>
              <a:t>Q3 — Deepened Impact &amp; Youth Inclusion (September–October 2025)</a:t>
            </a:r>
          </a:p>
        </p:txBody>
      </p:sp>
      <p:pic>
        <p:nvPicPr>
          <p:cNvPr id="7" name="Picture 6" descr="A green and black bracelet&#10;&#10;AI-generated content may be incorrect.">
            <a:extLst>
              <a:ext uri="{FF2B5EF4-FFF2-40B4-BE49-F238E27FC236}">
                <a16:creationId xmlns:a16="http://schemas.microsoft.com/office/drawing/2014/main" id="{DE2A05A5-7E15-2AC9-1AA3-DF69E31D34D5}"/>
              </a:ext>
            </a:extLst>
          </p:cNvPr>
          <p:cNvPicPr>
            <a:picLocks noChangeAspect="1"/>
          </p:cNvPicPr>
          <p:nvPr/>
        </p:nvPicPr>
        <p:blipFill>
          <a:blip r:embed="rId6"/>
          <a:stretch>
            <a:fillRect/>
          </a:stretch>
        </p:blipFill>
        <p:spPr>
          <a:xfrm>
            <a:off x="7574574" y="1442063"/>
            <a:ext cx="1443305" cy="1443305"/>
          </a:xfrm>
          <a:prstGeom prst="rect">
            <a:avLst/>
          </a:prstGeom>
        </p:spPr>
      </p:pic>
      <p:pic>
        <p:nvPicPr>
          <p:cNvPr id="9" name="Picture 8" descr="A group of women sitting on a stage&#10;&#10;AI-generated content may be incorrect.">
            <a:extLst>
              <a:ext uri="{FF2B5EF4-FFF2-40B4-BE49-F238E27FC236}">
                <a16:creationId xmlns:a16="http://schemas.microsoft.com/office/drawing/2014/main" id="{A31F593D-BC03-2B15-26C8-6362B5BA5220}"/>
              </a:ext>
            </a:extLst>
          </p:cNvPr>
          <p:cNvPicPr>
            <a:picLocks noChangeAspect="1"/>
          </p:cNvPicPr>
          <p:nvPr/>
        </p:nvPicPr>
        <p:blipFill>
          <a:blip r:embed="rId7"/>
          <a:stretch>
            <a:fillRect/>
          </a:stretch>
        </p:blipFill>
        <p:spPr>
          <a:xfrm>
            <a:off x="5656193" y="1575087"/>
            <a:ext cx="1659549" cy="1208188"/>
          </a:xfrm>
          <a:prstGeom prst="rect">
            <a:avLst/>
          </a:prstGeom>
        </p:spPr>
      </p:pic>
      <p:pic>
        <p:nvPicPr>
          <p:cNvPr id="11" name="Picture 10" descr="A couple of boys holding laptops&#10;&#10;AI-generated content may be incorrect.">
            <a:extLst>
              <a:ext uri="{FF2B5EF4-FFF2-40B4-BE49-F238E27FC236}">
                <a16:creationId xmlns:a16="http://schemas.microsoft.com/office/drawing/2014/main" id="{AD846392-750B-D748-C9CC-DC54A617D59E}"/>
              </a:ext>
            </a:extLst>
          </p:cNvPr>
          <p:cNvPicPr>
            <a:picLocks noChangeAspect="1"/>
          </p:cNvPicPr>
          <p:nvPr/>
        </p:nvPicPr>
        <p:blipFill>
          <a:blip r:embed="rId8"/>
          <a:stretch>
            <a:fillRect/>
          </a:stretch>
        </p:blipFill>
        <p:spPr>
          <a:xfrm>
            <a:off x="5656193" y="3243081"/>
            <a:ext cx="1659548" cy="1105932"/>
          </a:xfrm>
          <a:prstGeom prst="rect">
            <a:avLst/>
          </a:prstGeom>
        </p:spPr>
      </p:pic>
      <p:pic>
        <p:nvPicPr>
          <p:cNvPr id="13" name="Picture 12" descr="A poster of a trophy&#10;&#10;AI-generated content may be incorrect.">
            <a:extLst>
              <a:ext uri="{FF2B5EF4-FFF2-40B4-BE49-F238E27FC236}">
                <a16:creationId xmlns:a16="http://schemas.microsoft.com/office/drawing/2014/main" id="{0C5F05C5-3114-FEDE-C302-0F334D5EAB65}"/>
              </a:ext>
            </a:extLst>
          </p:cNvPr>
          <p:cNvPicPr>
            <a:picLocks noChangeAspect="1"/>
          </p:cNvPicPr>
          <p:nvPr/>
        </p:nvPicPr>
        <p:blipFill>
          <a:blip r:embed="rId9"/>
          <a:stretch>
            <a:fillRect/>
          </a:stretch>
        </p:blipFill>
        <p:spPr>
          <a:xfrm>
            <a:off x="7651001" y="3208053"/>
            <a:ext cx="1366878" cy="1264872"/>
          </a:xfrm>
          <a:prstGeom prst="rect">
            <a:avLst/>
          </a:prstGeom>
        </p:spPr>
      </p:pic>
    </p:spTree>
    <p:extLst>
      <p:ext uri="{BB962C8B-B14F-4D97-AF65-F5344CB8AC3E}">
        <p14:creationId xmlns:p14="http://schemas.microsoft.com/office/powerpoint/2010/main" val="1401271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Shape 63">
          <a:extLst>
            <a:ext uri="{FF2B5EF4-FFF2-40B4-BE49-F238E27FC236}">
              <a16:creationId xmlns:a16="http://schemas.microsoft.com/office/drawing/2014/main" id="{F74C8450-106D-3B8A-CC76-BD4AEFA313F8}"/>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1158B05D-5569-D56E-3F63-2A211549BDD8}"/>
              </a:ext>
            </a:extLst>
          </p:cNvPr>
          <p:cNvSpPr/>
          <p:nvPr/>
        </p:nvSpPr>
        <p:spPr>
          <a:xfrm>
            <a:off x="7525" y="7525"/>
            <a:ext cx="9144000" cy="620700"/>
          </a:xfrm>
          <a:prstGeom prst="rect">
            <a:avLst/>
          </a:prstGeom>
          <a:solidFill>
            <a:srgbClr val="002D1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 name="Google Shape;65;p14" title="longer border.png">
            <a:extLst>
              <a:ext uri="{FF2B5EF4-FFF2-40B4-BE49-F238E27FC236}">
                <a16:creationId xmlns:a16="http://schemas.microsoft.com/office/drawing/2014/main" id="{621AA9ED-3426-8123-9F45-13AA6A6F0470}"/>
              </a:ext>
            </a:extLst>
          </p:cNvPr>
          <p:cNvPicPr preferRelativeResize="0"/>
          <p:nvPr/>
        </p:nvPicPr>
        <p:blipFill>
          <a:blip r:embed="rId4">
            <a:alphaModFix/>
          </a:blip>
          <a:stretch>
            <a:fillRect/>
          </a:stretch>
        </p:blipFill>
        <p:spPr>
          <a:xfrm>
            <a:off x="0" y="445025"/>
            <a:ext cx="9144003" cy="183052"/>
          </a:xfrm>
          <a:prstGeom prst="rect">
            <a:avLst/>
          </a:prstGeom>
          <a:noFill/>
          <a:ln>
            <a:noFill/>
          </a:ln>
        </p:spPr>
      </p:pic>
      <p:sp>
        <p:nvSpPr>
          <p:cNvPr id="66" name="Google Shape;66;p14">
            <a:extLst>
              <a:ext uri="{FF2B5EF4-FFF2-40B4-BE49-F238E27FC236}">
                <a16:creationId xmlns:a16="http://schemas.microsoft.com/office/drawing/2014/main" id="{78622663-D8F7-6CF2-F8A7-5350B353641F}"/>
              </a:ext>
            </a:extLst>
          </p:cNvPr>
          <p:cNvSpPr txBox="1">
            <a:spLocks noGrp="1"/>
          </p:cNvSpPr>
          <p:nvPr>
            <p:ph type="title"/>
          </p:nvPr>
        </p:nvSpPr>
        <p:spPr>
          <a:xfrm>
            <a:off x="146025" y="124350"/>
            <a:ext cx="8520600" cy="285900"/>
          </a:xfrm>
          <a:prstGeom prst="rect">
            <a:avLst/>
          </a:prstGeom>
        </p:spPr>
        <p:txBody>
          <a:bodyPr spcFirstLastPara="1" wrap="square" lIns="91425" tIns="91425" rIns="91425" bIns="91425" anchor="ctr" anchorCtr="0">
            <a:normAutofit fontScale="90000"/>
          </a:bodyPr>
          <a:lstStyle/>
          <a:p>
            <a:r>
              <a:rPr lang="en-US" sz="1000" b="1" dirty="0">
                <a:solidFill>
                  <a:schemeClr val="lt1"/>
                </a:solidFill>
                <a:latin typeface="Avenir Book" panose="02000503020000020003" pitchFamily="2" charset="0"/>
                <a:ea typeface="Helvetica Neue"/>
                <a:cs typeface="Helvetica Neue"/>
                <a:sym typeface="Helvetica Neue"/>
              </a:rPr>
              <a:t>Executive Summary of Activities </a:t>
            </a:r>
            <a:endParaRPr lang="en-US" sz="1000" dirty="0">
              <a:solidFill>
                <a:srgbClr val="EFFFEF"/>
              </a:solidFill>
              <a:latin typeface="Helvetica Neue"/>
              <a:ea typeface="Helvetica Neue"/>
              <a:cs typeface="Helvetica Neue"/>
              <a:sym typeface="Helvetica Neue"/>
            </a:endParaRPr>
          </a:p>
        </p:txBody>
      </p:sp>
      <p:cxnSp>
        <p:nvCxnSpPr>
          <p:cNvPr id="68" name="Google Shape;68;p14">
            <a:extLst>
              <a:ext uri="{FF2B5EF4-FFF2-40B4-BE49-F238E27FC236}">
                <a16:creationId xmlns:a16="http://schemas.microsoft.com/office/drawing/2014/main" id="{D008DD6D-77C3-68A9-8E58-61631127EB2A}"/>
              </a:ext>
            </a:extLst>
          </p:cNvPr>
          <p:cNvCxnSpPr/>
          <p:nvPr/>
        </p:nvCxnSpPr>
        <p:spPr>
          <a:xfrm>
            <a:off x="-7525" y="4706725"/>
            <a:ext cx="9149400" cy="1800"/>
          </a:xfrm>
          <a:prstGeom prst="straightConnector1">
            <a:avLst/>
          </a:prstGeom>
          <a:noFill/>
          <a:ln w="9525" cap="flat" cmpd="sng">
            <a:solidFill>
              <a:srgbClr val="D9D9D9"/>
            </a:solidFill>
            <a:prstDash val="solid"/>
            <a:round/>
            <a:headEnd type="none" w="med" len="med"/>
            <a:tailEnd type="none" w="med" len="med"/>
          </a:ln>
        </p:spPr>
      </p:cxnSp>
      <p:pic>
        <p:nvPicPr>
          <p:cNvPr id="69" name="Google Shape;69;p14" title="IIH powered by IHS 1.png">
            <a:extLst>
              <a:ext uri="{FF2B5EF4-FFF2-40B4-BE49-F238E27FC236}">
                <a16:creationId xmlns:a16="http://schemas.microsoft.com/office/drawing/2014/main" id="{20D677D0-0BF6-A13E-36C0-68C949F399CA}"/>
              </a:ext>
            </a:extLst>
          </p:cNvPr>
          <p:cNvPicPr preferRelativeResize="0"/>
          <p:nvPr/>
        </p:nvPicPr>
        <p:blipFill>
          <a:blip r:embed="rId5">
            <a:alphaModFix/>
          </a:blip>
          <a:stretch>
            <a:fillRect/>
          </a:stretch>
        </p:blipFill>
        <p:spPr>
          <a:xfrm>
            <a:off x="319225" y="4781674"/>
            <a:ext cx="676905" cy="285900"/>
          </a:xfrm>
          <a:prstGeom prst="rect">
            <a:avLst/>
          </a:prstGeom>
          <a:noFill/>
          <a:ln>
            <a:noFill/>
          </a:ln>
        </p:spPr>
      </p:pic>
      <p:sp>
        <p:nvSpPr>
          <p:cNvPr id="2" name="TextBox 1">
            <a:extLst>
              <a:ext uri="{FF2B5EF4-FFF2-40B4-BE49-F238E27FC236}">
                <a16:creationId xmlns:a16="http://schemas.microsoft.com/office/drawing/2014/main" id="{1A95E02A-EE11-75E1-92B8-57D18956CC80}"/>
              </a:ext>
            </a:extLst>
          </p:cNvPr>
          <p:cNvSpPr txBox="1"/>
          <p:nvPr/>
        </p:nvSpPr>
        <p:spPr>
          <a:xfrm>
            <a:off x="2375339" y="1575367"/>
            <a:ext cx="6291286" cy="3253839"/>
          </a:xfrm>
          <a:prstGeom prst="rect">
            <a:avLst/>
          </a:prstGeom>
          <a:noFill/>
        </p:spPr>
        <p:txBody>
          <a:bodyPr wrap="square" rtlCol="0">
            <a:spAutoFit/>
          </a:bodyPr>
          <a:lstStyle/>
          <a:p>
            <a:pPr>
              <a:lnSpc>
                <a:spcPct val="150000"/>
              </a:lnSpc>
            </a:pPr>
            <a:r>
              <a:rPr lang="en-US" b="1" dirty="0">
                <a:latin typeface="Avenir Book" panose="02000503020000020003" pitchFamily="2" charset="0"/>
              </a:rPr>
              <a:t>Impact Metrics</a:t>
            </a:r>
            <a:br>
              <a:rPr lang="en-US" dirty="0">
                <a:latin typeface="Avenir Book" panose="02000503020000020003" pitchFamily="2" charset="0"/>
              </a:rPr>
            </a:br>
            <a:r>
              <a:rPr lang="en-US" dirty="0">
                <a:latin typeface="Avenir Book" panose="02000503020000020003" pitchFamily="2" charset="0"/>
              </a:rPr>
              <a:t>3,800+ cumulative participants; 1,400+ women &amp; girls trained; 850 remote interns onboarded</a:t>
            </a:r>
          </a:p>
          <a:p>
            <a:pPr>
              <a:lnSpc>
                <a:spcPct val="150000"/>
              </a:lnSpc>
            </a:pPr>
            <a:endParaRPr lang="en-US" b="1" dirty="0">
              <a:latin typeface="Avenir Book" panose="02000503020000020003" pitchFamily="2" charset="0"/>
            </a:endParaRPr>
          </a:p>
          <a:p>
            <a:pPr>
              <a:lnSpc>
                <a:spcPct val="150000"/>
              </a:lnSpc>
            </a:pPr>
            <a:r>
              <a:rPr lang="en-US" b="1" dirty="0">
                <a:latin typeface="Avenir Book" panose="02000503020000020003" pitchFamily="2" charset="0"/>
              </a:rPr>
              <a:t>Milestones</a:t>
            </a:r>
            <a:br>
              <a:rPr lang="en-US" dirty="0">
                <a:latin typeface="Avenir Book" panose="02000503020000020003" pitchFamily="2" charset="0"/>
              </a:rPr>
            </a:br>
            <a:r>
              <a:rPr lang="en-US" dirty="0">
                <a:latin typeface="Avenir Book" panose="02000503020000020003" pitchFamily="2" charset="0"/>
              </a:rPr>
              <a:t>Delivery of UNDP Makerspace Equipment &amp; upgraded outdoor solar infrastructure;</a:t>
            </a:r>
            <a:br>
              <a:rPr lang="en-US" dirty="0">
                <a:latin typeface="Avenir Book" panose="02000503020000020003" pitchFamily="2" charset="0"/>
              </a:rPr>
            </a:br>
            <a:r>
              <a:rPr lang="en-US" dirty="0">
                <a:latin typeface="Avenir Book" panose="02000503020000020003" pitchFamily="2" charset="0"/>
              </a:rPr>
              <a:t>Cafeteria fully operational;</a:t>
            </a:r>
            <a:br>
              <a:rPr lang="en-US" dirty="0">
                <a:latin typeface="Avenir Book" panose="02000503020000020003" pitchFamily="2" charset="0"/>
              </a:rPr>
            </a:br>
            <a:r>
              <a:rPr lang="en-US" dirty="0">
                <a:latin typeface="Avenir Book" panose="02000503020000020003" pitchFamily="2" charset="0"/>
              </a:rPr>
              <a:t>Expanded national visibility through media and events</a:t>
            </a:r>
          </a:p>
          <a:p>
            <a:pPr>
              <a:lnSpc>
                <a:spcPct val="150000"/>
              </a:lnSpc>
            </a:pPr>
            <a:endParaRPr lang="en-US" sz="1100" dirty="0">
              <a:latin typeface="Avenir Book" panose="02000503020000020003" pitchFamily="2" charset="0"/>
            </a:endParaRPr>
          </a:p>
        </p:txBody>
      </p:sp>
      <p:sp>
        <p:nvSpPr>
          <p:cNvPr id="3" name="Google Shape;67;p14">
            <a:extLst>
              <a:ext uri="{FF2B5EF4-FFF2-40B4-BE49-F238E27FC236}">
                <a16:creationId xmlns:a16="http://schemas.microsoft.com/office/drawing/2014/main" id="{93A11092-4E3B-E65E-ED8B-5099F26805A7}"/>
              </a:ext>
            </a:extLst>
          </p:cNvPr>
          <p:cNvSpPr txBox="1">
            <a:spLocks/>
          </p:cNvSpPr>
          <p:nvPr/>
        </p:nvSpPr>
        <p:spPr>
          <a:xfrm>
            <a:off x="306875" y="826762"/>
            <a:ext cx="9047331" cy="6153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Font typeface="Arial"/>
              <a:buNone/>
            </a:pPr>
            <a:r>
              <a:rPr lang="en-US" sz="2000" b="1" dirty="0">
                <a:solidFill>
                  <a:schemeClr val="tx1"/>
                </a:solidFill>
                <a:latin typeface="Avenir Book" panose="02000503020000020003" pitchFamily="2" charset="0"/>
              </a:rPr>
              <a:t>Q3 — Deepened Impact &amp; Youth Inclusion (September–October 2025)</a:t>
            </a:r>
          </a:p>
        </p:txBody>
      </p:sp>
      <p:pic>
        <p:nvPicPr>
          <p:cNvPr id="5" name="Picture 4" descr="A green mountain with a flag on top&#10;&#10;AI-generated content may be incorrect.">
            <a:extLst>
              <a:ext uri="{FF2B5EF4-FFF2-40B4-BE49-F238E27FC236}">
                <a16:creationId xmlns:a16="http://schemas.microsoft.com/office/drawing/2014/main" id="{565153C0-3177-E939-A53D-CB3F914D34A7}"/>
              </a:ext>
            </a:extLst>
          </p:cNvPr>
          <p:cNvPicPr>
            <a:picLocks noChangeAspect="1"/>
          </p:cNvPicPr>
          <p:nvPr/>
        </p:nvPicPr>
        <p:blipFill>
          <a:blip r:embed="rId6"/>
          <a:srcRect l="9483" t="17684" r="12170" b="17753"/>
          <a:stretch/>
        </p:blipFill>
        <p:spPr>
          <a:xfrm>
            <a:off x="563774" y="2995749"/>
            <a:ext cx="1603006" cy="1320989"/>
          </a:xfrm>
          <a:prstGeom prst="rect">
            <a:avLst/>
          </a:prstGeom>
        </p:spPr>
      </p:pic>
      <p:pic>
        <p:nvPicPr>
          <p:cNvPr id="6" name="Picture 5" descr="A green graph with a black circle&#10;&#10;AI-generated content may be incorrect.">
            <a:extLst>
              <a:ext uri="{FF2B5EF4-FFF2-40B4-BE49-F238E27FC236}">
                <a16:creationId xmlns:a16="http://schemas.microsoft.com/office/drawing/2014/main" id="{EE1FB12C-6916-395F-E6E4-0CE35C0C0D13}"/>
              </a:ext>
            </a:extLst>
          </p:cNvPr>
          <p:cNvPicPr>
            <a:picLocks noChangeAspect="1"/>
          </p:cNvPicPr>
          <p:nvPr/>
        </p:nvPicPr>
        <p:blipFill>
          <a:blip r:embed="rId7"/>
          <a:srcRect l="11193" t="9978" r="9013" b="10391"/>
          <a:stretch/>
        </p:blipFill>
        <p:spPr>
          <a:xfrm>
            <a:off x="768528" y="1575367"/>
            <a:ext cx="1323684" cy="1320989"/>
          </a:xfrm>
          <a:prstGeom prst="rect">
            <a:avLst/>
          </a:prstGeom>
        </p:spPr>
      </p:pic>
    </p:spTree>
    <p:extLst>
      <p:ext uri="{BB962C8B-B14F-4D97-AF65-F5344CB8AC3E}">
        <p14:creationId xmlns:p14="http://schemas.microsoft.com/office/powerpoint/2010/main" val="3074888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Shape 63">
          <a:extLst>
            <a:ext uri="{FF2B5EF4-FFF2-40B4-BE49-F238E27FC236}">
              <a16:creationId xmlns:a16="http://schemas.microsoft.com/office/drawing/2014/main" id="{0948A874-61BF-98FD-F427-A6FA670C3A08}"/>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DD48F893-8F3F-66C3-4807-4C7C43028941}"/>
              </a:ext>
            </a:extLst>
          </p:cNvPr>
          <p:cNvSpPr/>
          <p:nvPr/>
        </p:nvSpPr>
        <p:spPr>
          <a:xfrm>
            <a:off x="7525" y="7525"/>
            <a:ext cx="9144000" cy="620700"/>
          </a:xfrm>
          <a:prstGeom prst="rect">
            <a:avLst/>
          </a:prstGeom>
          <a:solidFill>
            <a:srgbClr val="002D1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 name="Google Shape;65;p14" title="longer border.png">
            <a:extLst>
              <a:ext uri="{FF2B5EF4-FFF2-40B4-BE49-F238E27FC236}">
                <a16:creationId xmlns:a16="http://schemas.microsoft.com/office/drawing/2014/main" id="{9379260F-4D34-EFBD-6CDB-5BCE4C9FB93F}"/>
              </a:ext>
            </a:extLst>
          </p:cNvPr>
          <p:cNvPicPr preferRelativeResize="0"/>
          <p:nvPr/>
        </p:nvPicPr>
        <p:blipFill>
          <a:blip r:embed="rId4">
            <a:alphaModFix/>
          </a:blip>
          <a:stretch>
            <a:fillRect/>
          </a:stretch>
        </p:blipFill>
        <p:spPr>
          <a:xfrm>
            <a:off x="0" y="445025"/>
            <a:ext cx="9144003" cy="183052"/>
          </a:xfrm>
          <a:prstGeom prst="rect">
            <a:avLst/>
          </a:prstGeom>
          <a:noFill/>
          <a:ln>
            <a:noFill/>
          </a:ln>
        </p:spPr>
      </p:pic>
      <p:sp>
        <p:nvSpPr>
          <p:cNvPr id="66" name="Google Shape;66;p14">
            <a:extLst>
              <a:ext uri="{FF2B5EF4-FFF2-40B4-BE49-F238E27FC236}">
                <a16:creationId xmlns:a16="http://schemas.microsoft.com/office/drawing/2014/main" id="{BA9B49B1-3677-4400-EA60-349CA1702776}"/>
              </a:ext>
            </a:extLst>
          </p:cNvPr>
          <p:cNvSpPr txBox="1">
            <a:spLocks noGrp="1"/>
          </p:cNvSpPr>
          <p:nvPr>
            <p:ph type="title"/>
          </p:nvPr>
        </p:nvSpPr>
        <p:spPr>
          <a:xfrm>
            <a:off x="146025" y="124350"/>
            <a:ext cx="8520600" cy="285900"/>
          </a:xfrm>
          <a:prstGeom prst="rect">
            <a:avLst/>
          </a:prstGeom>
        </p:spPr>
        <p:txBody>
          <a:bodyPr spcFirstLastPara="1" wrap="square" lIns="91425" tIns="91425" rIns="91425" bIns="91425" anchor="ctr" anchorCtr="0">
            <a:normAutofit fontScale="90000"/>
          </a:bodyPr>
          <a:lstStyle/>
          <a:p>
            <a:r>
              <a:rPr lang="en-US" sz="1000" b="1" dirty="0">
                <a:solidFill>
                  <a:schemeClr val="lt1"/>
                </a:solidFill>
                <a:latin typeface="Avenir Book" panose="02000503020000020003" pitchFamily="2" charset="0"/>
                <a:ea typeface="Helvetica Neue"/>
                <a:cs typeface="Helvetica Neue"/>
                <a:sym typeface="Helvetica Neue"/>
              </a:rPr>
              <a:t>Executive Summary of Activities </a:t>
            </a:r>
            <a:endParaRPr lang="en-US" sz="1000" dirty="0">
              <a:solidFill>
                <a:srgbClr val="EFFFEF"/>
              </a:solidFill>
              <a:latin typeface="Helvetica Neue"/>
              <a:ea typeface="Helvetica Neue"/>
              <a:cs typeface="Helvetica Neue"/>
              <a:sym typeface="Helvetica Neue"/>
            </a:endParaRPr>
          </a:p>
        </p:txBody>
      </p:sp>
      <p:cxnSp>
        <p:nvCxnSpPr>
          <p:cNvPr id="68" name="Google Shape;68;p14">
            <a:extLst>
              <a:ext uri="{FF2B5EF4-FFF2-40B4-BE49-F238E27FC236}">
                <a16:creationId xmlns:a16="http://schemas.microsoft.com/office/drawing/2014/main" id="{DCED128C-16CE-5896-04DE-D0B303841E15}"/>
              </a:ext>
            </a:extLst>
          </p:cNvPr>
          <p:cNvCxnSpPr/>
          <p:nvPr/>
        </p:nvCxnSpPr>
        <p:spPr>
          <a:xfrm>
            <a:off x="-7525" y="4706725"/>
            <a:ext cx="9149400" cy="1800"/>
          </a:xfrm>
          <a:prstGeom prst="straightConnector1">
            <a:avLst/>
          </a:prstGeom>
          <a:noFill/>
          <a:ln w="9525" cap="flat" cmpd="sng">
            <a:solidFill>
              <a:srgbClr val="D9D9D9"/>
            </a:solidFill>
            <a:prstDash val="solid"/>
            <a:round/>
            <a:headEnd type="none" w="med" len="med"/>
            <a:tailEnd type="none" w="med" len="med"/>
          </a:ln>
        </p:spPr>
      </p:cxnSp>
      <p:pic>
        <p:nvPicPr>
          <p:cNvPr id="69" name="Google Shape;69;p14" title="IIH powered by IHS 1.png">
            <a:extLst>
              <a:ext uri="{FF2B5EF4-FFF2-40B4-BE49-F238E27FC236}">
                <a16:creationId xmlns:a16="http://schemas.microsoft.com/office/drawing/2014/main" id="{5A1A51D5-8AF5-CABA-023D-DFB28321B6ED}"/>
              </a:ext>
            </a:extLst>
          </p:cNvPr>
          <p:cNvPicPr preferRelativeResize="0"/>
          <p:nvPr/>
        </p:nvPicPr>
        <p:blipFill>
          <a:blip r:embed="rId5">
            <a:alphaModFix/>
          </a:blip>
          <a:stretch>
            <a:fillRect/>
          </a:stretch>
        </p:blipFill>
        <p:spPr>
          <a:xfrm>
            <a:off x="319225" y="4781674"/>
            <a:ext cx="676905" cy="285900"/>
          </a:xfrm>
          <a:prstGeom prst="rect">
            <a:avLst/>
          </a:prstGeom>
          <a:noFill/>
          <a:ln>
            <a:noFill/>
          </a:ln>
        </p:spPr>
      </p:pic>
      <p:sp>
        <p:nvSpPr>
          <p:cNvPr id="3" name="Google Shape;67;p14">
            <a:extLst>
              <a:ext uri="{FF2B5EF4-FFF2-40B4-BE49-F238E27FC236}">
                <a16:creationId xmlns:a16="http://schemas.microsoft.com/office/drawing/2014/main" id="{139A5B8C-4B3B-CBAF-D2E5-31AAC6FCBFDC}"/>
              </a:ext>
            </a:extLst>
          </p:cNvPr>
          <p:cNvSpPr txBox="1">
            <a:spLocks/>
          </p:cNvSpPr>
          <p:nvPr/>
        </p:nvSpPr>
        <p:spPr>
          <a:xfrm>
            <a:off x="306875" y="826762"/>
            <a:ext cx="9047331" cy="6153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marR="0" indent="0">
              <a:buNone/>
            </a:pPr>
            <a:r>
              <a:rPr lang="en-US" sz="2000" b="1" dirty="0">
                <a:solidFill>
                  <a:schemeClr val="tx1"/>
                </a:solidFill>
                <a:effectLst/>
                <a:latin typeface="Avenir Book" panose="02000503020000020003" pitchFamily="2" charset="0"/>
                <a:ea typeface="Times New Roman" panose="02020603050405020304" pitchFamily="18" charset="0"/>
                <a:cs typeface="Times New Roman" panose="02020603050405020304" pitchFamily="18" charset="0"/>
              </a:rPr>
              <a:t>Cumulative Impact (February–October 2025)</a:t>
            </a:r>
            <a:endParaRPr lang="en-US" sz="20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7CB6E453-ACE6-01D8-FB51-58978AC8196E}"/>
              </a:ext>
            </a:extLst>
          </p:cNvPr>
          <p:cNvGraphicFramePr>
            <a:graphicFrameLocks noGrp="1"/>
          </p:cNvGraphicFramePr>
          <p:nvPr>
            <p:extLst>
              <p:ext uri="{D42A27DB-BD31-4B8C-83A1-F6EECF244321}">
                <p14:modId xmlns:p14="http://schemas.microsoft.com/office/powerpoint/2010/main" val="655796444"/>
              </p:ext>
            </p:extLst>
          </p:nvPr>
        </p:nvGraphicFramePr>
        <p:xfrm>
          <a:off x="306875" y="1442063"/>
          <a:ext cx="8521700" cy="2807970"/>
        </p:xfrm>
        <a:graphic>
          <a:graphicData uri="http://schemas.openxmlformats.org/drawingml/2006/table">
            <a:tbl>
              <a:tblPr firstRow="1" firstCol="1" bandRow="1">
                <a:tableStyleId>{2D5ABB26-0587-4C30-8999-92F81FD0307C}</a:tableStyleId>
              </a:tblPr>
              <a:tblGrid>
                <a:gridCol w="2202409">
                  <a:extLst>
                    <a:ext uri="{9D8B030D-6E8A-4147-A177-3AD203B41FA5}">
                      <a16:colId xmlns:a16="http://schemas.microsoft.com/office/drawing/2014/main" val="799077086"/>
                    </a:ext>
                  </a:extLst>
                </a:gridCol>
                <a:gridCol w="6319291">
                  <a:extLst>
                    <a:ext uri="{9D8B030D-6E8A-4147-A177-3AD203B41FA5}">
                      <a16:colId xmlns:a16="http://schemas.microsoft.com/office/drawing/2014/main" val="2196540926"/>
                    </a:ext>
                  </a:extLst>
                </a:gridCol>
              </a:tblGrid>
              <a:tr h="0">
                <a:tc>
                  <a:txBody>
                    <a:bodyPr/>
                    <a:lstStyle/>
                    <a:p>
                      <a:pPr marL="0" marR="0">
                        <a:lnSpc>
                          <a:spcPct val="100000"/>
                        </a:lnSpc>
                      </a:pPr>
                      <a:r>
                        <a:rPr lang="en-US" sz="1200" b="1">
                          <a:effectLst/>
                          <a:latin typeface="Avenir Book" panose="02000503020000020003" pitchFamily="2" charset="0"/>
                        </a:rPr>
                        <a:t>Category</a:t>
                      </a:r>
                      <a:endParaRPr lang="en-US" sz="1200" b="1">
                        <a:effectLst/>
                        <a:latin typeface="Avenir Book" panose="02000503020000020003" pitchFamily="2" charset="0"/>
                        <a:ea typeface="Aptos" panose="020B0004020202020204" pitchFamily="34" charset="0"/>
                        <a:cs typeface="Times New Roman" panose="02020603050405020304" pitchFamily="18" charset="0"/>
                      </a:endParaRPr>
                    </a:p>
                  </a:txBody>
                  <a:tcPr marL="9525" marR="9525" marT="9525" marB="9525"/>
                </a:tc>
                <a:tc>
                  <a:txBody>
                    <a:bodyPr/>
                    <a:lstStyle/>
                    <a:p>
                      <a:pPr marL="0" marR="0">
                        <a:lnSpc>
                          <a:spcPct val="100000"/>
                        </a:lnSpc>
                      </a:pPr>
                      <a:r>
                        <a:rPr lang="en-US" sz="1200" b="1" dirty="0">
                          <a:effectLst/>
                          <a:latin typeface="Avenir Book" panose="02000503020000020003" pitchFamily="2" charset="0"/>
                        </a:rPr>
                        <a:t>Cumulative Total</a:t>
                      </a:r>
                      <a:endParaRPr lang="en-US" sz="1200" b="1" dirty="0">
                        <a:effectLst/>
                        <a:latin typeface="Avenir Book" panose="02000503020000020003" pitchFamily="2" charset="0"/>
                        <a:ea typeface="Aptos" panose="020B000402020202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33974003"/>
                  </a:ext>
                </a:extLst>
              </a:tr>
              <a:tr h="0">
                <a:tc>
                  <a:txBody>
                    <a:bodyPr/>
                    <a:lstStyle/>
                    <a:p>
                      <a:pPr marL="0" marR="0">
                        <a:lnSpc>
                          <a:spcPct val="100000"/>
                        </a:lnSpc>
                      </a:pPr>
                      <a:r>
                        <a:rPr lang="en-US" sz="1200">
                          <a:effectLst/>
                          <a:latin typeface="Avenir Book" panose="02000503020000020003" pitchFamily="2" charset="0"/>
                        </a:rPr>
                        <a:t>Programs &amp; Events Held</a:t>
                      </a:r>
                      <a:endParaRPr lang="en-US" sz="1200">
                        <a:effectLst/>
                        <a:latin typeface="Avenir Book" panose="02000503020000020003" pitchFamily="2" charset="0"/>
                        <a:ea typeface="Aptos" panose="020B0004020202020204" pitchFamily="34" charset="0"/>
                        <a:cs typeface="Times New Roman" panose="02020603050405020304" pitchFamily="18" charset="0"/>
                      </a:endParaRPr>
                    </a:p>
                  </a:txBody>
                  <a:tcPr marL="9525" marR="9525" marT="9525" marB="9525"/>
                </a:tc>
                <a:tc>
                  <a:txBody>
                    <a:bodyPr/>
                    <a:lstStyle/>
                    <a:p>
                      <a:pPr marL="0" marR="0">
                        <a:lnSpc>
                          <a:spcPct val="100000"/>
                        </a:lnSpc>
                      </a:pPr>
                      <a:r>
                        <a:rPr lang="en-US" sz="1200">
                          <a:effectLst/>
                          <a:latin typeface="Avenir Book" panose="02000503020000020003" pitchFamily="2" charset="0"/>
                        </a:rPr>
                        <a:t>70+</a:t>
                      </a:r>
                      <a:endParaRPr lang="en-US" sz="1200">
                        <a:effectLst/>
                        <a:latin typeface="Avenir Book" panose="02000503020000020003" pitchFamily="2" charset="0"/>
                        <a:ea typeface="Aptos" panose="020B000402020202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2500158309"/>
                  </a:ext>
                </a:extLst>
              </a:tr>
              <a:tr h="0">
                <a:tc>
                  <a:txBody>
                    <a:bodyPr/>
                    <a:lstStyle/>
                    <a:p>
                      <a:pPr marL="0" marR="0">
                        <a:lnSpc>
                          <a:spcPct val="100000"/>
                        </a:lnSpc>
                      </a:pPr>
                      <a:r>
                        <a:rPr lang="en-US" sz="1200">
                          <a:effectLst/>
                          <a:latin typeface="Avenir Book" panose="02000503020000020003" pitchFamily="2" charset="0"/>
                        </a:rPr>
                        <a:t>Total Participants Engaged</a:t>
                      </a:r>
                      <a:endParaRPr lang="en-US" sz="1200">
                        <a:effectLst/>
                        <a:latin typeface="Avenir Book" panose="02000503020000020003" pitchFamily="2" charset="0"/>
                        <a:ea typeface="Aptos" panose="020B0004020202020204" pitchFamily="34" charset="0"/>
                        <a:cs typeface="Times New Roman" panose="02020603050405020304" pitchFamily="18" charset="0"/>
                      </a:endParaRPr>
                    </a:p>
                  </a:txBody>
                  <a:tcPr marL="9525" marR="9525" marT="9525" marB="9525"/>
                </a:tc>
                <a:tc>
                  <a:txBody>
                    <a:bodyPr/>
                    <a:lstStyle/>
                    <a:p>
                      <a:pPr marL="0" marR="0">
                        <a:lnSpc>
                          <a:spcPct val="100000"/>
                        </a:lnSpc>
                      </a:pPr>
                      <a:r>
                        <a:rPr lang="en-US" sz="1200" dirty="0">
                          <a:effectLst/>
                          <a:latin typeface="Avenir Book" panose="02000503020000020003" pitchFamily="2" charset="0"/>
                        </a:rPr>
                        <a:t>4,800+</a:t>
                      </a:r>
                      <a:endParaRPr lang="en-US" sz="1200" dirty="0">
                        <a:effectLst/>
                        <a:latin typeface="Avenir Book" panose="02000503020000020003" pitchFamily="2" charset="0"/>
                        <a:ea typeface="Aptos" panose="020B000402020202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4115518968"/>
                  </a:ext>
                </a:extLst>
              </a:tr>
              <a:tr h="0">
                <a:tc>
                  <a:txBody>
                    <a:bodyPr/>
                    <a:lstStyle/>
                    <a:p>
                      <a:pPr marL="0" marR="0">
                        <a:lnSpc>
                          <a:spcPct val="100000"/>
                        </a:lnSpc>
                      </a:pPr>
                      <a:r>
                        <a:rPr lang="en-US" sz="1200">
                          <a:effectLst/>
                          <a:latin typeface="Avenir Book" panose="02000503020000020003" pitchFamily="2" charset="0"/>
                        </a:rPr>
                        <a:t>Women and Girls Participants</a:t>
                      </a:r>
                      <a:endParaRPr lang="en-US" sz="1200">
                        <a:effectLst/>
                        <a:latin typeface="Avenir Book" panose="02000503020000020003" pitchFamily="2" charset="0"/>
                        <a:ea typeface="Aptos" panose="020B0004020202020204" pitchFamily="34" charset="0"/>
                        <a:cs typeface="Times New Roman" panose="02020603050405020304" pitchFamily="18" charset="0"/>
                      </a:endParaRPr>
                    </a:p>
                  </a:txBody>
                  <a:tcPr marL="9525" marR="9525" marT="9525" marB="9525"/>
                </a:tc>
                <a:tc>
                  <a:txBody>
                    <a:bodyPr/>
                    <a:lstStyle/>
                    <a:p>
                      <a:pPr marL="0" marR="0">
                        <a:lnSpc>
                          <a:spcPct val="100000"/>
                        </a:lnSpc>
                      </a:pPr>
                      <a:r>
                        <a:rPr lang="en-US" sz="1200" dirty="0">
                          <a:effectLst/>
                          <a:latin typeface="Avenir Book" panose="02000503020000020003" pitchFamily="2" charset="0"/>
                        </a:rPr>
                        <a:t>2,100+</a:t>
                      </a:r>
                      <a:endParaRPr lang="en-US" sz="1200" dirty="0">
                        <a:effectLst/>
                        <a:latin typeface="Avenir Book" panose="02000503020000020003" pitchFamily="2" charset="0"/>
                        <a:ea typeface="Aptos" panose="020B000402020202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2439221040"/>
                  </a:ext>
                </a:extLst>
              </a:tr>
              <a:tr h="0">
                <a:tc>
                  <a:txBody>
                    <a:bodyPr/>
                    <a:lstStyle/>
                    <a:p>
                      <a:pPr marL="0" marR="0">
                        <a:lnSpc>
                          <a:spcPct val="100000"/>
                        </a:lnSpc>
                      </a:pPr>
                      <a:r>
                        <a:rPr lang="en-US" sz="1200">
                          <a:effectLst/>
                          <a:latin typeface="Avenir Book" panose="02000503020000020003" pitchFamily="2" charset="0"/>
                        </a:rPr>
                        <a:t>ORBIT Interns Onboarded</a:t>
                      </a:r>
                      <a:endParaRPr lang="en-US" sz="1200">
                        <a:effectLst/>
                        <a:latin typeface="Avenir Book" panose="02000503020000020003" pitchFamily="2" charset="0"/>
                        <a:ea typeface="Aptos" panose="020B0004020202020204" pitchFamily="34" charset="0"/>
                        <a:cs typeface="Times New Roman" panose="02020603050405020304" pitchFamily="18" charset="0"/>
                      </a:endParaRPr>
                    </a:p>
                  </a:txBody>
                  <a:tcPr marL="9525" marR="9525" marT="9525" marB="9525"/>
                </a:tc>
                <a:tc>
                  <a:txBody>
                    <a:bodyPr/>
                    <a:lstStyle/>
                    <a:p>
                      <a:pPr marL="0" marR="0">
                        <a:lnSpc>
                          <a:spcPct val="100000"/>
                        </a:lnSpc>
                      </a:pPr>
                      <a:r>
                        <a:rPr lang="en-US" sz="1200">
                          <a:effectLst/>
                          <a:latin typeface="Avenir Book" panose="02000503020000020003" pitchFamily="2" charset="0"/>
                        </a:rPr>
                        <a:t>850</a:t>
                      </a:r>
                      <a:endParaRPr lang="en-US" sz="1200">
                        <a:effectLst/>
                        <a:latin typeface="Avenir Book" panose="02000503020000020003" pitchFamily="2" charset="0"/>
                        <a:ea typeface="Aptos" panose="020B000402020202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789596968"/>
                  </a:ext>
                </a:extLst>
              </a:tr>
              <a:tr h="0">
                <a:tc>
                  <a:txBody>
                    <a:bodyPr/>
                    <a:lstStyle/>
                    <a:p>
                      <a:pPr marL="0" marR="0">
                        <a:lnSpc>
                          <a:spcPct val="100000"/>
                        </a:lnSpc>
                      </a:pPr>
                      <a:r>
                        <a:rPr lang="en-US" sz="1200">
                          <a:effectLst/>
                          <a:latin typeface="Avenir Book" panose="02000503020000020003" pitchFamily="2" charset="0"/>
                        </a:rPr>
                        <a:t>Universities &amp; Hubs Engaged</a:t>
                      </a:r>
                      <a:endParaRPr lang="en-US" sz="1200">
                        <a:effectLst/>
                        <a:latin typeface="Avenir Book" panose="02000503020000020003" pitchFamily="2" charset="0"/>
                        <a:ea typeface="Aptos" panose="020B0004020202020204" pitchFamily="34" charset="0"/>
                        <a:cs typeface="Times New Roman" panose="02020603050405020304" pitchFamily="18" charset="0"/>
                      </a:endParaRPr>
                    </a:p>
                  </a:txBody>
                  <a:tcPr marL="9525" marR="9525" marT="9525" marB="9525"/>
                </a:tc>
                <a:tc>
                  <a:txBody>
                    <a:bodyPr/>
                    <a:lstStyle/>
                    <a:p>
                      <a:pPr marL="0" marR="0">
                        <a:lnSpc>
                          <a:spcPct val="100000"/>
                        </a:lnSpc>
                      </a:pPr>
                      <a:r>
                        <a:rPr lang="en-US" sz="1200" dirty="0">
                          <a:effectLst/>
                          <a:latin typeface="Avenir Book" panose="02000503020000020003" pitchFamily="2" charset="0"/>
                        </a:rPr>
                        <a:t>10+</a:t>
                      </a:r>
                      <a:endParaRPr lang="en-US" sz="1200" dirty="0">
                        <a:effectLst/>
                        <a:latin typeface="Avenir Book" panose="02000503020000020003" pitchFamily="2" charset="0"/>
                        <a:ea typeface="Aptos" panose="020B000402020202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636560735"/>
                  </a:ext>
                </a:extLst>
              </a:tr>
              <a:tr h="0">
                <a:tc>
                  <a:txBody>
                    <a:bodyPr/>
                    <a:lstStyle/>
                    <a:p>
                      <a:pPr marL="0" marR="0">
                        <a:lnSpc>
                          <a:spcPct val="100000"/>
                        </a:lnSpc>
                      </a:pPr>
                      <a:r>
                        <a:rPr lang="en-US" sz="1200">
                          <a:effectLst/>
                          <a:latin typeface="Avenir Book" panose="02000503020000020003" pitchFamily="2" charset="0"/>
                        </a:rPr>
                        <a:t>Startups Showcased</a:t>
                      </a:r>
                      <a:endParaRPr lang="en-US" sz="1200">
                        <a:effectLst/>
                        <a:latin typeface="Avenir Book" panose="02000503020000020003" pitchFamily="2" charset="0"/>
                        <a:ea typeface="Aptos" panose="020B0004020202020204" pitchFamily="34" charset="0"/>
                        <a:cs typeface="Times New Roman" panose="02020603050405020304" pitchFamily="18" charset="0"/>
                      </a:endParaRPr>
                    </a:p>
                  </a:txBody>
                  <a:tcPr marL="9525" marR="9525" marT="9525" marB="9525"/>
                </a:tc>
                <a:tc>
                  <a:txBody>
                    <a:bodyPr/>
                    <a:lstStyle/>
                    <a:p>
                      <a:pPr marL="0" marR="0">
                        <a:lnSpc>
                          <a:spcPct val="100000"/>
                        </a:lnSpc>
                      </a:pPr>
                      <a:r>
                        <a:rPr lang="en-US" sz="1200" dirty="0">
                          <a:effectLst/>
                          <a:latin typeface="Avenir Book" panose="02000503020000020003" pitchFamily="2" charset="0"/>
                        </a:rPr>
                        <a:t>6</a:t>
                      </a:r>
                      <a:endParaRPr lang="en-US" sz="1200" dirty="0">
                        <a:effectLst/>
                        <a:latin typeface="Avenir Book" panose="02000503020000020003" pitchFamily="2" charset="0"/>
                        <a:ea typeface="Aptos" panose="020B000402020202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411928875"/>
                  </a:ext>
                </a:extLst>
              </a:tr>
              <a:tr h="0">
                <a:tc>
                  <a:txBody>
                    <a:bodyPr/>
                    <a:lstStyle/>
                    <a:p>
                      <a:pPr marL="0" marR="0">
                        <a:lnSpc>
                          <a:spcPct val="100000"/>
                        </a:lnSpc>
                      </a:pPr>
                      <a:r>
                        <a:rPr lang="en-US" sz="1200">
                          <a:effectLst/>
                          <a:latin typeface="Avenir Book" panose="02000503020000020003" pitchFamily="2" charset="0"/>
                        </a:rPr>
                        <a:t>International Events Attended</a:t>
                      </a:r>
                      <a:endParaRPr lang="en-US" sz="1200">
                        <a:effectLst/>
                        <a:latin typeface="Avenir Book" panose="02000503020000020003" pitchFamily="2" charset="0"/>
                        <a:ea typeface="Aptos" panose="020B0004020202020204" pitchFamily="34" charset="0"/>
                        <a:cs typeface="Times New Roman" panose="02020603050405020304" pitchFamily="18" charset="0"/>
                      </a:endParaRPr>
                    </a:p>
                  </a:txBody>
                  <a:tcPr marL="9525" marR="9525" marT="9525" marB="9525"/>
                </a:tc>
                <a:tc>
                  <a:txBody>
                    <a:bodyPr/>
                    <a:lstStyle/>
                    <a:p>
                      <a:pPr marL="0" marR="0">
                        <a:lnSpc>
                          <a:spcPct val="100000"/>
                        </a:lnSpc>
                      </a:pPr>
                      <a:r>
                        <a:rPr lang="en-US" sz="1200">
                          <a:effectLst/>
                          <a:latin typeface="Avenir Book" panose="02000503020000020003" pitchFamily="2" charset="0"/>
                        </a:rPr>
                        <a:t>3</a:t>
                      </a:r>
                      <a:endParaRPr lang="en-US" sz="1200">
                        <a:effectLst/>
                        <a:latin typeface="Avenir Book" panose="02000503020000020003" pitchFamily="2" charset="0"/>
                        <a:ea typeface="Aptos" panose="020B000402020202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967702632"/>
                  </a:ext>
                </a:extLst>
              </a:tr>
              <a:tr h="0">
                <a:tc>
                  <a:txBody>
                    <a:bodyPr/>
                    <a:lstStyle/>
                    <a:p>
                      <a:pPr marL="0" marR="0">
                        <a:lnSpc>
                          <a:spcPct val="100000"/>
                        </a:lnSpc>
                      </a:pPr>
                      <a:r>
                        <a:rPr lang="en-US" sz="1200">
                          <a:effectLst/>
                          <a:latin typeface="Avenir Book" panose="02000503020000020003" pitchFamily="2" charset="0"/>
                        </a:rPr>
                        <a:t>Partnerships Maintained</a:t>
                      </a:r>
                      <a:endParaRPr lang="en-US" sz="1200">
                        <a:effectLst/>
                        <a:latin typeface="Avenir Book" panose="02000503020000020003" pitchFamily="2" charset="0"/>
                        <a:ea typeface="Aptos" panose="020B0004020202020204" pitchFamily="34" charset="0"/>
                        <a:cs typeface="Times New Roman" panose="02020603050405020304" pitchFamily="18" charset="0"/>
                      </a:endParaRPr>
                    </a:p>
                  </a:txBody>
                  <a:tcPr marL="9525" marR="9525" marT="9525" marB="9525"/>
                </a:tc>
                <a:tc>
                  <a:txBody>
                    <a:bodyPr/>
                    <a:lstStyle/>
                    <a:p>
                      <a:pPr marL="0" marR="0">
                        <a:lnSpc>
                          <a:spcPct val="100000"/>
                        </a:lnSpc>
                      </a:pPr>
                      <a:r>
                        <a:rPr lang="en-US" sz="1200">
                          <a:effectLst/>
                          <a:latin typeface="Avenir Book" panose="02000503020000020003" pitchFamily="2" charset="0"/>
                        </a:rPr>
                        <a:t>10+</a:t>
                      </a:r>
                      <a:endParaRPr lang="en-US" sz="1200">
                        <a:effectLst/>
                        <a:latin typeface="Avenir Book" panose="02000503020000020003" pitchFamily="2" charset="0"/>
                        <a:ea typeface="Aptos" panose="020B000402020202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380058807"/>
                  </a:ext>
                </a:extLst>
              </a:tr>
              <a:tr h="0">
                <a:tc>
                  <a:txBody>
                    <a:bodyPr/>
                    <a:lstStyle/>
                    <a:p>
                      <a:pPr marL="0" marR="0">
                        <a:lnSpc>
                          <a:spcPct val="100000"/>
                        </a:lnSpc>
                      </a:pPr>
                      <a:r>
                        <a:rPr lang="en-US" sz="1200">
                          <a:effectLst/>
                          <a:latin typeface="Avenir Book" panose="02000503020000020003" pitchFamily="2" charset="0"/>
                        </a:rPr>
                        <a:t>Facility Enhancements</a:t>
                      </a:r>
                      <a:endParaRPr lang="en-US" sz="1200">
                        <a:effectLst/>
                        <a:latin typeface="Avenir Book" panose="02000503020000020003" pitchFamily="2" charset="0"/>
                        <a:ea typeface="Aptos" panose="020B0004020202020204" pitchFamily="34" charset="0"/>
                        <a:cs typeface="Times New Roman" panose="02020603050405020304" pitchFamily="18" charset="0"/>
                      </a:endParaRPr>
                    </a:p>
                  </a:txBody>
                  <a:tcPr marL="9525" marR="9525" marT="9525" marB="9525"/>
                </a:tc>
                <a:tc>
                  <a:txBody>
                    <a:bodyPr/>
                    <a:lstStyle/>
                    <a:p>
                      <a:pPr marL="0" marR="0">
                        <a:lnSpc>
                          <a:spcPct val="100000"/>
                        </a:lnSpc>
                      </a:pPr>
                      <a:r>
                        <a:rPr lang="en-US" sz="1200">
                          <a:effectLst/>
                          <a:latin typeface="Avenir Book" panose="02000503020000020003" pitchFamily="2" charset="0"/>
                        </a:rPr>
                        <a:t>Elevator, Solar, Cafeteria, Makerspace</a:t>
                      </a:r>
                      <a:endParaRPr lang="en-US" sz="1200">
                        <a:effectLst/>
                        <a:latin typeface="Avenir Book" panose="02000503020000020003" pitchFamily="2" charset="0"/>
                        <a:ea typeface="Aptos" panose="020B000402020202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2068117555"/>
                  </a:ext>
                </a:extLst>
              </a:tr>
              <a:tr h="0">
                <a:tc>
                  <a:txBody>
                    <a:bodyPr/>
                    <a:lstStyle/>
                    <a:p>
                      <a:pPr marL="0" marR="0">
                        <a:lnSpc>
                          <a:spcPct val="100000"/>
                        </a:lnSpc>
                      </a:pPr>
                      <a:r>
                        <a:rPr lang="en-US" sz="1200">
                          <a:effectLst/>
                          <a:latin typeface="Avenir Book" panose="02000503020000020003" pitchFamily="2" charset="0"/>
                        </a:rPr>
                        <a:t>Staff &amp; Interns</a:t>
                      </a:r>
                      <a:endParaRPr lang="en-US" sz="1200">
                        <a:effectLst/>
                        <a:latin typeface="Avenir Book" panose="02000503020000020003" pitchFamily="2" charset="0"/>
                        <a:ea typeface="Aptos" panose="020B0004020202020204" pitchFamily="34" charset="0"/>
                        <a:cs typeface="Times New Roman" panose="02020603050405020304" pitchFamily="18" charset="0"/>
                      </a:endParaRPr>
                    </a:p>
                  </a:txBody>
                  <a:tcPr marL="9525" marR="9525" marT="9525" marB="9525"/>
                </a:tc>
                <a:tc>
                  <a:txBody>
                    <a:bodyPr/>
                    <a:lstStyle/>
                    <a:p>
                      <a:pPr marL="0" marR="0">
                        <a:lnSpc>
                          <a:spcPct val="100000"/>
                        </a:lnSpc>
                      </a:pPr>
                      <a:r>
                        <a:rPr lang="en-US" sz="1200">
                          <a:effectLst/>
                          <a:latin typeface="Avenir Book" panose="02000503020000020003" pitchFamily="2" charset="0"/>
                        </a:rPr>
                        <a:t>15 staff, 3 NYSC, 9 interns</a:t>
                      </a:r>
                      <a:endParaRPr lang="en-US" sz="1200">
                        <a:effectLst/>
                        <a:latin typeface="Avenir Book" panose="02000503020000020003" pitchFamily="2" charset="0"/>
                        <a:ea typeface="Aptos" panose="020B000402020202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495088323"/>
                  </a:ext>
                </a:extLst>
              </a:tr>
              <a:tr h="0">
                <a:tc>
                  <a:txBody>
                    <a:bodyPr/>
                    <a:lstStyle/>
                    <a:p>
                      <a:pPr marL="0" marR="0">
                        <a:lnSpc>
                          <a:spcPct val="100000"/>
                        </a:lnSpc>
                      </a:pPr>
                      <a:r>
                        <a:rPr lang="en-US" sz="1200">
                          <a:effectLst/>
                          <a:latin typeface="Avenir Book" panose="02000503020000020003" pitchFamily="2" charset="0"/>
                        </a:rPr>
                        <a:t>Learn2Earn Participants</a:t>
                      </a:r>
                      <a:endParaRPr lang="en-US" sz="1200">
                        <a:effectLst/>
                        <a:latin typeface="Avenir Book" panose="02000503020000020003" pitchFamily="2" charset="0"/>
                        <a:ea typeface="Aptos" panose="020B0004020202020204" pitchFamily="34" charset="0"/>
                        <a:cs typeface="Times New Roman" panose="02020603050405020304" pitchFamily="18" charset="0"/>
                      </a:endParaRPr>
                    </a:p>
                  </a:txBody>
                  <a:tcPr marL="9525" marR="9525" marT="9525" marB="9525"/>
                </a:tc>
                <a:tc>
                  <a:txBody>
                    <a:bodyPr/>
                    <a:lstStyle/>
                    <a:p>
                      <a:pPr marL="0" marR="0">
                        <a:lnSpc>
                          <a:spcPct val="100000"/>
                        </a:lnSpc>
                      </a:pPr>
                      <a:r>
                        <a:rPr lang="en-US" sz="1200" dirty="0">
                          <a:effectLst/>
                          <a:latin typeface="Avenir Book" panose="02000503020000020003" pitchFamily="2" charset="0"/>
                        </a:rPr>
                        <a:t>1000+</a:t>
                      </a:r>
                      <a:endParaRPr lang="en-US" sz="1200" dirty="0">
                        <a:effectLst/>
                        <a:latin typeface="Avenir Book" panose="02000503020000020003" pitchFamily="2" charset="0"/>
                        <a:ea typeface="Aptos" panose="020B000402020202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2551411537"/>
                  </a:ext>
                </a:extLst>
              </a:tr>
              <a:tr h="0">
                <a:tc>
                  <a:txBody>
                    <a:bodyPr/>
                    <a:lstStyle/>
                    <a:p>
                      <a:pPr marL="0" marR="0">
                        <a:lnSpc>
                          <a:spcPct val="100000"/>
                        </a:lnSpc>
                      </a:pPr>
                      <a:r>
                        <a:rPr lang="en-US" sz="1200" dirty="0">
                          <a:effectLst/>
                          <a:latin typeface="Avenir Book" panose="02000503020000020003" pitchFamily="2" charset="0"/>
                        </a:rPr>
                        <a:t>Other Achievements</a:t>
                      </a:r>
                      <a:endParaRPr lang="en-US" sz="1200" dirty="0">
                        <a:effectLst/>
                        <a:latin typeface="Avenir Book" panose="02000503020000020003" pitchFamily="2" charset="0"/>
                        <a:ea typeface="Aptos" panose="020B0004020202020204" pitchFamily="34" charset="0"/>
                        <a:cs typeface="Times New Roman" panose="02020603050405020304" pitchFamily="18" charset="0"/>
                      </a:endParaRPr>
                    </a:p>
                  </a:txBody>
                  <a:tcPr marL="9525" marR="9525" marT="9525" marB="9525"/>
                </a:tc>
                <a:tc>
                  <a:txBody>
                    <a:bodyPr/>
                    <a:lstStyle/>
                    <a:p>
                      <a:pPr marL="0" marR="0">
                        <a:lnSpc>
                          <a:spcPct val="100000"/>
                        </a:lnSpc>
                      </a:pPr>
                      <a:r>
                        <a:rPr lang="en-US" sz="1200" dirty="0">
                          <a:effectLst/>
                          <a:latin typeface="Avenir Book" panose="02000503020000020003" pitchFamily="2" charset="0"/>
                        </a:rPr>
                        <a:t>Africa Deep Tech Challenge 2025 prize winner; Kwara Innovation Challenge &amp; Hackathon; Incorporation of IIH Ltd/</a:t>
                      </a:r>
                      <a:r>
                        <a:rPr lang="en-US" sz="1200" dirty="0" err="1">
                          <a:effectLst/>
                          <a:latin typeface="Avenir Book" panose="02000503020000020003" pitchFamily="2" charset="0"/>
                        </a:rPr>
                        <a:t>Gte</a:t>
                      </a:r>
                      <a:r>
                        <a:rPr lang="en-US" sz="1200" dirty="0">
                          <a:effectLst/>
                          <a:latin typeface="Avenir Book" panose="02000503020000020003" pitchFamily="2" charset="0"/>
                        </a:rPr>
                        <a:t>; 3rd FETICON Student Colloquium sponsored by IHS Towers</a:t>
                      </a:r>
                      <a:endParaRPr lang="en-US" sz="1200" dirty="0">
                        <a:effectLst/>
                        <a:latin typeface="Avenir Book" panose="02000503020000020003" pitchFamily="2" charset="0"/>
                        <a:ea typeface="Aptos" panose="020B000402020202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082270140"/>
                  </a:ext>
                </a:extLst>
              </a:tr>
            </a:tbl>
          </a:graphicData>
        </a:graphic>
      </p:graphicFrame>
      <p:pic>
        <p:nvPicPr>
          <p:cNvPr id="6" name="Picture 5" descr="A group of people standing in front of a large screen&#10;&#10;AI-generated content may be incorrect.">
            <a:extLst>
              <a:ext uri="{FF2B5EF4-FFF2-40B4-BE49-F238E27FC236}">
                <a16:creationId xmlns:a16="http://schemas.microsoft.com/office/drawing/2014/main" id="{2F474066-65FE-F47E-6FA2-B51AF22D9F00}"/>
              </a:ext>
            </a:extLst>
          </p:cNvPr>
          <p:cNvPicPr>
            <a:picLocks noChangeAspect="1"/>
          </p:cNvPicPr>
          <p:nvPr/>
        </p:nvPicPr>
        <p:blipFill>
          <a:blip r:embed="rId6"/>
          <a:stretch>
            <a:fillRect/>
          </a:stretch>
        </p:blipFill>
        <p:spPr>
          <a:xfrm>
            <a:off x="5604740" y="1442063"/>
            <a:ext cx="3223835" cy="2148384"/>
          </a:xfrm>
          <a:prstGeom prst="rect">
            <a:avLst/>
          </a:prstGeom>
        </p:spPr>
      </p:pic>
    </p:spTree>
    <p:extLst>
      <p:ext uri="{BB962C8B-B14F-4D97-AF65-F5344CB8AC3E}">
        <p14:creationId xmlns:p14="http://schemas.microsoft.com/office/powerpoint/2010/main" val="2578104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Shape 63">
          <a:extLst>
            <a:ext uri="{FF2B5EF4-FFF2-40B4-BE49-F238E27FC236}">
              <a16:creationId xmlns:a16="http://schemas.microsoft.com/office/drawing/2014/main" id="{E0E67BF3-9635-FC5A-BCC2-E68462A436CF}"/>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8EC12248-0BF0-86E1-8D82-9C52F57FFE43}"/>
              </a:ext>
            </a:extLst>
          </p:cNvPr>
          <p:cNvSpPr/>
          <p:nvPr/>
        </p:nvSpPr>
        <p:spPr>
          <a:xfrm>
            <a:off x="7525" y="7525"/>
            <a:ext cx="9144000" cy="620700"/>
          </a:xfrm>
          <a:prstGeom prst="rect">
            <a:avLst/>
          </a:prstGeom>
          <a:solidFill>
            <a:srgbClr val="002D1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 name="Google Shape;65;p14" title="longer border.png">
            <a:extLst>
              <a:ext uri="{FF2B5EF4-FFF2-40B4-BE49-F238E27FC236}">
                <a16:creationId xmlns:a16="http://schemas.microsoft.com/office/drawing/2014/main" id="{91F8B856-D76C-805C-901F-1E492B43C319}"/>
              </a:ext>
            </a:extLst>
          </p:cNvPr>
          <p:cNvPicPr preferRelativeResize="0"/>
          <p:nvPr/>
        </p:nvPicPr>
        <p:blipFill>
          <a:blip r:embed="rId4">
            <a:alphaModFix/>
          </a:blip>
          <a:stretch>
            <a:fillRect/>
          </a:stretch>
        </p:blipFill>
        <p:spPr>
          <a:xfrm>
            <a:off x="0" y="445025"/>
            <a:ext cx="9144003" cy="183052"/>
          </a:xfrm>
          <a:prstGeom prst="rect">
            <a:avLst/>
          </a:prstGeom>
          <a:noFill/>
          <a:ln>
            <a:noFill/>
          </a:ln>
        </p:spPr>
      </p:pic>
      <p:sp>
        <p:nvSpPr>
          <p:cNvPr id="66" name="Google Shape;66;p14">
            <a:extLst>
              <a:ext uri="{FF2B5EF4-FFF2-40B4-BE49-F238E27FC236}">
                <a16:creationId xmlns:a16="http://schemas.microsoft.com/office/drawing/2014/main" id="{9AB6CB5E-923A-A149-793B-E70E1C994B40}"/>
              </a:ext>
            </a:extLst>
          </p:cNvPr>
          <p:cNvSpPr txBox="1">
            <a:spLocks noGrp="1"/>
          </p:cNvSpPr>
          <p:nvPr>
            <p:ph type="title"/>
          </p:nvPr>
        </p:nvSpPr>
        <p:spPr>
          <a:xfrm>
            <a:off x="146025" y="124350"/>
            <a:ext cx="8520600" cy="285900"/>
          </a:xfrm>
          <a:prstGeom prst="rect">
            <a:avLst/>
          </a:prstGeom>
        </p:spPr>
        <p:txBody>
          <a:bodyPr spcFirstLastPara="1" wrap="square" lIns="91425" tIns="91425" rIns="91425" bIns="91425" anchor="ctr" anchorCtr="0">
            <a:normAutofit fontScale="90000"/>
          </a:bodyPr>
          <a:lstStyle/>
          <a:p>
            <a:r>
              <a:rPr lang="en-US" sz="1000" b="1" dirty="0">
                <a:solidFill>
                  <a:schemeClr val="lt1"/>
                </a:solidFill>
                <a:latin typeface="Avenir Book" panose="02000503020000020003" pitchFamily="2" charset="0"/>
                <a:ea typeface="Helvetica Neue"/>
                <a:cs typeface="Helvetica Neue"/>
                <a:sym typeface="Helvetica Neue"/>
              </a:rPr>
              <a:t>Executive Summary of Activities </a:t>
            </a:r>
            <a:endParaRPr lang="en-US" sz="1000" dirty="0">
              <a:solidFill>
                <a:srgbClr val="EFFFEF"/>
              </a:solidFill>
              <a:latin typeface="Helvetica Neue"/>
              <a:ea typeface="Helvetica Neue"/>
              <a:cs typeface="Helvetica Neue"/>
              <a:sym typeface="Helvetica Neue"/>
            </a:endParaRPr>
          </a:p>
        </p:txBody>
      </p:sp>
      <p:cxnSp>
        <p:nvCxnSpPr>
          <p:cNvPr id="68" name="Google Shape;68;p14">
            <a:extLst>
              <a:ext uri="{FF2B5EF4-FFF2-40B4-BE49-F238E27FC236}">
                <a16:creationId xmlns:a16="http://schemas.microsoft.com/office/drawing/2014/main" id="{850B63F3-DA9F-6C1F-FDC0-79E4CACDAA35}"/>
              </a:ext>
            </a:extLst>
          </p:cNvPr>
          <p:cNvCxnSpPr/>
          <p:nvPr/>
        </p:nvCxnSpPr>
        <p:spPr>
          <a:xfrm>
            <a:off x="-7525" y="4706725"/>
            <a:ext cx="9149400" cy="1800"/>
          </a:xfrm>
          <a:prstGeom prst="straightConnector1">
            <a:avLst/>
          </a:prstGeom>
          <a:noFill/>
          <a:ln w="9525" cap="flat" cmpd="sng">
            <a:solidFill>
              <a:srgbClr val="D9D9D9"/>
            </a:solidFill>
            <a:prstDash val="solid"/>
            <a:round/>
            <a:headEnd type="none" w="med" len="med"/>
            <a:tailEnd type="none" w="med" len="med"/>
          </a:ln>
        </p:spPr>
      </p:cxnSp>
      <p:pic>
        <p:nvPicPr>
          <p:cNvPr id="69" name="Google Shape;69;p14" title="IIH powered by IHS 1.png">
            <a:extLst>
              <a:ext uri="{FF2B5EF4-FFF2-40B4-BE49-F238E27FC236}">
                <a16:creationId xmlns:a16="http://schemas.microsoft.com/office/drawing/2014/main" id="{8E09AA8A-DBFD-05EA-0B3C-61BA83DABB82}"/>
              </a:ext>
            </a:extLst>
          </p:cNvPr>
          <p:cNvPicPr preferRelativeResize="0"/>
          <p:nvPr/>
        </p:nvPicPr>
        <p:blipFill>
          <a:blip r:embed="rId5">
            <a:alphaModFix/>
          </a:blip>
          <a:stretch>
            <a:fillRect/>
          </a:stretch>
        </p:blipFill>
        <p:spPr>
          <a:xfrm>
            <a:off x="319225" y="4781674"/>
            <a:ext cx="676905" cy="285900"/>
          </a:xfrm>
          <a:prstGeom prst="rect">
            <a:avLst/>
          </a:prstGeom>
          <a:noFill/>
          <a:ln>
            <a:noFill/>
          </a:ln>
        </p:spPr>
      </p:pic>
      <p:sp>
        <p:nvSpPr>
          <p:cNvPr id="3" name="Google Shape;67;p14">
            <a:extLst>
              <a:ext uri="{FF2B5EF4-FFF2-40B4-BE49-F238E27FC236}">
                <a16:creationId xmlns:a16="http://schemas.microsoft.com/office/drawing/2014/main" id="{C2953DD7-20F1-C09E-B4A4-BCF3BCDD7F9A}"/>
              </a:ext>
            </a:extLst>
          </p:cNvPr>
          <p:cNvSpPr txBox="1">
            <a:spLocks/>
          </p:cNvSpPr>
          <p:nvPr/>
        </p:nvSpPr>
        <p:spPr>
          <a:xfrm>
            <a:off x="306875" y="826762"/>
            <a:ext cx="9047331" cy="6153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Font typeface="Arial"/>
              <a:buNone/>
            </a:pPr>
            <a:r>
              <a:rPr lang="en-US" sz="2000" b="1" dirty="0">
                <a:solidFill>
                  <a:schemeClr val="tx1"/>
                </a:solidFill>
                <a:latin typeface="Avenir Book" panose="02000503020000020003" pitchFamily="2" charset="0"/>
              </a:rPr>
              <a:t>Looking Ahead</a:t>
            </a:r>
          </a:p>
        </p:txBody>
      </p:sp>
      <p:pic>
        <p:nvPicPr>
          <p:cNvPr id="5" name="Picture 4" descr="A room with tables and chairs&#10;&#10;AI-generated content may be incorrect.">
            <a:extLst>
              <a:ext uri="{FF2B5EF4-FFF2-40B4-BE49-F238E27FC236}">
                <a16:creationId xmlns:a16="http://schemas.microsoft.com/office/drawing/2014/main" id="{4CE5EBBA-375C-8DCE-88D0-E87DCCE92E20}"/>
              </a:ext>
            </a:extLst>
          </p:cNvPr>
          <p:cNvPicPr>
            <a:picLocks noChangeAspect="1"/>
          </p:cNvPicPr>
          <p:nvPr/>
        </p:nvPicPr>
        <p:blipFill>
          <a:blip r:embed="rId6"/>
          <a:stretch>
            <a:fillRect/>
          </a:stretch>
        </p:blipFill>
        <p:spPr>
          <a:xfrm>
            <a:off x="5560826" y="826762"/>
            <a:ext cx="2999851" cy="2001463"/>
          </a:xfrm>
          <a:prstGeom prst="rect">
            <a:avLst/>
          </a:prstGeom>
        </p:spPr>
      </p:pic>
      <p:pic>
        <p:nvPicPr>
          <p:cNvPr id="7" name="Picture 6" descr="A building with a triangular roof&#10;&#10;AI-generated content may be incorrect.">
            <a:extLst>
              <a:ext uri="{FF2B5EF4-FFF2-40B4-BE49-F238E27FC236}">
                <a16:creationId xmlns:a16="http://schemas.microsoft.com/office/drawing/2014/main" id="{D99AA918-B3E7-35D2-C046-5B5F2608D4CA}"/>
              </a:ext>
            </a:extLst>
          </p:cNvPr>
          <p:cNvPicPr>
            <a:picLocks noChangeAspect="1"/>
          </p:cNvPicPr>
          <p:nvPr/>
        </p:nvPicPr>
        <p:blipFill>
          <a:blip r:embed="rId7"/>
          <a:stretch>
            <a:fillRect/>
          </a:stretch>
        </p:blipFill>
        <p:spPr>
          <a:xfrm>
            <a:off x="5560826" y="2917007"/>
            <a:ext cx="2999851" cy="2249888"/>
          </a:xfrm>
          <a:prstGeom prst="rect">
            <a:avLst/>
          </a:prstGeom>
        </p:spPr>
      </p:pic>
      <p:sp>
        <p:nvSpPr>
          <p:cNvPr id="2" name="TextBox 1">
            <a:extLst>
              <a:ext uri="{FF2B5EF4-FFF2-40B4-BE49-F238E27FC236}">
                <a16:creationId xmlns:a16="http://schemas.microsoft.com/office/drawing/2014/main" id="{1EEA522E-C199-83AC-D8C8-EC246F4CD118}"/>
              </a:ext>
            </a:extLst>
          </p:cNvPr>
          <p:cNvSpPr txBox="1"/>
          <p:nvPr/>
        </p:nvSpPr>
        <p:spPr>
          <a:xfrm>
            <a:off x="477376" y="1588220"/>
            <a:ext cx="5359898" cy="2972096"/>
          </a:xfrm>
          <a:prstGeom prst="rect">
            <a:avLst/>
          </a:prstGeom>
          <a:solidFill>
            <a:schemeClr val="bg1"/>
          </a:solidFill>
        </p:spPr>
        <p:txBody>
          <a:bodyPr wrap="square" rtlCol="0">
            <a:spAutoFit/>
          </a:bodyPr>
          <a:lstStyle/>
          <a:p>
            <a:pPr marL="342900" marR="0" lvl="0" indent="-342900">
              <a:lnSpc>
                <a:spcPct val="150000"/>
              </a:lnSpc>
              <a:buSzPts val="1000"/>
              <a:buFont typeface="Symbol" pitchFamily="2" charset="2"/>
              <a:buChar char=""/>
              <a:tabLst>
                <a:tab pos="457200" algn="l"/>
              </a:tabLst>
            </a:pPr>
            <a:r>
              <a:rPr lang="en-US" b="1" dirty="0">
                <a:effectLst/>
                <a:latin typeface="Avenir Book" panose="02000503020000020003" pitchFamily="2" charset="0"/>
                <a:ea typeface="Times New Roman" panose="02020603050405020304" pitchFamily="18" charset="0"/>
                <a:cs typeface="Times New Roman" panose="02020603050405020304" pitchFamily="18" charset="0"/>
              </a:rPr>
              <a:t>Kwara AI Summit 2025:</a:t>
            </a:r>
            <a:r>
              <a:rPr lang="en-US" dirty="0">
                <a:effectLst/>
                <a:latin typeface="Avenir Book" panose="02000503020000020003" pitchFamily="2" charset="0"/>
                <a:ea typeface="Times New Roman" panose="02020603050405020304" pitchFamily="18" charset="0"/>
                <a:cs typeface="Times New Roman" panose="02020603050405020304" pitchFamily="18" charset="0"/>
              </a:rPr>
              <a:t> Co-developed with IHS Towers to spotlight AI innovation, entrepreneurship, and youth empowerment.</a:t>
            </a:r>
            <a:endParaRPr lang="en-US"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50000"/>
              </a:lnSpc>
              <a:buSzPts val="1000"/>
              <a:buFont typeface="Symbol" pitchFamily="2" charset="2"/>
              <a:buChar char=""/>
              <a:tabLst>
                <a:tab pos="457200" algn="l"/>
              </a:tabLst>
            </a:pPr>
            <a:r>
              <a:rPr lang="en-US" b="1" dirty="0">
                <a:effectLst/>
                <a:latin typeface="Avenir Book" panose="02000503020000020003" pitchFamily="2" charset="0"/>
                <a:ea typeface="Times New Roman" panose="02020603050405020304" pitchFamily="18" charset="0"/>
                <a:cs typeface="Times New Roman" panose="02020603050405020304" pitchFamily="18" charset="0"/>
              </a:rPr>
              <a:t>ORBIT 2.0:</a:t>
            </a:r>
            <a:r>
              <a:rPr lang="en-US" dirty="0">
                <a:effectLst/>
                <a:latin typeface="Avenir Book" panose="02000503020000020003" pitchFamily="2" charset="0"/>
                <a:ea typeface="Times New Roman" panose="02020603050405020304" pitchFamily="18" charset="0"/>
                <a:cs typeface="Times New Roman" panose="02020603050405020304" pitchFamily="18" charset="0"/>
              </a:rPr>
              <a:t> Expansion to additional universities and specialized tracks.</a:t>
            </a:r>
            <a:endParaRPr lang="en-US"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50000"/>
              </a:lnSpc>
              <a:buSzPts val="1000"/>
              <a:buFont typeface="Symbol" pitchFamily="2" charset="2"/>
              <a:buChar char=""/>
              <a:tabLst>
                <a:tab pos="457200" algn="l"/>
              </a:tabLst>
            </a:pPr>
            <a:r>
              <a:rPr lang="en-US" b="1" dirty="0">
                <a:effectLst/>
                <a:latin typeface="Avenir Book" panose="02000503020000020003" pitchFamily="2" charset="0"/>
                <a:ea typeface="Times New Roman" panose="02020603050405020304" pitchFamily="18" charset="0"/>
                <a:cs typeface="Times New Roman" panose="02020603050405020304" pitchFamily="18" charset="0"/>
              </a:rPr>
              <a:t>Ecosystem Growth:</a:t>
            </a:r>
            <a:r>
              <a:rPr lang="en-US" dirty="0">
                <a:effectLst/>
                <a:latin typeface="Avenir Book" panose="02000503020000020003" pitchFamily="2" charset="0"/>
                <a:ea typeface="Times New Roman" panose="02020603050405020304" pitchFamily="18" charset="0"/>
                <a:cs typeface="Times New Roman" panose="02020603050405020304" pitchFamily="18" charset="0"/>
              </a:rPr>
              <a:t> Launch of new hackathons, accelerators, and creative-tech programs.</a:t>
            </a:r>
            <a:endParaRPr lang="en-US"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50000"/>
              </a:lnSpc>
              <a:buSzPts val="1000"/>
              <a:buFont typeface="Symbol" pitchFamily="2" charset="2"/>
              <a:buChar char=""/>
              <a:tabLst>
                <a:tab pos="457200" algn="l"/>
              </a:tabLst>
            </a:pPr>
            <a:r>
              <a:rPr lang="en-US" b="1" dirty="0">
                <a:effectLst/>
                <a:latin typeface="Avenir Book" panose="02000503020000020003" pitchFamily="2" charset="0"/>
                <a:ea typeface="Times New Roman" panose="02020603050405020304" pitchFamily="18" charset="0"/>
                <a:cs typeface="Times New Roman" panose="02020603050405020304" pitchFamily="18" charset="0"/>
              </a:rPr>
              <a:t>Facility Enhancements:</a:t>
            </a:r>
            <a:r>
              <a:rPr lang="en-US" dirty="0">
                <a:effectLst/>
                <a:latin typeface="Avenir Book" panose="02000503020000020003" pitchFamily="2" charset="0"/>
                <a:ea typeface="Times New Roman" panose="02020603050405020304" pitchFamily="18" charset="0"/>
                <a:cs typeface="Times New Roman" panose="02020603050405020304" pitchFamily="18" charset="0"/>
              </a:rPr>
              <a:t> Reception redesign, creative studio launch, and upgraded co-working spaces.</a:t>
            </a:r>
            <a:endParaRPr lang="en-US"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686880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Shape 63">
          <a:extLst>
            <a:ext uri="{FF2B5EF4-FFF2-40B4-BE49-F238E27FC236}">
              <a16:creationId xmlns:a16="http://schemas.microsoft.com/office/drawing/2014/main" id="{E1B420C3-B053-CAFA-09AE-AA71E30391DC}"/>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882EA4D6-51A5-ABED-402F-0BD6E5381AC6}"/>
              </a:ext>
            </a:extLst>
          </p:cNvPr>
          <p:cNvSpPr/>
          <p:nvPr/>
        </p:nvSpPr>
        <p:spPr>
          <a:xfrm>
            <a:off x="7525" y="7525"/>
            <a:ext cx="9144000" cy="620700"/>
          </a:xfrm>
          <a:prstGeom prst="rect">
            <a:avLst/>
          </a:prstGeom>
          <a:solidFill>
            <a:srgbClr val="002D1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 name="Google Shape;65;p14" title="longer border.png">
            <a:extLst>
              <a:ext uri="{FF2B5EF4-FFF2-40B4-BE49-F238E27FC236}">
                <a16:creationId xmlns:a16="http://schemas.microsoft.com/office/drawing/2014/main" id="{E4338FEC-E8E9-CFA6-677F-3763DBAA8E0A}"/>
              </a:ext>
            </a:extLst>
          </p:cNvPr>
          <p:cNvPicPr preferRelativeResize="0"/>
          <p:nvPr/>
        </p:nvPicPr>
        <p:blipFill>
          <a:blip r:embed="rId4">
            <a:alphaModFix/>
          </a:blip>
          <a:stretch>
            <a:fillRect/>
          </a:stretch>
        </p:blipFill>
        <p:spPr>
          <a:xfrm>
            <a:off x="0" y="445025"/>
            <a:ext cx="9144003" cy="183052"/>
          </a:xfrm>
          <a:prstGeom prst="rect">
            <a:avLst/>
          </a:prstGeom>
          <a:noFill/>
          <a:ln>
            <a:noFill/>
          </a:ln>
        </p:spPr>
      </p:pic>
      <p:sp>
        <p:nvSpPr>
          <p:cNvPr id="66" name="Google Shape;66;p14">
            <a:extLst>
              <a:ext uri="{FF2B5EF4-FFF2-40B4-BE49-F238E27FC236}">
                <a16:creationId xmlns:a16="http://schemas.microsoft.com/office/drawing/2014/main" id="{FA3A62A1-89F3-AC63-CC4B-822612381242}"/>
              </a:ext>
            </a:extLst>
          </p:cNvPr>
          <p:cNvSpPr txBox="1">
            <a:spLocks noGrp="1"/>
          </p:cNvSpPr>
          <p:nvPr>
            <p:ph type="title"/>
          </p:nvPr>
        </p:nvSpPr>
        <p:spPr>
          <a:xfrm>
            <a:off x="146025" y="124350"/>
            <a:ext cx="8520600" cy="285900"/>
          </a:xfrm>
          <a:prstGeom prst="rect">
            <a:avLst/>
          </a:prstGeom>
        </p:spPr>
        <p:txBody>
          <a:bodyPr spcFirstLastPara="1" wrap="square" lIns="91425" tIns="91425" rIns="91425" bIns="91425" anchor="ctr" anchorCtr="0">
            <a:normAutofit fontScale="90000"/>
          </a:bodyPr>
          <a:lstStyle/>
          <a:p>
            <a:r>
              <a:rPr lang="en-US" sz="1000" b="1" dirty="0">
                <a:solidFill>
                  <a:schemeClr val="lt1"/>
                </a:solidFill>
                <a:latin typeface="Avenir Book" panose="02000503020000020003" pitchFamily="2" charset="0"/>
                <a:ea typeface="Helvetica Neue"/>
                <a:cs typeface="Helvetica Neue"/>
                <a:sym typeface="Helvetica Neue"/>
              </a:rPr>
              <a:t>Executive Summary of Activities </a:t>
            </a:r>
            <a:endParaRPr lang="en-US" sz="1000" dirty="0">
              <a:solidFill>
                <a:srgbClr val="EFFFEF"/>
              </a:solidFill>
              <a:latin typeface="Helvetica Neue"/>
              <a:ea typeface="Helvetica Neue"/>
              <a:cs typeface="Helvetica Neue"/>
              <a:sym typeface="Helvetica Neue"/>
            </a:endParaRPr>
          </a:p>
        </p:txBody>
      </p:sp>
      <p:cxnSp>
        <p:nvCxnSpPr>
          <p:cNvPr id="68" name="Google Shape;68;p14">
            <a:extLst>
              <a:ext uri="{FF2B5EF4-FFF2-40B4-BE49-F238E27FC236}">
                <a16:creationId xmlns:a16="http://schemas.microsoft.com/office/drawing/2014/main" id="{A489CAFC-853F-E4EB-82ED-29914B972E78}"/>
              </a:ext>
            </a:extLst>
          </p:cNvPr>
          <p:cNvCxnSpPr/>
          <p:nvPr/>
        </p:nvCxnSpPr>
        <p:spPr>
          <a:xfrm>
            <a:off x="-7525" y="4706725"/>
            <a:ext cx="9149400" cy="1800"/>
          </a:xfrm>
          <a:prstGeom prst="straightConnector1">
            <a:avLst/>
          </a:prstGeom>
          <a:noFill/>
          <a:ln w="9525" cap="flat" cmpd="sng">
            <a:solidFill>
              <a:srgbClr val="D9D9D9"/>
            </a:solidFill>
            <a:prstDash val="solid"/>
            <a:round/>
            <a:headEnd type="none" w="med" len="med"/>
            <a:tailEnd type="none" w="med" len="med"/>
          </a:ln>
        </p:spPr>
      </p:cxnSp>
      <p:pic>
        <p:nvPicPr>
          <p:cNvPr id="69" name="Google Shape;69;p14" title="IIH powered by IHS 1.png">
            <a:extLst>
              <a:ext uri="{FF2B5EF4-FFF2-40B4-BE49-F238E27FC236}">
                <a16:creationId xmlns:a16="http://schemas.microsoft.com/office/drawing/2014/main" id="{6E72A88F-82F0-5F3C-8E04-6B1CFA778DD9}"/>
              </a:ext>
            </a:extLst>
          </p:cNvPr>
          <p:cNvPicPr preferRelativeResize="0"/>
          <p:nvPr/>
        </p:nvPicPr>
        <p:blipFill>
          <a:blip r:embed="rId5">
            <a:alphaModFix/>
          </a:blip>
          <a:stretch>
            <a:fillRect/>
          </a:stretch>
        </p:blipFill>
        <p:spPr>
          <a:xfrm>
            <a:off x="319225" y="4781674"/>
            <a:ext cx="676905" cy="285900"/>
          </a:xfrm>
          <a:prstGeom prst="rect">
            <a:avLst/>
          </a:prstGeom>
          <a:noFill/>
          <a:ln>
            <a:noFill/>
          </a:ln>
        </p:spPr>
      </p:pic>
      <p:sp>
        <p:nvSpPr>
          <p:cNvPr id="2" name="TextBox 1">
            <a:extLst>
              <a:ext uri="{FF2B5EF4-FFF2-40B4-BE49-F238E27FC236}">
                <a16:creationId xmlns:a16="http://schemas.microsoft.com/office/drawing/2014/main" id="{AC3614B7-B2E8-2CF5-DCFD-8E8F05B1486E}"/>
              </a:ext>
            </a:extLst>
          </p:cNvPr>
          <p:cNvSpPr txBox="1"/>
          <p:nvPr/>
        </p:nvSpPr>
        <p:spPr>
          <a:xfrm>
            <a:off x="477375" y="1588220"/>
            <a:ext cx="5136615" cy="2972865"/>
          </a:xfrm>
          <a:prstGeom prst="rect">
            <a:avLst/>
          </a:prstGeom>
          <a:noFill/>
        </p:spPr>
        <p:txBody>
          <a:bodyPr wrap="square" rtlCol="0">
            <a:spAutoFit/>
          </a:bodyPr>
          <a:lstStyle/>
          <a:p>
            <a:pPr marR="0" lvl="0">
              <a:lnSpc>
                <a:spcPct val="150000"/>
              </a:lnSpc>
              <a:buSzPts val="1000"/>
              <a:tabLst>
                <a:tab pos="457200" algn="l"/>
              </a:tabLst>
            </a:pPr>
            <a:r>
              <a:rPr lang="en-US" dirty="0">
                <a:latin typeface="Avenir Book" panose="02000503020000020003" pitchFamily="2" charset="0"/>
              </a:rPr>
              <a:t>The management of the Ilorin Innovation Hub expresses sincere appreciation to IHS Towers for its continued partnership, sponsorship, and leadership in advancing innovation, youth empowerment, and digital inclusion in Kwara State.</a:t>
            </a:r>
          </a:p>
          <a:p>
            <a:pPr marR="0" lvl="0">
              <a:lnSpc>
                <a:spcPct val="150000"/>
              </a:lnSpc>
              <a:buSzPts val="1000"/>
              <a:tabLst>
                <a:tab pos="457200" algn="l"/>
              </a:tabLst>
            </a:pPr>
            <a:br>
              <a:rPr lang="en-US" dirty="0">
                <a:latin typeface="Avenir Book" panose="02000503020000020003" pitchFamily="2" charset="0"/>
              </a:rPr>
            </a:br>
            <a:r>
              <a:rPr lang="en-US" dirty="0">
                <a:latin typeface="Avenir Book" panose="02000503020000020003" pitchFamily="2" charset="0"/>
              </a:rPr>
              <a:t>The milestones achieved between February and October 2025 demonstrate the strength of this collaboration and a shared vision for a sustainable innovation ecosystem in Nigeria.</a:t>
            </a:r>
            <a:endParaRPr lang="en-US" dirty="0">
              <a:effectLst/>
              <a:latin typeface="Avenir Book" panose="02000503020000020003" pitchFamily="2" charset="0"/>
              <a:ea typeface="Aptos" panose="020B0004020202020204" pitchFamily="34" charset="0"/>
              <a:cs typeface="Times New Roman" panose="02020603050405020304" pitchFamily="18" charset="0"/>
            </a:endParaRPr>
          </a:p>
        </p:txBody>
      </p:sp>
      <p:sp>
        <p:nvSpPr>
          <p:cNvPr id="3" name="Google Shape;67;p14">
            <a:extLst>
              <a:ext uri="{FF2B5EF4-FFF2-40B4-BE49-F238E27FC236}">
                <a16:creationId xmlns:a16="http://schemas.microsoft.com/office/drawing/2014/main" id="{E20809CE-BB70-FE23-CB92-0AA12C83B47F}"/>
              </a:ext>
            </a:extLst>
          </p:cNvPr>
          <p:cNvSpPr txBox="1">
            <a:spLocks/>
          </p:cNvSpPr>
          <p:nvPr/>
        </p:nvSpPr>
        <p:spPr>
          <a:xfrm>
            <a:off x="306875" y="826762"/>
            <a:ext cx="9047331" cy="6153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Font typeface="Arial"/>
              <a:buNone/>
            </a:pPr>
            <a:r>
              <a:rPr lang="en-US" sz="2000" b="1" dirty="0">
                <a:solidFill>
                  <a:schemeClr val="tx1"/>
                </a:solidFill>
                <a:latin typeface="Avenir Book" panose="02000503020000020003" pitchFamily="2" charset="0"/>
              </a:rPr>
              <a:t>Acknowledgement</a:t>
            </a:r>
          </a:p>
        </p:txBody>
      </p:sp>
      <p:pic>
        <p:nvPicPr>
          <p:cNvPr id="5" name="Picture 4" descr="A green and black logo&#10;&#10;AI-generated content may be incorrect.">
            <a:extLst>
              <a:ext uri="{FF2B5EF4-FFF2-40B4-BE49-F238E27FC236}">
                <a16:creationId xmlns:a16="http://schemas.microsoft.com/office/drawing/2014/main" id="{FF747C70-1731-9EE5-A97A-6C3722487AFB}"/>
              </a:ext>
            </a:extLst>
          </p:cNvPr>
          <p:cNvPicPr>
            <a:picLocks noChangeAspect="1"/>
          </p:cNvPicPr>
          <p:nvPr/>
        </p:nvPicPr>
        <p:blipFill>
          <a:blip r:embed="rId6"/>
          <a:stretch>
            <a:fillRect/>
          </a:stretch>
        </p:blipFill>
        <p:spPr>
          <a:xfrm>
            <a:off x="5862822" y="1639271"/>
            <a:ext cx="2881329" cy="1609570"/>
          </a:xfrm>
          <a:prstGeom prst="rect">
            <a:avLst/>
          </a:prstGeom>
        </p:spPr>
      </p:pic>
    </p:spTree>
    <p:extLst>
      <p:ext uri="{BB962C8B-B14F-4D97-AF65-F5344CB8AC3E}">
        <p14:creationId xmlns:p14="http://schemas.microsoft.com/office/powerpoint/2010/main" val="2116309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D14"/>
        </a:solidFill>
        <a:effectLst/>
      </p:bgPr>
    </p:bg>
    <p:spTree>
      <p:nvGrpSpPr>
        <p:cNvPr id="1" name="Shape 114"/>
        <p:cNvGrpSpPr/>
        <p:nvPr/>
      </p:nvGrpSpPr>
      <p:grpSpPr>
        <a:xfrm>
          <a:off x="0" y="0"/>
          <a:ext cx="0" cy="0"/>
          <a:chOff x="0" y="0"/>
          <a:chExt cx="0" cy="0"/>
        </a:xfrm>
      </p:grpSpPr>
      <p:pic>
        <p:nvPicPr>
          <p:cNvPr id="115" name="Google Shape;115;p18" title="Ihs bg.png"/>
          <p:cNvPicPr preferRelativeResize="0"/>
          <p:nvPr/>
        </p:nvPicPr>
        <p:blipFill>
          <a:blip r:embed="rId3">
            <a:alphaModFix amt="50000"/>
          </a:blip>
          <a:stretch>
            <a:fillRect/>
          </a:stretch>
        </p:blipFill>
        <p:spPr>
          <a:xfrm>
            <a:off x="0" y="-4463"/>
            <a:ext cx="9143997" cy="5147963"/>
          </a:xfrm>
          <a:prstGeom prst="rect">
            <a:avLst/>
          </a:prstGeom>
          <a:noFill/>
          <a:ln>
            <a:noFill/>
          </a:ln>
        </p:spPr>
      </p:pic>
      <p:pic>
        <p:nvPicPr>
          <p:cNvPr id="2" name="Google Shape;59;p13" title="IIH powered by IHS 2.png">
            <a:extLst>
              <a:ext uri="{FF2B5EF4-FFF2-40B4-BE49-F238E27FC236}">
                <a16:creationId xmlns:a16="http://schemas.microsoft.com/office/drawing/2014/main" id="{3972F830-4365-7283-7681-FD360844A951}"/>
              </a:ext>
            </a:extLst>
          </p:cNvPr>
          <p:cNvPicPr preferRelativeResize="0"/>
          <p:nvPr/>
        </p:nvPicPr>
        <p:blipFill rotWithShape="1">
          <a:blip r:embed="rId4">
            <a:alphaModFix/>
          </a:blip>
          <a:srcRect/>
          <a:stretch/>
        </p:blipFill>
        <p:spPr>
          <a:xfrm>
            <a:off x="3636761" y="2727173"/>
            <a:ext cx="1870474" cy="790024"/>
          </a:xfrm>
          <a:prstGeom prst="rect">
            <a:avLst/>
          </a:prstGeom>
          <a:noFill/>
          <a:ln>
            <a:noFill/>
          </a:ln>
        </p:spPr>
      </p:pic>
      <p:sp>
        <p:nvSpPr>
          <p:cNvPr id="3" name="Google Shape;67;p14">
            <a:extLst>
              <a:ext uri="{FF2B5EF4-FFF2-40B4-BE49-F238E27FC236}">
                <a16:creationId xmlns:a16="http://schemas.microsoft.com/office/drawing/2014/main" id="{9793FE8D-C3E2-9992-EEA8-CC48C06D0F86}"/>
              </a:ext>
            </a:extLst>
          </p:cNvPr>
          <p:cNvSpPr txBox="1">
            <a:spLocks/>
          </p:cNvSpPr>
          <p:nvPr/>
        </p:nvSpPr>
        <p:spPr>
          <a:xfrm>
            <a:off x="1951063" y="1636055"/>
            <a:ext cx="5241870" cy="6153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114300" indent="0"/>
            <a:r>
              <a:rPr lang="en-US" sz="3200" b="1" dirty="0">
                <a:solidFill>
                  <a:schemeClr val="bg1"/>
                </a:solidFill>
                <a:latin typeface="Avenir Book" panose="02000503020000020003" pitchFamily="2" charset="0"/>
              </a:rPr>
              <a:t>Thank you.</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15561</TotalTime>
  <Words>1462</Words>
  <Application>Microsoft Macintosh PowerPoint</Application>
  <PresentationFormat>On-screen Show (16:9)</PresentationFormat>
  <Paragraphs>125</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Avenir Book</vt:lpstr>
      <vt:lpstr>Helvetica Neue</vt:lpstr>
      <vt:lpstr>Symbol</vt:lpstr>
      <vt:lpstr>Aptos</vt:lpstr>
      <vt:lpstr>Arial</vt:lpstr>
      <vt:lpstr>Simple Light</vt:lpstr>
      <vt:lpstr>Executive Summary of Activities </vt:lpstr>
      <vt:lpstr>Executive Summary of Activities </vt:lpstr>
      <vt:lpstr>Executive Summary of Activities </vt:lpstr>
      <vt:lpstr>Executive Summary of Activities </vt:lpstr>
      <vt:lpstr>Executive Summary of Activities </vt:lpstr>
      <vt:lpstr>Executive Summary of Activities </vt:lpstr>
      <vt:lpstr>Executive Summary of Activities </vt:lpstr>
      <vt:lpstr>Executive Summary of Activities </vt:lpstr>
      <vt:lpstr>Executive Summary of Activities </vt:lpstr>
      <vt:lpstr>Executive Summary of Activities </vt:lpstr>
      <vt:lpstr>Executive Summary of Activities </vt:lpstr>
      <vt:lpstr>Executive Summary of Activities </vt:lpstr>
      <vt:lpstr>Executive Summary of Activities </vt:lpstr>
      <vt:lpstr>Executive Summary of Activities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Temi Kolawole</cp:lastModifiedBy>
  <cp:revision>76</cp:revision>
  <cp:lastPrinted>2025-10-02T11:50:33Z</cp:lastPrinted>
  <dcterms:modified xsi:type="dcterms:W3CDTF">2025-10-10T11:18:40Z</dcterms:modified>
</cp:coreProperties>
</file>