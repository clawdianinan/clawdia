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Proxima Nova"/>
      <p:regular r:id="rId19"/>
      <p:bold r:id="rId20"/>
      <p:italic r:id="rId21"/>
      <p:boldItalic r:id="rId22"/>
    </p:embeddedFont>
    <p:embeddedFont>
      <p:font typeface="Proxima Nova Semibold"/>
      <p:regular r:id="rId23"/>
      <p:bold r:id="rId24"/>
      <p:boldItalic r:id="rId25"/>
    </p:embeddedFont>
    <p:embeddedFont>
      <p:font typeface="Epilogue"/>
      <p:regular r:id="rId26"/>
      <p:bold r:id="rId27"/>
      <p:italic r:id="rId28"/>
      <p:boldItalic r:id="rId29"/>
    </p:embeddedFont>
    <p:embeddedFont>
      <p:font typeface="Epilogue ExtraBold"/>
      <p:bold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C7D8E0-C68C-4337-9D1F-42AE05FBD170}">
  <a:tblStyle styleId="{8AC7D8E0-C68C-4337-9D1F-42AE05FBD17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BA88F36-F84B-4980-8EF0-37AB9F51420B}" styleName="Table_1">
    <a:wholeTbl>
      <a:tcTxStyle>
        <a:font>
          <a:latin typeface="Arial"/>
          <a:ea typeface="Arial"/>
          <a:cs typeface="Arial"/>
        </a:font>
        <a:srgbClr val="000000"/>
      </a:tcTxStyle>
      <a:tcStyle>
        <a:tcBdr>
          <a:left>
            <a:ln cap="flat" cmpd="sng">
              <a:solidFill>
                <a:srgbClr val="808080"/>
              </a:solidFill>
              <a:prstDash val="solid"/>
              <a:round/>
              <a:headEnd len="sm" w="sm" type="none"/>
              <a:tailEnd len="sm" w="sm" type="none"/>
            </a:ln>
          </a:left>
          <a:right>
            <a:ln cap="flat" cmpd="sng">
              <a:solidFill>
                <a:srgbClr val="808080"/>
              </a:solidFill>
              <a:prstDash val="solid"/>
              <a:round/>
              <a:headEnd len="sm" w="sm" type="none"/>
              <a:tailEnd len="sm" w="sm" type="none"/>
            </a:ln>
          </a:right>
          <a:top>
            <a:ln cap="flat" cmpd="sng">
              <a:solidFill>
                <a:srgbClr val="808080"/>
              </a:solidFill>
              <a:prstDash val="solid"/>
              <a:round/>
              <a:headEnd len="sm" w="sm" type="none"/>
              <a:tailEnd len="sm" w="sm" type="none"/>
            </a:ln>
          </a:top>
          <a:bottom>
            <a:ln cap="flat" cmpd="sng">
              <a:solidFill>
                <a:srgbClr val="808080"/>
              </a:solidFill>
              <a:prstDash val="solid"/>
              <a:round/>
              <a:headEnd len="sm" w="sm" type="none"/>
              <a:tailEnd len="sm" w="sm" type="none"/>
            </a:ln>
          </a:bottom>
          <a:insideH>
            <a:ln cap="flat" cmpd="sng">
              <a:solidFill>
                <a:srgbClr val="808080"/>
              </a:solidFill>
              <a:prstDash val="solid"/>
              <a:round/>
              <a:headEnd len="sm" w="sm" type="none"/>
              <a:tailEnd len="sm" w="sm" type="none"/>
            </a:ln>
          </a:insideH>
          <a:insideV>
            <a:ln cap="flat" cmpd="sng">
              <a:solidFill>
                <a:srgbClr val="80808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bold.fntdata"/><Relationship Id="rId22" Type="http://schemas.openxmlformats.org/officeDocument/2006/relationships/font" Target="fonts/ProximaNova-boldItalic.fntdata"/><Relationship Id="rId21" Type="http://schemas.openxmlformats.org/officeDocument/2006/relationships/font" Target="fonts/ProximaNova-italic.fntdata"/><Relationship Id="rId24" Type="http://schemas.openxmlformats.org/officeDocument/2006/relationships/font" Target="fonts/ProximaNovaSemibold-bold.fntdata"/><Relationship Id="rId23" Type="http://schemas.openxmlformats.org/officeDocument/2006/relationships/font" Target="fonts/ProximaNova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Epilogue-regular.fntdata"/><Relationship Id="rId25" Type="http://schemas.openxmlformats.org/officeDocument/2006/relationships/font" Target="fonts/ProximaNovaSemibold-boldItalic.fntdata"/><Relationship Id="rId28" Type="http://schemas.openxmlformats.org/officeDocument/2006/relationships/font" Target="fonts/Epilogue-italic.fntdata"/><Relationship Id="rId27" Type="http://schemas.openxmlformats.org/officeDocument/2006/relationships/font" Target="fonts/Epilogue-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Epilogue-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EpilogueExtraBold-boldItalic.fntdata"/><Relationship Id="rId30" Type="http://schemas.openxmlformats.org/officeDocument/2006/relationships/font" Target="fonts/EpilogueExtraBold-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ProximaNova-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39bd819af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39bd819af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6a8a5b8b3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6a8a5b8b3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6a8a5b8b3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6a8a5b8b3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d72dcbaab_2_0:notes"/>
          <p:cNvSpPr txBox="1"/>
          <p:nvPr>
            <p:ph idx="1" type="body"/>
          </p:nvPr>
        </p:nvSpPr>
        <p:spPr>
          <a:xfrm>
            <a:off x="685797" y="4343387"/>
            <a:ext cx="5486400" cy="4114800"/>
          </a:xfrm>
          <a:prstGeom prst="rect">
            <a:avLst/>
          </a:prstGeom>
          <a:noFill/>
          <a:ln>
            <a:noFill/>
          </a:ln>
        </p:spPr>
        <p:txBody>
          <a:bodyPr anchorCtr="0" anchor="t" bIns="45425" lIns="45425" spcFirstLastPara="1" rIns="45425" wrap="square" tIns="45425">
            <a:noAutofit/>
          </a:bodyPr>
          <a:lstStyle/>
          <a:p>
            <a:pPr indent="0" lvl="0" marL="0" rtl="0" algn="l">
              <a:lnSpc>
                <a:spcPct val="100000"/>
              </a:lnSpc>
              <a:spcBef>
                <a:spcPts val="0"/>
              </a:spcBef>
              <a:spcAft>
                <a:spcPts val="0"/>
              </a:spcAft>
              <a:buSzPts val="500"/>
              <a:buNone/>
            </a:pPr>
            <a:r>
              <a:t/>
            </a:r>
            <a:endParaRPr/>
          </a:p>
        </p:txBody>
      </p:sp>
      <p:sp>
        <p:nvSpPr>
          <p:cNvPr id="82" name="Google Shape;82;g36d72dcbaab_2_0:notes"/>
          <p:cNvSpPr/>
          <p:nvPr>
            <p:ph idx="2" type="sldImg"/>
          </p:nvPr>
        </p:nvSpPr>
        <p:spPr>
          <a:xfrm>
            <a:off x="2143306" y="685415"/>
            <a:ext cx="25719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6a8a5b8b3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6a8a5b8b3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a8a5b8b38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6a8a5b8b38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5daa39065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5daa39065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e099fb5f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5e099fb5f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5e099fb5f9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5e099fb5f9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5e099fb5f9_3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5e099fb5f9_3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6a8a5b8b38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6a8a5b8b3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39d391dd09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39d391dd09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0" name="Shape 50"/>
        <p:cNvGrpSpPr/>
        <p:nvPr/>
      </p:nvGrpSpPr>
      <p:grpSpPr>
        <a:xfrm>
          <a:off x="0" y="0"/>
          <a:ext cx="0" cy="0"/>
          <a:chOff x="0" y="0"/>
          <a:chExt cx="0" cy="0"/>
        </a:xfrm>
      </p:grpSpPr>
      <p:sp>
        <p:nvSpPr>
          <p:cNvPr id="51" name="Google Shape;51;p13"/>
          <p:cNvSpPr txBox="1"/>
          <p:nvPr>
            <p:ph type="title"/>
          </p:nvPr>
        </p:nvSpPr>
        <p:spPr>
          <a:xfrm>
            <a:off x="3680139" y="575356"/>
            <a:ext cx="1783800" cy="611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600"/>
              <a:buNone/>
              <a:defRPr b="1" i="0" sz="3900">
                <a:solidFill>
                  <a:srgbClr val="231F20"/>
                </a:solidFill>
                <a:latin typeface="Arial"/>
                <a:ea typeface="Arial"/>
                <a:cs typeface="Arial"/>
                <a:sym typeface="Aria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52" name="Google Shape;52;p13"/>
          <p:cNvSpPr txBox="1"/>
          <p:nvPr>
            <p:ph idx="1" type="body"/>
          </p:nvPr>
        </p:nvSpPr>
        <p:spPr>
          <a:xfrm>
            <a:off x="470469" y="1120852"/>
            <a:ext cx="2552700" cy="2983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1500">
                <a:solidFill>
                  <a:srgbClr val="231F20"/>
                </a:solidFill>
                <a:latin typeface="Arial"/>
                <a:ea typeface="Arial"/>
                <a:cs typeface="Arial"/>
                <a:sym typeface="Arial"/>
              </a:defRPr>
            </a:lvl1pPr>
            <a:lvl2pPr indent="-228600" lvl="1" marL="914400" algn="l">
              <a:lnSpc>
                <a:spcPct val="100000"/>
              </a:lnSpc>
              <a:spcBef>
                <a:spcPts val="0"/>
              </a:spcBef>
              <a:spcAft>
                <a:spcPts val="0"/>
              </a:spcAft>
              <a:buSzPts val="600"/>
              <a:buNone/>
              <a:defRPr/>
            </a:lvl2pPr>
            <a:lvl3pPr indent="-228600" lvl="2" marL="1371600" algn="l">
              <a:lnSpc>
                <a:spcPct val="100000"/>
              </a:lnSpc>
              <a:spcBef>
                <a:spcPts val="0"/>
              </a:spcBef>
              <a:spcAft>
                <a:spcPts val="0"/>
              </a:spcAft>
              <a:buSzPts val="600"/>
              <a:buNone/>
              <a:defRPr/>
            </a:lvl3pPr>
            <a:lvl4pPr indent="-228600" lvl="3" marL="1828800" algn="l">
              <a:lnSpc>
                <a:spcPct val="100000"/>
              </a:lnSpc>
              <a:spcBef>
                <a:spcPts val="0"/>
              </a:spcBef>
              <a:spcAft>
                <a:spcPts val="0"/>
              </a:spcAft>
              <a:buSzPts val="600"/>
              <a:buNone/>
              <a:defRPr/>
            </a:lvl4pPr>
            <a:lvl5pPr indent="-228600" lvl="4" marL="2286000" algn="l">
              <a:lnSpc>
                <a:spcPct val="100000"/>
              </a:lnSpc>
              <a:spcBef>
                <a:spcPts val="0"/>
              </a:spcBef>
              <a:spcAft>
                <a:spcPts val="0"/>
              </a:spcAft>
              <a:buSzPts val="600"/>
              <a:buNone/>
              <a:defRPr/>
            </a:lvl5pPr>
            <a:lvl6pPr indent="-228600" lvl="5" marL="2743200" algn="l">
              <a:lnSpc>
                <a:spcPct val="100000"/>
              </a:lnSpc>
              <a:spcBef>
                <a:spcPts val="0"/>
              </a:spcBef>
              <a:spcAft>
                <a:spcPts val="0"/>
              </a:spcAft>
              <a:buSzPts val="600"/>
              <a:buNone/>
              <a:defRPr/>
            </a:lvl6pPr>
            <a:lvl7pPr indent="-228600" lvl="6" marL="3200400" algn="l">
              <a:lnSpc>
                <a:spcPct val="100000"/>
              </a:lnSpc>
              <a:spcBef>
                <a:spcPts val="0"/>
              </a:spcBef>
              <a:spcAft>
                <a:spcPts val="0"/>
              </a:spcAft>
              <a:buSzPts val="600"/>
              <a:buNone/>
              <a:defRPr/>
            </a:lvl7pPr>
            <a:lvl8pPr indent="-228600" lvl="7" marL="3657600" algn="l">
              <a:lnSpc>
                <a:spcPct val="100000"/>
              </a:lnSpc>
              <a:spcBef>
                <a:spcPts val="0"/>
              </a:spcBef>
              <a:spcAft>
                <a:spcPts val="0"/>
              </a:spcAft>
              <a:buSzPts val="600"/>
              <a:buNone/>
              <a:defRPr/>
            </a:lvl8pPr>
            <a:lvl9pPr indent="-228600" lvl="8" marL="4114800" algn="l">
              <a:lnSpc>
                <a:spcPct val="100000"/>
              </a:lnSpc>
              <a:spcBef>
                <a:spcPts val="0"/>
              </a:spcBef>
              <a:spcAft>
                <a:spcPts val="0"/>
              </a:spcAft>
              <a:buSzPts val="600"/>
              <a:buNone/>
              <a:defRPr/>
            </a:lvl9pPr>
          </a:lstStyle>
          <a:p/>
        </p:txBody>
      </p:sp>
      <p:sp>
        <p:nvSpPr>
          <p:cNvPr id="53" name="Google Shape;53;p13"/>
          <p:cNvSpPr txBox="1"/>
          <p:nvPr>
            <p:ph idx="2" type="body"/>
          </p:nvPr>
        </p:nvSpPr>
        <p:spPr>
          <a:xfrm>
            <a:off x="4709160" y="1183005"/>
            <a:ext cx="3977700" cy="339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a:lvl1pPr>
            <a:lvl2pPr indent="-228600" lvl="1" marL="914400" algn="l">
              <a:lnSpc>
                <a:spcPct val="100000"/>
              </a:lnSpc>
              <a:spcBef>
                <a:spcPts val="0"/>
              </a:spcBef>
              <a:spcAft>
                <a:spcPts val="0"/>
              </a:spcAft>
              <a:buSzPts val="600"/>
              <a:buNone/>
              <a:defRPr/>
            </a:lvl2pPr>
            <a:lvl3pPr indent="-228600" lvl="2" marL="1371600" algn="l">
              <a:lnSpc>
                <a:spcPct val="100000"/>
              </a:lnSpc>
              <a:spcBef>
                <a:spcPts val="0"/>
              </a:spcBef>
              <a:spcAft>
                <a:spcPts val="0"/>
              </a:spcAft>
              <a:buSzPts val="600"/>
              <a:buNone/>
              <a:defRPr/>
            </a:lvl3pPr>
            <a:lvl4pPr indent="-228600" lvl="3" marL="1828800" algn="l">
              <a:lnSpc>
                <a:spcPct val="100000"/>
              </a:lnSpc>
              <a:spcBef>
                <a:spcPts val="0"/>
              </a:spcBef>
              <a:spcAft>
                <a:spcPts val="0"/>
              </a:spcAft>
              <a:buSzPts val="600"/>
              <a:buNone/>
              <a:defRPr/>
            </a:lvl4pPr>
            <a:lvl5pPr indent="-228600" lvl="4" marL="2286000" algn="l">
              <a:lnSpc>
                <a:spcPct val="100000"/>
              </a:lnSpc>
              <a:spcBef>
                <a:spcPts val="0"/>
              </a:spcBef>
              <a:spcAft>
                <a:spcPts val="0"/>
              </a:spcAft>
              <a:buSzPts val="600"/>
              <a:buNone/>
              <a:defRPr/>
            </a:lvl5pPr>
            <a:lvl6pPr indent="-228600" lvl="5" marL="2743200" algn="l">
              <a:lnSpc>
                <a:spcPct val="100000"/>
              </a:lnSpc>
              <a:spcBef>
                <a:spcPts val="0"/>
              </a:spcBef>
              <a:spcAft>
                <a:spcPts val="0"/>
              </a:spcAft>
              <a:buSzPts val="600"/>
              <a:buNone/>
              <a:defRPr/>
            </a:lvl6pPr>
            <a:lvl7pPr indent="-228600" lvl="6" marL="3200400" algn="l">
              <a:lnSpc>
                <a:spcPct val="100000"/>
              </a:lnSpc>
              <a:spcBef>
                <a:spcPts val="0"/>
              </a:spcBef>
              <a:spcAft>
                <a:spcPts val="0"/>
              </a:spcAft>
              <a:buSzPts val="600"/>
              <a:buNone/>
              <a:defRPr/>
            </a:lvl7pPr>
            <a:lvl8pPr indent="-228600" lvl="7" marL="3657600" algn="l">
              <a:lnSpc>
                <a:spcPct val="100000"/>
              </a:lnSpc>
              <a:spcBef>
                <a:spcPts val="0"/>
              </a:spcBef>
              <a:spcAft>
                <a:spcPts val="0"/>
              </a:spcAft>
              <a:buSzPts val="600"/>
              <a:buNone/>
              <a:defRPr/>
            </a:lvl8pPr>
            <a:lvl9pPr indent="-228600" lvl="8" marL="4114800" algn="l">
              <a:lnSpc>
                <a:spcPct val="100000"/>
              </a:lnSpc>
              <a:spcBef>
                <a:spcPts val="0"/>
              </a:spcBef>
              <a:spcAft>
                <a:spcPts val="0"/>
              </a:spcAft>
              <a:buSzPts val="600"/>
              <a:buNone/>
              <a:defRPr/>
            </a:lvl9pPr>
          </a:lstStyle>
          <a:p/>
        </p:txBody>
      </p:sp>
      <p:sp>
        <p:nvSpPr>
          <p:cNvPr id="54" name="Google Shape;54;p13"/>
          <p:cNvSpPr txBox="1"/>
          <p:nvPr>
            <p:ph idx="11" type="ftr"/>
          </p:nvPr>
        </p:nvSpPr>
        <p:spPr>
          <a:xfrm>
            <a:off x="3108960" y="4783455"/>
            <a:ext cx="2925900" cy="257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600"/>
              <a:buNone/>
              <a:defRPr sz="600">
                <a:solidFill>
                  <a:srgbClr val="888888"/>
                </a:solidFill>
              </a:defRPr>
            </a:lvl1pPr>
            <a:lvl2pPr lvl="1" algn="l">
              <a:lnSpc>
                <a:spcPct val="100000"/>
              </a:lnSpc>
              <a:spcBef>
                <a:spcPts val="0"/>
              </a:spcBef>
              <a:spcAft>
                <a:spcPts val="0"/>
              </a:spcAft>
              <a:buSzPts val="600"/>
              <a:buNone/>
              <a:defRPr sz="600"/>
            </a:lvl2pPr>
            <a:lvl3pPr lvl="2" algn="l">
              <a:lnSpc>
                <a:spcPct val="100000"/>
              </a:lnSpc>
              <a:spcBef>
                <a:spcPts val="0"/>
              </a:spcBef>
              <a:spcAft>
                <a:spcPts val="0"/>
              </a:spcAft>
              <a:buSzPts val="600"/>
              <a:buNone/>
              <a:defRPr sz="600"/>
            </a:lvl3pPr>
            <a:lvl4pPr lvl="3" algn="l">
              <a:lnSpc>
                <a:spcPct val="100000"/>
              </a:lnSpc>
              <a:spcBef>
                <a:spcPts val="0"/>
              </a:spcBef>
              <a:spcAft>
                <a:spcPts val="0"/>
              </a:spcAft>
              <a:buSzPts val="600"/>
              <a:buNone/>
              <a:defRPr sz="600"/>
            </a:lvl4pPr>
            <a:lvl5pPr lvl="4" algn="l">
              <a:lnSpc>
                <a:spcPct val="100000"/>
              </a:lnSpc>
              <a:spcBef>
                <a:spcPts val="0"/>
              </a:spcBef>
              <a:spcAft>
                <a:spcPts val="0"/>
              </a:spcAft>
              <a:buSzPts val="600"/>
              <a:buNone/>
              <a:defRPr sz="600"/>
            </a:lvl5pPr>
            <a:lvl6pPr lvl="5" algn="l">
              <a:lnSpc>
                <a:spcPct val="100000"/>
              </a:lnSpc>
              <a:spcBef>
                <a:spcPts val="0"/>
              </a:spcBef>
              <a:spcAft>
                <a:spcPts val="0"/>
              </a:spcAft>
              <a:buSzPts val="600"/>
              <a:buNone/>
              <a:defRPr sz="600"/>
            </a:lvl6pPr>
            <a:lvl7pPr lvl="6" algn="l">
              <a:lnSpc>
                <a:spcPct val="100000"/>
              </a:lnSpc>
              <a:spcBef>
                <a:spcPts val="0"/>
              </a:spcBef>
              <a:spcAft>
                <a:spcPts val="0"/>
              </a:spcAft>
              <a:buSzPts val="600"/>
              <a:buNone/>
              <a:defRPr sz="600"/>
            </a:lvl7pPr>
            <a:lvl8pPr lvl="7" algn="l">
              <a:lnSpc>
                <a:spcPct val="100000"/>
              </a:lnSpc>
              <a:spcBef>
                <a:spcPts val="0"/>
              </a:spcBef>
              <a:spcAft>
                <a:spcPts val="0"/>
              </a:spcAft>
              <a:buSzPts val="600"/>
              <a:buNone/>
              <a:defRPr sz="600"/>
            </a:lvl8pPr>
            <a:lvl9pPr lvl="8" algn="l">
              <a:lnSpc>
                <a:spcPct val="100000"/>
              </a:lnSpc>
              <a:spcBef>
                <a:spcPts val="0"/>
              </a:spcBef>
              <a:spcAft>
                <a:spcPts val="0"/>
              </a:spcAft>
              <a:buSzPts val="600"/>
              <a:buNone/>
              <a:defRPr sz="600"/>
            </a:lvl9pPr>
          </a:lstStyle>
          <a:p/>
        </p:txBody>
      </p:sp>
      <p:sp>
        <p:nvSpPr>
          <p:cNvPr id="55" name="Google Shape;55;p13"/>
          <p:cNvSpPr txBox="1"/>
          <p:nvPr>
            <p:ph idx="10" type="dt"/>
          </p:nvPr>
        </p:nvSpPr>
        <p:spPr>
          <a:xfrm>
            <a:off x="457200" y="4783455"/>
            <a:ext cx="2103000" cy="25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600"/>
              <a:buNone/>
              <a:defRPr sz="600">
                <a:solidFill>
                  <a:srgbClr val="888888"/>
                </a:solidFill>
              </a:defRPr>
            </a:lvl1pPr>
            <a:lvl2pPr lvl="1" algn="l">
              <a:lnSpc>
                <a:spcPct val="100000"/>
              </a:lnSpc>
              <a:spcBef>
                <a:spcPts val="0"/>
              </a:spcBef>
              <a:spcAft>
                <a:spcPts val="0"/>
              </a:spcAft>
              <a:buSzPts val="600"/>
              <a:buNone/>
              <a:defRPr sz="600"/>
            </a:lvl2pPr>
            <a:lvl3pPr lvl="2" algn="l">
              <a:lnSpc>
                <a:spcPct val="100000"/>
              </a:lnSpc>
              <a:spcBef>
                <a:spcPts val="0"/>
              </a:spcBef>
              <a:spcAft>
                <a:spcPts val="0"/>
              </a:spcAft>
              <a:buSzPts val="600"/>
              <a:buNone/>
              <a:defRPr sz="600"/>
            </a:lvl3pPr>
            <a:lvl4pPr lvl="3" algn="l">
              <a:lnSpc>
                <a:spcPct val="100000"/>
              </a:lnSpc>
              <a:spcBef>
                <a:spcPts val="0"/>
              </a:spcBef>
              <a:spcAft>
                <a:spcPts val="0"/>
              </a:spcAft>
              <a:buSzPts val="600"/>
              <a:buNone/>
              <a:defRPr sz="600"/>
            </a:lvl4pPr>
            <a:lvl5pPr lvl="4" algn="l">
              <a:lnSpc>
                <a:spcPct val="100000"/>
              </a:lnSpc>
              <a:spcBef>
                <a:spcPts val="0"/>
              </a:spcBef>
              <a:spcAft>
                <a:spcPts val="0"/>
              </a:spcAft>
              <a:buSzPts val="600"/>
              <a:buNone/>
              <a:defRPr sz="600"/>
            </a:lvl5pPr>
            <a:lvl6pPr lvl="5" algn="l">
              <a:lnSpc>
                <a:spcPct val="100000"/>
              </a:lnSpc>
              <a:spcBef>
                <a:spcPts val="0"/>
              </a:spcBef>
              <a:spcAft>
                <a:spcPts val="0"/>
              </a:spcAft>
              <a:buSzPts val="600"/>
              <a:buNone/>
              <a:defRPr sz="600"/>
            </a:lvl6pPr>
            <a:lvl7pPr lvl="6" algn="l">
              <a:lnSpc>
                <a:spcPct val="100000"/>
              </a:lnSpc>
              <a:spcBef>
                <a:spcPts val="0"/>
              </a:spcBef>
              <a:spcAft>
                <a:spcPts val="0"/>
              </a:spcAft>
              <a:buSzPts val="600"/>
              <a:buNone/>
              <a:defRPr sz="600"/>
            </a:lvl7pPr>
            <a:lvl8pPr lvl="7" algn="l">
              <a:lnSpc>
                <a:spcPct val="100000"/>
              </a:lnSpc>
              <a:spcBef>
                <a:spcPts val="0"/>
              </a:spcBef>
              <a:spcAft>
                <a:spcPts val="0"/>
              </a:spcAft>
              <a:buSzPts val="600"/>
              <a:buNone/>
              <a:defRPr sz="600"/>
            </a:lvl8pPr>
            <a:lvl9pPr lvl="8" algn="l">
              <a:lnSpc>
                <a:spcPct val="100000"/>
              </a:lnSpc>
              <a:spcBef>
                <a:spcPts val="0"/>
              </a:spcBef>
              <a:spcAft>
                <a:spcPts val="0"/>
              </a:spcAft>
              <a:buSzPts val="600"/>
              <a:buNone/>
              <a:defRPr sz="600"/>
            </a:lvl9pPr>
          </a:lstStyle>
          <a:p/>
        </p:txBody>
      </p:sp>
      <p:sp>
        <p:nvSpPr>
          <p:cNvPr id="56" name="Google Shape;56;p13"/>
          <p:cNvSpPr txBox="1"/>
          <p:nvPr>
            <p:ph idx="12" type="sldNum"/>
          </p:nvPr>
        </p:nvSpPr>
        <p:spPr>
          <a:xfrm>
            <a:off x="6583680" y="4783455"/>
            <a:ext cx="2103000" cy="257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jpg"/><Relationship Id="rId6" Type="http://schemas.openxmlformats.org/officeDocument/2006/relationships/image" Target="../media/image7.png"/></Relationships>
</file>

<file path=ppt/slides/_rels/slide6.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4.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5.jpg"/><Relationship Id="rId9" Type="http://schemas.openxmlformats.org/officeDocument/2006/relationships/image" Target="../media/image6.png"/><Relationship Id="rId5" Type="http://schemas.openxmlformats.org/officeDocument/2006/relationships/image" Target="../media/image19.jpg"/><Relationship Id="rId6" Type="http://schemas.openxmlformats.org/officeDocument/2006/relationships/image" Target="../media/image17.jpg"/><Relationship Id="rId7" Type="http://schemas.openxmlformats.org/officeDocument/2006/relationships/image" Target="../media/image13.jpg"/><Relationship Id="rId8"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hyperlink" Target="https://docs.google.com/spreadsheets/d/1OdPng53IBhVsVpMX5jUq2txQuUqI1wzUZqvXQhayDhM/edit?usp=shar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hyperlink" Target="https://docs.google.com/spreadsheets/d/1hCP6csYIu_70vgfjwmoDgzXS0o28aw9cd565zLOqEJ0/edit?usp=sharing" TargetMode="External"/><Relationship Id="rId6" Type="http://schemas.openxmlformats.org/officeDocument/2006/relationships/image" Target="../media/image2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hyperlink" Target="https://docs.google.com/spreadsheets/d/1hCP6csYIu_70vgfjwmoDgzXS0o28aw9cd565zLOqEJ0/edit?usp=sharing" TargetMode="External"/><Relationship Id="rId6" Type="http://schemas.openxmlformats.org/officeDocument/2006/relationships/image" Target="../media/image20.jpg"/><Relationship Id="rId7" Type="http://schemas.openxmlformats.org/officeDocument/2006/relationships/hyperlink" Target="https://bit.ly/IIHInnovationChallenge2025"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0" y="-1034"/>
            <a:ext cx="9143998" cy="5145560"/>
          </a:xfrm>
          <a:prstGeom prst="rect">
            <a:avLst/>
          </a:prstGeom>
          <a:noFill/>
          <a:ln>
            <a:noFill/>
          </a:ln>
        </p:spPr>
      </p:pic>
      <p:sp>
        <p:nvSpPr>
          <p:cNvPr id="62" name="Google Shape;62;p14"/>
          <p:cNvSpPr txBox="1"/>
          <p:nvPr/>
        </p:nvSpPr>
        <p:spPr>
          <a:xfrm>
            <a:off x="602150" y="993700"/>
            <a:ext cx="6268200" cy="3112800"/>
          </a:xfrm>
          <a:prstGeom prst="rect">
            <a:avLst/>
          </a:prstGeom>
          <a:noFill/>
          <a:ln>
            <a:noFill/>
          </a:ln>
        </p:spPr>
        <p:txBody>
          <a:bodyPr anchorCtr="0" anchor="b" bIns="91425" lIns="91425" spcFirstLastPara="1" rIns="91425" wrap="square" tIns="91425">
            <a:normAutofit lnSpcReduction="20000"/>
          </a:bodyPr>
          <a:lstStyle/>
          <a:p>
            <a:pPr indent="0" lvl="0" marL="0" rtl="0" algn="l">
              <a:spcBef>
                <a:spcPts val="0"/>
              </a:spcBef>
              <a:spcAft>
                <a:spcPts val="0"/>
              </a:spcAft>
              <a:buNone/>
            </a:pPr>
            <a:r>
              <a:rPr lang="en" sz="4671">
                <a:solidFill>
                  <a:srgbClr val="FFFFFF"/>
                </a:solidFill>
                <a:latin typeface="Epilogue ExtraBold"/>
                <a:ea typeface="Epilogue ExtraBold"/>
                <a:cs typeface="Epilogue ExtraBold"/>
                <a:sym typeface="Epilogue ExtraBold"/>
              </a:rPr>
              <a:t>ILORIN </a:t>
            </a:r>
            <a:endParaRPr sz="4671">
              <a:solidFill>
                <a:srgbClr val="FFFFFF"/>
              </a:solidFill>
              <a:latin typeface="Epilogue ExtraBold"/>
              <a:ea typeface="Epilogue ExtraBold"/>
              <a:cs typeface="Epilogue ExtraBold"/>
              <a:sym typeface="Epilogue ExtraBold"/>
            </a:endParaRPr>
          </a:p>
          <a:p>
            <a:pPr indent="0" lvl="0" marL="0" rtl="0" algn="l">
              <a:spcBef>
                <a:spcPts val="0"/>
              </a:spcBef>
              <a:spcAft>
                <a:spcPts val="0"/>
              </a:spcAft>
              <a:buNone/>
            </a:pPr>
            <a:r>
              <a:rPr lang="en" sz="4671">
                <a:solidFill>
                  <a:srgbClr val="FFFFFF"/>
                </a:solidFill>
                <a:latin typeface="Epilogue ExtraBold"/>
                <a:ea typeface="Epilogue ExtraBold"/>
                <a:cs typeface="Epilogue ExtraBold"/>
                <a:sym typeface="Epilogue ExtraBold"/>
              </a:rPr>
              <a:t>INNOVATION </a:t>
            </a:r>
            <a:endParaRPr sz="4671">
              <a:solidFill>
                <a:srgbClr val="FFFFFF"/>
              </a:solidFill>
              <a:latin typeface="Epilogue ExtraBold"/>
              <a:ea typeface="Epilogue ExtraBold"/>
              <a:cs typeface="Epilogue ExtraBold"/>
              <a:sym typeface="Epilogue ExtraBold"/>
            </a:endParaRPr>
          </a:p>
          <a:p>
            <a:pPr indent="0" lvl="0" marL="0" rtl="0" algn="l">
              <a:spcBef>
                <a:spcPts val="0"/>
              </a:spcBef>
              <a:spcAft>
                <a:spcPts val="0"/>
              </a:spcAft>
              <a:buNone/>
            </a:pPr>
            <a:r>
              <a:rPr lang="en" sz="4671">
                <a:solidFill>
                  <a:srgbClr val="FFFFFF"/>
                </a:solidFill>
                <a:latin typeface="Epilogue ExtraBold"/>
                <a:ea typeface="Epilogue ExtraBold"/>
                <a:cs typeface="Epilogue ExtraBold"/>
                <a:sym typeface="Epilogue ExtraBold"/>
              </a:rPr>
              <a:t>HUB</a:t>
            </a:r>
            <a:r>
              <a:rPr lang="en" sz="4671">
                <a:solidFill>
                  <a:srgbClr val="FFFFFF"/>
                </a:solidFill>
                <a:latin typeface="Epilogue ExtraBold"/>
                <a:ea typeface="Epilogue ExtraBold"/>
                <a:cs typeface="Epilogue ExtraBold"/>
                <a:sym typeface="Epilogue ExtraBold"/>
              </a:rPr>
              <a:t> </a:t>
            </a:r>
            <a:endParaRPr sz="4671">
              <a:solidFill>
                <a:srgbClr val="FFFFFF"/>
              </a:solidFill>
              <a:latin typeface="Epilogue ExtraBold"/>
              <a:ea typeface="Epilogue ExtraBold"/>
              <a:cs typeface="Epilogue ExtraBold"/>
              <a:sym typeface="Epilogue ExtraBold"/>
            </a:endParaRPr>
          </a:p>
          <a:p>
            <a:pPr indent="0" lvl="0" marL="0" rtl="0" algn="l">
              <a:spcBef>
                <a:spcPts val="0"/>
              </a:spcBef>
              <a:spcAft>
                <a:spcPts val="0"/>
              </a:spcAft>
              <a:buNone/>
            </a:pPr>
            <a:r>
              <a:t/>
            </a:r>
            <a:endParaRPr sz="4100">
              <a:solidFill>
                <a:srgbClr val="FFFFFF"/>
              </a:solidFill>
              <a:latin typeface="Epilogue ExtraBold"/>
              <a:ea typeface="Epilogue ExtraBold"/>
              <a:cs typeface="Epilogue ExtraBold"/>
              <a:sym typeface="Epilogue ExtraBold"/>
            </a:endParaRPr>
          </a:p>
          <a:p>
            <a:pPr indent="0" lvl="0" marL="0" rtl="0" algn="l">
              <a:spcBef>
                <a:spcPts val="0"/>
              </a:spcBef>
              <a:spcAft>
                <a:spcPts val="0"/>
              </a:spcAft>
              <a:buNone/>
            </a:pPr>
            <a:r>
              <a:rPr lang="en" sz="3528">
                <a:solidFill>
                  <a:srgbClr val="FFFFFF"/>
                </a:solidFill>
                <a:latin typeface="Epilogue"/>
                <a:ea typeface="Epilogue"/>
                <a:cs typeface="Epilogue"/>
                <a:sym typeface="Epilogue"/>
              </a:rPr>
              <a:t>June 2025 PROJECT UPDATE</a:t>
            </a:r>
            <a:endParaRPr sz="3528">
              <a:solidFill>
                <a:srgbClr val="FFFFFF"/>
              </a:solidFill>
              <a:latin typeface="Epilogue"/>
              <a:ea typeface="Epilogue"/>
              <a:cs typeface="Epilogue"/>
              <a:sym typeface="Epilogue"/>
            </a:endParaRPr>
          </a:p>
        </p:txBody>
      </p:sp>
      <p:pic>
        <p:nvPicPr>
          <p:cNvPr id="63" name="Google Shape;63;p14"/>
          <p:cNvPicPr preferRelativeResize="0"/>
          <p:nvPr/>
        </p:nvPicPr>
        <p:blipFill>
          <a:blip r:embed="rId4">
            <a:alphaModFix/>
          </a:blip>
          <a:stretch>
            <a:fillRect/>
          </a:stretch>
        </p:blipFill>
        <p:spPr>
          <a:xfrm>
            <a:off x="6769093" y="4314732"/>
            <a:ext cx="1814525" cy="392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5"/>
          <p:cNvPicPr preferRelativeResize="0"/>
          <p:nvPr/>
        </p:nvPicPr>
        <p:blipFill rotWithShape="1">
          <a:blip r:embed="rId3">
            <a:alphaModFix/>
          </a:blip>
          <a:srcRect b="0" l="0" r="0" t="0"/>
          <a:stretch/>
        </p:blipFill>
        <p:spPr>
          <a:xfrm>
            <a:off x="0" y="0"/>
            <a:ext cx="9140276" cy="5143501"/>
          </a:xfrm>
          <a:prstGeom prst="rect">
            <a:avLst/>
          </a:prstGeom>
          <a:noFill/>
          <a:ln>
            <a:noFill/>
          </a:ln>
        </p:spPr>
      </p:pic>
      <p:pic>
        <p:nvPicPr>
          <p:cNvPr id="69" name="Google Shape;69;p15"/>
          <p:cNvPicPr preferRelativeResize="0"/>
          <p:nvPr/>
        </p:nvPicPr>
        <p:blipFill>
          <a:blip r:embed="rId4">
            <a:alphaModFix/>
          </a:blip>
          <a:stretch>
            <a:fillRect/>
          </a:stretch>
        </p:blipFill>
        <p:spPr>
          <a:xfrm>
            <a:off x="0" y="-1025"/>
            <a:ext cx="3894525" cy="5145549"/>
          </a:xfrm>
          <a:prstGeom prst="rect">
            <a:avLst/>
          </a:prstGeom>
          <a:noFill/>
          <a:ln>
            <a:noFill/>
          </a:ln>
        </p:spPr>
      </p:pic>
      <p:sp>
        <p:nvSpPr>
          <p:cNvPr id="70" name="Google Shape;70;p15"/>
          <p:cNvSpPr txBox="1"/>
          <p:nvPr/>
        </p:nvSpPr>
        <p:spPr>
          <a:xfrm>
            <a:off x="3954875" y="780450"/>
            <a:ext cx="5067900" cy="319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chemeClr val="dk1"/>
                </a:solidFill>
                <a:latin typeface="Proxima Nova"/>
                <a:ea typeface="Proxima Nova"/>
                <a:cs typeface="Proxima Nova"/>
                <a:sym typeface="Proxima Nova"/>
              </a:rPr>
              <a:t>Establishing Ilorin Innovation Hub to Catalyse Regional Innovation and Entrepreneurship in Nigeria</a:t>
            </a:r>
            <a:endParaRPr b="1" sz="11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 sz="1100">
                <a:solidFill>
                  <a:schemeClr val="dk1"/>
                </a:solidFill>
                <a:latin typeface="Proxima Nova"/>
                <a:ea typeface="Proxima Nova"/>
                <a:cs typeface="Proxima Nova"/>
                <a:sym typeface="Proxima Nova"/>
              </a:rPr>
              <a:t>Ilorin Innovation Hub is being activated as a regional catalyst for innovation in Nigeria, with the goal of strengthening the local digital economy and nurturing high-potential startups that address pressing societal challenges. Powered by IHS Nigeria and in partnership with CcHUB, this initiative is laying the foundation for a thriving, inclusive, and resilient innovation ecosystem across Kwara </a:t>
            </a:r>
            <a:r>
              <a:rPr lang="en" sz="1100">
                <a:solidFill>
                  <a:schemeClr val="dk1"/>
                </a:solidFill>
                <a:latin typeface="Proxima Nova"/>
                <a:ea typeface="Proxima Nova"/>
                <a:cs typeface="Proxima Nova"/>
                <a:sym typeface="Proxima Nova"/>
              </a:rPr>
              <a:t>State </a:t>
            </a:r>
            <a:r>
              <a:rPr lang="en" sz="1100">
                <a:solidFill>
                  <a:schemeClr val="dk1"/>
                </a:solidFill>
                <a:latin typeface="Proxima Nova"/>
                <a:ea typeface="Proxima Nova"/>
                <a:cs typeface="Proxima Nova"/>
                <a:sym typeface="Proxima Nova"/>
              </a:rPr>
              <a:t>and neighbouring states.</a:t>
            </a:r>
            <a:endParaRPr sz="11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1200"/>
              </a:spcAft>
              <a:buNone/>
            </a:pPr>
            <a:r>
              <a:rPr lang="en" sz="1100">
                <a:solidFill>
                  <a:schemeClr val="dk1"/>
                </a:solidFill>
                <a:latin typeface="Proxima Nova"/>
                <a:ea typeface="Proxima Nova"/>
                <a:cs typeface="Proxima Nova"/>
                <a:sym typeface="Proxima Nova"/>
              </a:rPr>
              <a:t>Current efforts are centred on deepening ecosystem engagement, hosting roadshows and high-impact community events, and delivering the Innovation Challenge and Hackathon programmes. These activities are designed to build startup capacity, facilitate collaboration, and drive scalable innovation across key sectors such as AI, HealthTech, GreenTech, EdTech, Big Data, and Creative Technologies.</a:t>
            </a:r>
            <a:endParaRPr/>
          </a:p>
        </p:txBody>
      </p:sp>
      <p:sp>
        <p:nvSpPr>
          <p:cNvPr id="71" name="Google Shape;71;p15"/>
          <p:cNvSpPr txBox="1"/>
          <p:nvPr/>
        </p:nvSpPr>
        <p:spPr>
          <a:xfrm>
            <a:off x="894525" y="1751750"/>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500">
                <a:solidFill>
                  <a:schemeClr val="lt1"/>
                </a:solidFill>
                <a:latin typeface="Epilogue"/>
                <a:ea typeface="Epilogue"/>
                <a:cs typeface="Epilogue"/>
                <a:sym typeface="Epilogue"/>
              </a:rPr>
              <a:t>Project Overview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p:cNvPicPr preferRelativeResize="0"/>
          <p:nvPr/>
        </p:nvPicPr>
        <p:blipFill rotWithShape="1">
          <a:blip r:embed="rId3">
            <a:alphaModFix/>
          </a:blip>
          <a:srcRect b="0" l="0" r="0" t="0"/>
          <a:stretch/>
        </p:blipFill>
        <p:spPr>
          <a:xfrm>
            <a:off x="0" y="0"/>
            <a:ext cx="9140276" cy="5143501"/>
          </a:xfrm>
          <a:prstGeom prst="rect">
            <a:avLst/>
          </a:prstGeom>
          <a:noFill/>
          <a:ln>
            <a:noFill/>
          </a:ln>
        </p:spPr>
      </p:pic>
      <p:pic>
        <p:nvPicPr>
          <p:cNvPr id="77" name="Google Shape;77;p16"/>
          <p:cNvPicPr preferRelativeResize="0"/>
          <p:nvPr/>
        </p:nvPicPr>
        <p:blipFill>
          <a:blip r:embed="rId4">
            <a:alphaModFix/>
          </a:blip>
          <a:stretch>
            <a:fillRect/>
          </a:stretch>
        </p:blipFill>
        <p:spPr>
          <a:xfrm>
            <a:off x="0" y="-1025"/>
            <a:ext cx="3792798" cy="5145549"/>
          </a:xfrm>
          <a:prstGeom prst="rect">
            <a:avLst/>
          </a:prstGeom>
          <a:noFill/>
          <a:ln>
            <a:noFill/>
          </a:ln>
        </p:spPr>
      </p:pic>
      <p:sp>
        <p:nvSpPr>
          <p:cNvPr id="78" name="Google Shape;78;p16"/>
          <p:cNvSpPr txBox="1"/>
          <p:nvPr/>
        </p:nvSpPr>
        <p:spPr>
          <a:xfrm>
            <a:off x="4722350" y="229450"/>
            <a:ext cx="4286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a:p>
        </p:txBody>
      </p:sp>
      <p:sp>
        <p:nvSpPr>
          <p:cNvPr id="79" name="Google Shape;79;p16"/>
          <p:cNvSpPr txBox="1"/>
          <p:nvPr/>
        </p:nvSpPr>
        <p:spPr>
          <a:xfrm>
            <a:off x="3954875" y="801375"/>
            <a:ext cx="5053800" cy="338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latin typeface="Proxima Nova"/>
                <a:ea typeface="Proxima Nova"/>
                <a:cs typeface="Proxima Nova"/>
                <a:sym typeface="Proxima Nova"/>
              </a:rPr>
              <a:t>Key Objectives</a:t>
            </a:r>
            <a:endParaRPr b="1" sz="1100">
              <a:solidFill>
                <a:schemeClr val="dk1"/>
              </a:solidFill>
              <a:latin typeface="Proxima Nova"/>
              <a:ea typeface="Proxima Nova"/>
              <a:cs typeface="Proxima Nova"/>
              <a:sym typeface="Proxima Nova"/>
            </a:endParaRPr>
          </a:p>
          <a:p>
            <a:pPr indent="-298450" lvl="0" marL="457200" rtl="0" algn="l">
              <a:lnSpc>
                <a:spcPct val="115000"/>
              </a:lnSpc>
              <a:spcBef>
                <a:spcPts val="120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Strengthen the Hub’s position as a leading regional innovation </a:t>
            </a:r>
            <a:r>
              <a:rPr lang="en" sz="1100">
                <a:solidFill>
                  <a:schemeClr val="dk1"/>
                </a:solidFill>
                <a:latin typeface="Proxima Nova"/>
                <a:ea typeface="Proxima Nova"/>
                <a:cs typeface="Proxima Nova"/>
                <a:sym typeface="Proxima Nova"/>
              </a:rPr>
              <a:t>center.</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0"/>
              </a:spcBef>
              <a:spcAft>
                <a:spcPts val="0"/>
              </a:spcAft>
              <a:buClr>
                <a:srgbClr val="434343"/>
              </a:buClr>
              <a:buSzPts val="1100"/>
              <a:buFont typeface="Proxima Nova"/>
              <a:buChar char="●"/>
            </a:pPr>
            <a:r>
              <a:rPr lang="en" sz="1100">
                <a:solidFill>
                  <a:srgbClr val="434343"/>
                </a:solidFill>
                <a:latin typeface="Proxima Nova"/>
                <a:ea typeface="Proxima Nova"/>
                <a:cs typeface="Proxima Nova"/>
                <a:sym typeface="Proxima Nova"/>
              </a:rPr>
              <a:t>Map the ecosystem and articulate stakeholder ambitions to inform programme design</a:t>
            </a:r>
            <a:endParaRPr sz="1100">
              <a:solidFill>
                <a:srgbClr val="434343"/>
              </a:solidFill>
              <a:latin typeface="Proxima Nova"/>
              <a:ea typeface="Proxima Nova"/>
              <a:cs typeface="Proxima Nova"/>
              <a:sym typeface="Proxima Nova"/>
            </a:endParaRPr>
          </a:p>
          <a:p>
            <a:pPr indent="-298450" lvl="0" marL="457200" rtl="0" algn="l">
              <a:lnSpc>
                <a:spcPct val="115000"/>
              </a:lnSpc>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Drive ecosystem activation through ongoing roadshows and high-impact community events</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0"/>
              </a:spcBef>
              <a:spcAft>
                <a:spcPts val="0"/>
              </a:spcAft>
              <a:buClr>
                <a:srgbClr val="434343"/>
              </a:buClr>
              <a:buSzPts val="1100"/>
              <a:buFont typeface="Proxima Nova"/>
              <a:buChar char="●"/>
            </a:pPr>
            <a:r>
              <a:rPr b="1" lang="en" sz="1100">
                <a:solidFill>
                  <a:srgbClr val="434343"/>
                </a:solidFill>
                <a:latin typeface="Proxima Nova"/>
                <a:ea typeface="Proxima Nova"/>
                <a:cs typeface="Proxima Nova"/>
                <a:sym typeface="Proxima Nova"/>
              </a:rPr>
              <a:t>Design and implement inclusive Innovation Challenge and Pre-Incubation programmes</a:t>
            </a:r>
            <a:endParaRPr b="1" sz="1100">
              <a:solidFill>
                <a:srgbClr val="434343"/>
              </a:solidFill>
              <a:latin typeface="Proxima Nova"/>
              <a:ea typeface="Proxima Nova"/>
              <a:cs typeface="Proxima Nova"/>
              <a:sym typeface="Proxima Nova"/>
            </a:endParaRPr>
          </a:p>
          <a:p>
            <a:pPr indent="-298450" lvl="0" marL="457200" rtl="0" algn="l">
              <a:lnSpc>
                <a:spcPct val="115000"/>
              </a:lnSpc>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Facilitate startup capacity development, mentorship, and access to funding opportunities</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0"/>
              </a:spcBef>
              <a:spcAft>
                <a:spcPts val="0"/>
              </a:spcAft>
              <a:buClr>
                <a:schemeClr val="dk1"/>
              </a:buClr>
              <a:buSzPts val="1100"/>
              <a:buFont typeface="Proxima Nova"/>
              <a:buChar char="●"/>
            </a:pPr>
            <a:r>
              <a:rPr b="1" lang="en" sz="1100">
                <a:solidFill>
                  <a:srgbClr val="434343"/>
                </a:solidFill>
                <a:latin typeface="Proxima Nova"/>
                <a:ea typeface="Proxima Nova"/>
                <a:cs typeface="Proxima Nova"/>
                <a:sym typeface="Proxima Nova"/>
              </a:rPr>
              <a:t>Monitoring programme delivery to ensure alignment with impact goals</a:t>
            </a:r>
            <a:endParaRPr sz="11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1200"/>
              </a:spcAft>
              <a:buNone/>
            </a:pPr>
            <a:r>
              <a:rPr lang="en" sz="1100">
                <a:solidFill>
                  <a:schemeClr val="dk1"/>
                </a:solidFill>
                <a:latin typeface="Proxima Nova"/>
                <a:ea typeface="Proxima Nova"/>
                <a:cs typeface="Proxima Nova"/>
                <a:sym typeface="Proxima Nova"/>
              </a:rPr>
              <a:t>These activities are currently in </a:t>
            </a:r>
            <a:r>
              <a:rPr lang="en" sz="1100">
                <a:solidFill>
                  <a:schemeClr val="dk1"/>
                </a:solidFill>
                <a:latin typeface="Proxima Nova"/>
                <a:ea typeface="Proxima Nova"/>
                <a:cs typeface="Proxima Nova"/>
                <a:sym typeface="Proxima Nova"/>
              </a:rPr>
              <a:t>motion </a:t>
            </a:r>
            <a:r>
              <a:rPr lang="en" sz="1100">
                <a:solidFill>
                  <a:schemeClr val="dk1"/>
                </a:solidFill>
                <a:latin typeface="Proxima Nova"/>
                <a:ea typeface="Proxima Nova"/>
                <a:cs typeface="Proxima Nova"/>
                <a:sym typeface="Proxima Nova"/>
              </a:rPr>
              <a:t>and are intended to culminate in a robust innovation pipeline, stronger regional tech capacity, and a sustainable foundation for digital entrepreneurship in Kwara State and beyond.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aphicFrame>
        <p:nvGraphicFramePr>
          <p:cNvPr id="84" name="Google Shape;84;p17"/>
          <p:cNvGraphicFramePr/>
          <p:nvPr/>
        </p:nvGraphicFramePr>
        <p:xfrm>
          <a:off x="139450" y="492600"/>
          <a:ext cx="3000000" cy="3000000"/>
        </p:xfrm>
        <a:graphic>
          <a:graphicData uri="http://schemas.openxmlformats.org/drawingml/2006/table">
            <a:tbl>
              <a:tblPr>
                <a:noFill/>
                <a:tableStyleId>{8AC7D8E0-C68C-4337-9D1F-42AE05FBD170}</a:tableStyleId>
              </a:tblPr>
              <a:tblGrid>
                <a:gridCol w="704925"/>
                <a:gridCol w="1521175"/>
                <a:gridCol w="3100375"/>
                <a:gridCol w="2485125"/>
                <a:gridCol w="993325"/>
              </a:tblGrid>
              <a:tr h="283700">
                <a:tc>
                  <a:txBody>
                    <a:bodyPr/>
                    <a:lstStyle/>
                    <a:p>
                      <a:pPr indent="0" lvl="0" marL="0" rtl="0" algn="ctr">
                        <a:lnSpc>
                          <a:spcPct val="115000"/>
                        </a:lnSpc>
                        <a:spcBef>
                          <a:spcPts val="0"/>
                        </a:spcBef>
                        <a:spcAft>
                          <a:spcPts val="0"/>
                        </a:spcAft>
                        <a:buNone/>
                      </a:pPr>
                      <a:r>
                        <a:rPr b="1" lang="en" sz="700">
                          <a:solidFill>
                            <a:schemeClr val="lt1"/>
                          </a:solidFill>
                        </a:rPr>
                        <a:t>Category</a:t>
                      </a:r>
                      <a:endParaRPr b="1" sz="700">
                        <a:solidFill>
                          <a:schemeClr val="lt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CC0000"/>
                    </a:solidFill>
                  </a:tcPr>
                </a:tc>
                <a:tc>
                  <a:txBody>
                    <a:bodyPr/>
                    <a:lstStyle/>
                    <a:p>
                      <a:pPr indent="0" lvl="0" marL="0" rtl="0" algn="ctr">
                        <a:lnSpc>
                          <a:spcPct val="115000"/>
                        </a:lnSpc>
                        <a:spcBef>
                          <a:spcPts val="0"/>
                        </a:spcBef>
                        <a:spcAft>
                          <a:spcPts val="0"/>
                        </a:spcAft>
                        <a:buNone/>
                      </a:pPr>
                      <a:r>
                        <a:rPr b="1" lang="en" sz="700">
                          <a:solidFill>
                            <a:schemeClr val="lt1"/>
                          </a:solidFill>
                        </a:rPr>
                        <a:t>Description</a:t>
                      </a:r>
                      <a:endParaRPr b="1" sz="700">
                        <a:solidFill>
                          <a:schemeClr val="lt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CC0000"/>
                    </a:solidFill>
                  </a:tcPr>
                </a:tc>
                <a:tc>
                  <a:txBody>
                    <a:bodyPr/>
                    <a:lstStyle/>
                    <a:p>
                      <a:pPr indent="0" lvl="0" marL="0" rtl="0" algn="ctr">
                        <a:lnSpc>
                          <a:spcPct val="115000"/>
                        </a:lnSpc>
                        <a:spcBef>
                          <a:spcPts val="0"/>
                        </a:spcBef>
                        <a:spcAft>
                          <a:spcPts val="0"/>
                        </a:spcAft>
                        <a:buClr>
                          <a:schemeClr val="dk1"/>
                        </a:buClr>
                        <a:buSzPts val="1100"/>
                        <a:buFont typeface="Arial"/>
                        <a:buNone/>
                      </a:pPr>
                      <a:r>
                        <a:rPr b="1" lang="en" sz="700">
                          <a:solidFill>
                            <a:schemeClr val="lt1"/>
                          </a:solidFill>
                        </a:rPr>
                        <a:t>Expected Outcomes</a:t>
                      </a:r>
                      <a:endParaRPr b="1" sz="700">
                        <a:solidFill>
                          <a:schemeClr val="lt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9525">
                      <a:solidFill>
                        <a:schemeClr val="dk1"/>
                      </a:solidFill>
                      <a:prstDash val="solid"/>
                      <a:round/>
                      <a:headEnd len="sm" w="sm" type="none"/>
                      <a:tailEnd len="sm" w="sm" type="none"/>
                    </a:lnB>
                    <a:solidFill>
                      <a:srgbClr val="CC0000"/>
                    </a:solidFill>
                  </a:tcPr>
                </a:tc>
                <a:tc>
                  <a:txBody>
                    <a:bodyPr/>
                    <a:lstStyle/>
                    <a:p>
                      <a:pPr indent="0" lvl="0" marL="0" rtl="0" algn="ctr">
                        <a:lnSpc>
                          <a:spcPct val="115000"/>
                        </a:lnSpc>
                        <a:spcBef>
                          <a:spcPts val="0"/>
                        </a:spcBef>
                        <a:spcAft>
                          <a:spcPts val="0"/>
                        </a:spcAft>
                        <a:buNone/>
                      </a:pPr>
                      <a:r>
                        <a:rPr b="1" lang="en" sz="700">
                          <a:solidFill>
                            <a:schemeClr val="lt1"/>
                          </a:solidFill>
                        </a:rPr>
                        <a:t>Results</a:t>
                      </a:r>
                      <a:endParaRPr b="1" sz="700">
                        <a:solidFill>
                          <a:schemeClr val="lt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9525">
                      <a:solidFill>
                        <a:schemeClr val="dk1"/>
                      </a:solidFill>
                      <a:prstDash val="solid"/>
                      <a:round/>
                      <a:headEnd len="sm" w="sm" type="none"/>
                      <a:tailEnd len="sm" w="sm" type="none"/>
                    </a:lnB>
                    <a:solidFill>
                      <a:srgbClr val="CC0000"/>
                    </a:solidFill>
                  </a:tcPr>
                </a:tc>
                <a:tc>
                  <a:txBody>
                    <a:bodyPr/>
                    <a:lstStyle/>
                    <a:p>
                      <a:pPr indent="0" lvl="0" marL="0" rtl="0" algn="ctr">
                        <a:lnSpc>
                          <a:spcPct val="115000"/>
                        </a:lnSpc>
                        <a:spcBef>
                          <a:spcPts val="0"/>
                        </a:spcBef>
                        <a:spcAft>
                          <a:spcPts val="0"/>
                        </a:spcAft>
                        <a:buNone/>
                      </a:pPr>
                      <a:r>
                        <a:rPr b="1" lang="en" sz="700">
                          <a:solidFill>
                            <a:schemeClr val="lt1"/>
                          </a:solidFill>
                        </a:rPr>
                        <a:t>Formats</a:t>
                      </a:r>
                      <a:endParaRPr b="1" sz="700">
                        <a:solidFill>
                          <a:schemeClr val="lt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CC0000"/>
                    </a:solidFill>
                  </a:tcPr>
                </a:tc>
              </a:tr>
              <a:tr h="992725">
                <a:tc>
                  <a:txBody>
                    <a:bodyPr/>
                    <a:lstStyle/>
                    <a:p>
                      <a:pPr indent="0" lvl="0" marL="0" rtl="0" algn="l">
                        <a:lnSpc>
                          <a:spcPct val="115000"/>
                        </a:lnSpc>
                        <a:spcBef>
                          <a:spcPts val="0"/>
                        </a:spcBef>
                        <a:spcAft>
                          <a:spcPts val="0"/>
                        </a:spcAft>
                        <a:buNone/>
                      </a:pPr>
                      <a:r>
                        <a:rPr b="1" lang="en" sz="800">
                          <a:solidFill>
                            <a:schemeClr val="dk1"/>
                          </a:solidFill>
                          <a:latin typeface="Proxima Nova"/>
                          <a:ea typeface="Proxima Nova"/>
                          <a:cs typeface="Proxima Nova"/>
                          <a:sym typeface="Proxima Nova"/>
                        </a:rPr>
                        <a:t>Capacity Development</a:t>
                      </a:r>
                      <a:endParaRPr b="1" sz="800">
                        <a:solidFill>
                          <a:schemeClr val="dk1"/>
                        </a:solidFill>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Proxima Nova"/>
                          <a:ea typeface="Proxima Nova"/>
                          <a:cs typeface="Proxima Nova"/>
                          <a:sym typeface="Proxima Nova"/>
                        </a:rPr>
                        <a:t>Workshops and training sessions focused on skill development in areas</a:t>
                      </a:r>
                      <a:endParaRPr sz="8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Build technical knowledge in AI, deep learning, big data, and data visualization.</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Equip participants with hands-on skills to build prototypes or solutions.</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Strengthen the local developer talent pool in emerging tech.</a:t>
                      </a:r>
                      <a:endParaRPr sz="800">
                        <a:solidFill>
                          <a:schemeClr val="dk1"/>
                        </a:solidFill>
                        <a:latin typeface="Proxima Nova"/>
                        <a:ea typeface="Proxima Nova"/>
                        <a:cs typeface="Proxima Nova"/>
                        <a:sym typeface="Proxima Nova"/>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07950" lvl="0" marL="114300" marR="0" rtl="0" algn="l">
                        <a:lnSpc>
                          <a:spcPct val="115000"/>
                        </a:lnSpc>
                        <a:spcBef>
                          <a:spcPts val="0"/>
                        </a:spcBef>
                        <a:spcAft>
                          <a:spcPts val="0"/>
                        </a:spcAft>
                        <a:buClr>
                          <a:schemeClr val="dk1"/>
                        </a:buClr>
                        <a:buSzPts val="800"/>
                        <a:buFont typeface="Proxima Nova"/>
                        <a:buChar char="-"/>
                      </a:pPr>
                      <a:r>
                        <a:rPr b="1" lang="en" sz="800">
                          <a:solidFill>
                            <a:schemeClr val="dk1"/>
                          </a:solidFill>
                          <a:latin typeface="Proxima Nova"/>
                          <a:ea typeface="Proxima Nova"/>
                          <a:cs typeface="Proxima Nova"/>
                          <a:sym typeface="Proxima Nova"/>
                        </a:rPr>
                        <a:t>300+ </a:t>
                      </a:r>
                      <a:r>
                        <a:rPr lang="en" sz="800">
                          <a:solidFill>
                            <a:schemeClr val="dk1"/>
                          </a:solidFill>
                          <a:latin typeface="Proxima Nova"/>
                          <a:ea typeface="Proxima Nova"/>
                          <a:cs typeface="Proxima Nova"/>
                          <a:sym typeface="Proxima Nova"/>
                        </a:rPr>
                        <a:t>total participants trained across sessions.</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b="1" lang="en" sz="800">
                          <a:solidFill>
                            <a:schemeClr val="dk1"/>
                          </a:solidFill>
                          <a:latin typeface="Proxima Nova"/>
                          <a:ea typeface="Proxima Nova"/>
                          <a:cs typeface="Proxima Nova"/>
                          <a:sym typeface="Proxima Nova"/>
                        </a:rPr>
                        <a:t>80% </a:t>
                      </a:r>
                      <a:r>
                        <a:rPr lang="en" sz="800">
                          <a:solidFill>
                            <a:schemeClr val="dk1"/>
                          </a:solidFill>
                          <a:latin typeface="Proxima Nova"/>
                          <a:ea typeface="Proxima Nova"/>
                          <a:cs typeface="Proxima Nova"/>
                          <a:sym typeface="Proxima Nova"/>
                        </a:rPr>
                        <a:t>of participants show improved technical understanding (feedback forms).</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150+ Join the “</a:t>
                      </a:r>
                      <a:r>
                        <a:rPr b="1" lang="en" sz="800">
                          <a:solidFill>
                            <a:schemeClr val="dk1"/>
                          </a:solidFill>
                          <a:latin typeface="Proxima Nova"/>
                          <a:ea typeface="Proxima Nova"/>
                          <a:cs typeface="Proxima Nova"/>
                          <a:sym typeface="Proxima Nova"/>
                        </a:rPr>
                        <a:t>IIH Developers Group</a:t>
                      </a:r>
                      <a:r>
                        <a:rPr lang="en" sz="800">
                          <a:solidFill>
                            <a:schemeClr val="dk1"/>
                          </a:solidFill>
                          <a:latin typeface="Proxima Nova"/>
                          <a:ea typeface="Proxima Nova"/>
                          <a:cs typeface="Proxima Nova"/>
                          <a:sym typeface="Proxima Nova"/>
                        </a:rPr>
                        <a:t>” for continued learning.</a:t>
                      </a:r>
                      <a:endParaRPr sz="800">
                        <a:solidFill>
                          <a:schemeClr val="dk1"/>
                        </a:solidFill>
                        <a:latin typeface="Proxima Nova"/>
                        <a:ea typeface="Proxima Nova"/>
                        <a:cs typeface="Proxima Nova"/>
                        <a:sym typeface="Proxima Nova"/>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Ilorin Dev Box </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Workshops</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Masterclasses Series</a:t>
                      </a:r>
                      <a:endParaRPr sz="800">
                        <a:latin typeface="Proxima Nova"/>
                        <a:ea typeface="Proxima Nova"/>
                        <a:cs typeface="Proxima Nova"/>
                        <a:sym typeface="Proxima Nova"/>
                      </a:endParaRPr>
                    </a:p>
                  </a:txBody>
                  <a:tcPr marT="19050" marB="19050" marR="28575" marL="28575" anchor="ctr">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27125">
                <a:tc>
                  <a:txBody>
                    <a:bodyPr/>
                    <a:lstStyle/>
                    <a:p>
                      <a:pPr indent="0" lvl="0" marL="0" rtl="0" algn="l">
                        <a:lnSpc>
                          <a:spcPct val="115000"/>
                        </a:lnSpc>
                        <a:spcBef>
                          <a:spcPts val="0"/>
                        </a:spcBef>
                        <a:spcAft>
                          <a:spcPts val="0"/>
                        </a:spcAft>
                        <a:buNone/>
                      </a:pPr>
                      <a:r>
                        <a:rPr b="1" lang="en" sz="800">
                          <a:solidFill>
                            <a:schemeClr val="dk1"/>
                          </a:solidFill>
                          <a:latin typeface="Proxima Nova"/>
                          <a:ea typeface="Proxima Nova"/>
                          <a:cs typeface="Proxima Nova"/>
                          <a:sym typeface="Proxima Nova"/>
                        </a:rPr>
                        <a:t>Thought Leadership</a:t>
                      </a:r>
                      <a:endParaRPr b="1" sz="800">
                        <a:solidFill>
                          <a:schemeClr val="dk1"/>
                        </a:solidFill>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Proxima Nova"/>
                          <a:ea typeface="Proxima Nova"/>
                          <a:cs typeface="Proxima Nova"/>
                          <a:sym typeface="Proxima Nova"/>
                        </a:rPr>
                        <a:t>Panel discussions, keynote talks, and fireside chats featuring industry experts, policymakers &amp; entrepreneurs sharing insights and trends.</a:t>
                      </a:r>
                      <a:endParaRPr sz="8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07950" lvl="0" marL="5715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Deepen sector-specific innovation skills (HealthTech, Startup Support, GovTech).</a:t>
                      </a:r>
                      <a:endParaRPr sz="800">
                        <a:solidFill>
                          <a:schemeClr val="dk1"/>
                        </a:solidFill>
                        <a:latin typeface="Proxima Nova"/>
                        <a:ea typeface="Proxima Nova"/>
                        <a:cs typeface="Proxima Nova"/>
                        <a:sym typeface="Proxima Nova"/>
                      </a:endParaRPr>
                    </a:p>
                    <a:p>
                      <a:pPr indent="-107950" lvl="0" marL="5715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Connect participants to real-world problems </a:t>
                      </a:r>
                      <a:endParaRPr sz="800">
                        <a:solidFill>
                          <a:schemeClr val="dk1"/>
                        </a:solidFill>
                        <a:latin typeface="Proxima Nova"/>
                        <a:ea typeface="Proxima Nova"/>
                        <a:cs typeface="Proxima Nova"/>
                        <a:sym typeface="Proxima Nova"/>
                      </a:endParaRPr>
                    </a:p>
                    <a:p>
                      <a:pPr indent="-107950" lvl="0" marL="5715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Facilitate knowledge sharing with experts to raise sectoral competence.</a:t>
                      </a:r>
                      <a:endParaRPr sz="800">
                        <a:solidFill>
                          <a:schemeClr val="dk1"/>
                        </a:solidFill>
                        <a:latin typeface="Proxima Nova"/>
                        <a:ea typeface="Proxima Nova"/>
                        <a:cs typeface="Proxima Nova"/>
                        <a:sym typeface="Proxima Nova"/>
                      </a:endParaRPr>
                    </a:p>
                    <a:p>
                      <a:pPr indent="-107950" lvl="0" marL="5715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Form early-stage, sector-based communities of practice</a:t>
                      </a:r>
                      <a:endParaRPr sz="800">
                        <a:solidFill>
                          <a:schemeClr val="dk1"/>
                        </a:solidFill>
                        <a:latin typeface="Proxima Nova"/>
                        <a:ea typeface="Proxima Nova"/>
                        <a:cs typeface="Proxima Nova"/>
                        <a:sym typeface="Proxima Nova"/>
                      </a:endParaRPr>
                    </a:p>
                  </a:txBody>
                  <a:tcPr marT="19050" marB="19050" marR="28575" marL="1143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07950" lvl="0" marL="114300" marR="0" rtl="0" algn="l">
                        <a:lnSpc>
                          <a:spcPct val="115000"/>
                        </a:lnSpc>
                        <a:spcBef>
                          <a:spcPts val="0"/>
                        </a:spcBef>
                        <a:spcAft>
                          <a:spcPts val="0"/>
                        </a:spcAft>
                        <a:buClr>
                          <a:schemeClr val="dk1"/>
                        </a:buClr>
                        <a:buSzPts val="800"/>
                        <a:buFont typeface="Proxima Nova"/>
                        <a:buChar char="-"/>
                      </a:pPr>
                      <a:r>
                        <a:rPr b="1" lang="en" sz="800">
                          <a:solidFill>
                            <a:schemeClr val="dk1"/>
                          </a:solidFill>
                          <a:latin typeface="Proxima Nova"/>
                          <a:ea typeface="Proxima Nova"/>
                          <a:cs typeface="Proxima Nova"/>
                          <a:sym typeface="Proxima Nova"/>
                        </a:rPr>
                        <a:t>1000+</a:t>
                      </a:r>
                      <a:r>
                        <a:rPr lang="en" sz="800">
                          <a:solidFill>
                            <a:schemeClr val="dk1"/>
                          </a:solidFill>
                          <a:latin typeface="Proxima Nova"/>
                          <a:ea typeface="Proxima Nova"/>
                          <a:cs typeface="Proxima Nova"/>
                          <a:sym typeface="Proxima Nova"/>
                        </a:rPr>
                        <a:t> participants engaged across HealthTech, FinTech, GovTech, and startups.</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2 new micro-communities (e.g., Health Innovators, AI Innovators) formed.</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b="1" lang="en" sz="800">
                          <a:solidFill>
                            <a:schemeClr val="dk1"/>
                          </a:solidFill>
                          <a:latin typeface="Proxima Nova"/>
                          <a:ea typeface="Proxima Nova"/>
                          <a:cs typeface="Proxima Nova"/>
                          <a:sym typeface="Proxima Nova"/>
                        </a:rPr>
                        <a:t>80% s</a:t>
                      </a:r>
                      <a:r>
                        <a:rPr lang="en" sz="800">
                          <a:solidFill>
                            <a:schemeClr val="dk1"/>
                          </a:solidFill>
                          <a:latin typeface="Proxima Nova"/>
                          <a:ea typeface="Proxima Nova"/>
                          <a:cs typeface="Proxima Nova"/>
                          <a:sym typeface="Proxima Nova"/>
                        </a:rPr>
                        <a:t>atisfaction and relevance score from participants.</a:t>
                      </a:r>
                      <a:endParaRPr sz="800">
                        <a:solidFill>
                          <a:schemeClr val="dk1"/>
                        </a:solidFill>
                        <a:latin typeface="Proxima Nova"/>
                        <a:ea typeface="Proxima Nova"/>
                        <a:cs typeface="Proxima Nova"/>
                        <a:sym typeface="Proxima Nova"/>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Female Focus</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Catalyst Events</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Fireside Chats</a:t>
                      </a:r>
                      <a:endParaRPr sz="800">
                        <a:latin typeface="Proxima Nova"/>
                        <a:ea typeface="Proxima Nova"/>
                        <a:cs typeface="Proxima Nova"/>
                        <a:sym typeface="Proxima Nova"/>
                      </a:endParaRPr>
                    </a:p>
                  </a:txBody>
                  <a:tcPr marT="19050" marB="19050" marR="28575" marL="28575" anchor="ctr">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19075">
                <a:tc>
                  <a:txBody>
                    <a:bodyPr/>
                    <a:lstStyle/>
                    <a:p>
                      <a:pPr indent="0" lvl="0" marL="0" rtl="0" algn="l">
                        <a:lnSpc>
                          <a:spcPct val="115000"/>
                        </a:lnSpc>
                        <a:spcBef>
                          <a:spcPts val="0"/>
                        </a:spcBef>
                        <a:spcAft>
                          <a:spcPts val="0"/>
                        </a:spcAft>
                        <a:buNone/>
                      </a:pPr>
                      <a:r>
                        <a:rPr b="1" lang="en" sz="800">
                          <a:solidFill>
                            <a:schemeClr val="dk1"/>
                          </a:solidFill>
                          <a:latin typeface="Proxima Nova"/>
                          <a:ea typeface="Proxima Nova"/>
                          <a:cs typeface="Proxima Nova"/>
                          <a:sym typeface="Proxima Nova"/>
                        </a:rPr>
                        <a:t>Sector/ Industry Specific</a:t>
                      </a:r>
                      <a:endParaRPr b="1" sz="800">
                        <a:solidFill>
                          <a:schemeClr val="dk1"/>
                        </a:solidFill>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Proxima Nova"/>
                          <a:ea typeface="Proxima Nova"/>
                          <a:cs typeface="Proxima Nova"/>
                          <a:sym typeface="Proxima Nova"/>
                        </a:rPr>
                        <a:t>Specialised sessions for industries like fintech, agritech, healthtech, and creative industries to facilitate knowledge exchange and targeted ecosystem development.</a:t>
                      </a:r>
                      <a:endParaRPr sz="8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Inspire current and aspiring founders through lived experiences and storytelling.</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Share hard-earned lessons on startup growth, pivots, and resilience.</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Encourage mentorship-seeking behavior among early-stage entrepreneurs.</a:t>
                      </a:r>
                      <a:endParaRPr sz="800">
                        <a:solidFill>
                          <a:schemeClr val="dk1"/>
                        </a:solidFill>
                        <a:latin typeface="Proxima Nova"/>
                        <a:ea typeface="Proxima Nova"/>
                        <a:cs typeface="Proxima Nova"/>
                        <a:sym typeface="Proxima Nova"/>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1</a:t>
                      </a:r>
                      <a:r>
                        <a:rPr b="1" lang="en" sz="800">
                          <a:solidFill>
                            <a:schemeClr val="dk1"/>
                          </a:solidFill>
                          <a:latin typeface="Proxima Nova"/>
                          <a:ea typeface="Proxima Nova"/>
                          <a:cs typeface="Proxima Nova"/>
                          <a:sym typeface="Proxima Nova"/>
                        </a:rPr>
                        <a:t>000+</a:t>
                      </a:r>
                      <a:r>
                        <a:rPr lang="en" sz="800">
                          <a:solidFill>
                            <a:schemeClr val="dk1"/>
                          </a:solidFill>
                          <a:latin typeface="Proxima Nova"/>
                          <a:ea typeface="Proxima Nova"/>
                          <a:cs typeface="Proxima Nova"/>
                          <a:sym typeface="Proxima Nova"/>
                        </a:rPr>
                        <a:t> founders and aspiring entrepreneurs engaged.</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1</a:t>
                      </a:r>
                      <a:r>
                        <a:rPr b="1" lang="en" sz="800">
                          <a:solidFill>
                            <a:schemeClr val="dk1"/>
                          </a:solidFill>
                          <a:latin typeface="Proxima Nova"/>
                          <a:ea typeface="Proxima Nova"/>
                          <a:cs typeface="Proxima Nova"/>
                          <a:sym typeface="Proxima Nova"/>
                        </a:rPr>
                        <a:t>0+</a:t>
                      </a:r>
                      <a:r>
                        <a:rPr lang="en" sz="800">
                          <a:solidFill>
                            <a:schemeClr val="dk1"/>
                          </a:solidFill>
                          <a:latin typeface="Proxima Nova"/>
                          <a:ea typeface="Proxima Nova"/>
                          <a:cs typeface="Proxima Nova"/>
                          <a:sym typeface="Proxima Nova"/>
                        </a:rPr>
                        <a:t> participants report strategic clarity or pivot insights.</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15+ founders initiate follow-up discussions with founders.</a:t>
                      </a:r>
                      <a:endParaRPr sz="800">
                        <a:solidFill>
                          <a:schemeClr val="dk1"/>
                        </a:solidFill>
                        <a:latin typeface="Proxima Nova"/>
                        <a:ea typeface="Proxima Nova"/>
                        <a:cs typeface="Proxima Nova"/>
                        <a:sym typeface="Proxima Nova"/>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Builder’s Path</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Product Showcase</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Design Sprints (HCD)</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Roundtables/Breakfast Chats</a:t>
                      </a:r>
                      <a:endParaRPr sz="800">
                        <a:latin typeface="Proxima Nova"/>
                        <a:ea typeface="Proxima Nova"/>
                        <a:cs typeface="Proxima Nova"/>
                        <a:sym typeface="Proxima Nova"/>
                      </a:endParaRPr>
                    </a:p>
                  </a:txBody>
                  <a:tcPr marT="19050" marB="19050" marR="28575" marL="28575" anchor="ctr">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51375">
                <a:tc>
                  <a:txBody>
                    <a:bodyPr/>
                    <a:lstStyle/>
                    <a:p>
                      <a:pPr indent="0" lvl="0" marL="0" rtl="0" algn="l">
                        <a:lnSpc>
                          <a:spcPct val="115000"/>
                        </a:lnSpc>
                        <a:spcBef>
                          <a:spcPts val="0"/>
                        </a:spcBef>
                        <a:spcAft>
                          <a:spcPts val="0"/>
                        </a:spcAft>
                        <a:buNone/>
                      </a:pPr>
                      <a:r>
                        <a:rPr b="1" lang="en" sz="800">
                          <a:solidFill>
                            <a:schemeClr val="dk1"/>
                          </a:solidFill>
                          <a:latin typeface="Proxima Nova"/>
                          <a:ea typeface="Proxima Nova"/>
                          <a:cs typeface="Proxima Nova"/>
                          <a:sym typeface="Proxima Nova"/>
                        </a:rPr>
                        <a:t>Networking</a:t>
                      </a:r>
                      <a:endParaRPr b="1" sz="800">
                        <a:solidFill>
                          <a:schemeClr val="dk1"/>
                        </a:solidFill>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latin typeface="Proxima Nova"/>
                          <a:ea typeface="Proxima Nova"/>
                          <a:cs typeface="Proxima Nova"/>
                          <a:sym typeface="Proxima Nova"/>
                        </a:rPr>
                        <a:t>Community-building activities, investor meetups, and corporate-startup engagement sessions to foster relationships and collaboration.</a:t>
                      </a:r>
                      <a:endParaRPr sz="8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Enable connections across tech, creative, and academic sectors.</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Foster community belonging and peer support.</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Encourage founder-to-founder collaboration and informal learning.</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Surface common challenges to guide programme design and support.</a:t>
                      </a:r>
                      <a:endParaRPr sz="8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07950" lvl="0" marL="114300" marR="0" rtl="0" algn="l">
                        <a:lnSpc>
                          <a:spcPct val="115000"/>
                        </a:lnSpc>
                        <a:spcBef>
                          <a:spcPts val="0"/>
                        </a:spcBef>
                        <a:spcAft>
                          <a:spcPts val="0"/>
                        </a:spcAft>
                        <a:buClr>
                          <a:schemeClr val="dk1"/>
                        </a:buClr>
                        <a:buSzPts val="800"/>
                        <a:buFont typeface="Proxima Nova"/>
                        <a:buChar char="-"/>
                      </a:pPr>
                      <a:r>
                        <a:rPr b="1" lang="en" sz="800">
                          <a:solidFill>
                            <a:schemeClr val="dk1"/>
                          </a:solidFill>
                          <a:latin typeface="Proxima Nova"/>
                          <a:ea typeface="Proxima Nova"/>
                          <a:cs typeface="Proxima Nova"/>
                          <a:sym typeface="Proxima Nova"/>
                        </a:rPr>
                        <a:t>800+ </a:t>
                      </a:r>
                      <a:r>
                        <a:rPr lang="en" sz="800">
                          <a:solidFill>
                            <a:schemeClr val="dk1"/>
                          </a:solidFill>
                          <a:latin typeface="Proxima Nova"/>
                          <a:ea typeface="Proxima Nova"/>
                          <a:cs typeface="Proxima Nova"/>
                          <a:sym typeface="Proxima Nova"/>
                        </a:rPr>
                        <a:t>total attendees across networking events.</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900">
                          <a:solidFill>
                            <a:schemeClr val="dk1"/>
                          </a:solidFill>
                          <a:latin typeface="Proxima Nova"/>
                          <a:ea typeface="Proxima Nova"/>
                          <a:cs typeface="Proxima Nova"/>
                          <a:sym typeface="Proxima Nova"/>
                        </a:rPr>
                        <a:t>60% o</a:t>
                      </a:r>
                      <a:r>
                        <a:rPr lang="en" sz="800">
                          <a:solidFill>
                            <a:schemeClr val="dk1"/>
                          </a:solidFill>
                          <a:latin typeface="Proxima Nova"/>
                          <a:ea typeface="Proxima Nova"/>
                          <a:cs typeface="Proxima Nova"/>
                          <a:sym typeface="Proxima Nova"/>
                        </a:rPr>
                        <a:t>f attendees report making at least one meaningful new connection (through survey or feedback forms).</a:t>
                      </a:r>
                      <a:endParaRPr sz="800">
                        <a:solidFill>
                          <a:schemeClr val="dk1"/>
                        </a:solidFill>
                        <a:latin typeface="Proxima Nova"/>
                        <a:ea typeface="Proxima Nova"/>
                        <a:cs typeface="Proxima Nova"/>
                        <a:sym typeface="Proxima Nova"/>
                      </a:endParaRPr>
                    </a:p>
                    <a:p>
                      <a:pPr indent="-107950" lvl="0" marL="114300" marR="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10+ new members integrated into programmes or co-working space.</a:t>
                      </a:r>
                      <a:endParaRPr sz="800">
                        <a:solidFill>
                          <a:schemeClr val="dk1"/>
                        </a:solidFill>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07950" lvl="0" marL="114300" rtl="0" algn="l">
                        <a:lnSpc>
                          <a:spcPct val="115000"/>
                        </a:lnSpc>
                        <a:spcBef>
                          <a:spcPts val="0"/>
                        </a:spcBef>
                        <a:spcAft>
                          <a:spcPts val="0"/>
                        </a:spcAft>
                        <a:buClr>
                          <a:schemeClr val="dk1"/>
                        </a:buClr>
                        <a:buSzPts val="800"/>
                        <a:buFont typeface="Proxima Nova"/>
                        <a:buChar char="-"/>
                      </a:pPr>
                      <a:r>
                        <a:rPr lang="en" sz="800">
                          <a:solidFill>
                            <a:schemeClr val="dk1"/>
                          </a:solidFill>
                          <a:latin typeface="Proxima Nova"/>
                          <a:ea typeface="Proxima Nova"/>
                          <a:cs typeface="Proxima Nova"/>
                          <a:sym typeface="Proxima Nova"/>
                        </a:rPr>
                        <a:t>Meet and Mingle Events</a:t>
                      </a:r>
                      <a:endParaRPr sz="8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5" name="Google Shape;85;p17"/>
          <p:cNvSpPr txBox="1"/>
          <p:nvPr/>
        </p:nvSpPr>
        <p:spPr>
          <a:xfrm>
            <a:off x="-43225" y="0"/>
            <a:ext cx="7994400" cy="4926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b="1" lang="en" sz="2000" u="sng">
                <a:solidFill>
                  <a:schemeClr val="hlink"/>
                </a:solidFill>
                <a:latin typeface="Proxima Nova"/>
                <a:ea typeface="Proxima Nova"/>
                <a:cs typeface="Proxima Nova"/>
                <a:sym typeface="Proxima Nova"/>
              </a:rPr>
              <a:t>IIH Community Events with Expected </a:t>
            </a:r>
            <a:r>
              <a:rPr b="1" lang="en" sz="2000" u="sng">
                <a:solidFill>
                  <a:schemeClr val="accent5"/>
                </a:solidFill>
                <a:latin typeface="Proxima Nova"/>
                <a:ea typeface="Proxima Nova"/>
                <a:cs typeface="Proxima Nova"/>
                <a:sym typeface="Proxima Nova"/>
              </a:rPr>
              <a:t>Outcomes &amp; Impact Metrics</a:t>
            </a:r>
            <a:endParaRPr b="1" sz="2000" u="sng">
              <a:solidFill>
                <a:schemeClr val="hlink"/>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pic>
        <p:nvPicPr>
          <p:cNvPr id="90" name="Google Shape;90;p18"/>
          <p:cNvPicPr preferRelativeResize="0"/>
          <p:nvPr/>
        </p:nvPicPr>
        <p:blipFill>
          <a:blip r:embed="rId4">
            <a:alphaModFix/>
          </a:blip>
          <a:stretch>
            <a:fillRect/>
          </a:stretch>
        </p:blipFill>
        <p:spPr>
          <a:xfrm>
            <a:off x="-1862" y="5105475"/>
            <a:ext cx="9144003" cy="46600"/>
          </a:xfrm>
          <a:prstGeom prst="rect">
            <a:avLst/>
          </a:prstGeom>
          <a:noFill/>
          <a:ln>
            <a:noFill/>
          </a:ln>
        </p:spPr>
      </p:pic>
      <p:sp>
        <p:nvSpPr>
          <p:cNvPr id="91" name="Google Shape;91;p18"/>
          <p:cNvSpPr txBox="1"/>
          <p:nvPr/>
        </p:nvSpPr>
        <p:spPr>
          <a:xfrm>
            <a:off x="510700" y="64750"/>
            <a:ext cx="1639800" cy="355200"/>
          </a:xfrm>
          <a:prstGeom prst="rect">
            <a:avLst/>
          </a:prstGeom>
          <a:noFill/>
          <a:ln>
            <a:noFill/>
          </a:ln>
        </p:spPr>
        <p:txBody>
          <a:bodyPr anchorCtr="0" anchor="t" bIns="91425" lIns="91425" spcFirstLastPara="1" rIns="91425" wrap="square" tIns="91425">
            <a:normAutofit fontScale="47500" lnSpcReduction="10000"/>
          </a:bodyPr>
          <a:lstStyle/>
          <a:p>
            <a:pPr indent="0" lvl="0" marL="0" rtl="0" algn="l">
              <a:spcBef>
                <a:spcPts val="0"/>
              </a:spcBef>
              <a:spcAft>
                <a:spcPts val="0"/>
              </a:spcAft>
              <a:buNone/>
            </a:pPr>
            <a:r>
              <a:t/>
            </a:r>
            <a:endParaRPr sz="2600">
              <a:solidFill>
                <a:srgbClr val="D12310"/>
              </a:solidFill>
              <a:latin typeface="Epilogue ExtraBold"/>
              <a:ea typeface="Epilogue ExtraBold"/>
              <a:cs typeface="Epilogue ExtraBold"/>
              <a:sym typeface="Epilogue ExtraBold"/>
            </a:endParaRPr>
          </a:p>
        </p:txBody>
      </p:sp>
      <p:graphicFrame>
        <p:nvGraphicFramePr>
          <p:cNvPr id="92" name="Google Shape;92;p18"/>
          <p:cNvGraphicFramePr/>
          <p:nvPr/>
        </p:nvGraphicFramePr>
        <p:xfrm>
          <a:off x="277050" y="419950"/>
          <a:ext cx="3000000" cy="3000000"/>
        </p:xfrm>
        <a:graphic>
          <a:graphicData uri="http://schemas.openxmlformats.org/drawingml/2006/table">
            <a:tbl>
              <a:tblPr>
                <a:noFill/>
                <a:tableStyleId>{FBA88F36-F84B-4980-8EF0-37AB9F51420B}</a:tableStyleId>
              </a:tblPr>
              <a:tblGrid>
                <a:gridCol w="364475"/>
                <a:gridCol w="1265925"/>
                <a:gridCol w="2109250"/>
                <a:gridCol w="1287175"/>
                <a:gridCol w="1280525"/>
                <a:gridCol w="985300"/>
                <a:gridCol w="1297250"/>
              </a:tblGrid>
              <a:tr h="289350">
                <a:tc>
                  <a:txBody>
                    <a:bodyPr/>
                    <a:lstStyle/>
                    <a:p>
                      <a:pPr indent="0" lvl="0" marL="0" rtl="0" algn="ctr">
                        <a:lnSpc>
                          <a:spcPct val="115000"/>
                        </a:lnSpc>
                        <a:spcBef>
                          <a:spcPts val="0"/>
                        </a:spcBef>
                        <a:spcAft>
                          <a:spcPts val="0"/>
                        </a:spcAft>
                        <a:buNone/>
                      </a:pPr>
                      <a:r>
                        <a:rPr b="1" lang="en" sz="1000">
                          <a:solidFill>
                            <a:schemeClr val="lt1"/>
                          </a:solidFill>
                          <a:latin typeface="Proxima Nova"/>
                          <a:ea typeface="Proxima Nova"/>
                          <a:cs typeface="Proxima Nova"/>
                          <a:sym typeface="Proxima Nova"/>
                        </a:rPr>
                        <a:t>S/N</a:t>
                      </a:r>
                      <a:endParaRPr b="1" sz="1000">
                        <a:solidFill>
                          <a:schemeClr val="lt1"/>
                        </a:solidFill>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b="1" lang="en" sz="1000">
                          <a:solidFill>
                            <a:schemeClr val="lt1"/>
                          </a:solidFill>
                          <a:latin typeface="Proxima Nova"/>
                          <a:ea typeface="Proxima Nova"/>
                          <a:cs typeface="Proxima Nova"/>
                          <a:sym typeface="Proxima Nova"/>
                        </a:rPr>
                        <a:t>Activity</a:t>
                      </a:r>
                      <a:endParaRPr sz="1000">
                        <a:solidFill>
                          <a:schemeClr val="lt1"/>
                        </a:solidFill>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b="1" lang="en" sz="1000">
                          <a:solidFill>
                            <a:schemeClr val="lt1"/>
                          </a:solidFill>
                          <a:latin typeface="Proxima Nova"/>
                          <a:ea typeface="Proxima Nova"/>
                          <a:cs typeface="Proxima Nova"/>
                          <a:sym typeface="Proxima Nova"/>
                        </a:rPr>
                        <a:t>Goal</a:t>
                      </a:r>
                      <a:endParaRPr sz="1000">
                        <a:solidFill>
                          <a:schemeClr val="lt1"/>
                        </a:solidFill>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b="1" lang="en" sz="1000">
                          <a:solidFill>
                            <a:schemeClr val="lt1"/>
                          </a:solidFill>
                          <a:latin typeface="Proxima Nova"/>
                          <a:ea typeface="Proxima Nova"/>
                          <a:cs typeface="Proxima Nova"/>
                          <a:sym typeface="Proxima Nova"/>
                        </a:rPr>
                        <a:t>Expected Outcome</a:t>
                      </a:r>
                      <a:endParaRPr b="1" sz="1000">
                        <a:solidFill>
                          <a:schemeClr val="lt1"/>
                        </a:solidFill>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b="1" lang="en" sz="1000">
                          <a:solidFill>
                            <a:schemeClr val="lt1"/>
                          </a:solidFill>
                          <a:latin typeface="Proxima Nova"/>
                          <a:ea typeface="Proxima Nova"/>
                          <a:cs typeface="Proxima Nova"/>
                          <a:sym typeface="Proxima Nova"/>
                        </a:rPr>
                        <a:t>Participants</a:t>
                      </a:r>
                      <a:endParaRPr sz="1000">
                        <a:solidFill>
                          <a:schemeClr val="lt1"/>
                        </a:solidFill>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b="1" lang="en" sz="1000">
                          <a:solidFill>
                            <a:schemeClr val="lt1"/>
                          </a:solidFill>
                          <a:latin typeface="Proxima Nova"/>
                          <a:ea typeface="Proxima Nova"/>
                          <a:cs typeface="Proxima Nova"/>
                          <a:sym typeface="Proxima Nova"/>
                        </a:rPr>
                        <a:t>Target </a:t>
                      </a:r>
                      <a:endParaRPr b="1" sz="1000">
                        <a:solidFill>
                          <a:schemeClr val="lt1"/>
                        </a:solidFill>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b="1" lang="en" sz="1000">
                          <a:solidFill>
                            <a:schemeClr val="lt1"/>
                          </a:solidFill>
                          <a:latin typeface="Proxima Nova"/>
                          <a:ea typeface="Proxima Nova"/>
                          <a:cs typeface="Proxima Nova"/>
                          <a:sym typeface="Proxima Nova"/>
                        </a:rPr>
                        <a:t>Strategic Alignment</a:t>
                      </a:r>
                      <a:endParaRPr sz="1000">
                        <a:solidFill>
                          <a:schemeClr val="lt1"/>
                        </a:solidFill>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0000"/>
                    </a:solidFill>
                  </a:tcPr>
                </a:tc>
              </a:tr>
              <a:tr h="1241500">
                <a:tc>
                  <a:txBody>
                    <a:bodyPr/>
                    <a:lstStyle/>
                    <a:p>
                      <a:pPr indent="0" lvl="0" marL="0" rtl="0" algn="l">
                        <a:lnSpc>
                          <a:spcPct val="115000"/>
                        </a:lnSpc>
                        <a:spcBef>
                          <a:spcPts val="0"/>
                        </a:spcBef>
                        <a:spcAft>
                          <a:spcPts val="0"/>
                        </a:spcAft>
                        <a:buNone/>
                      </a:pPr>
                      <a:r>
                        <a:rPr b="1" lang="en" sz="900">
                          <a:latin typeface="Proxima Nova"/>
                          <a:ea typeface="Proxima Nova"/>
                          <a:cs typeface="Proxima Nova"/>
                          <a:sym typeface="Proxima Nova"/>
                        </a:rPr>
                        <a:t>1</a:t>
                      </a:r>
                      <a:r>
                        <a:rPr b="1" lang="en" sz="900">
                          <a:latin typeface="Proxima Nova"/>
                          <a:ea typeface="Proxima Nova"/>
                          <a:cs typeface="Proxima Nova"/>
                          <a:sym typeface="Proxima Nova"/>
                        </a:rPr>
                        <a:t>. </a:t>
                      </a:r>
                      <a:endParaRPr b="1"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900">
                          <a:latin typeface="Proxima Nova"/>
                          <a:ea typeface="Proxima Nova"/>
                          <a:cs typeface="Proxima Nova"/>
                          <a:sym typeface="Proxima Nova"/>
                        </a:rPr>
                        <a:t>Ilorin Dev Box: Getting Started with Prompt Engineering I </a:t>
                      </a:r>
                      <a:endParaRPr b="1" sz="900">
                        <a:latin typeface="Proxima Nova"/>
                        <a:ea typeface="Proxima Nova"/>
                        <a:cs typeface="Proxima Nova"/>
                        <a:sym typeface="Proxima Nova"/>
                      </a:endParaRPr>
                    </a:p>
                    <a:p>
                      <a:pPr indent="0" lvl="0" marL="0" rtl="0" algn="l">
                        <a:lnSpc>
                          <a:spcPct val="115000"/>
                        </a:lnSpc>
                        <a:spcBef>
                          <a:spcPts val="0"/>
                        </a:spcBef>
                        <a:spcAft>
                          <a:spcPts val="0"/>
                        </a:spcAft>
                        <a:buNone/>
                      </a:pPr>
                      <a:r>
                        <a:rPr lang="en" sz="900">
                          <a:latin typeface="Proxima Nova"/>
                          <a:ea typeface="Proxima Nova"/>
                          <a:cs typeface="Proxima Nova"/>
                          <a:sym typeface="Proxima Nova"/>
                        </a:rPr>
                        <a:t>(June 13)</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To introduce participants to foundational concepts in AI prompt engineering, provide hands-on experience with generative AI tools, and build a developer community centred on AI literacy</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Improved technical literacy in AI tools and activated local developer interest</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900">
                          <a:latin typeface="Proxima Nova"/>
                          <a:ea typeface="Proxima Nova"/>
                          <a:cs typeface="Proxima Nova"/>
                          <a:sym typeface="Proxima Nova"/>
                        </a:rPr>
                        <a:t>54</a:t>
                      </a:r>
                      <a:r>
                        <a:rPr lang="en" sz="900">
                          <a:latin typeface="Proxima Nova"/>
                          <a:ea typeface="Proxima Nova"/>
                          <a:cs typeface="Proxima Nova"/>
                          <a:sym typeface="Proxima Nova"/>
                        </a:rPr>
                        <a:t> Participants (Developers, students, tech </a:t>
                      </a:r>
                      <a:r>
                        <a:rPr lang="en" sz="900">
                          <a:latin typeface="Proxima Nova"/>
                          <a:ea typeface="Proxima Nova"/>
                          <a:cs typeface="Proxima Nova"/>
                          <a:sym typeface="Proxima Nova"/>
                        </a:rPr>
                        <a:t>enthusiasts)</a:t>
                      </a:r>
                      <a:r>
                        <a:rPr lang="en" sz="900">
                          <a:latin typeface="Proxima Nova"/>
                          <a:ea typeface="Proxima Nova"/>
                          <a:cs typeface="Proxima Nova"/>
                          <a:sym typeface="Proxima Nova"/>
                        </a:rPr>
                        <a:t> </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30</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Technical Capacity Building, Developer Ecosystem Activation</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179950">
                <a:tc>
                  <a:txBody>
                    <a:bodyPr/>
                    <a:lstStyle/>
                    <a:p>
                      <a:pPr indent="0" lvl="0" marL="0" rtl="0" algn="l">
                        <a:lnSpc>
                          <a:spcPct val="115000"/>
                        </a:lnSpc>
                        <a:spcBef>
                          <a:spcPts val="0"/>
                        </a:spcBef>
                        <a:spcAft>
                          <a:spcPts val="0"/>
                        </a:spcAft>
                        <a:buNone/>
                      </a:pPr>
                      <a:r>
                        <a:rPr b="1" lang="en" sz="900">
                          <a:latin typeface="Proxima Nova"/>
                          <a:ea typeface="Proxima Nova"/>
                          <a:cs typeface="Proxima Nova"/>
                          <a:sym typeface="Proxima Nova"/>
                        </a:rPr>
                        <a:t>2. </a:t>
                      </a:r>
                      <a:endParaRPr b="1"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900">
                          <a:latin typeface="Proxima Nova"/>
                          <a:ea typeface="Proxima Nova"/>
                          <a:cs typeface="Proxima Nova"/>
                          <a:sym typeface="Proxima Nova"/>
                        </a:rPr>
                        <a:t>Founder Speaker Series: Builder’s Path with Abdulrahman Jogbojogbo </a:t>
                      </a:r>
                      <a:endParaRPr b="1" sz="900">
                        <a:latin typeface="Proxima Nova"/>
                        <a:ea typeface="Proxima Nova"/>
                        <a:cs typeface="Proxima Nova"/>
                        <a:sym typeface="Proxima Nova"/>
                      </a:endParaRPr>
                    </a:p>
                    <a:p>
                      <a:pPr indent="0" lvl="0" marL="0" rtl="0" algn="l">
                        <a:lnSpc>
                          <a:spcPct val="115000"/>
                        </a:lnSpc>
                        <a:spcBef>
                          <a:spcPts val="0"/>
                        </a:spcBef>
                        <a:spcAft>
                          <a:spcPts val="0"/>
                        </a:spcAft>
                        <a:buNone/>
                      </a:pPr>
                      <a:r>
                        <a:rPr lang="en" sz="900">
                          <a:latin typeface="Proxima Nova"/>
                          <a:ea typeface="Proxima Nova"/>
                          <a:cs typeface="Proxima Nova"/>
                          <a:sym typeface="Proxima Nova"/>
                        </a:rPr>
                        <a:t>(June 18)</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To inspire and equip local founders through real-life startup journeys, practical scaling lessons, and mentorship-driven community building</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Exposure to startup realities and access to founder insights and mentorship pathways</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900">
                          <a:latin typeface="Proxima Nova"/>
                          <a:ea typeface="Proxima Nova"/>
                          <a:cs typeface="Proxima Nova"/>
                          <a:sym typeface="Proxima Nova"/>
                        </a:rPr>
                        <a:t>41 </a:t>
                      </a:r>
                      <a:r>
                        <a:rPr lang="en" sz="900">
                          <a:latin typeface="Proxima Nova"/>
                          <a:ea typeface="Proxima Nova"/>
                          <a:cs typeface="Proxima Nova"/>
                          <a:sym typeface="Proxima Nova"/>
                        </a:rPr>
                        <a:t>Founders, students, aspiring entrepreneurs</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50</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Entrepreneurial Mindset Shift, Community Cohesion</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120200">
                <a:tc>
                  <a:txBody>
                    <a:bodyPr/>
                    <a:lstStyle/>
                    <a:p>
                      <a:pPr indent="0" lvl="0" marL="0" rtl="0" algn="l">
                        <a:lnSpc>
                          <a:spcPct val="115000"/>
                        </a:lnSpc>
                        <a:spcBef>
                          <a:spcPts val="0"/>
                        </a:spcBef>
                        <a:spcAft>
                          <a:spcPts val="0"/>
                        </a:spcAft>
                        <a:buNone/>
                      </a:pPr>
                      <a:r>
                        <a:rPr b="1" lang="en" sz="1300">
                          <a:latin typeface="Proxima Nova"/>
                          <a:ea typeface="Proxima Nova"/>
                          <a:cs typeface="Proxima Nova"/>
                          <a:sym typeface="Proxima Nova"/>
                        </a:rPr>
                        <a:t>3</a:t>
                      </a:r>
                      <a:r>
                        <a:rPr b="1" lang="en"/>
                        <a:t>.</a:t>
                      </a:r>
                      <a:r>
                        <a:rPr lang="en"/>
                        <a:t> </a:t>
                      </a:r>
                      <a:endParaRPr b="1"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900">
                          <a:latin typeface="Proxima Nova"/>
                          <a:ea typeface="Proxima Nova"/>
                          <a:cs typeface="Proxima Nova"/>
                          <a:sym typeface="Proxima Nova"/>
                        </a:rPr>
                        <a:t>Ilorin Dev Box: Getting Started With Prompt Engineering II </a:t>
                      </a:r>
                      <a:endParaRPr b="1" sz="900">
                        <a:latin typeface="Proxima Nova"/>
                        <a:ea typeface="Proxima Nova"/>
                        <a:cs typeface="Proxima Nova"/>
                        <a:sym typeface="Proxima Nova"/>
                      </a:endParaRPr>
                    </a:p>
                    <a:p>
                      <a:pPr indent="0" lvl="0" marL="0" rtl="0" algn="l">
                        <a:lnSpc>
                          <a:spcPct val="115000"/>
                        </a:lnSpc>
                        <a:spcBef>
                          <a:spcPts val="0"/>
                        </a:spcBef>
                        <a:spcAft>
                          <a:spcPts val="0"/>
                        </a:spcAft>
                        <a:buNone/>
                      </a:pPr>
                      <a:r>
                        <a:rPr lang="en" sz="900">
                          <a:latin typeface="Proxima Nova"/>
                          <a:ea typeface="Proxima Nova"/>
                          <a:cs typeface="Proxima Nova"/>
                          <a:sym typeface="Proxima Nova"/>
                        </a:rPr>
                        <a:t>(June 20)</a:t>
                      </a:r>
                      <a:endParaRPr b="1"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Advance participants’ technical understanding of AI prompt engineering, encourage real-world application, and introduce advanced strategies for coding and business use</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Practical application of advanced prompt design; preparation for innovation challenge use cases</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900">
                          <a:latin typeface="Proxima Nova"/>
                          <a:ea typeface="Proxima Nova"/>
                          <a:cs typeface="Proxima Nova"/>
                          <a:sym typeface="Proxima Nova"/>
                        </a:rPr>
                        <a:t>41</a:t>
                      </a:r>
                      <a:r>
                        <a:rPr lang="en" sz="900">
                          <a:latin typeface="Proxima Nova"/>
                          <a:ea typeface="Proxima Nova"/>
                          <a:cs typeface="Proxima Nova"/>
                          <a:sym typeface="Proxima Nova"/>
                        </a:rPr>
                        <a:t> Developers, early-stage builders, tech enthusiasts</a:t>
                      </a:r>
                      <a:endParaRPr b="1"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30</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Technical Deepening, Innovation Readiness</a:t>
                      </a:r>
                      <a:endParaRPr sz="9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
        <p:nvSpPr>
          <p:cNvPr id="93" name="Google Shape;93;p18"/>
          <p:cNvSpPr txBox="1"/>
          <p:nvPr/>
        </p:nvSpPr>
        <p:spPr>
          <a:xfrm>
            <a:off x="304800" y="64750"/>
            <a:ext cx="4356000" cy="355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400"/>
              </a:spcAft>
              <a:buNone/>
            </a:pPr>
            <a:r>
              <a:rPr b="1" lang="en" sz="2000" u="sng">
                <a:solidFill>
                  <a:schemeClr val="hlink"/>
                </a:solidFill>
                <a:latin typeface="Proxima Nova"/>
                <a:ea typeface="Proxima Nova"/>
                <a:cs typeface="Proxima Nova"/>
                <a:sym typeface="Proxima Nova"/>
              </a:rPr>
              <a:t>Completed Activities in June</a:t>
            </a:r>
            <a:r>
              <a:rPr b="1" lang="en" sz="1200">
                <a:latin typeface="Proxima Nova"/>
                <a:ea typeface="Proxima Nova"/>
                <a:cs typeface="Proxima Nova"/>
                <a:sym typeface="Proxima Nova"/>
              </a:rPr>
              <a:t> </a:t>
            </a:r>
            <a:endParaRPr b="1" sz="1200">
              <a:latin typeface="Proxima Nova"/>
              <a:ea typeface="Proxima Nova"/>
              <a:cs typeface="Proxima Nova"/>
              <a:sym typeface="Proxima Nova"/>
            </a:endParaRPr>
          </a:p>
        </p:txBody>
      </p:sp>
      <p:pic>
        <p:nvPicPr>
          <p:cNvPr id="94" name="Google Shape;94;p18" title="IMG_2258.jpeg"/>
          <p:cNvPicPr preferRelativeResize="0"/>
          <p:nvPr/>
        </p:nvPicPr>
        <p:blipFill>
          <a:blip r:embed="rId5">
            <a:alphaModFix/>
          </a:blip>
          <a:stretch>
            <a:fillRect/>
          </a:stretch>
        </p:blipFill>
        <p:spPr>
          <a:xfrm>
            <a:off x="6645225" y="2266800"/>
            <a:ext cx="852374" cy="783101"/>
          </a:xfrm>
          <a:prstGeom prst="rect">
            <a:avLst/>
          </a:prstGeom>
          <a:noFill/>
          <a:ln>
            <a:noFill/>
          </a:ln>
        </p:spPr>
      </p:pic>
      <p:pic>
        <p:nvPicPr>
          <p:cNvPr id="95" name="Google Shape;95;p18"/>
          <p:cNvPicPr preferRelativeResize="0"/>
          <p:nvPr/>
        </p:nvPicPr>
        <p:blipFill rotWithShape="1">
          <a:blip r:embed="rId6">
            <a:alphaModFix/>
          </a:blip>
          <a:srcRect b="0" l="4922" r="4931" t="0"/>
          <a:stretch/>
        </p:blipFill>
        <p:spPr>
          <a:xfrm>
            <a:off x="6659725" y="1028275"/>
            <a:ext cx="909975" cy="856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p:cNvPicPr preferRelativeResize="0"/>
          <p:nvPr/>
        </p:nvPicPr>
        <p:blipFill rotWithShape="1">
          <a:blip r:embed="rId3">
            <a:alphaModFix/>
          </a:blip>
          <a:srcRect b="0" l="0" r="0" t="0"/>
          <a:stretch/>
        </p:blipFill>
        <p:spPr>
          <a:xfrm>
            <a:off x="0" y="0"/>
            <a:ext cx="9140276" cy="5143501"/>
          </a:xfrm>
          <a:prstGeom prst="rect">
            <a:avLst/>
          </a:prstGeom>
          <a:noFill/>
          <a:ln>
            <a:noFill/>
          </a:ln>
        </p:spPr>
      </p:pic>
      <p:pic>
        <p:nvPicPr>
          <p:cNvPr id="101" name="Google Shape;101;p19" title="XUL07942.JPG"/>
          <p:cNvPicPr preferRelativeResize="0"/>
          <p:nvPr/>
        </p:nvPicPr>
        <p:blipFill rotWithShape="1">
          <a:blip r:embed="rId4">
            <a:alphaModFix/>
          </a:blip>
          <a:srcRect b="0" l="0" r="12732" t="0"/>
          <a:stretch/>
        </p:blipFill>
        <p:spPr>
          <a:xfrm>
            <a:off x="6037000" y="844575"/>
            <a:ext cx="3050552" cy="2177199"/>
          </a:xfrm>
          <a:prstGeom prst="rect">
            <a:avLst/>
          </a:prstGeom>
          <a:noFill/>
          <a:ln>
            <a:noFill/>
          </a:ln>
        </p:spPr>
      </p:pic>
      <p:pic>
        <p:nvPicPr>
          <p:cNvPr id="102" name="Google Shape;102;p19" title="XUL07933.JPG"/>
          <p:cNvPicPr preferRelativeResize="0"/>
          <p:nvPr/>
        </p:nvPicPr>
        <p:blipFill>
          <a:blip r:embed="rId5">
            <a:alphaModFix/>
          </a:blip>
          <a:stretch>
            <a:fillRect/>
          </a:stretch>
        </p:blipFill>
        <p:spPr>
          <a:xfrm>
            <a:off x="3676426" y="3021775"/>
            <a:ext cx="2858301" cy="1711051"/>
          </a:xfrm>
          <a:prstGeom prst="rect">
            <a:avLst/>
          </a:prstGeom>
          <a:noFill/>
          <a:ln>
            <a:noFill/>
          </a:ln>
        </p:spPr>
      </p:pic>
      <p:pic>
        <p:nvPicPr>
          <p:cNvPr id="103" name="Google Shape;103;p19" title="XUL06141.JPG"/>
          <p:cNvPicPr preferRelativeResize="0"/>
          <p:nvPr/>
        </p:nvPicPr>
        <p:blipFill>
          <a:blip r:embed="rId6">
            <a:alphaModFix/>
          </a:blip>
          <a:stretch>
            <a:fillRect/>
          </a:stretch>
        </p:blipFill>
        <p:spPr>
          <a:xfrm>
            <a:off x="3740950" y="1795225"/>
            <a:ext cx="2261852" cy="1226551"/>
          </a:xfrm>
          <a:prstGeom prst="rect">
            <a:avLst/>
          </a:prstGeom>
          <a:noFill/>
          <a:ln>
            <a:noFill/>
          </a:ln>
        </p:spPr>
      </p:pic>
      <p:pic>
        <p:nvPicPr>
          <p:cNvPr id="104" name="Google Shape;104;p19" title="XUL06153.JPG"/>
          <p:cNvPicPr preferRelativeResize="0"/>
          <p:nvPr/>
        </p:nvPicPr>
        <p:blipFill>
          <a:blip r:embed="rId7">
            <a:alphaModFix/>
          </a:blip>
          <a:stretch>
            <a:fillRect/>
          </a:stretch>
        </p:blipFill>
        <p:spPr>
          <a:xfrm>
            <a:off x="6554000" y="3022375"/>
            <a:ext cx="2533550" cy="1516652"/>
          </a:xfrm>
          <a:prstGeom prst="rect">
            <a:avLst/>
          </a:prstGeom>
          <a:noFill/>
          <a:ln>
            <a:noFill/>
          </a:ln>
        </p:spPr>
      </p:pic>
      <p:sp>
        <p:nvSpPr>
          <p:cNvPr id="105" name="Google Shape;105;p19"/>
          <p:cNvSpPr txBox="1"/>
          <p:nvPr/>
        </p:nvSpPr>
        <p:spPr>
          <a:xfrm>
            <a:off x="200288" y="720325"/>
            <a:ext cx="1339800" cy="171600"/>
          </a:xfrm>
          <a:prstGeom prst="rect">
            <a:avLst/>
          </a:prstGeom>
          <a:solidFill>
            <a:srgbClr val="D0E0E3"/>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2"/>
                </a:solidFill>
                <a:latin typeface="Proxima Nova"/>
                <a:ea typeface="Proxima Nova"/>
                <a:cs typeface="Proxima Nova"/>
                <a:sym typeface="Proxima Nova"/>
              </a:rPr>
              <a:t>Capacity Development</a:t>
            </a:r>
            <a:endParaRPr sz="900">
              <a:solidFill>
                <a:schemeClr val="dk2"/>
              </a:solidFill>
              <a:latin typeface="Proxima Nova"/>
              <a:ea typeface="Proxima Nova"/>
              <a:cs typeface="Proxima Nova"/>
              <a:sym typeface="Proxima Nova"/>
            </a:endParaRPr>
          </a:p>
        </p:txBody>
      </p:sp>
      <p:grpSp>
        <p:nvGrpSpPr>
          <p:cNvPr id="106" name="Google Shape;106;p19"/>
          <p:cNvGrpSpPr/>
          <p:nvPr/>
        </p:nvGrpSpPr>
        <p:grpSpPr>
          <a:xfrm>
            <a:off x="277013" y="997583"/>
            <a:ext cx="1186350" cy="915164"/>
            <a:chOff x="1881300" y="907600"/>
            <a:chExt cx="2280126" cy="1812925"/>
          </a:xfrm>
        </p:grpSpPr>
        <p:pic>
          <p:nvPicPr>
            <p:cNvPr id="107" name="Google Shape;107;p19" title="Chart"/>
            <p:cNvPicPr preferRelativeResize="0"/>
            <p:nvPr/>
          </p:nvPicPr>
          <p:blipFill rotWithShape="1">
            <a:blip r:embed="rId8">
              <a:alphaModFix/>
            </a:blip>
            <a:srcRect b="0" l="15148" r="13162" t="0"/>
            <a:stretch/>
          </p:blipFill>
          <p:spPr>
            <a:xfrm>
              <a:off x="1881300" y="907600"/>
              <a:ext cx="2280126" cy="1812925"/>
            </a:xfrm>
            <a:prstGeom prst="rect">
              <a:avLst/>
            </a:prstGeom>
            <a:noFill/>
            <a:ln>
              <a:noFill/>
            </a:ln>
          </p:spPr>
        </p:pic>
        <p:sp>
          <p:nvSpPr>
            <p:cNvPr id="108" name="Google Shape;108;p19"/>
            <p:cNvSpPr txBox="1"/>
            <p:nvPr/>
          </p:nvSpPr>
          <p:spPr>
            <a:xfrm>
              <a:off x="2488560" y="1388962"/>
              <a:ext cx="1065600" cy="78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500">
                  <a:solidFill>
                    <a:schemeClr val="dk2"/>
                  </a:solidFill>
                </a:rPr>
                <a:t>9%</a:t>
              </a:r>
              <a:endParaRPr b="1" sz="1500">
                <a:solidFill>
                  <a:schemeClr val="dk2"/>
                </a:solidFill>
              </a:endParaRPr>
            </a:p>
          </p:txBody>
        </p:sp>
      </p:grpSp>
      <p:grpSp>
        <p:nvGrpSpPr>
          <p:cNvPr id="109" name="Google Shape;109;p19"/>
          <p:cNvGrpSpPr/>
          <p:nvPr/>
        </p:nvGrpSpPr>
        <p:grpSpPr>
          <a:xfrm>
            <a:off x="237189" y="2208219"/>
            <a:ext cx="1265997" cy="813547"/>
            <a:chOff x="5058225" y="750188"/>
            <a:chExt cx="3186501" cy="1970325"/>
          </a:xfrm>
        </p:grpSpPr>
        <p:pic>
          <p:nvPicPr>
            <p:cNvPr id="110" name="Google Shape;110;p19" title="Chart"/>
            <p:cNvPicPr preferRelativeResize="0"/>
            <p:nvPr/>
          </p:nvPicPr>
          <p:blipFill>
            <a:blip r:embed="rId9">
              <a:alphaModFix/>
            </a:blip>
            <a:stretch>
              <a:fillRect/>
            </a:stretch>
          </p:blipFill>
          <p:spPr>
            <a:xfrm>
              <a:off x="5058225" y="750188"/>
              <a:ext cx="3186501" cy="1970325"/>
            </a:xfrm>
            <a:prstGeom prst="rect">
              <a:avLst/>
            </a:prstGeom>
            <a:noFill/>
            <a:ln>
              <a:noFill/>
            </a:ln>
          </p:spPr>
        </p:pic>
        <p:sp>
          <p:nvSpPr>
            <p:cNvPr id="111" name="Google Shape;111;p19"/>
            <p:cNvSpPr txBox="1"/>
            <p:nvPr/>
          </p:nvSpPr>
          <p:spPr>
            <a:xfrm>
              <a:off x="6099045" y="1385707"/>
              <a:ext cx="1104900" cy="699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chemeClr val="dk2"/>
                  </a:solidFill>
                </a:rPr>
                <a:t>4%</a:t>
              </a:r>
              <a:endParaRPr b="1" sz="1200">
                <a:solidFill>
                  <a:schemeClr val="dk2"/>
                </a:solidFill>
              </a:endParaRPr>
            </a:p>
          </p:txBody>
        </p:sp>
      </p:grpSp>
      <p:grpSp>
        <p:nvGrpSpPr>
          <p:cNvPr id="112" name="Google Shape;112;p19"/>
          <p:cNvGrpSpPr/>
          <p:nvPr/>
        </p:nvGrpSpPr>
        <p:grpSpPr>
          <a:xfrm>
            <a:off x="337959" y="3363137"/>
            <a:ext cx="1064457" cy="635716"/>
            <a:chOff x="1384238" y="2979775"/>
            <a:chExt cx="3274245" cy="2024575"/>
          </a:xfrm>
        </p:grpSpPr>
        <p:pic>
          <p:nvPicPr>
            <p:cNvPr id="113" name="Google Shape;113;p19" title="Chart"/>
            <p:cNvPicPr preferRelativeResize="0"/>
            <p:nvPr/>
          </p:nvPicPr>
          <p:blipFill>
            <a:blip r:embed="rId10">
              <a:alphaModFix/>
            </a:blip>
            <a:stretch>
              <a:fillRect/>
            </a:stretch>
          </p:blipFill>
          <p:spPr>
            <a:xfrm>
              <a:off x="1384238" y="2979775"/>
              <a:ext cx="3274245" cy="2024575"/>
            </a:xfrm>
            <a:prstGeom prst="rect">
              <a:avLst/>
            </a:prstGeom>
            <a:noFill/>
            <a:ln>
              <a:noFill/>
            </a:ln>
          </p:spPr>
        </p:pic>
        <p:sp>
          <p:nvSpPr>
            <p:cNvPr id="114" name="Google Shape;114;p19"/>
            <p:cNvSpPr txBox="1"/>
            <p:nvPr/>
          </p:nvSpPr>
          <p:spPr>
            <a:xfrm>
              <a:off x="2401223" y="3738097"/>
              <a:ext cx="1240200" cy="507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900">
                  <a:solidFill>
                    <a:schemeClr val="dk2"/>
                  </a:solidFill>
                </a:rPr>
                <a:t>7%</a:t>
              </a:r>
              <a:endParaRPr b="1" sz="900">
                <a:solidFill>
                  <a:schemeClr val="dk2"/>
                </a:solidFill>
              </a:endParaRPr>
            </a:p>
          </p:txBody>
        </p:sp>
      </p:grpSp>
      <p:grpSp>
        <p:nvGrpSpPr>
          <p:cNvPr id="115" name="Google Shape;115;p19"/>
          <p:cNvGrpSpPr/>
          <p:nvPr/>
        </p:nvGrpSpPr>
        <p:grpSpPr>
          <a:xfrm>
            <a:off x="313550" y="4298850"/>
            <a:ext cx="1113275" cy="688375"/>
            <a:chOff x="3187712" y="2859790"/>
            <a:chExt cx="4921641" cy="1792177"/>
          </a:xfrm>
        </p:grpSpPr>
        <p:pic>
          <p:nvPicPr>
            <p:cNvPr id="116" name="Google Shape;116;p19" title="Chart"/>
            <p:cNvPicPr preferRelativeResize="0"/>
            <p:nvPr/>
          </p:nvPicPr>
          <p:blipFill>
            <a:blip r:embed="rId11">
              <a:alphaModFix/>
            </a:blip>
            <a:stretch>
              <a:fillRect/>
            </a:stretch>
          </p:blipFill>
          <p:spPr>
            <a:xfrm>
              <a:off x="3187712" y="2859790"/>
              <a:ext cx="4921641" cy="1792177"/>
            </a:xfrm>
            <a:prstGeom prst="rect">
              <a:avLst/>
            </a:prstGeom>
            <a:noFill/>
            <a:ln>
              <a:noFill/>
            </a:ln>
          </p:spPr>
        </p:pic>
        <p:sp>
          <p:nvSpPr>
            <p:cNvPr id="117" name="Google Shape;117;p19"/>
            <p:cNvSpPr txBox="1"/>
            <p:nvPr/>
          </p:nvSpPr>
          <p:spPr>
            <a:xfrm>
              <a:off x="4712248" y="3283573"/>
              <a:ext cx="1824000" cy="859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800">
                  <a:solidFill>
                    <a:schemeClr val="dk2"/>
                  </a:solidFill>
                </a:rPr>
                <a:t>0%</a:t>
              </a:r>
              <a:endParaRPr b="1" sz="800">
                <a:solidFill>
                  <a:schemeClr val="dk2"/>
                </a:solidFill>
              </a:endParaRPr>
            </a:p>
          </p:txBody>
        </p:sp>
      </p:grpSp>
      <p:sp>
        <p:nvSpPr>
          <p:cNvPr id="118" name="Google Shape;118;p19"/>
          <p:cNvSpPr txBox="1"/>
          <p:nvPr/>
        </p:nvSpPr>
        <p:spPr>
          <a:xfrm>
            <a:off x="200288" y="1979600"/>
            <a:ext cx="1339800" cy="171600"/>
          </a:xfrm>
          <a:prstGeom prst="rect">
            <a:avLst/>
          </a:prstGeom>
          <a:solidFill>
            <a:srgbClr val="D0E0E3"/>
          </a:solid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900">
                <a:solidFill>
                  <a:schemeClr val="dk2"/>
                </a:solidFill>
                <a:latin typeface="Proxima Nova"/>
                <a:ea typeface="Proxima Nova"/>
                <a:cs typeface="Proxima Nova"/>
                <a:sym typeface="Proxima Nova"/>
              </a:rPr>
              <a:t>Sector-Focused Events</a:t>
            </a:r>
            <a:endParaRPr sz="1300">
              <a:solidFill>
                <a:schemeClr val="dk2"/>
              </a:solidFill>
              <a:latin typeface="Proxima Nova"/>
              <a:ea typeface="Proxima Nova"/>
              <a:cs typeface="Proxima Nova"/>
              <a:sym typeface="Proxima Nova"/>
            </a:endParaRPr>
          </a:p>
        </p:txBody>
      </p:sp>
      <p:sp>
        <p:nvSpPr>
          <p:cNvPr id="119" name="Google Shape;119;p19"/>
          <p:cNvSpPr txBox="1"/>
          <p:nvPr/>
        </p:nvSpPr>
        <p:spPr>
          <a:xfrm>
            <a:off x="104137" y="3144750"/>
            <a:ext cx="1532100" cy="171600"/>
          </a:xfrm>
          <a:prstGeom prst="rect">
            <a:avLst/>
          </a:prstGeom>
          <a:solidFill>
            <a:srgbClr val="D0E0E3"/>
          </a:solidFill>
          <a:ln>
            <a:noFill/>
          </a:ln>
        </p:spPr>
        <p:txBody>
          <a:bodyPr anchorCtr="0" anchor="ctr" bIns="91425" lIns="91425" spcFirstLastPara="1" rIns="91425" wrap="square" tIns="91425">
            <a:noAutofit/>
          </a:bodyPr>
          <a:lstStyle/>
          <a:p>
            <a:pPr indent="0" lvl="0" marL="0" marR="0" rtl="0" algn="l">
              <a:lnSpc>
                <a:spcPct val="150000"/>
              </a:lnSpc>
              <a:spcBef>
                <a:spcPts val="0"/>
              </a:spcBef>
              <a:spcAft>
                <a:spcPts val="0"/>
              </a:spcAft>
              <a:buNone/>
            </a:pPr>
            <a:r>
              <a:rPr lang="en" sz="900">
                <a:solidFill>
                  <a:schemeClr val="dk2"/>
                </a:solidFill>
                <a:latin typeface="Proxima Nova"/>
                <a:ea typeface="Proxima Nova"/>
                <a:cs typeface="Proxima Nova"/>
                <a:sym typeface="Proxima Nova"/>
              </a:rPr>
              <a:t>Thought leadership Events</a:t>
            </a:r>
            <a:endParaRPr sz="900">
              <a:solidFill>
                <a:schemeClr val="dk2"/>
              </a:solidFill>
              <a:latin typeface="Proxima Nova"/>
              <a:ea typeface="Proxima Nova"/>
              <a:cs typeface="Proxima Nova"/>
              <a:sym typeface="Proxima Nova"/>
            </a:endParaRPr>
          </a:p>
        </p:txBody>
      </p:sp>
      <p:sp>
        <p:nvSpPr>
          <p:cNvPr id="120" name="Google Shape;120;p19"/>
          <p:cNvSpPr txBox="1"/>
          <p:nvPr/>
        </p:nvSpPr>
        <p:spPr>
          <a:xfrm>
            <a:off x="200288" y="4101150"/>
            <a:ext cx="1339800" cy="171600"/>
          </a:xfrm>
          <a:prstGeom prst="rect">
            <a:avLst/>
          </a:prstGeom>
          <a:solidFill>
            <a:srgbClr val="D0E0E3"/>
          </a:solidFill>
          <a:ln>
            <a:noFill/>
          </a:ln>
        </p:spPr>
        <p:txBody>
          <a:bodyPr anchorCtr="0" anchor="ctr" bIns="91425" lIns="91425" spcFirstLastPara="1" rIns="91425" wrap="square" tIns="91425">
            <a:noAutofit/>
          </a:bodyPr>
          <a:lstStyle/>
          <a:p>
            <a:pPr indent="0" lvl="0" marL="0" marR="0" rtl="0" algn="l">
              <a:lnSpc>
                <a:spcPct val="150000"/>
              </a:lnSpc>
              <a:spcBef>
                <a:spcPts val="0"/>
              </a:spcBef>
              <a:spcAft>
                <a:spcPts val="0"/>
              </a:spcAft>
              <a:buNone/>
            </a:pPr>
            <a:r>
              <a:rPr lang="en" sz="900">
                <a:solidFill>
                  <a:schemeClr val="dk2"/>
                </a:solidFill>
                <a:latin typeface="Proxima Nova"/>
                <a:ea typeface="Proxima Nova"/>
                <a:cs typeface="Proxima Nova"/>
                <a:sym typeface="Proxima Nova"/>
              </a:rPr>
              <a:t>Networking Events</a:t>
            </a:r>
            <a:endParaRPr sz="900">
              <a:solidFill>
                <a:schemeClr val="dk2"/>
              </a:solidFill>
              <a:latin typeface="Proxima Nova"/>
              <a:ea typeface="Proxima Nova"/>
              <a:cs typeface="Proxima Nova"/>
              <a:sym typeface="Proxima Nova"/>
            </a:endParaRPr>
          </a:p>
        </p:txBody>
      </p:sp>
      <p:sp>
        <p:nvSpPr>
          <p:cNvPr id="121" name="Google Shape;121;p19"/>
          <p:cNvSpPr/>
          <p:nvPr/>
        </p:nvSpPr>
        <p:spPr>
          <a:xfrm>
            <a:off x="1765150" y="1508900"/>
            <a:ext cx="1339800" cy="111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500">
                <a:solidFill>
                  <a:srgbClr val="FF0000"/>
                </a:solidFill>
              </a:rPr>
              <a:t>6</a:t>
            </a:r>
            <a:r>
              <a:rPr b="1" lang="en" sz="4500">
                <a:solidFill>
                  <a:schemeClr val="dk1"/>
                </a:solidFill>
              </a:rPr>
              <a:t>/</a:t>
            </a:r>
            <a:r>
              <a:rPr b="1" lang="en" sz="4500">
                <a:solidFill>
                  <a:srgbClr val="980000"/>
                </a:solidFill>
              </a:rPr>
              <a:t>40</a:t>
            </a:r>
            <a:endParaRPr b="1" sz="4500">
              <a:solidFill>
                <a:srgbClr val="980000"/>
              </a:solidFill>
            </a:endParaRPr>
          </a:p>
        </p:txBody>
      </p:sp>
      <p:sp>
        <p:nvSpPr>
          <p:cNvPr id="122" name="Google Shape;122;p19"/>
          <p:cNvSpPr/>
          <p:nvPr/>
        </p:nvSpPr>
        <p:spPr>
          <a:xfrm>
            <a:off x="1686675" y="3224200"/>
            <a:ext cx="1705500" cy="111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800">
                <a:solidFill>
                  <a:srgbClr val="FF0000"/>
                </a:solidFill>
              </a:rPr>
              <a:t>695</a:t>
            </a:r>
            <a:r>
              <a:rPr b="1" lang="en" sz="2800">
                <a:solidFill>
                  <a:schemeClr val="dk1"/>
                </a:solidFill>
              </a:rPr>
              <a:t>/</a:t>
            </a:r>
            <a:r>
              <a:rPr b="1" lang="en" sz="2800">
                <a:solidFill>
                  <a:srgbClr val="980000"/>
                </a:solidFill>
              </a:rPr>
              <a:t>5000</a:t>
            </a:r>
            <a:endParaRPr b="1" sz="2800">
              <a:solidFill>
                <a:srgbClr val="980000"/>
              </a:solidFill>
            </a:endParaRPr>
          </a:p>
        </p:txBody>
      </p:sp>
      <p:sp>
        <p:nvSpPr>
          <p:cNvPr id="123" name="Google Shape;123;p19"/>
          <p:cNvSpPr txBox="1"/>
          <p:nvPr/>
        </p:nvSpPr>
        <p:spPr>
          <a:xfrm>
            <a:off x="1716847" y="2973150"/>
            <a:ext cx="1705500" cy="171600"/>
          </a:xfrm>
          <a:prstGeom prst="rect">
            <a:avLst/>
          </a:prstGeom>
          <a:solidFill>
            <a:srgbClr val="D0E0E3"/>
          </a:solidFill>
          <a:ln>
            <a:noFill/>
          </a:ln>
        </p:spPr>
        <p:txBody>
          <a:bodyPr anchorCtr="0" anchor="ctr" bIns="91425" lIns="91425" spcFirstLastPara="1" rIns="91425" wrap="square" tIns="91425">
            <a:noAutofit/>
          </a:bodyPr>
          <a:lstStyle/>
          <a:p>
            <a:pPr indent="0" lvl="0" marL="0" rtl="0" algn="ctr">
              <a:lnSpc>
                <a:spcPct val="150000"/>
              </a:lnSpc>
              <a:spcBef>
                <a:spcPts val="0"/>
              </a:spcBef>
              <a:spcAft>
                <a:spcPts val="0"/>
              </a:spcAft>
              <a:buNone/>
            </a:pPr>
            <a:r>
              <a:rPr lang="en" sz="1200">
                <a:solidFill>
                  <a:schemeClr val="dk2"/>
                </a:solidFill>
                <a:latin typeface="Proxima Nova"/>
                <a:ea typeface="Proxima Nova"/>
                <a:cs typeface="Proxima Nova"/>
                <a:sym typeface="Proxima Nova"/>
              </a:rPr>
              <a:t>Community Members</a:t>
            </a:r>
            <a:endParaRPr sz="1200">
              <a:solidFill>
                <a:schemeClr val="dk2"/>
              </a:solidFill>
              <a:latin typeface="Proxima Nova"/>
              <a:ea typeface="Proxima Nova"/>
              <a:cs typeface="Proxima Nova"/>
              <a:sym typeface="Proxima Nova"/>
            </a:endParaRPr>
          </a:p>
        </p:txBody>
      </p:sp>
      <p:sp>
        <p:nvSpPr>
          <p:cNvPr id="124" name="Google Shape;124;p19"/>
          <p:cNvSpPr txBox="1"/>
          <p:nvPr/>
        </p:nvSpPr>
        <p:spPr>
          <a:xfrm>
            <a:off x="1636247" y="1253125"/>
            <a:ext cx="1635000" cy="171600"/>
          </a:xfrm>
          <a:prstGeom prst="rect">
            <a:avLst/>
          </a:prstGeom>
          <a:solidFill>
            <a:srgbClr val="D0E0E3"/>
          </a:solidFill>
          <a:ln>
            <a:noFill/>
          </a:ln>
        </p:spPr>
        <p:txBody>
          <a:bodyPr anchorCtr="0" anchor="ctr" bIns="91425" lIns="91425" spcFirstLastPara="1" rIns="91425" wrap="square" tIns="91425">
            <a:noAutofit/>
          </a:bodyPr>
          <a:lstStyle/>
          <a:p>
            <a:pPr indent="0" lvl="0" marL="0" rtl="0" algn="ctr">
              <a:lnSpc>
                <a:spcPct val="150000"/>
              </a:lnSpc>
              <a:spcBef>
                <a:spcPts val="0"/>
              </a:spcBef>
              <a:spcAft>
                <a:spcPts val="0"/>
              </a:spcAft>
              <a:buNone/>
            </a:pPr>
            <a:r>
              <a:rPr lang="en" sz="1200">
                <a:solidFill>
                  <a:schemeClr val="dk2"/>
                </a:solidFill>
                <a:latin typeface="Proxima Nova"/>
                <a:ea typeface="Proxima Nova"/>
                <a:cs typeface="Proxima Nova"/>
                <a:sym typeface="Proxima Nova"/>
              </a:rPr>
              <a:t>Community Events</a:t>
            </a:r>
            <a:endParaRPr sz="1200">
              <a:solidFill>
                <a:schemeClr val="dk2"/>
              </a:solidFill>
              <a:latin typeface="Proxima Nova"/>
              <a:ea typeface="Proxima Nova"/>
              <a:cs typeface="Proxima Nova"/>
              <a:sym typeface="Proxima Nova"/>
            </a:endParaRPr>
          </a:p>
        </p:txBody>
      </p:sp>
      <p:sp>
        <p:nvSpPr>
          <p:cNvPr id="125" name="Google Shape;125;p19"/>
          <p:cNvSpPr txBox="1"/>
          <p:nvPr/>
        </p:nvSpPr>
        <p:spPr>
          <a:xfrm>
            <a:off x="237700" y="0"/>
            <a:ext cx="44196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chemeClr val="hlink"/>
                </a:solidFill>
                <a:latin typeface="Proxima Nova"/>
                <a:ea typeface="Proxima Nova"/>
                <a:cs typeface="Proxima Nova"/>
                <a:sym typeface="Proxima Nova"/>
              </a:rPr>
              <a:t>Overall Progress</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pic>
        <p:nvPicPr>
          <p:cNvPr id="130" name="Google Shape;130;p20"/>
          <p:cNvPicPr preferRelativeResize="0"/>
          <p:nvPr/>
        </p:nvPicPr>
        <p:blipFill>
          <a:blip r:embed="rId4">
            <a:alphaModFix/>
          </a:blip>
          <a:stretch>
            <a:fillRect/>
          </a:stretch>
        </p:blipFill>
        <p:spPr>
          <a:xfrm>
            <a:off x="-1862" y="5105475"/>
            <a:ext cx="9144003" cy="46600"/>
          </a:xfrm>
          <a:prstGeom prst="rect">
            <a:avLst/>
          </a:prstGeom>
          <a:noFill/>
          <a:ln>
            <a:noFill/>
          </a:ln>
        </p:spPr>
      </p:pic>
      <p:sp>
        <p:nvSpPr>
          <p:cNvPr id="131" name="Google Shape;131;p20"/>
          <p:cNvSpPr txBox="1"/>
          <p:nvPr/>
        </p:nvSpPr>
        <p:spPr>
          <a:xfrm>
            <a:off x="510700" y="64750"/>
            <a:ext cx="1639800" cy="355200"/>
          </a:xfrm>
          <a:prstGeom prst="rect">
            <a:avLst/>
          </a:prstGeom>
          <a:noFill/>
          <a:ln>
            <a:noFill/>
          </a:ln>
        </p:spPr>
        <p:txBody>
          <a:bodyPr anchorCtr="0" anchor="t" bIns="91425" lIns="91425" spcFirstLastPara="1" rIns="91425" wrap="square" tIns="91425">
            <a:normAutofit fontScale="47500" lnSpcReduction="10000"/>
          </a:bodyPr>
          <a:lstStyle/>
          <a:p>
            <a:pPr indent="0" lvl="0" marL="0" rtl="0" algn="l">
              <a:spcBef>
                <a:spcPts val="0"/>
              </a:spcBef>
              <a:spcAft>
                <a:spcPts val="0"/>
              </a:spcAft>
              <a:buNone/>
            </a:pPr>
            <a:r>
              <a:t/>
            </a:r>
            <a:endParaRPr sz="2600">
              <a:solidFill>
                <a:srgbClr val="D12310"/>
              </a:solidFill>
              <a:latin typeface="Epilogue ExtraBold"/>
              <a:ea typeface="Epilogue ExtraBold"/>
              <a:cs typeface="Epilogue ExtraBold"/>
              <a:sym typeface="Epilogue ExtraBold"/>
            </a:endParaRPr>
          </a:p>
        </p:txBody>
      </p:sp>
      <p:sp>
        <p:nvSpPr>
          <p:cNvPr id="132" name="Google Shape;132;p20"/>
          <p:cNvSpPr txBox="1"/>
          <p:nvPr/>
        </p:nvSpPr>
        <p:spPr>
          <a:xfrm>
            <a:off x="342975" y="-12"/>
            <a:ext cx="3000000" cy="298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400"/>
              </a:spcAft>
              <a:buNone/>
            </a:pPr>
            <a:r>
              <a:rPr b="1" lang="en" sz="2000" u="sng">
                <a:solidFill>
                  <a:schemeClr val="hlink"/>
                </a:solidFill>
                <a:latin typeface="Proxima Nova"/>
                <a:ea typeface="Proxima Nova"/>
                <a:cs typeface="Proxima Nova"/>
                <a:sym typeface="Proxima Nova"/>
              </a:rPr>
              <a:t>Key Outputs &amp; Metrics</a:t>
            </a:r>
            <a:endParaRPr b="1" sz="1200">
              <a:latin typeface="Proxima Nova"/>
              <a:ea typeface="Proxima Nova"/>
              <a:cs typeface="Proxima Nova"/>
              <a:sym typeface="Proxima Nova"/>
            </a:endParaRPr>
          </a:p>
        </p:txBody>
      </p:sp>
      <p:graphicFrame>
        <p:nvGraphicFramePr>
          <p:cNvPr id="133" name="Google Shape;133;p20"/>
          <p:cNvGraphicFramePr/>
          <p:nvPr/>
        </p:nvGraphicFramePr>
        <p:xfrm>
          <a:off x="284225" y="366713"/>
          <a:ext cx="3000000" cy="3000000"/>
        </p:xfrm>
        <a:graphic>
          <a:graphicData uri="http://schemas.openxmlformats.org/drawingml/2006/table">
            <a:tbl>
              <a:tblPr>
                <a:noFill/>
                <a:tableStyleId>{FBA88F36-F84B-4980-8EF0-37AB9F51420B}</a:tableStyleId>
              </a:tblPr>
              <a:tblGrid>
                <a:gridCol w="4622600"/>
                <a:gridCol w="3952950"/>
              </a:tblGrid>
              <a:tr h="247875">
                <a:tc>
                  <a:txBody>
                    <a:bodyPr/>
                    <a:lstStyle/>
                    <a:p>
                      <a:pPr indent="0" lvl="0" marL="0" marR="0" rtl="0" algn="ctr">
                        <a:lnSpc>
                          <a:spcPct val="115000"/>
                        </a:lnSpc>
                        <a:spcBef>
                          <a:spcPts val="0"/>
                        </a:spcBef>
                        <a:spcAft>
                          <a:spcPts val="0"/>
                        </a:spcAft>
                        <a:buNone/>
                      </a:pPr>
                      <a:r>
                        <a:rPr b="1" lang="en" sz="1300">
                          <a:solidFill>
                            <a:schemeClr val="lt1"/>
                          </a:solidFill>
                        </a:rPr>
                        <a:t>Metric</a:t>
                      </a:r>
                      <a:endParaRPr b="1" sz="1300">
                        <a:solidFill>
                          <a:schemeClr val="lt1"/>
                        </a:solidFill>
                      </a:endParaRPr>
                    </a:p>
                  </a:txBody>
                  <a:tcPr marT="63500" marB="63500" marR="63500" marL="635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0000"/>
                    </a:solidFill>
                  </a:tcPr>
                </a:tc>
                <a:tc>
                  <a:txBody>
                    <a:bodyPr/>
                    <a:lstStyle/>
                    <a:p>
                      <a:pPr indent="0" lvl="0" marL="0" marR="0" rtl="0" algn="ctr">
                        <a:lnSpc>
                          <a:spcPct val="115000"/>
                        </a:lnSpc>
                        <a:spcBef>
                          <a:spcPts val="0"/>
                        </a:spcBef>
                        <a:spcAft>
                          <a:spcPts val="0"/>
                        </a:spcAft>
                        <a:buNone/>
                      </a:pPr>
                      <a:r>
                        <a:rPr b="1" lang="en" sz="1300">
                          <a:solidFill>
                            <a:schemeClr val="lt1"/>
                          </a:solidFill>
                        </a:rPr>
                        <a:t>Value</a:t>
                      </a:r>
                      <a:endParaRPr b="1" sz="1300">
                        <a:solidFill>
                          <a:schemeClr val="lt1"/>
                        </a:solidFill>
                      </a:endParaRPr>
                    </a:p>
                  </a:txBody>
                  <a:tcPr marT="63500" marB="63500" marR="63500" marL="635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0000"/>
                    </a:solidFill>
                  </a:tcPr>
                </a:tc>
              </a:tr>
              <a:tr h="247875">
                <a:tc>
                  <a:txBody>
                    <a:bodyPr/>
                    <a:lstStyle/>
                    <a:p>
                      <a:pPr indent="0" lvl="0" marL="0" rtl="0" algn="l">
                        <a:lnSpc>
                          <a:spcPct val="115000"/>
                        </a:lnSpc>
                        <a:spcBef>
                          <a:spcPts val="0"/>
                        </a:spcBef>
                        <a:spcAft>
                          <a:spcPts val="0"/>
                        </a:spcAft>
                        <a:buNone/>
                      </a:pPr>
                      <a:r>
                        <a:rPr lang="en" sz="1100"/>
                        <a:t>Total Activities/Events so far (May/June)</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8/40</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52675">
                <a:tc>
                  <a:txBody>
                    <a:bodyPr/>
                    <a:lstStyle/>
                    <a:p>
                      <a:pPr indent="0" lvl="0" marL="0" rtl="0" algn="l">
                        <a:lnSpc>
                          <a:spcPct val="115000"/>
                        </a:lnSpc>
                        <a:spcBef>
                          <a:spcPts val="0"/>
                        </a:spcBef>
                        <a:spcAft>
                          <a:spcPts val="0"/>
                        </a:spcAft>
                        <a:buNone/>
                      </a:pPr>
                      <a:r>
                        <a:rPr lang="en" sz="1100"/>
                        <a:t>Virtual Town Hall </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324</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52650">
                <a:tc>
                  <a:txBody>
                    <a:bodyPr/>
                    <a:lstStyle/>
                    <a:p>
                      <a:pPr indent="0" lvl="0" marL="0" rtl="0" algn="l">
                        <a:lnSpc>
                          <a:spcPct val="115000"/>
                        </a:lnSpc>
                        <a:spcBef>
                          <a:spcPts val="0"/>
                        </a:spcBef>
                        <a:spcAft>
                          <a:spcPts val="0"/>
                        </a:spcAft>
                        <a:buNone/>
                      </a:pPr>
                      <a:r>
                        <a:rPr lang="en" sz="1100"/>
                        <a:t>AMA Session with Temi Kolawole</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50+</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47875">
                <a:tc>
                  <a:txBody>
                    <a:bodyPr/>
                    <a:lstStyle/>
                    <a:p>
                      <a:pPr indent="0" lvl="0" marL="0" rtl="0" algn="l">
                        <a:lnSpc>
                          <a:spcPct val="115000"/>
                        </a:lnSpc>
                        <a:spcBef>
                          <a:spcPts val="0"/>
                        </a:spcBef>
                        <a:spcAft>
                          <a:spcPts val="0"/>
                        </a:spcAft>
                        <a:buNone/>
                      </a:pPr>
                      <a:r>
                        <a:rPr lang="en" sz="1100"/>
                        <a:t>Focus Group Participants</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25</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47875">
                <a:tc>
                  <a:txBody>
                    <a:bodyPr/>
                    <a:lstStyle/>
                    <a:p>
                      <a:pPr indent="0" lvl="0" marL="0" rtl="0" algn="l">
                        <a:lnSpc>
                          <a:spcPct val="115000"/>
                        </a:lnSpc>
                        <a:spcBef>
                          <a:spcPts val="0"/>
                        </a:spcBef>
                        <a:spcAft>
                          <a:spcPts val="0"/>
                        </a:spcAft>
                        <a:buNone/>
                      </a:pPr>
                      <a:r>
                        <a:rPr lang="en" sz="1100"/>
                        <a:t>Key Informant Interviews Conducted</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9</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47875">
                <a:tc>
                  <a:txBody>
                    <a:bodyPr/>
                    <a:lstStyle/>
                    <a:p>
                      <a:pPr indent="0" lvl="0" marL="0" rtl="0" algn="l">
                        <a:lnSpc>
                          <a:spcPct val="115000"/>
                        </a:lnSpc>
                        <a:spcBef>
                          <a:spcPts val="0"/>
                        </a:spcBef>
                        <a:spcAft>
                          <a:spcPts val="0"/>
                        </a:spcAft>
                        <a:buNone/>
                      </a:pPr>
                      <a:r>
                        <a:rPr lang="en" sz="1100"/>
                        <a:t>Fireside Chat with Iyin Aboyeji</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138</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62775">
                <a:tc>
                  <a:txBody>
                    <a:bodyPr/>
                    <a:lstStyle/>
                    <a:p>
                      <a:pPr indent="0" lvl="0" marL="0" rtl="0" algn="l">
                        <a:lnSpc>
                          <a:spcPct val="115000"/>
                        </a:lnSpc>
                        <a:spcBef>
                          <a:spcPts val="0"/>
                        </a:spcBef>
                        <a:spcAft>
                          <a:spcPts val="0"/>
                        </a:spcAft>
                        <a:buNone/>
                      </a:pPr>
                      <a:r>
                        <a:rPr lang="en" sz="1100"/>
                        <a:t>Getting Started with Prompt Engineering I</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54</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62775">
                <a:tc>
                  <a:txBody>
                    <a:bodyPr/>
                    <a:lstStyle/>
                    <a:p>
                      <a:pPr indent="0" lvl="0" marL="0" rtl="0" algn="l">
                        <a:lnSpc>
                          <a:spcPct val="115000"/>
                        </a:lnSpc>
                        <a:spcBef>
                          <a:spcPts val="0"/>
                        </a:spcBef>
                        <a:spcAft>
                          <a:spcPts val="0"/>
                        </a:spcAft>
                        <a:buNone/>
                      </a:pPr>
                      <a:r>
                        <a:rPr lang="en" sz="1100"/>
                        <a:t>Founder Speaker Series: Builders Path with Abdulrahman Jogbojogbo</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41</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62775">
                <a:tc>
                  <a:txBody>
                    <a:bodyPr/>
                    <a:lstStyle/>
                    <a:p>
                      <a:pPr indent="0" lvl="0" marL="0" rtl="0" algn="l">
                        <a:lnSpc>
                          <a:spcPct val="115000"/>
                        </a:lnSpc>
                        <a:spcBef>
                          <a:spcPts val="0"/>
                        </a:spcBef>
                        <a:spcAft>
                          <a:spcPts val="0"/>
                        </a:spcAft>
                        <a:buNone/>
                      </a:pPr>
                      <a:r>
                        <a:rPr lang="en" sz="1100"/>
                        <a:t>Getting Started with Prompt Engineering II</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41</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90250">
                <a:tc>
                  <a:txBody>
                    <a:bodyPr/>
                    <a:lstStyle/>
                    <a:p>
                      <a:pPr indent="0" lvl="0" marL="0" rtl="0" algn="l">
                        <a:lnSpc>
                          <a:spcPct val="115000"/>
                        </a:lnSpc>
                        <a:spcBef>
                          <a:spcPts val="0"/>
                        </a:spcBef>
                        <a:spcAft>
                          <a:spcPts val="0"/>
                        </a:spcAft>
                        <a:buNone/>
                      </a:pPr>
                      <a:r>
                        <a:rPr b="1" lang="en" sz="1100"/>
                        <a:t>Total Stakeholder Engagements (FGD + KII + AMA + Fireside, Builders Path, Getting Started with Prompt Engineering I and II)</a:t>
                      </a:r>
                      <a:endParaRPr b="1"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AD1DC"/>
                    </a:solidFill>
                  </a:tcPr>
                </a:tc>
                <a:tc>
                  <a:txBody>
                    <a:bodyPr/>
                    <a:lstStyle/>
                    <a:p>
                      <a:pPr indent="0" lvl="0" marL="0" rtl="0" algn="l">
                        <a:lnSpc>
                          <a:spcPct val="115000"/>
                        </a:lnSpc>
                        <a:spcBef>
                          <a:spcPts val="0"/>
                        </a:spcBef>
                        <a:spcAft>
                          <a:spcPts val="0"/>
                        </a:spcAft>
                        <a:buNone/>
                      </a:pPr>
                      <a:r>
                        <a:rPr b="1" lang="en" sz="1100"/>
                        <a:t>695</a:t>
                      </a:r>
                      <a:endParaRPr b="1"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AD1DC"/>
                    </a:solidFill>
                  </a:tcPr>
                </a:tc>
              </a:tr>
              <a:tr h="362775">
                <a:tc>
                  <a:txBody>
                    <a:bodyPr/>
                    <a:lstStyle/>
                    <a:p>
                      <a:pPr indent="0" lvl="0" marL="0" rtl="0" algn="l">
                        <a:lnSpc>
                          <a:spcPct val="115000"/>
                        </a:lnSpc>
                        <a:spcBef>
                          <a:spcPts val="0"/>
                        </a:spcBef>
                        <a:spcAft>
                          <a:spcPts val="0"/>
                        </a:spcAft>
                        <a:buNone/>
                      </a:pPr>
                      <a:r>
                        <a:rPr lang="en" sz="1100"/>
                        <a:t>Activities Conducted in May</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c>
                  <a:txBody>
                    <a:bodyPr/>
                    <a:lstStyle/>
                    <a:p>
                      <a:pPr indent="0" lvl="0" marL="0" rtl="0" algn="l">
                        <a:lnSpc>
                          <a:spcPct val="115000"/>
                        </a:lnSpc>
                        <a:spcBef>
                          <a:spcPts val="0"/>
                        </a:spcBef>
                        <a:spcAft>
                          <a:spcPts val="0"/>
                        </a:spcAft>
                        <a:buNone/>
                      </a:pPr>
                      <a:r>
                        <a:rPr lang="en" sz="1100"/>
                        <a:t>5 (Virtual Town Hall, AMA, FGD, KII, Fireside)</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r>
              <a:tr h="390250">
                <a:tc>
                  <a:txBody>
                    <a:bodyPr/>
                    <a:lstStyle/>
                    <a:p>
                      <a:pPr indent="0" lvl="0" marL="0" rtl="0" algn="l">
                        <a:lnSpc>
                          <a:spcPct val="115000"/>
                        </a:lnSpc>
                        <a:spcBef>
                          <a:spcPts val="0"/>
                        </a:spcBef>
                        <a:spcAft>
                          <a:spcPts val="0"/>
                        </a:spcAft>
                        <a:buNone/>
                      </a:pPr>
                      <a:r>
                        <a:rPr lang="en" sz="1100"/>
                        <a:t>Activities for June</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c>
                  <a:txBody>
                    <a:bodyPr/>
                    <a:lstStyle/>
                    <a:p>
                      <a:pPr indent="0" lvl="0" marL="0" rtl="0" algn="l">
                        <a:lnSpc>
                          <a:spcPct val="115000"/>
                        </a:lnSpc>
                        <a:spcBef>
                          <a:spcPts val="0"/>
                        </a:spcBef>
                        <a:spcAft>
                          <a:spcPts val="0"/>
                        </a:spcAft>
                        <a:buNone/>
                      </a:pPr>
                      <a:r>
                        <a:rPr lang="en" sz="1100"/>
                        <a:t>4 (Builders Path, Getting Started with Prompt Engineering I and II, Designing for Impact I)</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pic>
        <p:nvPicPr>
          <p:cNvPr id="138" name="Google Shape;138;p21"/>
          <p:cNvPicPr preferRelativeResize="0"/>
          <p:nvPr/>
        </p:nvPicPr>
        <p:blipFill>
          <a:blip r:embed="rId3">
            <a:alphaModFix/>
          </a:blip>
          <a:stretch>
            <a:fillRect/>
          </a:stretch>
        </p:blipFill>
        <p:spPr>
          <a:xfrm>
            <a:off x="0" y="-1034"/>
            <a:ext cx="9143998" cy="5145560"/>
          </a:xfrm>
          <a:prstGeom prst="rect">
            <a:avLst/>
          </a:prstGeom>
          <a:noFill/>
          <a:ln>
            <a:noFill/>
          </a:ln>
        </p:spPr>
      </p:pic>
      <p:sp>
        <p:nvSpPr>
          <p:cNvPr id="139" name="Google Shape;139;p21"/>
          <p:cNvSpPr txBox="1"/>
          <p:nvPr>
            <p:ph type="ctrTitle"/>
          </p:nvPr>
        </p:nvSpPr>
        <p:spPr>
          <a:xfrm>
            <a:off x="2006550" y="1533900"/>
            <a:ext cx="5130900" cy="17238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en" sz="5000">
                <a:solidFill>
                  <a:schemeClr val="lt1"/>
                </a:solidFill>
                <a:latin typeface="Epilogue ExtraBold"/>
                <a:ea typeface="Epilogue ExtraBold"/>
                <a:cs typeface="Epilogue ExtraBold"/>
                <a:sym typeface="Epilogue ExtraBold"/>
              </a:rPr>
              <a:t>UPCOMING</a:t>
            </a:r>
            <a:r>
              <a:rPr lang="en" sz="5000">
                <a:solidFill>
                  <a:schemeClr val="lt1"/>
                </a:solidFill>
                <a:latin typeface="Epilogue ExtraBold"/>
                <a:ea typeface="Epilogue ExtraBold"/>
                <a:cs typeface="Epilogue ExtraBold"/>
                <a:sym typeface="Epilogue ExtraBold"/>
              </a:rPr>
              <a:t> ACTIVITIES</a:t>
            </a:r>
            <a:endParaRPr sz="5000">
              <a:solidFill>
                <a:schemeClr val="lt1"/>
              </a:solidFill>
              <a:latin typeface="Epilogue ExtraBold"/>
              <a:ea typeface="Epilogue ExtraBold"/>
              <a:cs typeface="Epilogue ExtraBold"/>
              <a:sym typeface="Epilogue ExtraBold"/>
            </a:endParaRPr>
          </a:p>
        </p:txBody>
      </p:sp>
      <p:sp>
        <p:nvSpPr>
          <p:cNvPr id="140" name="Google Shape;140;p21"/>
          <p:cNvSpPr txBox="1"/>
          <p:nvPr/>
        </p:nvSpPr>
        <p:spPr>
          <a:xfrm>
            <a:off x="937402" y="3093894"/>
            <a:ext cx="4141800" cy="264000"/>
          </a:xfrm>
          <a:prstGeom prst="rect">
            <a:avLst/>
          </a:prstGeom>
          <a:noFill/>
          <a:ln>
            <a:noFill/>
          </a:ln>
        </p:spPr>
        <p:txBody>
          <a:bodyPr anchorCtr="0" anchor="t" bIns="0" lIns="0" spcFirstLastPara="1" rIns="0" wrap="square" tIns="665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1F1F1F"/>
              </a:solidFill>
              <a:latin typeface="Proxima Nova Semibold"/>
              <a:ea typeface="Proxima Nova Semibold"/>
              <a:cs typeface="Proxima Nova Semibold"/>
              <a:sym typeface="Proxima Nova Semibold"/>
            </a:endParaRPr>
          </a:p>
        </p:txBody>
      </p:sp>
      <p:pic>
        <p:nvPicPr>
          <p:cNvPr id="141" name="Google Shape;141;p21"/>
          <p:cNvPicPr preferRelativeResize="0"/>
          <p:nvPr/>
        </p:nvPicPr>
        <p:blipFill>
          <a:blip r:embed="rId4">
            <a:alphaModFix/>
          </a:blip>
          <a:stretch>
            <a:fillRect/>
          </a:stretch>
        </p:blipFill>
        <p:spPr>
          <a:xfrm>
            <a:off x="0" y="5068250"/>
            <a:ext cx="9144001" cy="81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pic>
        <p:nvPicPr>
          <p:cNvPr id="146" name="Google Shape;146;p22"/>
          <p:cNvPicPr preferRelativeResize="0"/>
          <p:nvPr/>
        </p:nvPicPr>
        <p:blipFill>
          <a:blip r:embed="rId4">
            <a:alphaModFix/>
          </a:blip>
          <a:stretch>
            <a:fillRect/>
          </a:stretch>
        </p:blipFill>
        <p:spPr>
          <a:xfrm>
            <a:off x="-1862" y="5105475"/>
            <a:ext cx="9144003" cy="46600"/>
          </a:xfrm>
          <a:prstGeom prst="rect">
            <a:avLst/>
          </a:prstGeom>
          <a:noFill/>
          <a:ln>
            <a:noFill/>
          </a:ln>
        </p:spPr>
      </p:pic>
      <p:sp>
        <p:nvSpPr>
          <p:cNvPr id="147" name="Google Shape;147;p22"/>
          <p:cNvSpPr txBox="1"/>
          <p:nvPr/>
        </p:nvSpPr>
        <p:spPr>
          <a:xfrm>
            <a:off x="0" y="-94625"/>
            <a:ext cx="5192400" cy="4926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b="1" lang="en" sz="2000" u="sng">
                <a:solidFill>
                  <a:schemeClr val="hlink"/>
                </a:solidFill>
                <a:latin typeface="Proxima Nova"/>
                <a:ea typeface="Proxima Nova"/>
                <a:cs typeface="Proxima Nova"/>
                <a:sym typeface="Proxima Nova"/>
                <a:hlinkClick r:id="rId5"/>
              </a:rPr>
              <a:t>Community and Ecosystem Engagement</a:t>
            </a:r>
            <a:endParaRPr b="1" sz="2000">
              <a:latin typeface="Proxima Nova"/>
              <a:ea typeface="Proxima Nova"/>
              <a:cs typeface="Proxima Nova"/>
              <a:sym typeface="Proxima Nova"/>
            </a:endParaRPr>
          </a:p>
        </p:txBody>
      </p:sp>
      <p:graphicFrame>
        <p:nvGraphicFramePr>
          <p:cNvPr id="148" name="Google Shape;148;p22"/>
          <p:cNvGraphicFramePr/>
          <p:nvPr/>
        </p:nvGraphicFramePr>
        <p:xfrm>
          <a:off x="137125" y="304800"/>
          <a:ext cx="3000000" cy="3000000"/>
        </p:xfrm>
        <a:graphic>
          <a:graphicData uri="http://schemas.openxmlformats.org/drawingml/2006/table">
            <a:tbl>
              <a:tblPr>
                <a:noFill/>
                <a:tableStyleId>{FBA88F36-F84B-4980-8EF0-37AB9F51420B}</a:tableStyleId>
              </a:tblPr>
              <a:tblGrid>
                <a:gridCol w="1932225"/>
                <a:gridCol w="1715925"/>
                <a:gridCol w="1413100"/>
                <a:gridCol w="2004325"/>
                <a:gridCol w="1773600"/>
              </a:tblGrid>
              <a:tr h="438150">
                <a:tc>
                  <a:txBody>
                    <a:bodyPr/>
                    <a:lstStyle/>
                    <a:p>
                      <a:pPr indent="0" lvl="0" marL="0" rtl="0" algn="ctr">
                        <a:lnSpc>
                          <a:spcPct val="115000"/>
                        </a:lnSpc>
                        <a:spcBef>
                          <a:spcPts val="0"/>
                        </a:spcBef>
                        <a:spcAft>
                          <a:spcPts val="0"/>
                        </a:spcAft>
                        <a:buNone/>
                      </a:pPr>
                      <a:r>
                        <a:rPr b="1" lang="en" sz="1100">
                          <a:latin typeface="Proxima Nova"/>
                          <a:ea typeface="Proxima Nova"/>
                          <a:cs typeface="Proxima Nova"/>
                          <a:sym typeface="Proxima Nova"/>
                        </a:rPr>
                        <a:t>Upcoming Activity/Event</a:t>
                      </a:r>
                      <a:endParaRPr b="1" sz="11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1100">
                          <a:latin typeface="Proxima Nova"/>
                          <a:ea typeface="Proxima Nova"/>
                          <a:cs typeface="Proxima Nova"/>
                          <a:sym typeface="Proxima Nova"/>
                        </a:rPr>
                        <a:t>Goal</a:t>
                      </a:r>
                      <a:endParaRPr b="1" sz="11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1100">
                          <a:latin typeface="Proxima Nova"/>
                          <a:ea typeface="Proxima Nova"/>
                          <a:cs typeface="Proxima Nova"/>
                          <a:sym typeface="Proxima Nova"/>
                        </a:rPr>
                        <a:t>Participants</a:t>
                      </a:r>
                      <a:endParaRPr b="1" sz="11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1100">
                          <a:latin typeface="Proxima Nova"/>
                          <a:ea typeface="Proxima Nova"/>
                          <a:cs typeface="Proxima Nova"/>
                          <a:sym typeface="Proxima Nova"/>
                        </a:rPr>
                        <a:t>Expected Outcome</a:t>
                      </a:r>
                      <a:endParaRPr b="1" sz="11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1100">
                          <a:latin typeface="Proxima Nova"/>
                          <a:ea typeface="Proxima Nova"/>
                          <a:cs typeface="Proxima Nova"/>
                          <a:sym typeface="Proxima Nova"/>
                        </a:rPr>
                        <a:t>Expectations for Reporting</a:t>
                      </a:r>
                      <a:endParaRPr b="1" sz="11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4CCCC"/>
                    </a:solidFill>
                  </a:tcPr>
                </a:tc>
              </a:tr>
              <a:tr h="1104900">
                <a:tc>
                  <a:txBody>
                    <a:bodyPr/>
                    <a:lstStyle/>
                    <a:p>
                      <a:pPr indent="0" lvl="0" marL="0" rtl="0" algn="l">
                        <a:lnSpc>
                          <a:spcPct val="115000"/>
                        </a:lnSpc>
                        <a:spcBef>
                          <a:spcPts val="0"/>
                        </a:spcBef>
                        <a:spcAft>
                          <a:spcPts val="0"/>
                        </a:spcAft>
                        <a:buNone/>
                      </a:pPr>
                      <a:r>
                        <a:rPr b="1" lang="en" sz="1000">
                          <a:latin typeface="Proxima Nova"/>
                          <a:ea typeface="Proxima Nova"/>
                          <a:cs typeface="Proxima Nova"/>
                          <a:sym typeface="Proxima Nova"/>
                        </a:rPr>
                        <a:t>Masterclass: Designing for Impact 1 (June 30, 2025)</a:t>
                      </a:r>
                      <a:endParaRPr b="1"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Tackle public health challenges through human centered designing (innovative co-creation)</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Innovators, healthcare professionals, ecosystem actors.</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Participants apply human-centered design to health challenges and co-create early-stage solutions in a collaborative environment.</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Document workshop design, participant feedback, and solutions explored.</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104900">
                <a:tc>
                  <a:txBody>
                    <a:bodyPr/>
                    <a:lstStyle/>
                    <a:p>
                      <a:pPr indent="0" lvl="0" marL="0" rtl="0" algn="l">
                        <a:lnSpc>
                          <a:spcPct val="115000"/>
                        </a:lnSpc>
                        <a:spcBef>
                          <a:spcPts val="0"/>
                        </a:spcBef>
                        <a:spcAft>
                          <a:spcPts val="0"/>
                        </a:spcAft>
                        <a:buNone/>
                      </a:pPr>
                      <a:r>
                        <a:rPr b="1" lang="en" sz="1000">
                          <a:latin typeface="Proxima Nova"/>
                          <a:ea typeface="Proxima Nova"/>
                          <a:cs typeface="Proxima Nova"/>
                          <a:sym typeface="Proxima Nova"/>
                        </a:rPr>
                        <a:t>Meet &amp; Mingle: Founders &amp; Entrepreneurs (July 4, 2025)</a:t>
                      </a:r>
                      <a:endParaRPr b="1"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Facilitate founder networking, relationship building, and collaboration opportunities.</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Founders, entrepreneurs, innovation ecosystem members.</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Enhanced peer collaboration and new relationship-building among founders, creatives, and tech professionals.</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Report participant numbers, partnerships initiated, and engagement highlights.</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923925">
                <a:tc>
                  <a:txBody>
                    <a:bodyPr/>
                    <a:lstStyle/>
                    <a:p>
                      <a:pPr indent="0" lvl="0" marL="0" rtl="0" algn="l">
                        <a:lnSpc>
                          <a:spcPct val="115000"/>
                        </a:lnSpc>
                        <a:spcBef>
                          <a:spcPts val="0"/>
                        </a:spcBef>
                        <a:spcAft>
                          <a:spcPts val="0"/>
                        </a:spcAft>
                        <a:buNone/>
                      </a:pPr>
                      <a:r>
                        <a:rPr b="1" lang="en" sz="1000">
                          <a:latin typeface="Proxima Nova"/>
                          <a:ea typeface="Proxima Nova"/>
                          <a:cs typeface="Proxima Nova"/>
                          <a:sym typeface="Proxima Nova"/>
                        </a:rPr>
                        <a:t>Innovation Challenge &amp; Hackathon Call for Applications (June 26–July 27, 2025)</a:t>
                      </a:r>
                      <a:endParaRPr b="1"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Attract top innovations for hackathon and innovation challenge.</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Innovators applying across AI, HealthTech, GreenTech, Creative Economy, etc.</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Attract over 100 quality applications from eligible innovators and startups</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Track application numbers, fields of innovation, applicant diversity, and outreach reach.</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104900">
                <a:tc>
                  <a:txBody>
                    <a:bodyPr/>
                    <a:lstStyle/>
                    <a:p>
                      <a:pPr indent="0" lvl="0" marL="0" rtl="0" algn="l">
                        <a:lnSpc>
                          <a:spcPct val="115000"/>
                        </a:lnSpc>
                        <a:spcBef>
                          <a:spcPts val="0"/>
                        </a:spcBef>
                        <a:spcAft>
                          <a:spcPts val="0"/>
                        </a:spcAft>
                        <a:buNone/>
                      </a:pPr>
                      <a:r>
                        <a:rPr b="1" lang="en" sz="1000">
                          <a:latin typeface="Proxima Nova"/>
                          <a:ea typeface="Proxima Nova"/>
                          <a:cs typeface="Proxima Nova"/>
                          <a:sym typeface="Proxima Nova"/>
                        </a:rPr>
                        <a:t>Innovation Challenge Roadshow (</a:t>
                      </a:r>
                      <a:r>
                        <a:rPr b="1" lang="en" sz="1000">
                          <a:latin typeface="Proxima Nova"/>
                          <a:ea typeface="Proxima Nova"/>
                          <a:cs typeface="Proxima Nova"/>
                          <a:sym typeface="Proxima Nova"/>
                        </a:rPr>
                        <a:t>June 30th-July 25th)</a:t>
                      </a:r>
                      <a:endParaRPr b="1"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Drive statewide mobilisation and awareness for the programme across 8 states.</a:t>
                      </a:r>
                      <a:endParaRPr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Tertiary institutions, tech hubs, entrepreneurs across </a:t>
                      </a:r>
                      <a:r>
                        <a:rPr b="1" lang="en" sz="1000">
                          <a:latin typeface="Proxima Nova"/>
                          <a:ea typeface="Proxima Nova"/>
                          <a:cs typeface="Proxima Nova"/>
                          <a:sym typeface="Proxima Nova"/>
                        </a:rPr>
                        <a:t>Kwara → Niger → FCT → Kogi → Ekiti → Ondo → Osun → Oyo</a:t>
                      </a:r>
                      <a:endParaRPr b="1" sz="1000">
                        <a:latin typeface="Proxima Nova"/>
                        <a:ea typeface="Proxima Nova"/>
                        <a:cs typeface="Proxima Nova"/>
                        <a:sym typeface="Proxima Nova"/>
                      </a:endParaRPr>
                    </a:p>
                  </a:txBody>
                  <a:tcPr marT="63500" marB="63500" marR="63500" marL="63500">
                    <a:lnL cap="flat" cmpd="sng" w="6350">
                      <a:solidFill>
                        <a:srgbClr val="00000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Strong visibility across 8 states and a diverse, high-quality pipeline of applicants across priority innovation sectors.</a:t>
                      </a:r>
                      <a:endParaRPr sz="1000">
                        <a:latin typeface="Proxima Nova"/>
                        <a:ea typeface="Proxima Nova"/>
                        <a:cs typeface="Proxima Nova"/>
                        <a:sym typeface="Proxima Nova"/>
                      </a:endParaRPr>
                    </a:p>
                  </a:txBody>
                  <a:tcPr marT="63500" marB="63500" marR="63500" marL="635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80808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Proxima Nova"/>
                          <a:ea typeface="Proxima Nova"/>
                          <a:cs typeface="Proxima Nova"/>
                          <a:sym typeface="Proxima Nova"/>
                        </a:rPr>
                        <a:t>Track number and diversity of participants engaged across locations;, questions asked, institutions visited, outreach effectiveness per state.</a:t>
                      </a:r>
                      <a:endParaRPr sz="1000">
                        <a:latin typeface="Proxima Nova"/>
                        <a:ea typeface="Proxima Nova"/>
                        <a:cs typeface="Proxima Nova"/>
                        <a:sym typeface="Proxima Nova"/>
                      </a:endParaRPr>
                    </a:p>
                  </a:txBody>
                  <a:tcPr marT="63500" marB="63500" marR="63500" marL="635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808080"/>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pic>
        <p:nvPicPr>
          <p:cNvPr id="153" name="Google Shape;153;p23"/>
          <p:cNvPicPr preferRelativeResize="0"/>
          <p:nvPr/>
        </p:nvPicPr>
        <p:blipFill>
          <a:blip r:embed="rId4">
            <a:alphaModFix/>
          </a:blip>
          <a:stretch>
            <a:fillRect/>
          </a:stretch>
        </p:blipFill>
        <p:spPr>
          <a:xfrm>
            <a:off x="-1862" y="5105475"/>
            <a:ext cx="9144003" cy="46600"/>
          </a:xfrm>
          <a:prstGeom prst="rect">
            <a:avLst/>
          </a:prstGeom>
          <a:noFill/>
          <a:ln>
            <a:noFill/>
          </a:ln>
        </p:spPr>
      </p:pic>
      <p:sp>
        <p:nvSpPr>
          <p:cNvPr id="154" name="Google Shape;154;p23"/>
          <p:cNvSpPr txBox="1"/>
          <p:nvPr/>
        </p:nvSpPr>
        <p:spPr>
          <a:xfrm>
            <a:off x="139100" y="64750"/>
            <a:ext cx="7610400" cy="4926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b="1" lang="en" sz="2000" u="sng">
                <a:solidFill>
                  <a:schemeClr val="hlink"/>
                </a:solidFill>
                <a:latin typeface="Proxima Nova"/>
                <a:ea typeface="Proxima Nova"/>
                <a:cs typeface="Proxima Nova"/>
                <a:sym typeface="Proxima Nova"/>
                <a:hlinkClick r:id="rId5"/>
              </a:rPr>
              <a:t>Innovation Challenge and Pre-Incubation Program</a:t>
            </a:r>
            <a:endParaRPr b="1" sz="2000">
              <a:latin typeface="Proxima Nova"/>
              <a:ea typeface="Proxima Nova"/>
              <a:cs typeface="Proxima Nova"/>
              <a:sym typeface="Proxima Nova"/>
            </a:endParaRPr>
          </a:p>
        </p:txBody>
      </p:sp>
      <p:sp>
        <p:nvSpPr>
          <p:cNvPr id="155" name="Google Shape;155;p23"/>
          <p:cNvSpPr txBox="1"/>
          <p:nvPr/>
        </p:nvSpPr>
        <p:spPr>
          <a:xfrm>
            <a:off x="173850" y="476525"/>
            <a:ext cx="5853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dk1"/>
                </a:solidFill>
                <a:latin typeface="Proxima Nova"/>
                <a:ea typeface="Proxima Nova"/>
                <a:cs typeface="Proxima Nova"/>
                <a:sym typeface="Proxima Nova"/>
              </a:rPr>
              <a:t>Innovation Challenge and Hackathon</a:t>
            </a:r>
            <a:endParaRPr b="1" sz="1900">
              <a:solidFill>
                <a:schemeClr val="dk1"/>
              </a:solidFill>
              <a:latin typeface="Proxima Nova"/>
              <a:ea typeface="Proxima Nova"/>
              <a:cs typeface="Proxima Nova"/>
              <a:sym typeface="Proxima Nova"/>
            </a:endParaRPr>
          </a:p>
        </p:txBody>
      </p:sp>
      <p:pic>
        <p:nvPicPr>
          <p:cNvPr id="156" name="Google Shape;156;p23"/>
          <p:cNvPicPr preferRelativeResize="0"/>
          <p:nvPr/>
        </p:nvPicPr>
        <p:blipFill rotWithShape="1">
          <a:blip r:embed="rId6">
            <a:alphaModFix/>
          </a:blip>
          <a:srcRect b="0" l="27927" r="26749" t="0"/>
          <a:stretch/>
        </p:blipFill>
        <p:spPr>
          <a:xfrm>
            <a:off x="6735025" y="0"/>
            <a:ext cx="2408975" cy="2379599"/>
          </a:xfrm>
          <a:prstGeom prst="rect">
            <a:avLst/>
          </a:prstGeom>
          <a:noFill/>
          <a:ln>
            <a:noFill/>
          </a:ln>
        </p:spPr>
      </p:pic>
      <p:sp>
        <p:nvSpPr>
          <p:cNvPr id="157" name="Google Shape;157;p23"/>
          <p:cNvSpPr txBox="1"/>
          <p:nvPr/>
        </p:nvSpPr>
        <p:spPr>
          <a:xfrm>
            <a:off x="357375" y="2379600"/>
            <a:ext cx="3675600" cy="191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solidFill>
                  <a:schemeClr val="dk1"/>
                </a:solidFill>
                <a:latin typeface="Proxima Nova"/>
                <a:ea typeface="Proxima Nova"/>
                <a:cs typeface="Proxima Nova"/>
                <a:sym typeface="Proxima Nova"/>
              </a:rPr>
              <a:t>Key Dates</a:t>
            </a:r>
            <a:endParaRPr b="1" sz="1300">
              <a:solidFill>
                <a:schemeClr val="dk1"/>
              </a:solidFill>
              <a:latin typeface="Proxima Nova"/>
              <a:ea typeface="Proxima Nova"/>
              <a:cs typeface="Proxima Nova"/>
              <a:sym typeface="Proxima Nova"/>
            </a:endParaRPr>
          </a:p>
          <a:p>
            <a:pPr indent="-311150" lvl="0" marL="457200" rtl="0" algn="l">
              <a:lnSpc>
                <a:spcPct val="115000"/>
              </a:lnSpc>
              <a:spcBef>
                <a:spcPts val="1200"/>
              </a:spcBef>
              <a:spcAft>
                <a:spcPts val="0"/>
              </a:spcAft>
              <a:buClr>
                <a:schemeClr val="dk1"/>
              </a:buClr>
              <a:buSzPts val="1300"/>
              <a:buChar char="●"/>
            </a:pPr>
            <a:r>
              <a:rPr b="1" lang="en" sz="1300">
                <a:solidFill>
                  <a:schemeClr val="dk1"/>
                </a:solidFill>
                <a:latin typeface="Proxima Nova"/>
                <a:ea typeface="Proxima Nova"/>
                <a:cs typeface="Proxima Nova"/>
                <a:sym typeface="Proxima Nova"/>
              </a:rPr>
              <a:t>Applications open</a:t>
            </a:r>
            <a:r>
              <a:rPr lang="en" sz="1300">
                <a:solidFill>
                  <a:schemeClr val="dk1"/>
                </a:solidFill>
                <a:latin typeface="Proxima Nova"/>
                <a:ea typeface="Proxima Nova"/>
                <a:cs typeface="Proxima Nova"/>
                <a:sym typeface="Proxima Nova"/>
              </a:rPr>
              <a:t>: July</a:t>
            </a:r>
            <a:r>
              <a:rPr lang="en" sz="1300">
                <a:solidFill>
                  <a:schemeClr val="dk1"/>
                </a:solidFill>
                <a:latin typeface="Proxima Nova"/>
                <a:ea typeface="Proxima Nova"/>
                <a:cs typeface="Proxima Nova"/>
                <a:sym typeface="Proxima Nova"/>
              </a:rPr>
              <a:t> 10th </a:t>
            </a:r>
            <a:r>
              <a:rPr lang="en" sz="1300">
                <a:solidFill>
                  <a:schemeClr val="dk1"/>
                </a:solidFill>
                <a:latin typeface="Proxima Nova"/>
                <a:ea typeface="Proxima Nova"/>
                <a:cs typeface="Proxima Nova"/>
                <a:sym typeface="Proxima Nova"/>
              </a:rPr>
              <a:t>– August 11th, 2025</a:t>
            </a:r>
            <a:endParaRPr sz="1300">
              <a:solidFill>
                <a:schemeClr val="dk1"/>
              </a:solidFill>
              <a:latin typeface="Proxima Nova"/>
              <a:ea typeface="Proxima Nova"/>
              <a:cs typeface="Proxima Nova"/>
              <a:sym typeface="Proxima Nova"/>
            </a:endParaRPr>
          </a:p>
          <a:p>
            <a:pPr indent="-311150" lvl="0" marL="457200" rtl="0" algn="l">
              <a:lnSpc>
                <a:spcPct val="115000"/>
              </a:lnSpc>
              <a:spcBef>
                <a:spcPts val="0"/>
              </a:spcBef>
              <a:spcAft>
                <a:spcPts val="0"/>
              </a:spcAft>
              <a:buClr>
                <a:schemeClr val="dk1"/>
              </a:buClr>
              <a:buSzPts val="1300"/>
              <a:buFont typeface="Times New Roman"/>
              <a:buChar char="●"/>
            </a:pPr>
            <a:r>
              <a:rPr b="1" lang="en" sz="1300">
                <a:solidFill>
                  <a:schemeClr val="dk1"/>
                </a:solidFill>
                <a:latin typeface="Proxima Nova"/>
                <a:ea typeface="Proxima Nova"/>
                <a:cs typeface="Proxima Nova"/>
                <a:sym typeface="Proxima Nova"/>
              </a:rPr>
              <a:t>Roadshow Dates: </a:t>
            </a:r>
            <a:r>
              <a:rPr lang="en" sz="1300">
                <a:solidFill>
                  <a:schemeClr val="dk1"/>
                </a:solidFill>
                <a:latin typeface="Proxima Nova"/>
                <a:ea typeface="Proxima Nova"/>
                <a:cs typeface="Proxima Nova"/>
                <a:sym typeface="Proxima Nova"/>
              </a:rPr>
              <a:t>Date July 11th-July 30th</a:t>
            </a:r>
            <a:endParaRPr sz="1300">
              <a:solidFill>
                <a:schemeClr val="dk1"/>
              </a:solidFill>
              <a:latin typeface="Proxima Nova"/>
              <a:ea typeface="Proxima Nova"/>
              <a:cs typeface="Proxima Nova"/>
              <a:sym typeface="Proxima Nova"/>
            </a:endParaRPr>
          </a:p>
          <a:p>
            <a:pPr indent="-311150" lvl="0" marL="457200" rtl="0" algn="l">
              <a:lnSpc>
                <a:spcPct val="115000"/>
              </a:lnSpc>
              <a:spcBef>
                <a:spcPts val="0"/>
              </a:spcBef>
              <a:spcAft>
                <a:spcPts val="0"/>
              </a:spcAft>
              <a:buClr>
                <a:schemeClr val="dk1"/>
              </a:buClr>
              <a:buSzPts val="1300"/>
              <a:buFont typeface="Times New Roman"/>
              <a:buChar char="●"/>
            </a:pPr>
            <a:r>
              <a:rPr b="1" lang="en" sz="1300">
                <a:solidFill>
                  <a:schemeClr val="dk1"/>
                </a:solidFill>
                <a:latin typeface="Proxima Nova"/>
                <a:ea typeface="Proxima Nova"/>
                <a:cs typeface="Proxima Nova"/>
                <a:sym typeface="Proxima Nova"/>
              </a:rPr>
              <a:t>Hackathon</a:t>
            </a:r>
            <a:r>
              <a:rPr lang="en" sz="1300">
                <a:solidFill>
                  <a:schemeClr val="dk1"/>
                </a:solidFill>
                <a:latin typeface="Proxima Nova"/>
                <a:ea typeface="Proxima Nova"/>
                <a:cs typeface="Proxima Nova"/>
                <a:sym typeface="Proxima Nova"/>
              </a:rPr>
              <a:t>: September 2nd-4th</a:t>
            </a:r>
            <a:endParaRPr sz="1300">
              <a:solidFill>
                <a:schemeClr val="dk1"/>
              </a:solidFill>
              <a:latin typeface="Proxima Nova"/>
              <a:ea typeface="Proxima Nova"/>
              <a:cs typeface="Proxima Nova"/>
              <a:sym typeface="Proxima Nova"/>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latin typeface="Proxima Nova"/>
                <a:ea typeface="Proxima Nova"/>
                <a:cs typeface="Proxima Nova"/>
                <a:sym typeface="Proxima Nova"/>
              </a:rPr>
              <a:t>Incubation/Pre-Incubation</a:t>
            </a:r>
            <a:r>
              <a:rPr lang="en" sz="1300">
                <a:solidFill>
                  <a:schemeClr val="dk1"/>
                </a:solidFill>
                <a:latin typeface="Proxima Nova"/>
                <a:ea typeface="Proxima Nova"/>
                <a:cs typeface="Proxima Nova"/>
                <a:sym typeface="Proxima Nova"/>
              </a:rPr>
              <a:t>: September – December 2025</a:t>
            </a:r>
            <a:endParaRPr sz="1300">
              <a:solidFill>
                <a:schemeClr val="dk1"/>
              </a:solidFill>
              <a:latin typeface="Proxima Nova"/>
              <a:ea typeface="Proxima Nova"/>
              <a:cs typeface="Proxima Nova"/>
              <a:sym typeface="Proxima Nova"/>
            </a:endParaRPr>
          </a:p>
        </p:txBody>
      </p:sp>
      <p:sp>
        <p:nvSpPr>
          <p:cNvPr id="158" name="Google Shape;158;p23"/>
          <p:cNvSpPr txBox="1"/>
          <p:nvPr/>
        </p:nvSpPr>
        <p:spPr>
          <a:xfrm>
            <a:off x="4385650" y="2379600"/>
            <a:ext cx="4379400" cy="196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solidFill>
                  <a:schemeClr val="dk1"/>
                </a:solidFill>
                <a:latin typeface="Proxima Nova"/>
                <a:ea typeface="Proxima Nova"/>
                <a:cs typeface="Proxima Nova"/>
                <a:sym typeface="Proxima Nova"/>
              </a:rPr>
              <a:t>Focus Areas</a:t>
            </a:r>
            <a:endParaRPr b="1" sz="1300">
              <a:solidFill>
                <a:schemeClr val="dk1"/>
              </a:solidFill>
              <a:latin typeface="Proxima Nova"/>
              <a:ea typeface="Proxima Nova"/>
              <a:cs typeface="Proxima Nova"/>
              <a:sym typeface="Proxima Nova"/>
            </a:endParaRPr>
          </a:p>
          <a:p>
            <a:pPr indent="-311150" lvl="0" marL="457200" rtl="0" algn="l">
              <a:spcBef>
                <a:spcPts val="1200"/>
              </a:spcBef>
              <a:spcAft>
                <a:spcPts val="0"/>
              </a:spcAft>
              <a:buSzPts val="1300"/>
              <a:buFont typeface="Proxima Nova"/>
              <a:buChar char="-"/>
            </a:pPr>
            <a:r>
              <a:rPr lang="en" sz="1300">
                <a:latin typeface="Proxima Nova"/>
                <a:ea typeface="Proxima Nova"/>
                <a:cs typeface="Proxima Nova"/>
                <a:sym typeface="Proxima Nova"/>
              </a:rPr>
              <a:t>AI and Disruptive Technologies and Solutions</a:t>
            </a:r>
            <a:endParaRPr sz="1300">
              <a:latin typeface="Proxima Nova"/>
              <a:ea typeface="Proxima Nova"/>
              <a:cs typeface="Proxima Nova"/>
              <a:sym typeface="Proxima Nova"/>
            </a:endParaRPr>
          </a:p>
          <a:p>
            <a:pPr indent="-311150" lvl="0" marL="457200" rtl="0" algn="l">
              <a:spcBef>
                <a:spcPts val="0"/>
              </a:spcBef>
              <a:spcAft>
                <a:spcPts val="0"/>
              </a:spcAft>
              <a:buSzPts val="1300"/>
              <a:buFont typeface="Proxima Nova"/>
              <a:buChar char="-"/>
            </a:pPr>
            <a:r>
              <a:rPr lang="en" sz="1300">
                <a:latin typeface="Proxima Nova"/>
                <a:ea typeface="Proxima Nova"/>
                <a:cs typeface="Proxima Nova"/>
                <a:sym typeface="Proxima Nova"/>
              </a:rPr>
              <a:t>CleanTech</a:t>
            </a:r>
            <a:endParaRPr sz="1300">
              <a:latin typeface="Proxima Nova"/>
              <a:ea typeface="Proxima Nova"/>
              <a:cs typeface="Proxima Nova"/>
              <a:sym typeface="Proxima Nova"/>
            </a:endParaRPr>
          </a:p>
          <a:p>
            <a:pPr indent="-311150" lvl="0" marL="457200" rtl="0" algn="l">
              <a:spcBef>
                <a:spcPts val="0"/>
              </a:spcBef>
              <a:spcAft>
                <a:spcPts val="0"/>
              </a:spcAft>
              <a:buSzPts val="1300"/>
              <a:buFont typeface="Proxima Nova"/>
              <a:buChar char="-"/>
            </a:pPr>
            <a:r>
              <a:rPr lang="en" sz="1300">
                <a:latin typeface="Proxima Nova"/>
                <a:ea typeface="Proxima Nova"/>
                <a:cs typeface="Proxima Nova"/>
                <a:sym typeface="Proxima Nova"/>
              </a:rPr>
              <a:t>HealthTech</a:t>
            </a:r>
            <a:endParaRPr sz="1300">
              <a:latin typeface="Proxima Nova"/>
              <a:ea typeface="Proxima Nova"/>
              <a:cs typeface="Proxima Nova"/>
              <a:sym typeface="Proxima Nova"/>
            </a:endParaRPr>
          </a:p>
          <a:p>
            <a:pPr indent="-311150" lvl="0" marL="457200" rtl="0" algn="l">
              <a:spcBef>
                <a:spcPts val="0"/>
              </a:spcBef>
              <a:spcAft>
                <a:spcPts val="0"/>
              </a:spcAft>
              <a:buSzPts val="1300"/>
              <a:buFont typeface="Proxima Nova"/>
              <a:buChar char="-"/>
            </a:pPr>
            <a:r>
              <a:rPr lang="en" sz="1300">
                <a:latin typeface="Proxima Nova"/>
                <a:ea typeface="Proxima Nova"/>
                <a:cs typeface="Proxima Nova"/>
                <a:sym typeface="Proxima Nova"/>
              </a:rPr>
              <a:t>Higher Education Innovation</a:t>
            </a:r>
            <a:endParaRPr sz="1300">
              <a:latin typeface="Proxima Nova"/>
              <a:ea typeface="Proxima Nova"/>
              <a:cs typeface="Proxima Nova"/>
              <a:sym typeface="Proxima Nova"/>
            </a:endParaRPr>
          </a:p>
          <a:p>
            <a:pPr indent="-311150" lvl="0" marL="457200" rtl="0" algn="l">
              <a:spcBef>
                <a:spcPts val="0"/>
              </a:spcBef>
              <a:spcAft>
                <a:spcPts val="0"/>
              </a:spcAft>
              <a:buSzPts val="1300"/>
              <a:buFont typeface="Proxima Nova"/>
              <a:buChar char="-"/>
            </a:pPr>
            <a:r>
              <a:rPr lang="en" sz="1300">
                <a:latin typeface="Proxima Nova"/>
                <a:ea typeface="Proxima Nova"/>
                <a:cs typeface="Proxima Nova"/>
                <a:sym typeface="Proxima Nova"/>
              </a:rPr>
              <a:t>Education Technologies (EdTech) </a:t>
            </a:r>
            <a:endParaRPr sz="1300">
              <a:latin typeface="Proxima Nova"/>
              <a:ea typeface="Proxima Nova"/>
              <a:cs typeface="Proxima Nova"/>
              <a:sym typeface="Proxima Nova"/>
            </a:endParaRPr>
          </a:p>
          <a:p>
            <a:pPr indent="-311150" lvl="0" marL="457200" rtl="0" algn="l">
              <a:spcBef>
                <a:spcPts val="0"/>
              </a:spcBef>
              <a:spcAft>
                <a:spcPts val="0"/>
              </a:spcAft>
              <a:buSzPts val="1300"/>
              <a:buFont typeface="Proxima Nova"/>
              <a:buChar char="-"/>
            </a:pPr>
            <a:r>
              <a:rPr lang="en" sz="1300">
                <a:latin typeface="Proxima Nova"/>
                <a:ea typeface="Proxima Nova"/>
                <a:cs typeface="Proxima Nova"/>
                <a:sym typeface="Proxima Nova"/>
              </a:rPr>
              <a:t>Digital Studio and Creative Technologies</a:t>
            </a:r>
            <a:endParaRPr sz="1300">
              <a:latin typeface="Proxima Nova"/>
              <a:ea typeface="Proxima Nova"/>
              <a:cs typeface="Proxima Nova"/>
              <a:sym typeface="Proxima Nova"/>
            </a:endParaRPr>
          </a:p>
          <a:p>
            <a:pPr indent="-311150" lvl="0" marL="457200" rtl="0" algn="l">
              <a:spcBef>
                <a:spcPts val="0"/>
              </a:spcBef>
              <a:spcAft>
                <a:spcPts val="0"/>
              </a:spcAft>
              <a:buSzPts val="1300"/>
              <a:buFont typeface="Proxima Nova"/>
              <a:buChar char="-"/>
            </a:pPr>
            <a:r>
              <a:rPr lang="en" sz="1300">
                <a:latin typeface="Proxima Nova"/>
                <a:ea typeface="Proxima Nova"/>
                <a:cs typeface="Proxima Nova"/>
                <a:sym typeface="Proxima Nova"/>
              </a:rPr>
              <a:t>Connectivity and Big Data Solutions</a:t>
            </a:r>
            <a:endParaRPr sz="1000">
              <a:solidFill>
                <a:srgbClr val="050505"/>
              </a:solidFill>
              <a:latin typeface="Proxima Nova"/>
              <a:ea typeface="Proxima Nova"/>
              <a:cs typeface="Proxima Nova"/>
              <a:sym typeface="Proxima Nova"/>
            </a:endParaRPr>
          </a:p>
        </p:txBody>
      </p:sp>
      <p:sp>
        <p:nvSpPr>
          <p:cNvPr id="159" name="Google Shape;159;p23"/>
          <p:cNvSpPr txBox="1"/>
          <p:nvPr/>
        </p:nvSpPr>
        <p:spPr>
          <a:xfrm>
            <a:off x="324300" y="1002700"/>
            <a:ext cx="5853000" cy="121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Proxima Nova"/>
                <a:ea typeface="Proxima Nova"/>
                <a:cs typeface="Proxima Nova"/>
                <a:sym typeface="Proxima Nova"/>
              </a:rPr>
              <a:t>Goal</a:t>
            </a:r>
            <a:endParaRPr b="1" sz="13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13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300">
                <a:solidFill>
                  <a:schemeClr val="dk1"/>
                </a:solidFill>
                <a:latin typeface="Proxima Nova"/>
                <a:ea typeface="Proxima Nova"/>
                <a:cs typeface="Proxima Nova"/>
                <a:sym typeface="Proxima Nova"/>
              </a:rPr>
              <a:t>To build a pipeline of scalable, impact-driven ventures by equipping local innovators and startups with the mentorship, resources, and ecosystem access needed to develop technology solutions that address critical socio-economic challenges across priority sectors.</a:t>
            </a:r>
            <a:endParaRPr sz="1300">
              <a:solidFill>
                <a:schemeClr val="dk1"/>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 name="Shape 163"/>
        <p:cNvGrpSpPr/>
        <p:nvPr/>
      </p:nvGrpSpPr>
      <p:grpSpPr>
        <a:xfrm>
          <a:off x="0" y="0"/>
          <a:ext cx="0" cy="0"/>
          <a:chOff x="0" y="0"/>
          <a:chExt cx="0" cy="0"/>
        </a:xfrm>
      </p:grpSpPr>
      <p:pic>
        <p:nvPicPr>
          <p:cNvPr id="164" name="Google Shape;164;p24"/>
          <p:cNvPicPr preferRelativeResize="0"/>
          <p:nvPr/>
        </p:nvPicPr>
        <p:blipFill>
          <a:blip r:embed="rId4">
            <a:alphaModFix/>
          </a:blip>
          <a:stretch>
            <a:fillRect/>
          </a:stretch>
        </p:blipFill>
        <p:spPr>
          <a:xfrm>
            <a:off x="-1862" y="5105475"/>
            <a:ext cx="9144003" cy="46600"/>
          </a:xfrm>
          <a:prstGeom prst="rect">
            <a:avLst/>
          </a:prstGeom>
          <a:noFill/>
          <a:ln>
            <a:noFill/>
          </a:ln>
        </p:spPr>
      </p:pic>
      <p:sp>
        <p:nvSpPr>
          <p:cNvPr id="165" name="Google Shape;165;p24"/>
          <p:cNvSpPr txBox="1"/>
          <p:nvPr/>
        </p:nvSpPr>
        <p:spPr>
          <a:xfrm>
            <a:off x="139100" y="64750"/>
            <a:ext cx="7610400" cy="4926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b="1" lang="en" sz="2000" u="sng">
                <a:solidFill>
                  <a:schemeClr val="hlink"/>
                </a:solidFill>
                <a:latin typeface="Proxima Nova"/>
                <a:ea typeface="Proxima Nova"/>
                <a:cs typeface="Proxima Nova"/>
                <a:sym typeface="Proxima Nova"/>
                <a:hlinkClick r:id="rId5"/>
              </a:rPr>
              <a:t>Innovation Challenge and Pre-Incubation Program</a:t>
            </a:r>
            <a:endParaRPr b="1" sz="2000">
              <a:latin typeface="Proxima Nova"/>
              <a:ea typeface="Proxima Nova"/>
              <a:cs typeface="Proxima Nova"/>
              <a:sym typeface="Proxima Nova"/>
            </a:endParaRPr>
          </a:p>
        </p:txBody>
      </p:sp>
      <p:sp>
        <p:nvSpPr>
          <p:cNvPr id="166" name="Google Shape;166;p24"/>
          <p:cNvSpPr txBox="1"/>
          <p:nvPr/>
        </p:nvSpPr>
        <p:spPr>
          <a:xfrm>
            <a:off x="173850" y="476525"/>
            <a:ext cx="77346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dk1"/>
                </a:solidFill>
                <a:latin typeface="Proxima Nova"/>
                <a:ea typeface="Proxima Nova"/>
                <a:cs typeface="Proxima Nova"/>
                <a:sym typeface="Proxima Nova"/>
              </a:rPr>
              <a:t>Innovation Challenge and Hackathon Impact Metrics</a:t>
            </a:r>
            <a:endParaRPr b="1" sz="1900">
              <a:solidFill>
                <a:schemeClr val="dk1"/>
              </a:solidFill>
              <a:latin typeface="Proxima Nova"/>
              <a:ea typeface="Proxima Nova"/>
              <a:cs typeface="Proxima Nova"/>
              <a:sym typeface="Proxima Nova"/>
            </a:endParaRPr>
          </a:p>
        </p:txBody>
      </p:sp>
      <p:pic>
        <p:nvPicPr>
          <p:cNvPr id="167" name="Google Shape;167;p24"/>
          <p:cNvPicPr preferRelativeResize="0"/>
          <p:nvPr/>
        </p:nvPicPr>
        <p:blipFill rotWithShape="1">
          <a:blip r:embed="rId6">
            <a:alphaModFix/>
          </a:blip>
          <a:srcRect b="0" l="27927" r="26749" t="0"/>
          <a:stretch/>
        </p:blipFill>
        <p:spPr>
          <a:xfrm>
            <a:off x="8035500" y="-1"/>
            <a:ext cx="1108500" cy="1631226"/>
          </a:xfrm>
          <a:prstGeom prst="rect">
            <a:avLst/>
          </a:prstGeom>
          <a:noFill/>
          <a:ln>
            <a:noFill/>
          </a:ln>
        </p:spPr>
      </p:pic>
      <p:sp>
        <p:nvSpPr>
          <p:cNvPr id="168" name="Google Shape;168;p24"/>
          <p:cNvSpPr/>
          <p:nvPr/>
        </p:nvSpPr>
        <p:spPr>
          <a:xfrm>
            <a:off x="4402500" y="1216625"/>
            <a:ext cx="246600" cy="246600"/>
          </a:xfrm>
          <a:prstGeom prst="ellipse">
            <a:avLst/>
          </a:prstGeom>
          <a:solidFill>
            <a:srgbClr val="B02B2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4"/>
          <p:cNvSpPr/>
          <p:nvPr/>
        </p:nvSpPr>
        <p:spPr>
          <a:xfrm>
            <a:off x="4402500" y="1902869"/>
            <a:ext cx="246600" cy="246600"/>
          </a:xfrm>
          <a:prstGeom prst="ellipse">
            <a:avLst/>
          </a:prstGeom>
          <a:solidFill>
            <a:srgbClr val="B02B2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4"/>
          <p:cNvSpPr/>
          <p:nvPr/>
        </p:nvSpPr>
        <p:spPr>
          <a:xfrm>
            <a:off x="4402500" y="2589113"/>
            <a:ext cx="246600" cy="246600"/>
          </a:xfrm>
          <a:prstGeom prst="ellipse">
            <a:avLst/>
          </a:prstGeom>
          <a:solidFill>
            <a:srgbClr val="B02B2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4"/>
          <p:cNvSpPr/>
          <p:nvPr/>
        </p:nvSpPr>
        <p:spPr>
          <a:xfrm>
            <a:off x="4402500" y="3275356"/>
            <a:ext cx="246600" cy="246600"/>
          </a:xfrm>
          <a:prstGeom prst="ellipse">
            <a:avLst/>
          </a:prstGeom>
          <a:solidFill>
            <a:srgbClr val="B02B2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4"/>
          <p:cNvSpPr/>
          <p:nvPr/>
        </p:nvSpPr>
        <p:spPr>
          <a:xfrm>
            <a:off x="4402500" y="3961600"/>
            <a:ext cx="246600" cy="246600"/>
          </a:xfrm>
          <a:prstGeom prst="ellipse">
            <a:avLst/>
          </a:prstGeom>
          <a:solidFill>
            <a:srgbClr val="B02B2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24"/>
          <p:cNvSpPr txBox="1"/>
          <p:nvPr/>
        </p:nvSpPr>
        <p:spPr>
          <a:xfrm>
            <a:off x="510650" y="1216625"/>
            <a:ext cx="3190200" cy="100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Proxima Nova"/>
                <a:ea typeface="Proxima Nova"/>
                <a:cs typeface="Proxima Nova"/>
                <a:sym typeface="Proxima Nova"/>
              </a:rPr>
              <a:t>Over 200</a:t>
            </a:r>
            <a:r>
              <a:rPr lang="en" sz="1200">
                <a:latin typeface="Proxima Nova"/>
                <a:ea typeface="Proxima Nova"/>
                <a:cs typeface="Proxima Nova"/>
                <a:sym typeface="Proxima Nova"/>
              </a:rPr>
              <a:t>  applications for the  </a:t>
            </a:r>
            <a:r>
              <a:rPr lang="en" sz="1200">
                <a:latin typeface="Proxima Nova"/>
                <a:ea typeface="Proxima Nova"/>
                <a:cs typeface="Proxima Nova"/>
                <a:sym typeface="Proxima Nova"/>
              </a:rPr>
              <a:t>hackathon and innovation challenge</a:t>
            </a:r>
            <a:endParaRPr sz="1200">
              <a:latin typeface="Proxima Nova"/>
              <a:ea typeface="Proxima Nova"/>
              <a:cs typeface="Proxima Nova"/>
              <a:sym typeface="Proxima Nova"/>
            </a:endParaRPr>
          </a:p>
          <a:p>
            <a:pPr indent="0" lvl="0" marL="0" rtl="0" algn="l">
              <a:spcBef>
                <a:spcPts val="0"/>
              </a:spcBef>
              <a:spcAft>
                <a:spcPts val="0"/>
              </a:spcAft>
              <a:buNone/>
            </a:pPr>
            <a:r>
              <a:t/>
            </a:r>
            <a:endParaRPr sz="1200">
              <a:latin typeface="Proxima Nova"/>
              <a:ea typeface="Proxima Nova"/>
              <a:cs typeface="Proxima Nova"/>
              <a:sym typeface="Proxima Nova"/>
            </a:endParaRPr>
          </a:p>
          <a:p>
            <a:pPr indent="0" lvl="0" marL="0" rtl="0" algn="l">
              <a:spcBef>
                <a:spcPts val="0"/>
              </a:spcBef>
              <a:spcAft>
                <a:spcPts val="0"/>
              </a:spcAft>
              <a:buNone/>
            </a:pPr>
            <a:r>
              <a:rPr lang="en" sz="1200">
                <a:latin typeface="Proxima Nova"/>
                <a:ea typeface="Proxima Nova"/>
                <a:cs typeface="Proxima Nova"/>
                <a:sym typeface="Proxima Nova"/>
              </a:rPr>
              <a:t>Registration Link: </a:t>
            </a:r>
            <a:r>
              <a:rPr lang="en" sz="1200" u="sng">
                <a:solidFill>
                  <a:schemeClr val="hlink"/>
                </a:solidFill>
                <a:latin typeface="Proxima Nova"/>
                <a:ea typeface="Proxima Nova"/>
                <a:cs typeface="Proxima Nova"/>
                <a:sym typeface="Proxima Nova"/>
                <a:hlinkClick r:id="rId7"/>
              </a:rPr>
              <a:t>https://bit.ly/IIHInnovationChallenge2025</a:t>
            </a:r>
            <a:r>
              <a:rPr lang="en" sz="1200">
                <a:latin typeface="Proxima Nova"/>
                <a:ea typeface="Proxima Nova"/>
                <a:cs typeface="Proxima Nova"/>
                <a:sym typeface="Proxima Nova"/>
              </a:rPr>
              <a:t> </a:t>
            </a:r>
            <a:endParaRPr sz="1200">
              <a:latin typeface="Proxima Nova"/>
              <a:ea typeface="Proxima Nova"/>
              <a:cs typeface="Proxima Nova"/>
              <a:sym typeface="Proxima Nova"/>
            </a:endParaRPr>
          </a:p>
        </p:txBody>
      </p:sp>
      <p:sp>
        <p:nvSpPr>
          <p:cNvPr id="174" name="Google Shape;174;p24"/>
          <p:cNvSpPr txBox="1"/>
          <p:nvPr/>
        </p:nvSpPr>
        <p:spPr>
          <a:xfrm>
            <a:off x="5206500" y="1818550"/>
            <a:ext cx="2701800" cy="100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0000"/>
                </a:solidFill>
                <a:latin typeface="Proxima Nova"/>
                <a:ea typeface="Proxima Nova"/>
                <a:cs typeface="Proxima Nova"/>
                <a:sym typeface="Proxima Nova"/>
              </a:rPr>
              <a:t>Roadshow begins (June </a:t>
            </a:r>
            <a:r>
              <a:rPr b="1" lang="en" sz="1200">
                <a:latin typeface="Proxima Nova"/>
                <a:ea typeface="Proxima Nova"/>
                <a:cs typeface="Proxima Nova"/>
                <a:sym typeface="Proxima Nova"/>
              </a:rPr>
              <a:t>30th</a:t>
            </a:r>
            <a:r>
              <a:rPr b="1" lang="en" sz="1200">
                <a:solidFill>
                  <a:srgbClr val="000000"/>
                </a:solidFill>
                <a:latin typeface="Proxima Nova"/>
                <a:ea typeface="Proxima Nova"/>
                <a:cs typeface="Proxima Nova"/>
                <a:sym typeface="Proxima Nova"/>
              </a:rPr>
              <a:t>)</a:t>
            </a:r>
            <a:r>
              <a:rPr lang="en" sz="1200">
                <a:solidFill>
                  <a:srgbClr val="000000"/>
                </a:solidFill>
                <a:latin typeface="Proxima Nova"/>
                <a:ea typeface="Proxima Nova"/>
                <a:cs typeface="Proxima Nova"/>
                <a:sym typeface="Proxima Nova"/>
              </a:rPr>
              <a:t> </a:t>
            </a:r>
            <a:endParaRPr sz="1200">
              <a:solidFill>
                <a:srgbClr val="000000"/>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Kickoff at the University of Ilorin. </a:t>
            </a:r>
            <a:endParaRPr sz="1200">
              <a:solidFill>
                <a:srgbClr val="000000"/>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000000"/>
                </a:solidFill>
                <a:latin typeface="Proxima Nova"/>
                <a:ea typeface="Proxima Nova"/>
                <a:cs typeface="Proxima Nova"/>
                <a:sym typeface="Proxima Nova"/>
              </a:rPr>
              <a:t>Other 8 states involved in the roadshow: </a:t>
            </a:r>
            <a:r>
              <a:rPr b="1" lang="en" sz="1200">
                <a:solidFill>
                  <a:schemeClr val="dk1"/>
                </a:solidFill>
                <a:latin typeface="Proxima Nova"/>
                <a:ea typeface="Proxima Nova"/>
                <a:cs typeface="Proxima Nova"/>
                <a:sym typeface="Proxima Nova"/>
              </a:rPr>
              <a:t>Kwara → Niger → FCT → Kogi → Ekiti → Ondo → Osun → Oyo</a:t>
            </a:r>
            <a:r>
              <a:rPr b="1" lang="en" sz="1200">
                <a:solidFill>
                  <a:srgbClr val="0000FF"/>
                </a:solidFill>
                <a:latin typeface="Proxima Nova"/>
                <a:ea typeface="Proxima Nova"/>
                <a:cs typeface="Proxima Nova"/>
                <a:sym typeface="Proxima Nova"/>
              </a:rPr>
              <a:t> </a:t>
            </a:r>
            <a:endParaRPr b="1" sz="1200">
              <a:solidFill>
                <a:srgbClr val="0000FF"/>
              </a:solidFill>
              <a:latin typeface="Proxima Nova"/>
              <a:ea typeface="Proxima Nova"/>
              <a:cs typeface="Proxima Nova"/>
              <a:sym typeface="Proxima Nova"/>
            </a:endParaRPr>
          </a:p>
          <a:p>
            <a:pPr indent="0" lvl="0" marL="0" rtl="0" algn="l">
              <a:lnSpc>
                <a:spcPct val="105000"/>
              </a:lnSpc>
              <a:spcBef>
                <a:spcPts val="0"/>
              </a:spcBef>
              <a:spcAft>
                <a:spcPts val="0"/>
              </a:spcAft>
              <a:buNone/>
            </a:pPr>
            <a:r>
              <a:t/>
            </a:r>
            <a:endParaRPr b="1" sz="1000">
              <a:solidFill>
                <a:srgbClr val="000000"/>
              </a:solidFill>
              <a:latin typeface="Proxima Nova"/>
              <a:ea typeface="Proxima Nova"/>
              <a:cs typeface="Proxima Nova"/>
              <a:sym typeface="Proxima Nova"/>
            </a:endParaRPr>
          </a:p>
        </p:txBody>
      </p:sp>
      <p:cxnSp>
        <p:nvCxnSpPr>
          <p:cNvPr id="175" name="Google Shape;175;p24"/>
          <p:cNvCxnSpPr/>
          <p:nvPr/>
        </p:nvCxnSpPr>
        <p:spPr>
          <a:xfrm flipH="1">
            <a:off x="3883675" y="1334825"/>
            <a:ext cx="411000" cy="10200"/>
          </a:xfrm>
          <a:prstGeom prst="straightConnector1">
            <a:avLst/>
          </a:prstGeom>
          <a:noFill/>
          <a:ln cap="flat" cmpd="sng" w="28575">
            <a:solidFill>
              <a:srgbClr val="B02B20"/>
            </a:solidFill>
            <a:prstDash val="solid"/>
            <a:round/>
            <a:headEnd len="med" w="med" type="none"/>
            <a:tailEnd len="med" w="med" type="triangle"/>
          </a:ln>
        </p:spPr>
      </p:cxnSp>
      <p:cxnSp>
        <p:nvCxnSpPr>
          <p:cNvPr id="176" name="Google Shape;176;p24"/>
          <p:cNvCxnSpPr/>
          <p:nvPr/>
        </p:nvCxnSpPr>
        <p:spPr>
          <a:xfrm flipH="1">
            <a:off x="3883675" y="2732175"/>
            <a:ext cx="411000" cy="10200"/>
          </a:xfrm>
          <a:prstGeom prst="straightConnector1">
            <a:avLst/>
          </a:prstGeom>
          <a:noFill/>
          <a:ln cap="flat" cmpd="sng" w="28575">
            <a:solidFill>
              <a:srgbClr val="B02B20"/>
            </a:solidFill>
            <a:prstDash val="solid"/>
            <a:round/>
            <a:headEnd len="med" w="med" type="none"/>
            <a:tailEnd len="med" w="med" type="triangle"/>
          </a:ln>
        </p:spPr>
      </p:cxnSp>
      <p:cxnSp>
        <p:nvCxnSpPr>
          <p:cNvPr id="177" name="Google Shape;177;p24"/>
          <p:cNvCxnSpPr/>
          <p:nvPr/>
        </p:nvCxnSpPr>
        <p:spPr>
          <a:xfrm flipH="1" rot="10800000">
            <a:off x="4742388" y="2033350"/>
            <a:ext cx="464100" cy="10500"/>
          </a:xfrm>
          <a:prstGeom prst="straightConnector1">
            <a:avLst/>
          </a:prstGeom>
          <a:noFill/>
          <a:ln cap="flat" cmpd="sng" w="28575">
            <a:solidFill>
              <a:srgbClr val="B02B20"/>
            </a:solidFill>
            <a:prstDash val="solid"/>
            <a:round/>
            <a:headEnd len="med" w="med" type="none"/>
            <a:tailEnd len="med" w="med" type="triangle"/>
          </a:ln>
        </p:spPr>
      </p:cxnSp>
      <p:sp>
        <p:nvSpPr>
          <p:cNvPr id="178" name="Google Shape;178;p24"/>
          <p:cNvSpPr txBox="1"/>
          <p:nvPr/>
        </p:nvSpPr>
        <p:spPr>
          <a:xfrm>
            <a:off x="428450" y="3584200"/>
            <a:ext cx="3190200" cy="13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200">
                <a:latin typeface="Proxima Nova"/>
                <a:ea typeface="Proxima Nova"/>
                <a:cs typeface="Proxima Nova"/>
                <a:sym typeface="Proxima Nova"/>
              </a:rPr>
              <a:t>10,000 </a:t>
            </a:r>
            <a:r>
              <a:rPr b="1" lang="en" sz="1200">
                <a:latin typeface="Proxima Nova"/>
                <a:ea typeface="Proxima Nova"/>
                <a:cs typeface="Proxima Nova"/>
                <a:sym typeface="Proxima Nova"/>
              </a:rPr>
              <a:t>indirect/indirect engagement</a:t>
            </a:r>
            <a:br>
              <a:rPr lang="en" sz="1200">
                <a:latin typeface="Proxima Nova"/>
                <a:ea typeface="Proxima Nova"/>
                <a:cs typeface="Proxima Nova"/>
                <a:sym typeface="Proxima Nova"/>
              </a:rPr>
            </a:br>
            <a:r>
              <a:rPr lang="en" sz="1200">
                <a:latin typeface="Proxima Nova"/>
                <a:ea typeface="Proxima Nova"/>
                <a:cs typeface="Proxima Nova"/>
                <a:sym typeface="Proxima Nova"/>
              </a:rPr>
              <a:t>- Social Media</a:t>
            </a:r>
            <a:endParaRPr sz="1200">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latin typeface="Proxima Nova"/>
                <a:ea typeface="Proxima Nova"/>
                <a:cs typeface="Proxima Nova"/>
                <a:sym typeface="Proxima Nova"/>
              </a:rPr>
              <a:t>- Universities</a:t>
            </a:r>
            <a:endParaRPr sz="1200">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latin typeface="Proxima Nova"/>
                <a:ea typeface="Proxima Nova"/>
                <a:cs typeface="Proxima Nova"/>
                <a:sym typeface="Proxima Nova"/>
              </a:rPr>
              <a:t>- Newsletters (universities</a:t>
            </a:r>
            <a:endParaRPr sz="1200">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latin typeface="Proxima Nova"/>
                <a:ea typeface="Proxima Nova"/>
                <a:cs typeface="Proxima Nova"/>
                <a:sym typeface="Proxima Nova"/>
              </a:rPr>
              <a:t>- Media mentions/ Blog</a:t>
            </a:r>
            <a:endParaRPr sz="1200">
              <a:latin typeface="Proxima Nova"/>
              <a:ea typeface="Proxima Nova"/>
              <a:cs typeface="Proxima Nova"/>
              <a:sym typeface="Proxima Nova"/>
            </a:endParaRPr>
          </a:p>
          <a:p>
            <a:pPr indent="0" lvl="0" marL="0" rtl="0" algn="l">
              <a:lnSpc>
                <a:spcPct val="105000"/>
              </a:lnSpc>
              <a:spcBef>
                <a:spcPts val="0"/>
              </a:spcBef>
              <a:spcAft>
                <a:spcPts val="0"/>
              </a:spcAft>
              <a:buNone/>
            </a:pPr>
            <a:r>
              <a:t/>
            </a:r>
            <a:endParaRPr b="1" sz="1000">
              <a:solidFill>
                <a:srgbClr val="000000"/>
              </a:solidFill>
              <a:latin typeface="Proxima Nova"/>
              <a:ea typeface="Proxima Nova"/>
              <a:cs typeface="Proxima Nova"/>
              <a:sym typeface="Proxima Nova"/>
            </a:endParaRPr>
          </a:p>
        </p:txBody>
      </p:sp>
      <p:cxnSp>
        <p:nvCxnSpPr>
          <p:cNvPr id="179" name="Google Shape;179;p24"/>
          <p:cNvCxnSpPr/>
          <p:nvPr/>
        </p:nvCxnSpPr>
        <p:spPr>
          <a:xfrm flipH="1" rot="10800000">
            <a:off x="4747513" y="3366325"/>
            <a:ext cx="464100" cy="10500"/>
          </a:xfrm>
          <a:prstGeom prst="straightConnector1">
            <a:avLst/>
          </a:prstGeom>
          <a:noFill/>
          <a:ln cap="flat" cmpd="sng" w="28575">
            <a:solidFill>
              <a:srgbClr val="B02B20"/>
            </a:solidFill>
            <a:prstDash val="solid"/>
            <a:round/>
            <a:headEnd len="med" w="med" type="none"/>
            <a:tailEnd len="med" w="med" type="triangle"/>
          </a:ln>
        </p:spPr>
      </p:cxnSp>
      <p:cxnSp>
        <p:nvCxnSpPr>
          <p:cNvPr id="180" name="Google Shape;180;p24"/>
          <p:cNvCxnSpPr/>
          <p:nvPr/>
        </p:nvCxnSpPr>
        <p:spPr>
          <a:xfrm flipH="1">
            <a:off x="3883675" y="4079800"/>
            <a:ext cx="411000" cy="10200"/>
          </a:xfrm>
          <a:prstGeom prst="straightConnector1">
            <a:avLst/>
          </a:prstGeom>
          <a:noFill/>
          <a:ln cap="flat" cmpd="sng" w="28575">
            <a:solidFill>
              <a:srgbClr val="B02B20"/>
            </a:solidFill>
            <a:prstDash val="solid"/>
            <a:round/>
            <a:headEnd len="med" w="med" type="none"/>
            <a:tailEnd len="med" w="med" type="triangle"/>
          </a:ln>
        </p:spPr>
      </p:cxnSp>
      <p:sp>
        <p:nvSpPr>
          <p:cNvPr id="181" name="Google Shape;181;p24"/>
          <p:cNvSpPr/>
          <p:nvPr/>
        </p:nvSpPr>
        <p:spPr>
          <a:xfrm>
            <a:off x="4449750" y="1125650"/>
            <a:ext cx="152100" cy="3341400"/>
          </a:xfrm>
          <a:prstGeom prst="downArrow">
            <a:avLst>
              <a:gd fmla="val 50000" name="adj1"/>
              <a:gd fmla="val 50000" name="adj2"/>
            </a:avLst>
          </a:prstGeom>
          <a:solidFill>
            <a:srgbClr val="B02B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24"/>
          <p:cNvSpPr txBox="1"/>
          <p:nvPr/>
        </p:nvSpPr>
        <p:spPr>
          <a:xfrm>
            <a:off x="428450" y="2601700"/>
            <a:ext cx="3190200" cy="8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Proxima Nova"/>
                <a:ea typeface="Proxima Nova"/>
                <a:cs typeface="Proxima Nova"/>
                <a:sym typeface="Proxima Nova"/>
              </a:rPr>
              <a:t>1500+</a:t>
            </a:r>
            <a:r>
              <a:rPr lang="en" sz="1200">
                <a:latin typeface="Proxima Nova"/>
                <a:ea typeface="Proxima Nova"/>
                <a:cs typeface="Proxima Nova"/>
                <a:sym typeface="Proxima Nova"/>
              </a:rPr>
              <a:t> direct </a:t>
            </a:r>
            <a:r>
              <a:rPr lang="en" sz="1200">
                <a:latin typeface="Proxima Nova"/>
                <a:ea typeface="Proxima Nova"/>
                <a:cs typeface="Proxima Nova"/>
                <a:sym typeface="Proxima Nova"/>
              </a:rPr>
              <a:t>engagements</a:t>
            </a:r>
            <a:r>
              <a:rPr lang="en" sz="1200">
                <a:latin typeface="Proxima Nova"/>
                <a:ea typeface="Proxima Nova"/>
                <a:cs typeface="Proxima Nova"/>
                <a:sym typeface="Proxima Nova"/>
              </a:rPr>
              <a:t> with students, entrepreneurs, founders, </a:t>
            </a:r>
            <a:r>
              <a:rPr lang="en" sz="1200">
                <a:latin typeface="Proxima Nova"/>
                <a:ea typeface="Proxima Nova"/>
                <a:cs typeface="Proxima Nova"/>
                <a:sym typeface="Proxima Nova"/>
              </a:rPr>
              <a:t>startups</a:t>
            </a:r>
            <a:r>
              <a:rPr lang="en" sz="1200">
                <a:latin typeface="Proxima Nova"/>
                <a:ea typeface="Proxima Nova"/>
                <a:cs typeface="Proxima Nova"/>
                <a:sym typeface="Proxima Nova"/>
              </a:rPr>
              <a:t>, ecosystem players</a:t>
            </a:r>
            <a:endParaRPr sz="1200">
              <a:solidFill>
                <a:srgbClr val="000000"/>
              </a:solidFill>
              <a:latin typeface="Proxima Nova"/>
              <a:ea typeface="Proxima Nova"/>
              <a:cs typeface="Proxima Nova"/>
              <a:sym typeface="Proxima Nova"/>
            </a:endParaRPr>
          </a:p>
        </p:txBody>
      </p:sp>
      <p:sp>
        <p:nvSpPr>
          <p:cNvPr id="183" name="Google Shape;183;p24"/>
          <p:cNvSpPr txBox="1"/>
          <p:nvPr/>
        </p:nvSpPr>
        <p:spPr>
          <a:xfrm>
            <a:off x="5206500" y="3178600"/>
            <a:ext cx="2521200" cy="18189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 sz="1200">
                <a:latin typeface="Proxima Nova"/>
                <a:ea typeface="Proxima Nova"/>
                <a:cs typeface="Proxima Nova"/>
                <a:sym typeface="Proxima Nova"/>
              </a:rPr>
              <a:t>Roadshow: Kwara State (Locations)</a:t>
            </a:r>
            <a:endParaRPr b="1" sz="1200">
              <a:latin typeface="Proxima Nova"/>
              <a:ea typeface="Proxima Nova"/>
              <a:cs typeface="Proxima Nova"/>
              <a:sym typeface="Proxima Nova"/>
            </a:endParaRPr>
          </a:p>
          <a:p>
            <a:pPr indent="0" lvl="0" marL="0" rtl="0" algn="l">
              <a:lnSpc>
                <a:spcPct val="105000"/>
              </a:lnSpc>
              <a:spcBef>
                <a:spcPts val="0"/>
              </a:spcBef>
              <a:spcAft>
                <a:spcPts val="0"/>
              </a:spcAft>
              <a:buNone/>
            </a:pPr>
            <a:r>
              <a:t/>
            </a:r>
            <a:endParaRPr b="1" sz="1200">
              <a:latin typeface="Proxima Nova"/>
              <a:ea typeface="Proxima Nova"/>
              <a:cs typeface="Proxima Nova"/>
              <a:sym typeface="Proxima Nova"/>
            </a:endParaRPr>
          </a:p>
          <a:p>
            <a:pPr indent="0" lvl="0" marL="0" rtl="0" algn="l">
              <a:lnSpc>
                <a:spcPct val="105000"/>
              </a:lnSpc>
              <a:spcBef>
                <a:spcPts val="0"/>
              </a:spcBef>
              <a:spcAft>
                <a:spcPts val="0"/>
              </a:spcAft>
              <a:buNone/>
            </a:pPr>
            <a:r>
              <a:rPr lang="en" sz="1200">
                <a:latin typeface="Proxima Nova"/>
                <a:ea typeface="Proxima Nova"/>
                <a:cs typeface="Proxima Nova"/>
                <a:sym typeface="Proxima Nova"/>
              </a:rPr>
              <a:t>University of Ilorin</a:t>
            </a:r>
            <a:endParaRPr sz="1200">
              <a:latin typeface="Proxima Nova"/>
              <a:ea typeface="Proxima Nova"/>
              <a:cs typeface="Proxima Nova"/>
              <a:sym typeface="Proxima Nova"/>
            </a:endParaRPr>
          </a:p>
          <a:p>
            <a:pPr indent="0" lvl="0" marL="0" rtl="0" algn="l">
              <a:lnSpc>
                <a:spcPct val="105000"/>
              </a:lnSpc>
              <a:spcBef>
                <a:spcPts val="0"/>
              </a:spcBef>
              <a:spcAft>
                <a:spcPts val="0"/>
              </a:spcAft>
              <a:buNone/>
            </a:pPr>
            <a:r>
              <a:rPr lang="en" sz="1200">
                <a:latin typeface="Proxima Nova"/>
                <a:ea typeface="Proxima Nova"/>
                <a:cs typeface="Proxima Nova"/>
                <a:sym typeface="Proxima Nova"/>
              </a:rPr>
              <a:t>Mal Hub</a:t>
            </a:r>
            <a:endParaRPr sz="1200">
              <a:latin typeface="Proxima Nova"/>
              <a:ea typeface="Proxima Nova"/>
              <a:cs typeface="Proxima Nova"/>
              <a:sym typeface="Proxima Nova"/>
            </a:endParaRPr>
          </a:p>
          <a:p>
            <a:pPr indent="0" lvl="0" marL="0" rtl="0" algn="l">
              <a:lnSpc>
                <a:spcPct val="105000"/>
              </a:lnSpc>
              <a:spcBef>
                <a:spcPts val="0"/>
              </a:spcBef>
              <a:spcAft>
                <a:spcPts val="0"/>
              </a:spcAft>
              <a:buNone/>
            </a:pPr>
            <a:r>
              <a:rPr lang="en" sz="1200">
                <a:latin typeface="Proxima Nova"/>
                <a:ea typeface="Proxima Nova"/>
                <a:cs typeface="Proxima Nova"/>
                <a:sym typeface="Proxima Nova"/>
              </a:rPr>
              <a:t>Kwara State University</a:t>
            </a:r>
            <a:endParaRPr sz="1200">
              <a:latin typeface="Proxima Nova"/>
              <a:ea typeface="Proxima Nova"/>
              <a:cs typeface="Proxima Nova"/>
              <a:sym typeface="Proxima Nova"/>
            </a:endParaRPr>
          </a:p>
          <a:p>
            <a:pPr indent="0" lvl="0" marL="0" rtl="0" algn="l">
              <a:lnSpc>
                <a:spcPct val="105000"/>
              </a:lnSpc>
              <a:spcBef>
                <a:spcPts val="0"/>
              </a:spcBef>
              <a:spcAft>
                <a:spcPts val="0"/>
              </a:spcAft>
              <a:buNone/>
            </a:pPr>
            <a:r>
              <a:rPr lang="en" sz="1200">
                <a:latin typeface="Proxima Nova"/>
                <a:ea typeface="Proxima Nova"/>
                <a:cs typeface="Proxima Nova"/>
                <a:sym typeface="Proxima Nova"/>
              </a:rPr>
              <a:t>Landmark University</a:t>
            </a:r>
            <a:endParaRPr sz="1200">
              <a:latin typeface="Proxima Nova"/>
              <a:ea typeface="Proxima Nova"/>
              <a:cs typeface="Proxima Nova"/>
              <a:sym typeface="Proxima Nova"/>
            </a:endParaRPr>
          </a:p>
          <a:p>
            <a:pPr indent="0" lvl="0" marL="0" rtl="0" algn="l">
              <a:lnSpc>
                <a:spcPct val="105000"/>
              </a:lnSpc>
              <a:spcBef>
                <a:spcPts val="0"/>
              </a:spcBef>
              <a:spcAft>
                <a:spcPts val="0"/>
              </a:spcAft>
              <a:buNone/>
            </a:pPr>
            <a:r>
              <a:rPr lang="en" sz="1200">
                <a:latin typeface="Proxima Nova"/>
                <a:ea typeface="Proxima Nova"/>
                <a:cs typeface="Proxima Nova"/>
                <a:sym typeface="Proxima Nova"/>
              </a:rPr>
              <a:t>Thomas Adewumi University</a:t>
            </a:r>
            <a:endParaRPr sz="1200">
              <a:latin typeface="Proxima Nova"/>
              <a:ea typeface="Proxima Nova"/>
              <a:cs typeface="Proxima Nova"/>
              <a:sym typeface="Proxima Nova"/>
            </a:endParaRPr>
          </a:p>
          <a:p>
            <a:pPr indent="0" lvl="0" marL="0" rtl="0" algn="l">
              <a:lnSpc>
                <a:spcPct val="105000"/>
              </a:lnSpc>
              <a:spcBef>
                <a:spcPts val="0"/>
              </a:spcBef>
              <a:spcAft>
                <a:spcPts val="0"/>
              </a:spcAft>
              <a:buNone/>
            </a:pPr>
            <a:r>
              <a:rPr lang="en" sz="1200">
                <a:latin typeface="Proxima Nova"/>
                <a:ea typeface="Proxima Nova"/>
                <a:cs typeface="Proxima Nova"/>
                <a:sym typeface="Proxima Nova"/>
              </a:rPr>
              <a:t>Al-Hikmah University</a:t>
            </a:r>
            <a:endParaRPr sz="1200">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5"/>
          <p:cNvPicPr preferRelativeResize="0"/>
          <p:nvPr/>
        </p:nvPicPr>
        <p:blipFill rotWithShape="1">
          <a:blip r:embed="rId3">
            <a:alphaModFix/>
          </a:blip>
          <a:srcRect b="28845" l="0" r="0" t="0"/>
          <a:stretch/>
        </p:blipFill>
        <p:spPr>
          <a:xfrm>
            <a:off x="0" y="-1025"/>
            <a:ext cx="9143998" cy="3661401"/>
          </a:xfrm>
          <a:prstGeom prst="rect">
            <a:avLst/>
          </a:prstGeom>
          <a:noFill/>
          <a:ln>
            <a:noFill/>
          </a:ln>
        </p:spPr>
      </p:pic>
      <p:sp>
        <p:nvSpPr>
          <p:cNvPr id="189" name="Google Shape;189;p25"/>
          <p:cNvSpPr txBox="1"/>
          <p:nvPr/>
        </p:nvSpPr>
        <p:spPr>
          <a:xfrm>
            <a:off x="699575" y="775325"/>
            <a:ext cx="3950100" cy="2052600"/>
          </a:xfrm>
          <a:prstGeom prst="rect">
            <a:avLst/>
          </a:prstGeom>
          <a:noFill/>
          <a:ln>
            <a:noFill/>
          </a:ln>
        </p:spPr>
        <p:txBody>
          <a:bodyPr anchorCtr="0" anchor="b" bIns="91425" lIns="91425" spcFirstLastPara="1" rIns="91425" wrap="square" tIns="91425">
            <a:noAutofit/>
          </a:bodyPr>
          <a:lstStyle/>
          <a:p>
            <a:pPr indent="0" lvl="0" marL="0" rtl="0" algn="l">
              <a:lnSpc>
                <a:spcPct val="95000"/>
              </a:lnSpc>
              <a:spcBef>
                <a:spcPts val="0"/>
              </a:spcBef>
              <a:spcAft>
                <a:spcPts val="0"/>
              </a:spcAft>
              <a:buNone/>
            </a:pPr>
            <a:r>
              <a:rPr lang="en" sz="7000">
                <a:solidFill>
                  <a:schemeClr val="lt1"/>
                </a:solidFill>
                <a:latin typeface="Epilogue ExtraBold"/>
                <a:ea typeface="Epilogue ExtraBold"/>
                <a:cs typeface="Epilogue ExtraBold"/>
                <a:sym typeface="Epilogue ExtraBold"/>
              </a:rPr>
              <a:t>THANK</a:t>
            </a:r>
            <a:endParaRPr sz="7000">
              <a:solidFill>
                <a:schemeClr val="lt1"/>
              </a:solidFill>
              <a:latin typeface="Epilogue ExtraBold"/>
              <a:ea typeface="Epilogue ExtraBold"/>
              <a:cs typeface="Epilogue ExtraBold"/>
              <a:sym typeface="Epilogue ExtraBold"/>
            </a:endParaRPr>
          </a:p>
          <a:p>
            <a:pPr indent="0" lvl="0" marL="0" rtl="0" algn="l">
              <a:lnSpc>
                <a:spcPct val="95000"/>
              </a:lnSpc>
              <a:spcBef>
                <a:spcPts val="0"/>
              </a:spcBef>
              <a:spcAft>
                <a:spcPts val="0"/>
              </a:spcAft>
              <a:buNone/>
            </a:pPr>
            <a:r>
              <a:rPr lang="en" sz="7000">
                <a:solidFill>
                  <a:schemeClr val="lt1"/>
                </a:solidFill>
                <a:latin typeface="Epilogue ExtraBold"/>
                <a:ea typeface="Epilogue ExtraBold"/>
                <a:cs typeface="Epilogue ExtraBold"/>
                <a:sym typeface="Epilogue ExtraBold"/>
              </a:rPr>
              <a:t>YOU!</a:t>
            </a:r>
            <a:endParaRPr sz="7000">
              <a:solidFill>
                <a:schemeClr val="lt1"/>
              </a:solidFill>
              <a:latin typeface="Epilogue ExtraBold"/>
              <a:ea typeface="Epilogue ExtraBold"/>
              <a:cs typeface="Epilogue ExtraBold"/>
              <a:sym typeface="Epilogue ExtraBold"/>
            </a:endParaRPr>
          </a:p>
        </p:txBody>
      </p:sp>
      <p:pic>
        <p:nvPicPr>
          <p:cNvPr id="190" name="Google Shape;190;p25"/>
          <p:cNvPicPr preferRelativeResize="0"/>
          <p:nvPr/>
        </p:nvPicPr>
        <p:blipFill>
          <a:blip r:embed="rId4">
            <a:alphaModFix/>
          </a:blip>
          <a:stretch>
            <a:fillRect/>
          </a:stretch>
        </p:blipFill>
        <p:spPr>
          <a:xfrm>
            <a:off x="456979" y="4087425"/>
            <a:ext cx="8230042" cy="699225"/>
          </a:xfrm>
          <a:prstGeom prst="rect">
            <a:avLst/>
          </a:prstGeom>
          <a:noFill/>
          <a:ln>
            <a:noFill/>
          </a:ln>
        </p:spPr>
      </p:pic>
      <p:pic>
        <p:nvPicPr>
          <p:cNvPr id="191" name="Google Shape;191;p25"/>
          <p:cNvPicPr preferRelativeResize="0"/>
          <p:nvPr/>
        </p:nvPicPr>
        <p:blipFill>
          <a:blip r:embed="rId5">
            <a:alphaModFix/>
          </a:blip>
          <a:stretch>
            <a:fillRect/>
          </a:stretch>
        </p:blipFill>
        <p:spPr>
          <a:xfrm>
            <a:off x="-1862" y="5105475"/>
            <a:ext cx="9144003" cy="46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